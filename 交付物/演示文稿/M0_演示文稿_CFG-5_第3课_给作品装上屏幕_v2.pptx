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76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「欢迎来到第三课。上节课你们每个人都找到了自己的题目——今天发新装备，你的作品从今天起有真正的界面了。</a:t>
            </a:r>
            <a:endParaRPr lang="en-US" sz="1200"/>
          </a:p>
          <a:p>
            <a:endParaRPr sz="1200"/>
          </a:p>
          <a:p>
            <a:r>
              <a:rPr lang="en-US" sz="1200"/>
              <a:t>找个位置坐好，我们马上开始。」</a:t>
            </a:r>
            <a:endParaRPr lang="en-US" sz="1200"/>
          </a:p>
          <a:p>
            <a:endParaRPr sz="1200"/>
          </a:p>
          <a:p>
            <a:r>
              <a:rPr lang="en-US" sz="1200"/>
              <a:t>[待替换：页内占位卡换 Wio Terminal 掌机实拍图（待拍摄，IMG-01-01）。]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「上课前先把上节课的成果收齐：用 md 文档记的，把链接发给我；手书写的，拍照发我——没收齐的记一笔，今天下课前补。</a:t>
            </a:r>
            <a:endParaRPr lang="en-US" sz="1200"/>
          </a:p>
          <a:p>
            <a:endParaRPr sz="1200"/>
          </a:p>
          <a:p>
            <a:r>
              <a:rPr lang="en-US" sz="1200"/>
              <a:t>（指着选题墙）看，上节课的选题墙——每个人的宣言都在上面。上节课你定了题目、立了五句规矩；今天发新装备，你的作品从今天起有真正的界面了。把选题宣言和三格构思单放在手边——今天不动它，但它是你后面所有大作品的北星。」</a:t>
            </a:r>
            <a:endParaRPr lang="en-US" sz="1200"/>
          </a:p>
          <a:p>
            <a:endParaRPr sz="1200"/>
          </a:p>
          <a:p>
            <a:r>
              <a:rPr lang="en-US" sz="1200"/>
              <a:t>[收成果 5 分钟硬计时，不逐个点评；没收齐的名单交助教登记，不纠缠。]</a:t>
            </a:r>
            <a:endParaRPr lang="en-US" sz="1200"/>
          </a:p>
          <a:p>
            <a:endParaRPr sz="1200"/>
          </a:p>
          <a:p>
            <a:r>
              <a:rPr lang="en-US" sz="1200"/>
              <a:t>[待替换：左侧占位卡换选题墙照片（待从第 2 课素材选取，IMG-02-01）。]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（举起 Wio Terminal）「发新装备。它叫 Wio Terminal——你们可以把它理解成一台掌上小电脑：彩色大屏、三颗按键、一个五向摇杆，里面还自带传感器。</a:t>
            </a:r>
            <a:endParaRPr lang="en-US" sz="1200"/>
          </a:p>
          <a:p>
            <a:endParaRPr sz="1200"/>
          </a:p>
          <a:p>
            <a:r>
              <a:rPr lang="en-US" sz="1200"/>
              <a:t>先说一个它和旧板子不一样的地方：（举起指着开关）烧录之前，侧面的开关滑一下、再滑一下——这是告诉板子'准备接收新指令'。全体，现在跟我演练两遍。」</a:t>
            </a:r>
            <a:endParaRPr lang="en-US" sz="1200"/>
          </a:p>
          <a:p>
            <a:endParaRPr sz="1200"/>
          </a:p>
          <a:p>
            <a:r>
              <a:rPr lang="en-US" sz="1200"/>
              <a:t>[开关演练此刻做，问题此刻出清——比写代码时逐个救省 20 分钟。口令条放桌面。]</a:t>
            </a:r>
            <a:endParaRPr lang="en-US" sz="1200"/>
          </a:p>
          <a:p>
            <a:endParaRPr sz="1200"/>
          </a:p>
          <a:p>
            <a:r>
              <a:rPr lang="en-US" sz="1200"/>
              <a:t>[待替换：左侧占位卡换 Wio 侧面烧录开关特写（待拍摄，IMG-03-01）。]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「换板型重连 Codecraft——选 Wio Terminal，老流程。然后发一句你第一次课就会的话：'在屏幕上用大字显示 HELLO 和我的名字（拼音或英文）：＿＿＿。'</a:t>
            </a:r>
            <a:endParaRPr lang="en-US" sz="1200"/>
          </a:p>
          <a:p>
            <a:endParaRPr sz="1200"/>
          </a:p>
          <a:p>
            <a:r>
              <a:rPr lang="en-US" sz="1200"/>
              <a:t>（等全场亮起）看——换了新硬件，你会的东西一样不少，全都能用。」</a:t>
            </a:r>
            <a:endParaRPr lang="en-US" sz="1200"/>
          </a:p>
          <a:p>
            <a:endParaRPr sz="1200"/>
          </a:p>
          <a:p>
            <a:r>
              <a:rPr lang="en-US" sz="1200"/>
              <a:t>[为什么显示用英文——这块板的中文字库不稳，这节课所有屏幕显示一律用英文/数字/图形（第 1 课定版口径）。串口问题按老预案：换线→换机→结对。]</a:t>
            </a:r>
            <a:endParaRPr lang="en-US" sz="1200"/>
          </a:p>
          <a:p>
            <a:endParaRPr sz="1200"/>
          </a:p>
          <a:p>
            <a:r>
              <a:rPr lang="en-US" sz="1200"/>
              <a:t>[待替换：右侧占位卡换热身成功画面截图（待讲师预演截取，IMG-04-01）。]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（举起 Wio，对照标注图，每个一句话）「先转一圈，认识一下你手里的新伙伴。彩色大屏——作品的脸。三颗按键加一个五向摇杆——人的手：按一按、拨一拨，给作品下命令。光线传感器——知道亮暗。麦克风——听得到动静。加速度计——知道动没动、往哪边歪。蜂鸣器——会出声。这边两个小件今天只用耳朵听：SD 卡槽——能存东西；Grove 接口——以后加新模块的门。这两个先知道存在就行。」</a:t>
            </a:r>
            <a:endParaRPr lang="en-US" sz="1200"/>
          </a:p>
          <a:p>
            <a:endParaRPr sz="1200"/>
          </a:p>
          <a:p>
            <a:r>
              <a:rPr lang="en-US" sz="1200"/>
              <a:t>[导览不许讲成说明书——每报一个名字，让学员用手指在板子上找到它、摸一下。有学员追问联网，答："它能联网，那是后面的课，今天先记住它存在。"]</a:t>
            </a:r>
            <a:endParaRPr lang="en-US" sz="1200"/>
          </a:p>
          <a:p>
            <a:endParaRPr sz="1200"/>
          </a:p>
          <a:p>
            <a:r>
              <a:rPr lang="en-US" sz="1200"/>
              <a:t>[待替换：中央占位卡换 Wio 导览标注图（需制作，制作说明见策划附录，IMG-05-01）。标注图未备时降级：讲师举真板逐点讲解＋白板手绘，本页九点文字清单照常成立。]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FFFFFF">
                    <a:alpha val="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中文讲稿：让我展示Wio Terminal背面的特征。</a:t>
            </a:r>
            <a:endParaRPr lang="en-US" sz="1200" b="0" i="0" u="none" strike="noStrike">
              <a:solidFill>
                <a:srgbClr val="FFFFFF">
                  <a:alpha val="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indent="-76200" algn="l">
              <a:lnSpc>
                <a:spcPct val="100000"/>
              </a:lnSpc>
              <a:buClr>
                <a:srgbClr val="FFFFFF"/>
              </a:buClr>
              <a:buSzPts val="1200"/>
              <a:buFont typeface="Arial" panose="020B0604020202090204"/>
              <a:buChar char="•"/>
            </a:pPr>
            <a:r>
              <a:rPr lang="en-US" sz="1200" b="0" i="0" u="none" strike="noStrike">
                <a:solidFill>
                  <a:srgbClr val="FFFFFF">
                    <a:alpha val="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把它想象成一台迷你电脑。它有'大脑'——SAMD51微控制器。有'内存'——512KB存储空间存放程序。</a:t>
            </a:r>
            <a:endParaRPr lang="en-US" sz="1200" b="0" i="0" u="none" strike="noStrike">
              <a:solidFill>
                <a:srgbClr val="FFFFFF">
                  <a:alpha val="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indent="-76200" algn="l">
              <a:lnSpc>
                <a:spcPct val="100000"/>
              </a:lnSpc>
              <a:buClr>
                <a:srgbClr val="FFFFFF"/>
              </a:buClr>
              <a:buSzPts val="1200"/>
              <a:buFont typeface="Arial" panose="020B0604020202090204"/>
              <a:buChar char="•"/>
            </a:pPr>
            <a:r>
              <a:rPr lang="en-US" sz="1200" b="0" i="0" u="none" strike="noStrike">
                <a:solidFill>
                  <a:srgbClr val="FFFFFF">
                    <a:alpha val="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它还有各种传感器，比如'眼睛'——光线传感器，'耳朵'——麦克风，'嘴巴'——蜂鸣器。还有加速度传感器用于运动感知。</a:t>
            </a:r>
            <a:endParaRPr lang="en-US" sz="1200" b="0" i="0" u="none" strike="noStrike">
              <a:solidFill>
                <a:srgbClr val="FFFFFF">
                  <a:alpha val="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indent="-76200" algn="l">
              <a:lnSpc>
                <a:spcPct val="100000"/>
              </a:lnSpc>
              <a:buClr>
                <a:srgbClr val="FFFFFF"/>
              </a:buClr>
              <a:buSzPts val="1200"/>
              <a:buFont typeface="Arial" panose="020B0604020202090204"/>
              <a:buChar char="•"/>
            </a:pPr>
            <a:r>
              <a:rPr lang="en-US" sz="1200" b="0" i="0" u="none" strike="noStrike">
                <a:solidFill>
                  <a:srgbClr val="FFFFFF">
                    <a:alpha val="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这使它非常适合我们的AI编程工作坊。</a:t>
            </a:r>
            <a:endParaRPr lang="en-US" sz="1200" b="0" i="0" u="none" strike="noStrike">
              <a:solidFill>
                <a:srgbClr val="FFFFFF">
                  <a:alpha val="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200" b="0" i="0" u="none" strike="noStrike">
              <a:solidFill>
                <a:srgbClr val="FFFFFF">
                  <a:alpha val="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「和旧板子比一比：旧板子擅长感知世界——传感器焊好了，即插即用；这台多了彩屏、摇杆和无线，擅长让人和作品互动。一句话：为什么换装备？你的作品从今天起有脸、有手了。</a:t>
            </a:r>
            <a:endParaRPr lang="en-US" sz="1200"/>
          </a:p>
          <a:p>
            <a:endParaRPr sz="1200"/>
          </a:p>
          <a:p>
            <a:r>
              <a:rPr lang="en-US" sz="1200"/>
              <a:t>翻开你的学员文档，写两行：Wio 比旧板子多了什么——至少写三样；你最想先用它做什么。」</a:t>
            </a:r>
            <a:endParaRPr lang="en-US" sz="1200"/>
          </a:p>
          <a:p>
            <a:endParaRPr sz="1200"/>
          </a:p>
          <a:p>
            <a:r>
              <a:rPr lang="en-US" sz="1200"/>
              <a:t>[待替换：右侧占位卡换 Wio Terminal 实拍图（待拍摄，可复用 IMG-01-01）。]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「光摸不算认识——点亮它才算。五个微实验，每个你就发一句话，看它活过来。指令都印在你们的学员文档上，投屏跟着我走。节奏：我先发一遍，你们再发——别光看我，你发一句试试。」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「第一个，三键琴。看发——（发送）按 A：DO；按 B：MI；按 C：SOL。轮到你们，发出去试试——能弹出一小段就举手。」</a:t>
            </a:r>
            <a:endParaRPr lang="en-US" sz="1200"/>
          </a:p>
          <a:p>
            <a:endParaRPr sz="1200"/>
          </a:p>
          <a:p>
            <a:r>
              <a:rPr lang="en-US" sz="1200"/>
              <a:t>[某句跑不通：换预演跑通的句式版本；单点失败换机不修。一个实验卡住不许拖过 2 分钟。]</a:t>
            </a:r>
            <a:endParaRPr lang="en-US" sz="1200"/>
          </a:p>
          <a:p>
            <a:endParaRPr sz="1200"/>
          </a:p>
          <a:p>
            <a:r>
              <a:rPr lang="en-US" sz="1200"/>
              <a:t>[待替换：右侧占位卡换微实验 1 成功画面（待讲师预演截取，IMG-08-01）。截图未备时降级：讲师现场投屏真机演示，指令框保留。]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「第二个，推着小球跑。摇杆推向哪边，小球就往哪边跑。（演示）轮到你们——看谁能把球稳稳推到角落里。」</a:t>
            </a:r>
            <a:endParaRPr lang="en-US" sz="1200"/>
          </a:p>
          <a:p>
            <a:endParaRPr sz="1200"/>
          </a:p>
          <a:p>
            <a:r>
              <a:rPr lang="en-US" sz="1200"/>
              <a:t>[有学员摸到摇杆按下也能按：肯定他的发现，记入自由轮可用的输入清单。]</a:t>
            </a:r>
            <a:endParaRPr lang="en-US" sz="1200"/>
          </a:p>
          <a:p>
            <a:endParaRPr sz="1200"/>
          </a:p>
          <a:p>
            <a:r>
              <a:rPr lang="en-US" sz="1200"/>
              <a:t>[待替换：右侧占位卡换微实验 2 成功画面（待讲师预演截取，IMG-09-01）。]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「第三个，吹蜡烛。发出去——对着麦克风吹口气，火焰熄灭；过 2 秒，它自己又亮了。轮到你们。」</a:t>
            </a:r>
            <a:endParaRPr lang="en-US" sz="1200"/>
          </a:p>
          <a:p>
            <a:endParaRPr sz="1200"/>
          </a:p>
          <a:p>
            <a:r>
              <a:rPr lang="en-US" sz="1200"/>
              <a:t>[学员问原理：一句话够用——"吹气动静够大，它就当你吹了蜡烛。"某句跑不通：换预演跑通的句式版本；单点失败换机不修。]</a:t>
            </a:r>
            <a:endParaRPr lang="en-US" sz="1200"/>
          </a:p>
          <a:p>
            <a:endParaRPr sz="1200"/>
          </a:p>
          <a:p>
            <a:r>
              <a:rPr lang="en-US" sz="1200"/>
              <a:t>[待替换：右侧占位卡换微实验 3 成功画面（待讲师预演截取，IMG-10-01）。]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「第四个，怕黑的板子。发出去——用手掌把板子盖住，眼睛闭上，出 ZZZ；手拿开，醒了。这就是上节课'天黑亮灯'的那个本事，换了个玩法。」</a:t>
            </a:r>
            <a:endParaRPr lang="en-US" sz="1200"/>
          </a:p>
          <a:p>
            <a:endParaRPr sz="1200"/>
          </a:p>
          <a:p>
            <a:r>
              <a:rPr lang="en-US" sz="1200"/>
              <a:t>[待替换：右侧占位卡换微实验 4 成功画面（待讲师预演截取，IMG-11-01）。]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「最后一个，平衡球。发出去——板子往哪边歪，小球就往哪边滚。它知道你怎么动它。</a:t>
            </a:r>
            <a:endParaRPr lang="en-US" sz="1200"/>
          </a:p>
          <a:p>
            <a:endParaRPr sz="1200"/>
          </a:p>
          <a:p>
            <a:r>
              <a:rPr lang="en-US" sz="1200"/>
              <a:t>五个都试完的，翻开学员文档打勾，写一句：最让我惊喜的是哪个，为什么。」</a:t>
            </a:r>
            <a:endParaRPr lang="en-US" sz="1200"/>
          </a:p>
          <a:p>
            <a:endParaRPr sz="1200"/>
          </a:p>
          <a:p>
            <a:r>
              <a:rPr lang="en-US" sz="1200"/>
              <a:t>[快手做完当前实验就自由加一句（"给小球换个颜色""球碰到边就响一声"）；慢手保住前三个就算达标。]</a:t>
            </a:r>
            <a:endParaRPr lang="en-US" sz="1200"/>
          </a:p>
          <a:p>
            <a:endParaRPr sz="1200"/>
          </a:p>
          <a:p>
            <a:r>
              <a:rPr lang="en-US" sz="1200"/>
              <a:t>[待替换：右侧占位卡换微实验 5 成功画面（待讲师预演截取，IMG-12-01）。]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（投屏）「硬件都点亮了，现在学用好它的第一课：怎么让它给你一个好界面。做个实验，同一句话两种说法。第一种：（发）'做个计数器界面。'——看它给你什么。（翻结果）第二种：（发）'</a:t>
            </a:r>
            <a:r>
              <a:rPr lang="zh-CN" altLang="en-US" sz="1200"/>
              <a:t>做个计算器，</a:t>
            </a:r>
            <a:r>
              <a:rPr lang="en-US" sz="1200"/>
              <a:t>屏幕中间用最大号字显示数字，左上角小字显示 COUNTER，数字是红色。'——再看它给你什么。</a:t>
            </a:r>
            <a:endParaRPr lang="en-US" sz="1200"/>
          </a:p>
          <a:p>
            <a:endParaRPr sz="1200"/>
          </a:p>
          <a:p>
            <a:r>
              <a:rPr lang="en-US" sz="1200"/>
              <a:t>（并排投屏）差别在哪？说界面，要说清楚三样东西：位置、大小、颜色。」</a:t>
            </a:r>
            <a:endParaRPr lang="en-US" sz="1200"/>
          </a:p>
          <a:p>
            <a:endParaRPr sz="1200"/>
          </a:p>
          <a:p>
            <a:r>
              <a:rPr lang="en-US" sz="1200"/>
              <a:t>[点一句："逻辑说'什么条件干什么'，界面说'什么东西在什么位置长什么样'——两种表达，都要会。"若 AI 两次都做得不错："今天它猜对了你的心思，但你的项目比这复杂十倍，猜错的代价你付不起。"句式全文印在学员文档上。]</a:t>
            </a:r>
            <a:endParaRPr lang="en-US" sz="1200"/>
          </a:p>
          <a:p>
            <a:endParaRPr sz="1200"/>
          </a:p>
          <a:p>
            <a:r>
              <a:rPr lang="en-US" sz="1200"/>
              <a:t>[待替换：左右两张占位卡换对比实验两版界面截图（待讲师预演截取，IMG-13-01/02）。截图未备时降级：必须真发两次拿真结果，截图只是兜底。]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「跟做，分两步说——这是故意的。第一步只说界面：'屏幕中间用最大号字显示数字 0，左上角小字写 COUNTER。'烧录，看效果。第二步再说行为：'按 A 键数字加一，按 B 键清零。'再烧录——然后当着全班补一句：'每按满 10 下，蜂鸣器响一声庆祝。'看，不对就往下补一句，它就会了。</a:t>
            </a:r>
            <a:endParaRPr lang="en-US" sz="1200"/>
          </a:p>
          <a:p>
            <a:endParaRPr sz="1200"/>
          </a:p>
          <a:p>
            <a:r>
              <a:rPr lang="en-US" sz="1200"/>
              <a:t>（全场按键声起）看，先说样子，再说动作——两种表达，分两次说，它就不乱。」</a:t>
            </a:r>
            <a:endParaRPr lang="en-US" sz="1200"/>
          </a:p>
          <a:p>
            <a:endParaRPr sz="1200"/>
          </a:p>
          <a:p>
            <a:r>
              <a:rPr lang="en-US" sz="1200"/>
              <a:t>[按键无反应的头号原因：烧录模式没退出——口令"没反应？滑一下"。字号溢出/颜色不显："这正是'说样子'的精度问题——补一句描述，让它改。"]</a:t>
            </a:r>
            <a:endParaRPr lang="en-US" sz="1200"/>
          </a:p>
          <a:p>
            <a:endParaRPr sz="1200"/>
          </a:p>
          <a:p>
            <a:r>
              <a:rPr lang="en-US" sz="1200"/>
              <a:t>[待替换：两张占位卡换计数器两步效果截图（待讲师预演截取，IMG-14-01/02）。]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自由创作，命题一句：做一个有两个画面的东西，用按键或摇杆切换。时钟／心情显示器／秒表／自制菜单／反应力测试……都行（显示内容用英文、数字或图形）。你手里现在有五种输入——挑顺手的用。老纪律：先对同桌口头描述两个画面各长什么样——位置、大小、颜色说清楚——再跟 AI 说。」</a:t>
            </a:r>
            <a:endParaRPr lang="en-US" sz="1200"/>
          </a:p>
          <a:p>
            <a:endParaRPr sz="1200"/>
          </a:p>
          <a:p>
            <a:r>
              <a:rPr lang="en-US" sz="1200"/>
              <a:t>[学员让 AI 一口气全干："导演一场一场拍。先把第一个画面说漂亮，再说第二个，最后才说怎么切。"两屏退化成单屏：达标线降为"计数器＋一处自定义修改"，把卡点写进日志。快手：给两屏加一个传感器联动。]</a:t>
            </a:r>
            <a:endParaRPr lang="en-US" sz="1200"/>
          </a:p>
          <a:p>
            <a:endParaRPr sz="1200"/>
          </a:p>
          <a:p>
            <a:r>
              <a:rPr lang="en-US" sz="1200"/>
              <a:t>[本页学员创作期间常亮 40 分钟。]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「全场围观一个宝贝。（投屏跑偏案例）看：他说的是＿＿＿，AI 做的是＿＿＿。差在哪一句？（引导全班找）找到了——他忘了说位置。感谢这位同学，他替全班踩了这个坑。翻车不是笑话，是教材。」</a:t>
            </a:r>
            <a:endParaRPr lang="en-US" sz="1200"/>
          </a:p>
          <a:p>
            <a:endParaRPr sz="1200"/>
          </a:p>
          <a:p>
            <a:r>
              <a:rPr lang="en-US" sz="1200"/>
              <a:t>[当事人自愿原则；无人自愿就用预演的预制案例。定调必须是"功臣"，谁说风凉话你就当场把话接过来。]</a:t>
            </a:r>
            <a:endParaRPr lang="en-US" sz="1200"/>
          </a:p>
          <a:p>
            <a:endParaRPr sz="1200"/>
          </a:p>
          <a:p>
            <a:r>
              <a:rPr lang="en-US" sz="1200"/>
              <a:t>[待替换：中央占位卡换预制跑偏案例图（待讲师预演截取，IMG-16-01；有学员自愿展出则弃用）。]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「最后一个问题：跟 AI 说界面，和说逻辑，有什么不一样？（引导到：逻辑说'什么条件干什么'，界面说'什么东西在什么位置长什么样'）——收一下今天用好这台掌机的三条要领。第一，界面要说清位置、大小、颜色。第二，状态要看得见。第三，输入多，就多试几种组合。</a:t>
            </a:r>
            <a:endParaRPr lang="en-US" sz="1200"/>
          </a:p>
          <a:p>
            <a:endParaRPr sz="1200"/>
          </a:p>
          <a:p>
            <a:r>
              <a:rPr lang="en-US" sz="1200"/>
              <a:t>做今天的日志：拍一张你的界面作品，说三十秒，四句不变——今天的'卡在'，写具体，差的是位置、大小还是颜色。说完发给 AI 整理——它整理完你必须看一眼，AI 会一本正经地编，校对是你的事，谁也替不了。」</a:t>
            </a:r>
            <a:endParaRPr lang="en-US" sz="1200"/>
          </a:p>
          <a:p>
            <a:endParaRPr sz="1200"/>
          </a:p>
          <a:p>
            <a:r>
              <a:rPr lang="en-US" sz="1200"/>
              <a:t>[助教补拍作品照（只拍手不拍脸）；没手机的助教统一拍、按桌号归档。]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「接下来 30 分钟这样用：还没做出两屏作品的，继续做完，这是今天必须过的线；过了线的，【按当天安排宣布：领挑战题／帮同桌／给作品加传感器联动】。」</a:t>
            </a:r>
            <a:endParaRPr lang="en-US" sz="1200"/>
          </a:p>
          <a:p>
            <a:endParaRPr sz="1200"/>
          </a:p>
          <a:p>
            <a:r>
              <a:rPr lang="en-US" sz="1200"/>
              <a:t>[挑战题以预演跑通的为准，没跑通的别放出去。做完挑战的，往一句上引："摇杆玩熟了——以后它能当电脑的手柄用，这是后面的方向。"]</a:t>
            </a:r>
            <a:endParaRPr lang="en-US" sz="1200"/>
          </a:p>
          <a:p>
            <a:endParaRPr sz="1200"/>
          </a:p>
          <a:p>
            <a:r>
              <a:rPr lang="en-US" sz="1200"/>
              <a:t>[本页常亮 30 分钟。挑战题成功画面（IMG-18-01，预演 5 备份）跑通后才加进页内。]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「桌内每人 30 秒：演示你的作品，说一句'我用了哪个输入、怎么切的画面'。</a:t>
            </a:r>
            <a:endParaRPr lang="en-US" sz="1200"/>
          </a:p>
          <a:p>
            <a:endParaRPr sz="1200"/>
          </a:p>
          <a:p>
            <a:r>
              <a:rPr lang="en-US" sz="1200"/>
              <a:t>（互展后）最后两分钟，盘点一下今天。第一，你认识了新装备——Wio 上有屏幕、有按键摇杆、有三个传感器，每一个你都亲手点亮过。第二，你学会了用它的第一课：说界面，说清位置、大小、颜色。</a:t>
            </a:r>
            <a:endParaRPr lang="en-US" sz="1200"/>
          </a:p>
          <a:p>
            <a:endParaRPr sz="1200"/>
          </a:p>
          <a:p>
            <a:r>
              <a:rPr lang="en-US" sz="1200"/>
              <a:t>下次课是大日子：给 AI 组一个团队——让它不止一个人替你干活——从头到尾做一个完整项目：属于你的智能番茄钟。番茄钟就在这块彩屏上做，今天的界面本事，下节课正好全用上。带着你的选题来。下课！」</a:t>
            </a:r>
            <a:endParaRPr lang="en-US" sz="1200"/>
          </a:p>
          <a:p>
            <a:endParaRPr sz="1200"/>
          </a:p>
          <a:p>
            <a:r>
              <a:rPr lang="en-US" sz="1200"/>
              <a:t>[口令条留在桌上回收，下节课还能用。课后收成果：md 的发链接，手书的拍照——收齐与否记一笔。]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hyperlink" Target="https://wiki.seeedstudio.com/Wio-Terminal-Getting-Started/" TargetMode="External"/><Relationship Id="rId2" Type="http://schemas.openxmlformats.org/officeDocument/2006/relationships/hyperlink" Target="https://wiki.seeedstudio.com/cn/Wio-Terminal-Getting-Started/" TargetMode="Externa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jpe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seeed"/>
          <p:cNvPicPr/>
          <p:nvPr/>
        </p:nvPicPr>
        <p:blipFill>
          <a:blip r:embed="rId1"/>
          <a:srcRect t="-8" b="-8"/>
          <a:stretch>
            <a:fillRect/>
          </a:stretch>
        </p:blipFill>
        <p:spPr>
          <a:xfrm>
            <a:off x="1016000" y="660400"/>
            <a:ext cx="2209800" cy="482600"/>
          </a:xfrm>
          <a:prstGeom prst="rect">
            <a:avLst/>
          </a:prstGeom>
          <a:ln>
            <a:noFill/>
          </a:ln>
        </p:spPr>
      </p:pic>
      <p:pic>
        <p:nvPicPr>
          <p:cNvPr id="3" name="logo-chaihuo"/>
          <p:cNvPicPr/>
          <p:nvPr/>
        </p:nvPicPr>
        <p:blipFill>
          <a:blip r:embed="rId2"/>
          <a:srcRect l="-74" r="-74"/>
          <a:stretch>
            <a:fillRect/>
          </a:stretch>
        </p:blipFill>
        <p:spPr>
          <a:xfrm>
            <a:off x="3505200" y="584200"/>
            <a:ext cx="1219200" cy="685800"/>
          </a:xfrm>
          <a:prstGeom prst="rect">
            <a:avLst/>
          </a:prstGeom>
          <a:ln>
            <a:noFill/>
          </a:ln>
        </p:spPr>
      </p:pic>
      <p:sp>
        <p:nvSpPr>
          <p:cNvPr id="4" name="main-title"/>
          <p:cNvSpPr txBox="1"/>
          <p:nvPr/>
        </p:nvSpPr>
        <p:spPr>
          <a:xfrm>
            <a:off x="1016000" y="2133600"/>
            <a:ext cx="6858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000000"/>
                </a:solidFill>
                <a:latin typeface="MiSans"/>
                <a:ea typeface="MiSans"/>
              </a:rPr>
              <a:t>给作品装上屏幕</a:t>
            </a:r>
            <a:endParaRPr lang="en-US" sz="4400"/>
          </a:p>
        </p:txBody>
      </p:sp>
      <p:sp>
        <p:nvSpPr>
          <p:cNvPr id="5" name="deco-line"/>
          <p:cNvSpPr/>
          <p:nvPr/>
        </p:nvSpPr>
        <p:spPr>
          <a:xfrm>
            <a:off x="1016000" y="3200400"/>
            <a:ext cx="5719445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sub-title"/>
          <p:cNvSpPr txBox="1"/>
          <p:nvPr/>
        </p:nvSpPr>
        <p:spPr>
          <a:xfrm>
            <a:off x="1016000" y="3454400"/>
            <a:ext cx="70612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Wio Terminal · 人机交互（HMI）开发板</a:t>
            </a:r>
            <a:endParaRPr lang="en-US" sz="2000"/>
          </a:p>
        </p:txBody>
      </p:sp>
      <p:sp>
        <p:nvSpPr>
          <p:cNvPr id="7" name="course-tag"/>
          <p:cNvSpPr txBox="1"/>
          <p:nvPr/>
        </p:nvSpPr>
        <p:spPr>
          <a:xfrm>
            <a:off x="1016000" y="4038600"/>
            <a:ext cx="70612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柴火创客学园 M0 · 零基础智能硬件入门 · 第 3 课</a:t>
            </a:r>
            <a:endParaRPr lang="en-US" sz="1600"/>
          </a:p>
        </p:txBody>
      </p:sp>
      <p:sp>
        <p:nvSpPr>
          <p:cNvPr id="8" name="org"/>
          <p:cNvSpPr txBox="1"/>
          <p:nvPr/>
        </p:nvSpPr>
        <p:spPr>
          <a:xfrm>
            <a:off x="1016000" y="5943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柴火创客学园 ｜ 2026</a:t>
            </a:r>
            <a:endParaRPr lang="en-US" sz="1400"/>
          </a:p>
        </p:txBody>
      </p:sp>
      <p:grpSp>
        <p:nvGrpSpPr>
          <p:cNvPr id="13" name="Group 8"/>
          <p:cNvGrpSpPr/>
          <p:nvPr/>
        </p:nvGrpSpPr>
        <p:grpSpPr>
          <a:xfrm>
            <a:off x="6545064" y="2464279"/>
            <a:ext cx="5457061" cy="3869163"/>
            <a:chOff x="6734929" y="1716249"/>
            <a:chExt cx="5457061" cy="3869163"/>
          </a:xfrm>
        </p:grpSpPr>
        <p:pic>
          <p:nvPicPr>
            <p:cNvPr id="14" name="Picture 9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734929" y="1716249"/>
              <a:ext cx="5457061" cy="386916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15" name="Picture 10"/>
            <p:cNvPicPr>
              <a:picLocks noChangeAspect="1"/>
            </p:cNvPicPr>
            <p:nvPr/>
          </p:nvPicPr>
          <p:blipFill>
            <a:blip r:embed="rId4"/>
            <a:srcRect t="621" b="622"/>
            <a:stretch>
              <a:fillRect/>
            </a:stretch>
          </p:blipFill>
          <p:spPr>
            <a:xfrm>
              <a:off x="7465803" y="2198402"/>
              <a:ext cx="3784935" cy="215686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认识新装备 · 开场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先把上节课的成果收齐</a:t>
            </a:r>
            <a:endParaRPr lang="en-US" sz="2800"/>
          </a:p>
        </p:txBody>
      </p:sp>
      <p:sp>
        <p:nvSpPr>
          <p:cNvPr id="5" name="wall-card"/>
          <p:cNvSpPr/>
          <p:nvPr/>
        </p:nvSpPr>
        <p:spPr>
          <a:xfrm>
            <a:off x="762000" y="1803400"/>
            <a:ext cx="4826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wall-icon"/>
          <p:cNvSpPr/>
          <p:nvPr/>
        </p:nvSpPr>
        <p:spPr>
          <a:xfrm>
            <a:off x="2997200" y="3098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7" name="wall-lab"/>
          <p:cNvSpPr txBox="1"/>
          <p:nvPr/>
        </p:nvSpPr>
        <p:spPr>
          <a:xfrm>
            <a:off x="889000" y="3556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000000"/>
                </a:solidFill>
                <a:latin typeface="MiSans"/>
                <a:ea typeface="MiSans"/>
              </a:rPr>
              <a:t>待替换：选题墙照片</a:t>
            </a:r>
            <a:endParaRPr lang="en-US" sz="1200"/>
          </a:p>
        </p:txBody>
      </p:sp>
      <p:sp>
        <p:nvSpPr>
          <p:cNvPr id="8" name="wall-sub"/>
          <p:cNvSpPr txBox="1"/>
          <p:nvPr/>
        </p:nvSpPr>
        <p:spPr>
          <a:xfrm>
            <a:off x="889000" y="38608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000000"/>
                </a:solidFill>
                <a:latin typeface="MiSans"/>
                <a:ea typeface="MiSans"/>
              </a:rPr>
              <a:t>第 2 课助教拍摄，拍墙不拍人（IMG-02-01）</a:t>
            </a:r>
            <a:endParaRPr lang="en-US" sz="1000"/>
          </a:p>
        </p:txBody>
      </p:sp>
      <p:sp>
        <p:nvSpPr>
          <p:cNvPr id="9" name="act-card0"/>
          <p:cNvSpPr/>
          <p:nvPr/>
        </p:nvSpPr>
        <p:spPr>
          <a:xfrm>
            <a:off x="5969000" y="18034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0" name="act0-dot"/>
          <p:cNvSpPr/>
          <p:nvPr/>
        </p:nvSpPr>
        <p:spPr>
          <a:xfrm>
            <a:off x="6223000" y="20320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1" name="act0-num"/>
          <p:cNvSpPr txBox="1"/>
          <p:nvPr/>
        </p:nvSpPr>
        <p:spPr>
          <a:xfrm>
            <a:off x="6223000" y="2032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12" name="act-h0"/>
          <p:cNvSpPr txBox="1"/>
          <p:nvPr/>
        </p:nvSpPr>
        <p:spPr>
          <a:xfrm>
            <a:off x="6781800" y="20320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交成果</a:t>
            </a:r>
            <a:endParaRPr lang="en-US" sz="1700"/>
          </a:p>
        </p:txBody>
      </p:sp>
      <p:sp>
        <p:nvSpPr>
          <p:cNvPr id="13" name="act-t0"/>
          <p:cNvSpPr txBox="1"/>
          <p:nvPr/>
        </p:nvSpPr>
        <p:spPr>
          <a:xfrm>
            <a:off x="6223000" y="2514600"/>
            <a:ext cx="495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md 文档的发链接；手书的拍照发老师。没收齐的记一笔，今天下课前补。</a:t>
            </a:r>
            <a:endParaRPr lang="en-US" sz="1300"/>
          </a:p>
        </p:txBody>
      </p:sp>
      <p:sp>
        <p:nvSpPr>
          <p:cNvPr id="14" name="act-card1"/>
          <p:cNvSpPr/>
          <p:nvPr/>
        </p:nvSpPr>
        <p:spPr>
          <a:xfrm>
            <a:off x="5969000" y="37084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5" name="act1-dot"/>
          <p:cNvSpPr/>
          <p:nvPr/>
        </p:nvSpPr>
        <p:spPr>
          <a:xfrm>
            <a:off x="6223000" y="39370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6" name="act1-num"/>
          <p:cNvSpPr txBox="1"/>
          <p:nvPr/>
        </p:nvSpPr>
        <p:spPr>
          <a:xfrm>
            <a:off x="6223000" y="3937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17" name="act-h1"/>
          <p:cNvSpPr txBox="1"/>
          <p:nvPr/>
        </p:nvSpPr>
        <p:spPr>
          <a:xfrm>
            <a:off x="6781800" y="39370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看选题墙</a:t>
            </a:r>
            <a:endParaRPr lang="en-US" sz="1700"/>
          </a:p>
        </p:txBody>
      </p:sp>
      <p:sp>
        <p:nvSpPr>
          <p:cNvPr id="18" name="act-t1"/>
          <p:cNvSpPr txBox="1"/>
          <p:nvPr/>
        </p:nvSpPr>
        <p:spPr>
          <a:xfrm>
            <a:off x="6223000" y="4419600"/>
            <a:ext cx="495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每个人的宣言都在上面——它是你后面所有大作品的北星。</a:t>
            </a:r>
            <a:endParaRPr lang="en-US" sz="1300"/>
          </a:p>
        </p:txBody>
      </p:sp>
      <p:sp>
        <p:nvSpPr>
          <p:cNvPr id="19" name="anchor-bg"/>
          <p:cNvSpPr/>
          <p:nvPr/>
        </p:nvSpPr>
        <p:spPr>
          <a:xfrm>
            <a:off x="762000" y="5588000"/>
            <a:ext cx="10668000" cy="635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20" name="anchor-icon"/>
          <p:cNvSpPr/>
          <p:nvPr/>
        </p:nvSpPr>
        <p:spPr>
          <a:xfrm>
            <a:off x="990600" y="579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" name="anchor-txt"/>
          <p:cNvSpPr txBox="1"/>
          <p:nvPr/>
        </p:nvSpPr>
        <p:spPr>
          <a:xfrm>
            <a:off x="1346200" y="5588000"/>
            <a:ext cx="990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翻开你的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学员文档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（或笔记本）——今天每一步产出，继续写在你自己的文档里。</a:t>
            </a:r>
            <a:endParaRPr lang="en-US" sz="1600"/>
          </a:p>
        </p:txBody>
      </p:sp>
      <p:sp>
        <p:nvSpPr>
          <p:cNvPr id="22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02 / 19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认识新装备 · 换装备仪式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它叫 Wio Terminal——一台掌上小电脑</a:t>
            </a:r>
            <a:endParaRPr lang="en-US" sz="2600"/>
          </a:p>
        </p:txBody>
      </p:sp>
      <p:sp>
        <p:nvSpPr>
          <p:cNvPr id="9" name="sell-sq0"/>
          <p:cNvSpPr/>
          <p:nvPr/>
        </p:nvSpPr>
        <p:spPr>
          <a:xfrm>
            <a:off x="5461000" y="1905000"/>
            <a:ext cx="152400" cy="1524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sell-t0"/>
          <p:cNvSpPr txBox="1"/>
          <p:nvPr/>
        </p:nvSpPr>
        <p:spPr>
          <a:xfrm>
            <a:off x="5765800" y="1803400"/>
            <a:ext cx="558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彩色大屏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　作品的脸</a:t>
            </a:r>
            <a:endParaRPr lang="en-US" sz="1500"/>
          </a:p>
        </p:txBody>
      </p:sp>
      <p:sp>
        <p:nvSpPr>
          <p:cNvPr id="11" name="sell-sq1"/>
          <p:cNvSpPr/>
          <p:nvPr/>
        </p:nvSpPr>
        <p:spPr>
          <a:xfrm>
            <a:off x="5461000" y="2463800"/>
            <a:ext cx="152400" cy="1524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2" name="sell-t1"/>
          <p:cNvSpPr txBox="1"/>
          <p:nvPr/>
        </p:nvSpPr>
        <p:spPr>
          <a:xfrm>
            <a:off x="5765800" y="2362200"/>
            <a:ext cx="558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三颗按键＋一个五向摇杆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　人的手</a:t>
            </a:r>
            <a:endParaRPr lang="en-US" sz="1500"/>
          </a:p>
        </p:txBody>
      </p:sp>
      <p:sp>
        <p:nvSpPr>
          <p:cNvPr id="13" name="sell-sq2"/>
          <p:cNvSpPr/>
          <p:nvPr/>
        </p:nvSpPr>
        <p:spPr>
          <a:xfrm>
            <a:off x="5461000" y="3022600"/>
            <a:ext cx="152400" cy="1524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sell-t2"/>
          <p:cNvSpPr txBox="1"/>
          <p:nvPr/>
        </p:nvSpPr>
        <p:spPr>
          <a:xfrm>
            <a:off x="5765800" y="2921000"/>
            <a:ext cx="558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自带传感器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　自带耳朵和身体</a:t>
            </a:r>
            <a:endParaRPr lang="en-US" sz="1500"/>
          </a:p>
        </p:txBody>
      </p:sp>
      <p:sp>
        <p:nvSpPr>
          <p:cNvPr id="15" name="sw-h"/>
          <p:cNvSpPr txBox="1"/>
          <p:nvPr/>
        </p:nvSpPr>
        <p:spPr>
          <a:xfrm>
            <a:off x="5461000" y="3530600"/>
            <a:ext cx="596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烧录之前，侧面的开关：</a:t>
            </a:r>
            <a:endParaRPr lang="en-US" sz="1400"/>
          </a:p>
        </p:txBody>
      </p:sp>
      <p:sp>
        <p:nvSpPr>
          <p:cNvPr id="16" name="sw-b1"/>
          <p:cNvSpPr/>
          <p:nvPr/>
        </p:nvSpPr>
        <p:spPr>
          <a:xfrm>
            <a:off x="5461000" y="3937000"/>
            <a:ext cx="1651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7" name="sw-t1"/>
          <p:cNvSpPr txBox="1"/>
          <p:nvPr/>
        </p:nvSpPr>
        <p:spPr>
          <a:xfrm>
            <a:off x="5461000" y="3937000"/>
            <a:ext cx="1651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滑一下</a:t>
            </a:r>
            <a:endParaRPr lang="en-US" sz="1600"/>
          </a:p>
        </p:txBody>
      </p:sp>
      <p:sp>
        <p:nvSpPr>
          <p:cNvPr id="18" name="sw-ar"/>
          <p:cNvSpPr/>
          <p:nvPr/>
        </p:nvSpPr>
        <p:spPr>
          <a:xfrm>
            <a:off x="7213600" y="4089400"/>
            <a:ext cx="3556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19" name="sw-b2"/>
          <p:cNvSpPr/>
          <p:nvPr/>
        </p:nvSpPr>
        <p:spPr>
          <a:xfrm>
            <a:off x="7670800" y="3937000"/>
            <a:ext cx="1651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0" name="sw-t2"/>
          <p:cNvSpPr txBox="1"/>
          <p:nvPr/>
        </p:nvSpPr>
        <p:spPr>
          <a:xfrm>
            <a:off x="7670800" y="3937000"/>
            <a:ext cx="1651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再滑一下</a:t>
            </a:r>
            <a:endParaRPr lang="en-US" sz="1600"/>
          </a:p>
        </p:txBody>
      </p:sp>
      <p:sp>
        <p:nvSpPr>
          <p:cNvPr id="21" name="sw-cap"/>
          <p:cNvSpPr txBox="1"/>
          <p:nvPr/>
        </p:nvSpPr>
        <p:spPr>
          <a:xfrm>
            <a:off x="5461000" y="46482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——告诉板子"准备接收新指令"。</a:t>
            </a:r>
            <a:endParaRPr lang="en-US" sz="1200"/>
          </a:p>
        </p:txBody>
      </p:sp>
      <p:sp>
        <p:nvSpPr>
          <p:cNvPr id="22" name="cmd-card"/>
          <p:cNvSpPr/>
          <p:nvPr/>
        </p:nvSpPr>
        <p:spPr>
          <a:xfrm>
            <a:off x="762000" y="5334000"/>
            <a:ext cx="10668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3" name="cmd-bar"/>
          <p:cNvSpPr/>
          <p:nvPr/>
        </p:nvSpPr>
        <p:spPr>
          <a:xfrm>
            <a:off x="762000" y="5334000"/>
            <a:ext cx="76200" cy="711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4" name="cmd-txt"/>
          <p:cNvSpPr txBox="1"/>
          <p:nvPr/>
        </p:nvSpPr>
        <p:spPr>
          <a:xfrm>
            <a:off x="1016000" y="5334000"/>
            <a:ext cx="10236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没反应？滑一下。——全体跟老师演练两遍。</a:t>
            </a:r>
            <a:endParaRPr lang="en-US" sz="1800"/>
          </a:p>
        </p:txBody>
      </p:sp>
      <p:sp>
        <p:nvSpPr>
          <p:cNvPr id="25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03 / 19</a:t>
            </a:r>
            <a:endParaRPr lang="en-US" sz="1100"/>
          </a:p>
        </p:txBody>
      </p:sp>
      <p:sp>
        <p:nvSpPr>
          <p:cNvPr id="26" name="AutoShape 3"/>
          <p:cNvSpPr/>
          <p:nvPr/>
        </p:nvSpPr>
        <p:spPr>
          <a:xfrm>
            <a:off x="584200" y="2759710"/>
            <a:ext cx="1878330" cy="361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76200" tIns="38100" rIns="76200" bIns="38100" rtlCol="0" anchor="t">
            <a:spAutoFit/>
          </a:bodyPr>
          <a:lstStyle/>
          <a:p>
            <a:pPr marL="0" indent="0" algn="r">
              <a:lnSpc>
                <a:spcPct val="133000"/>
              </a:lnSpc>
              <a:defRPr/>
            </a:pPr>
            <a:r>
              <a:rPr lang="en-US" sz="1400">
                <a:latin typeface="Source Han Sans CN" panose="020B0200000000000000" charset="-122"/>
                <a:ea typeface="Source Han Sans CN" panose="020B0200000000000000" charset="-122"/>
              </a:rPr>
              <a:t>重置滑动开关</a:t>
            </a:r>
            <a:endParaRPr lang="en-US" sz="1400">
              <a:latin typeface="Source Han Sans CN" panose="020B0200000000000000" charset="-122"/>
              <a:ea typeface="Source Han Sans CN" panose="020B0200000000000000" charset="-122"/>
            </a:endParaRPr>
          </a:p>
        </p:txBody>
      </p:sp>
      <p:pic>
        <p:nvPicPr>
          <p:cNvPr id="27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1803478" y="2483237"/>
            <a:ext cx="3097808" cy="179210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8" name="AutoShape 12"/>
          <p:cNvSpPr/>
          <p:nvPr/>
        </p:nvSpPr>
        <p:spPr>
          <a:xfrm>
            <a:off x="584200" y="3800475"/>
            <a:ext cx="1878330" cy="361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76200" tIns="38100" rIns="76200" bIns="38100" rtlCol="0" anchor="t">
            <a:spAutoFit/>
          </a:bodyPr>
          <a:lstStyle/>
          <a:p>
            <a:pPr marL="0" indent="0" algn="r">
              <a:lnSpc>
                <a:spcPct val="133000"/>
              </a:lnSpc>
              <a:defRPr/>
            </a:pPr>
            <a:r>
              <a:rPr lang="en-US" sz="1400">
                <a:latin typeface="Source Han Sans CN" panose="020B0200000000000000" charset="-122"/>
                <a:ea typeface="Source Han Sans CN" panose="020B0200000000000000" charset="-122"/>
                <a:cs typeface="Source Han Sans CN" panose="020B0200000000000000" charset="-122"/>
              </a:rPr>
              <a:t>microSD  卡槽</a:t>
            </a:r>
            <a:endParaRPr lang="en-US" sz="1400">
              <a:latin typeface="Source Han Sans CN" panose="020B0200000000000000" charset="-122"/>
              <a:ea typeface="Source Han Sans CN" panose="020B0200000000000000" charset="-122"/>
              <a:cs typeface="Source Han Sans CN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认识新装备 · 热身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换板型重连——老流程，一句老话</a:t>
            </a:r>
            <a:endParaRPr lang="en-US" sz="2600"/>
          </a:p>
        </p:txBody>
      </p:sp>
      <p:sp>
        <p:nvSpPr>
          <p:cNvPr id="7" name="ok-label"/>
          <p:cNvSpPr txBox="1"/>
          <p:nvPr/>
        </p:nvSpPr>
        <p:spPr>
          <a:xfrm>
            <a:off x="6900545" y="1348105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000000"/>
                </a:solidFill>
                <a:latin typeface="MiSans"/>
                <a:ea typeface="MiSans"/>
              </a:rPr>
              <a:t>成功长这样：</a:t>
            </a:r>
            <a:endParaRPr lang="en-US" sz="1200"/>
          </a:p>
        </p:txBody>
      </p:sp>
      <p:sp>
        <p:nvSpPr>
          <p:cNvPr id="12" name="quote-card"/>
          <p:cNvSpPr/>
          <p:nvPr/>
        </p:nvSpPr>
        <p:spPr>
          <a:xfrm>
            <a:off x="762000" y="5130800"/>
            <a:ext cx="10668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3" name="quote-bar"/>
          <p:cNvSpPr/>
          <p:nvPr/>
        </p:nvSpPr>
        <p:spPr>
          <a:xfrm>
            <a:off x="762000" y="5130800"/>
            <a:ext cx="76200" cy="711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quote-txt"/>
          <p:cNvSpPr txBox="1"/>
          <p:nvPr/>
        </p:nvSpPr>
        <p:spPr>
          <a:xfrm>
            <a:off x="1016000" y="5130800"/>
            <a:ext cx="10236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换了新硬件，你会的东西一样不少，全都能用——而且字更漂亮了。</a:t>
            </a:r>
            <a:endParaRPr lang="en-US" sz="1700"/>
          </a:p>
        </p:txBody>
      </p:sp>
      <p:sp>
        <p:nvSpPr>
          <p:cNvPr id="15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04 / 19</a:t>
            </a:r>
            <a:endParaRPr lang="en-US" sz="11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b="7350"/>
          <a:stretch>
            <a:fillRect/>
          </a:stretch>
        </p:blipFill>
        <p:spPr>
          <a:xfrm>
            <a:off x="1122680" y="1959610"/>
            <a:ext cx="4678680" cy="2795905"/>
          </a:xfrm>
          <a:prstGeom prst="roundRect">
            <a:avLst>
              <a:gd name="adj" fmla="val 8107"/>
            </a:avLst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7" name="图片 16" descr="img_v3_02141_c83d1470-79a5-4e28-b56d-4ed366fff1d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45" y="1955165"/>
            <a:ext cx="3798570" cy="2849245"/>
          </a:xfrm>
          <a:prstGeom prst="roundRect">
            <a:avLst>
              <a:gd name="adj" fmla="val 6757"/>
            </a:avLst>
          </a:prstGeom>
        </p:spPr>
      </p:pic>
      <p:sp>
        <p:nvSpPr>
          <p:cNvPr id="22" name="矩形 21"/>
          <p:cNvSpPr/>
          <p:nvPr/>
        </p:nvSpPr>
        <p:spPr>
          <a:xfrm>
            <a:off x="1327785" y="3302635"/>
            <a:ext cx="4093210" cy="652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rPr>
              <a:t>我用的</a:t>
            </a:r>
            <a:r>
              <a:rPr lang="en-US" altLang="zh-CN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rPr>
              <a:t>Wio Terminal，</a:t>
            </a:r>
            <a:r>
              <a:rPr lang="zh-CN" altLang="en-US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rPr>
              <a:t>请帮我实现下面功能：在屏幕上用大字显示 </a:t>
            </a:r>
            <a:r>
              <a:rPr lang="en-US" altLang="zh-CN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rPr>
              <a:t>HELLO</a:t>
            </a:r>
            <a:r>
              <a:rPr lang="zh-CN" altLang="en-US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rPr>
              <a:t>和我的名字 </a:t>
            </a:r>
            <a:r>
              <a:rPr lang="en-US" altLang="zh-CN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rPr>
              <a:t>Feng Lei</a:t>
            </a:r>
            <a:endParaRPr lang="en-US" altLang="zh-CN" sz="1400">
              <a:solidFill>
                <a:schemeClr val="tx1"/>
              </a:solidFill>
              <a:latin typeface="Source Han Sans CN Regular" panose="020B0200000000000000" charset="-122"/>
              <a:ea typeface="Source Han Sans CN Regular" panose="020B0200000000000000" charset="-122"/>
              <a:cs typeface="Source Han Sans CN Regular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认识新装备 · 板子导览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转一圈，认识你的新伙伴</a:t>
            </a:r>
            <a:endParaRPr lang="en-US" sz="2800"/>
          </a:p>
        </p:txBody>
      </p:sp>
      <p:sp>
        <p:nvSpPr>
          <p:cNvPr id="9" name="pt-ic0"/>
          <p:cNvSpPr/>
          <p:nvPr/>
        </p:nvSpPr>
        <p:spPr>
          <a:xfrm>
            <a:off x="7696200" y="184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512" y="32"/>
                </a:lnTo>
                <a:cubicBezTo>
                  <a:pt x="547" y="32"/>
                  <a:pt x="576" y="61"/>
                  <a:pt x="576" y="96"/>
                </a:cubicBezTo>
                <a:lnTo>
                  <a:pt x="576" y="336"/>
                </a:lnTo>
                <a:cubicBezTo>
                  <a:pt x="576" y="371"/>
                  <a:pt x="547" y="400"/>
                  <a:pt x="512" y="400"/>
                </a:cubicBezTo>
                <a:lnTo>
                  <a:pt x="64" y="400"/>
                </a:lnTo>
                <a:cubicBezTo>
                  <a:pt x="29" y="400"/>
                  <a:pt x="0" y="371"/>
                  <a:pt x="0" y="336"/>
                </a:cubicBezTo>
                <a:lnTo>
                  <a:pt x="0" y="96"/>
                </a:lnTo>
                <a:close/>
                <a:moveTo>
                  <a:pt x="64" y="96"/>
                </a:moveTo>
                <a:lnTo>
                  <a:pt x="64" y="336"/>
                </a:lnTo>
                <a:lnTo>
                  <a:pt x="512" y="336"/>
                </a:lnTo>
                <a:lnTo>
                  <a:pt x="512" y="96"/>
                </a:lnTo>
                <a:lnTo>
                  <a:pt x="64" y="96"/>
                </a:lnTo>
                <a:close/>
                <a:moveTo>
                  <a:pt x="160" y="448"/>
                </a:moveTo>
                <a:lnTo>
                  <a:pt x="416" y="448"/>
                </a:lnTo>
                <a:cubicBezTo>
                  <a:pt x="434" y="448"/>
                  <a:pt x="448" y="462"/>
                  <a:pt x="448" y="480"/>
                </a:cubicBezTo>
                <a:cubicBezTo>
                  <a:pt x="448" y="498"/>
                  <a:pt x="434" y="512"/>
                  <a:pt x="416" y="512"/>
                </a:cubicBezTo>
                <a:lnTo>
                  <a:pt x="160" y="512"/>
                </a:lnTo>
                <a:cubicBezTo>
                  <a:pt x="142" y="512"/>
                  <a:pt x="128" y="498"/>
                  <a:pt x="128" y="480"/>
                </a:cubicBezTo>
                <a:cubicBezTo>
                  <a:pt x="128" y="462"/>
                  <a:pt x="142" y="448"/>
                  <a:pt x="160" y="44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0" name="pt-t0"/>
          <p:cNvSpPr txBox="1"/>
          <p:nvPr/>
        </p:nvSpPr>
        <p:spPr>
          <a:xfrm>
            <a:off x="8051800" y="1803400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彩色大屏——作品的脸：界面、数字、图形都在这</a:t>
            </a:r>
            <a:endParaRPr lang="en-US" sz="1200"/>
          </a:p>
        </p:txBody>
      </p:sp>
      <p:sp>
        <p:nvSpPr>
          <p:cNvPr id="11" name="pt-ic1"/>
          <p:cNvSpPr/>
          <p:nvPr/>
        </p:nvSpPr>
        <p:spPr>
          <a:xfrm>
            <a:off x="7696200" y="231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40"/>
                </a:moveTo>
                <a:cubicBezTo>
                  <a:pt x="128" y="18"/>
                  <a:pt x="146" y="0"/>
                  <a:pt x="168" y="0"/>
                </a:cubicBezTo>
                <a:cubicBezTo>
                  <a:pt x="190" y="0"/>
                  <a:pt x="208" y="18"/>
                  <a:pt x="208" y="40"/>
                </a:cubicBezTo>
                <a:lnTo>
                  <a:pt x="208" y="188"/>
                </a:lnTo>
                <a:cubicBezTo>
                  <a:pt x="217" y="181"/>
                  <a:pt x="228" y="176"/>
                  <a:pt x="240" y="176"/>
                </a:cubicBezTo>
                <a:cubicBezTo>
                  <a:pt x="261" y="176"/>
                  <a:pt x="278" y="189"/>
                  <a:pt x="285" y="207"/>
                </a:cubicBezTo>
                <a:cubicBezTo>
                  <a:pt x="294" y="198"/>
                  <a:pt x="306" y="192"/>
                  <a:pt x="320" y="192"/>
                </a:cubicBezTo>
                <a:cubicBezTo>
                  <a:pt x="345" y="192"/>
                  <a:pt x="366" y="212"/>
                  <a:pt x="368" y="236"/>
                </a:cubicBezTo>
                <a:cubicBezTo>
                  <a:pt x="376" y="229"/>
                  <a:pt x="388" y="224"/>
                  <a:pt x="400" y="224"/>
                </a:cubicBezTo>
                <a:cubicBezTo>
                  <a:pt x="427" y="224"/>
                  <a:pt x="448" y="246"/>
                  <a:pt x="448" y="272"/>
                </a:cubicBezTo>
                <a:lnTo>
                  <a:pt x="448" y="384"/>
                </a:lnTo>
                <a:cubicBezTo>
                  <a:pt x="448" y="455"/>
                  <a:pt x="391" y="512"/>
                  <a:pt x="320" y="512"/>
                </a:cubicBezTo>
                <a:lnTo>
                  <a:pt x="235" y="512"/>
                </a:lnTo>
                <a:cubicBezTo>
                  <a:pt x="230" y="512"/>
                  <a:pt x="225" y="512"/>
                  <a:pt x="220" y="511"/>
                </a:cubicBezTo>
                <a:cubicBezTo>
                  <a:pt x="165" y="505"/>
                  <a:pt x="114" y="477"/>
                  <a:pt x="80" y="432"/>
                </a:cubicBezTo>
                <a:lnTo>
                  <a:pt x="8" y="336"/>
                </a:lnTo>
                <a:cubicBezTo>
                  <a:pt x="-5" y="318"/>
                  <a:pt x="-2" y="293"/>
                  <a:pt x="16" y="280"/>
                </a:cubicBezTo>
                <a:cubicBezTo>
                  <a:pt x="34" y="267"/>
                  <a:pt x="59" y="270"/>
                  <a:pt x="72" y="288"/>
                </a:cubicBezTo>
                <a:lnTo>
                  <a:pt x="128" y="363"/>
                </a:lnTo>
                <a:lnTo>
                  <a:pt x="128" y="40"/>
                </a:lnTo>
                <a:close/>
                <a:moveTo>
                  <a:pt x="240" y="304"/>
                </a:moveTo>
                <a:cubicBezTo>
                  <a:pt x="240" y="295"/>
                  <a:pt x="233" y="288"/>
                  <a:pt x="224" y="288"/>
                </a:cubicBezTo>
                <a:cubicBezTo>
                  <a:pt x="215" y="288"/>
                  <a:pt x="208" y="295"/>
                  <a:pt x="208" y="304"/>
                </a:cubicBezTo>
                <a:lnTo>
                  <a:pt x="208" y="400"/>
                </a:lnTo>
                <a:cubicBezTo>
                  <a:pt x="208" y="409"/>
                  <a:pt x="215" y="416"/>
                  <a:pt x="224" y="416"/>
                </a:cubicBezTo>
                <a:cubicBezTo>
                  <a:pt x="233" y="416"/>
                  <a:pt x="240" y="409"/>
                  <a:pt x="240" y="400"/>
                </a:cubicBezTo>
                <a:lnTo>
                  <a:pt x="240" y="304"/>
                </a:lnTo>
                <a:close/>
                <a:moveTo>
                  <a:pt x="288" y="288"/>
                </a:moveTo>
                <a:cubicBezTo>
                  <a:pt x="279" y="288"/>
                  <a:pt x="272" y="295"/>
                  <a:pt x="272" y="304"/>
                </a:cubicBezTo>
                <a:lnTo>
                  <a:pt x="272" y="400"/>
                </a:lnTo>
                <a:cubicBezTo>
                  <a:pt x="272" y="409"/>
                  <a:pt x="279" y="416"/>
                  <a:pt x="288" y="416"/>
                </a:cubicBezTo>
                <a:cubicBezTo>
                  <a:pt x="297" y="416"/>
                  <a:pt x="304" y="409"/>
                  <a:pt x="304" y="400"/>
                </a:cubicBezTo>
                <a:lnTo>
                  <a:pt x="304" y="304"/>
                </a:lnTo>
                <a:cubicBezTo>
                  <a:pt x="304" y="295"/>
                  <a:pt x="297" y="288"/>
                  <a:pt x="288" y="288"/>
                </a:cubicBezTo>
                <a:close/>
                <a:moveTo>
                  <a:pt x="368" y="304"/>
                </a:moveTo>
                <a:cubicBezTo>
                  <a:pt x="368" y="295"/>
                  <a:pt x="361" y="288"/>
                  <a:pt x="352" y="288"/>
                </a:cubicBezTo>
                <a:cubicBezTo>
                  <a:pt x="343" y="288"/>
                  <a:pt x="336" y="295"/>
                  <a:pt x="336" y="304"/>
                </a:cubicBezTo>
                <a:lnTo>
                  <a:pt x="336" y="400"/>
                </a:lnTo>
                <a:cubicBezTo>
                  <a:pt x="336" y="409"/>
                  <a:pt x="343" y="416"/>
                  <a:pt x="352" y="416"/>
                </a:cubicBezTo>
                <a:cubicBezTo>
                  <a:pt x="361" y="416"/>
                  <a:pt x="368" y="409"/>
                  <a:pt x="368" y="400"/>
                </a:cubicBezTo>
                <a:lnTo>
                  <a:pt x="368" y="3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2" name="pt-t1"/>
          <p:cNvSpPr txBox="1"/>
          <p:nvPr/>
        </p:nvSpPr>
        <p:spPr>
          <a:xfrm>
            <a:off x="8051800" y="2273300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三颗按键——人的手：按一按，下命令</a:t>
            </a:r>
            <a:endParaRPr lang="en-US" sz="1200"/>
          </a:p>
        </p:txBody>
      </p:sp>
      <p:sp>
        <p:nvSpPr>
          <p:cNvPr id="13" name="pt-ic2"/>
          <p:cNvSpPr/>
          <p:nvPr/>
        </p:nvSpPr>
        <p:spPr>
          <a:xfrm>
            <a:off x="7696200" y="2781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48" y="64"/>
                </a:moveTo>
                <a:cubicBezTo>
                  <a:pt x="554" y="64"/>
                  <a:pt x="640" y="150"/>
                  <a:pt x="640" y="256"/>
                </a:cubicBezTo>
                <a:cubicBezTo>
                  <a:pt x="640" y="362"/>
                  <a:pt x="554" y="448"/>
                  <a:pt x="448" y="448"/>
                </a:cubicBezTo>
                <a:lnTo>
                  <a:pt x="192" y="448"/>
                </a:lnTo>
                <a:cubicBezTo>
                  <a:pt x="86" y="448"/>
                  <a:pt x="0" y="362"/>
                  <a:pt x="0" y="256"/>
                </a:cubicBezTo>
                <a:cubicBezTo>
                  <a:pt x="0" y="150"/>
                  <a:pt x="86" y="64"/>
                  <a:pt x="192" y="64"/>
                </a:cubicBezTo>
                <a:lnTo>
                  <a:pt x="448" y="64"/>
                </a:lnTo>
                <a:close/>
                <a:moveTo>
                  <a:pt x="192" y="176"/>
                </a:moveTo>
                <a:cubicBezTo>
                  <a:pt x="179" y="176"/>
                  <a:pt x="168" y="187"/>
                  <a:pt x="168" y="200"/>
                </a:cubicBezTo>
                <a:lnTo>
                  <a:pt x="168" y="232"/>
                </a:lnTo>
                <a:lnTo>
                  <a:pt x="136" y="232"/>
                </a:lnTo>
                <a:cubicBezTo>
                  <a:pt x="123" y="232"/>
                  <a:pt x="112" y="243"/>
                  <a:pt x="112" y="256"/>
                </a:cubicBezTo>
                <a:cubicBezTo>
                  <a:pt x="112" y="269"/>
                  <a:pt x="123" y="280"/>
                  <a:pt x="136" y="280"/>
                </a:cubicBezTo>
                <a:lnTo>
                  <a:pt x="168" y="280"/>
                </a:lnTo>
                <a:lnTo>
                  <a:pt x="168" y="312"/>
                </a:lnTo>
                <a:cubicBezTo>
                  <a:pt x="168" y="325"/>
                  <a:pt x="179" y="336"/>
                  <a:pt x="192" y="336"/>
                </a:cubicBezTo>
                <a:cubicBezTo>
                  <a:pt x="205" y="336"/>
                  <a:pt x="216" y="325"/>
                  <a:pt x="216" y="312"/>
                </a:cubicBezTo>
                <a:lnTo>
                  <a:pt x="216" y="280"/>
                </a:lnTo>
                <a:lnTo>
                  <a:pt x="248" y="280"/>
                </a:lnTo>
                <a:cubicBezTo>
                  <a:pt x="261" y="280"/>
                  <a:pt x="272" y="269"/>
                  <a:pt x="272" y="256"/>
                </a:cubicBezTo>
                <a:cubicBezTo>
                  <a:pt x="272" y="243"/>
                  <a:pt x="261" y="232"/>
                  <a:pt x="248" y="232"/>
                </a:cubicBezTo>
                <a:lnTo>
                  <a:pt x="216" y="232"/>
                </a:lnTo>
                <a:lnTo>
                  <a:pt x="216" y="200"/>
                </a:lnTo>
                <a:cubicBezTo>
                  <a:pt x="216" y="187"/>
                  <a:pt x="205" y="176"/>
                  <a:pt x="192" y="176"/>
                </a:cubicBezTo>
                <a:close/>
                <a:moveTo>
                  <a:pt x="432" y="272"/>
                </a:moveTo>
                <a:cubicBezTo>
                  <a:pt x="414" y="272"/>
                  <a:pt x="400" y="286"/>
                  <a:pt x="400" y="304"/>
                </a:cubicBezTo>
                <a:cubicBezTo>
                  <a:pt x="400" y="322"/>
                  <a:pt x="414" y="336"/>
                  <a:pt x="432" y="336"/>
                </a:cubicBezTo>
                <a:cubicBezTo>
                  <a:pt x="450" y="336"/>
                  <a:pt x="464" y="322"/>
                  <a:pt x="464" y="304"/>
                </a:cubicBezTo>
                <a:cubicBezTo>
                  <a:pt x="464" y="286"/>
                  <a:pt x="450" y="272"/>
                  <a:pt x="432" y="272"/>
                </a:cubicBezTo>
                <a:close/>
                <a:moveTo>
                  <a:pt x="496" y="176"/>
                </a:moveTo>
                <a:cubicBezTo>
                  <a:pt x="478" y="176"/>
                  <a:pt x="464" y="190"/>
                  <a:pt x="464" y="208"/>
                </a:cubicBezTo>
                <a:cubicBezTo>
                  <a:pt x="464" y="226"/>
                  <a:pt x="478" y="240"/>
                  <a:pt x="496" y="240"/>
                </a:cubicBezTo>
                <a:cubicBezTo>
                  <a:pt x="514" y="240"/>
                  <a:pt x="528" y="226"/>
                  <a:pt x="528" y="208"/>
                </a:cubicBezTo>
                <a:cubicBezTo>
                  <a:pt x="528" y="190"/>
                  <a:pt x="514" y="176"/>
                  <a:pt x="496" y="17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4" name="pt-t2"/>
          <p:cNvSpPr txBox="1"/>
          <p:nvPr/>
        </p:nvSpPr>
        <p:spPr>
          <a:xfrm>
            <a:off x="8051800" y="2743200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五向摇杆——人的手：游戏机、菜单靠它</a:t>
            </a:r>
            <a:endParaRPr lang="en-US" sz="1200"/>
          </a:p>
        </p:txBody>
      </p:sp>
      <p:sp>
        <p:nvSpPr>
          <p:cNvPr id="15" name="pt-ic3"/>
          <p:cNvSpPr/>
          <p:nvPr/>
        </p:nvSpPr>
        <p:spPr>
          <a:xfrm>
            <a:off x="7696200" y="325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92" y="0"/>
                </a:moveTo>
                <a:cubicBezTo>
                  <a:pt x="139" y="0"/>
                  <a:pt x="96" y="43"/>
                  <a:pt x="96" y="96"/>
                </a:cubicBezTo>
                <a:lnTo>
                  <a:pt x="96" y="224"/>
                </a:lnTo>
                <a:cubicBezTo>
                  <a:pt x="96" y="277"/>
                  <a:pt x="139" y="320"/>
                  <a:pt x="192" y="320"/>
                </a:cubicBezTo>
                <a:cubicBezTo>
                  <a:pt x="245" y="320"/>
                  <a:pt x="288" y="277"/>
                  <a:pt x="288" y="224"/>
                </a:cubicBezTo>
                <a:lnTo>
                  <a:pt x="288" y="96"/>
                </a:lnTo>
                <a:cubicBezTo>
                  <a:pt x="288" y="43"/>
                  <a:pt x="245" y="0"/>
                  <a:pt x="192" y="0"/>
                </a:cubicBezTo>
                <a:close/>
                <a:moveTo>
                  <a:pt x="48" y="184"/>
                </a:moveTo>
                <a:cubicBezTo>
                  <a:pt x="48" y="171"/>
                  <a:pt x="37" y="160"/>
                  <a:pt x="24" y="160"/>
                </a:cubicBezTo>
                <a:cubicBezTo>
                  <a:pt x="11" y="160"/>
                  <a:pt x="0" y="171"/>
                  <a:pt x="0" y="184"/>
                </a:cubicBezTo>
                <a:lnTo>
                  <a:pt x="0" y="224"/>
                </a:lnTo>
                <a:cubicBezTo>
                  <a:pt x="0" y="322"/>
                  <a:pt x="73" y="403"/>
                  <a:pt x="168" y="415"/>
                </a:cubicBezTo>
                <a:lnTo>
                  <a:pt x="168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264" y="512"/>
                </a:lnTo>
                <a:cubicBezTo>
                  <a:pt x="277" y="512"/>
                  <a:pt x="288" y="501"/>
                  <a:pt x="288" y="488"/>
                </a:cubicBezTo>
                <a:cubicBezTo>
                  <a:pt x="288" y="475"/>
                  <a:pt x="277" y="464"/>
                  <a:pt x="264" y="464"/>
                </a:cubicBezTo>
                <a:lnTo>
                  <a:pt x="216" y="464"/>
                </a:lnTo>
                <a:lnTo>
                  <a:pt x="216" y="415"/>
                </a:lnTo>
                <a:cubicBezTo>
                  <a:pt x="311" y="403"/>
                  <a:pt x="384" y="322"/>
                  <a:pt x="384" y="224"/>
                </a:cubicBezTo>
                <a:lnTo>
                  <a:pt x="384" y="184"/>
                </a:lnTo>
                <a:cubicBezTo>
                  <a:pt x="384" y="171"/>
                  <a:pt x="373" y="160"/>
                  <a:pt x="360" y="160"/>
                </a:cubicBezTo>
                <a:cubicBezTo>
                  <a:pt x="347" y="160"/>
                  <a:pt x="336" y="171"/>
                  <a:pt x="336" y="184"/>
                </a:cubicBezTo>
                <a:lnTo>
                  <a:pt x="336" y="224"/>
                </a:lnTo>
                <a:cubicBezTo>
                  <a:pt x="336" y="304"/>
                  <a:pt x="272" y="368"/>
                  <a:pt x="192" y="368"/>
                </a:cubicBezTo>
                <a:cubicBezTo>
                  <a:pt x="113" y="368"/>
                  <a:pt x="48" y="304"/>
                  <a:pt x="48" y="224"/>
                </a:cubicBezTo>
                <a:lnTo>
                  <a:pt x="48" y="18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6" name="pt-t3"/>
          <p:cNvSpPr txBox="1"/>
          <p:nvPr/>
        </p:nvSpPr>
        <p:spPr>
          <a:xfrm>
            <a:off x="8051800" y="3213100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麦克风——听得到动静</a:t>
            </a:r>
            <a:endParaRPr lang="en-US" sz="1200"/>
          </a:p>
        </p:txBody>
      </p:sp>
      <p:sp>
        <p:nvSpPr>
          <p:cNvPr id="17" name="pt-ic4"/>
          <p:cNvSpPr/>
          <p:nvPr/>
        </p:nvSpPr>
        <p:spPr>
          <a:xfrm>
            <a:off x="7696200" y="3721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-32"/>
                </a:moveTo>
                <a:cubicBezTo>
                  <a:pt x="296" y="-32"/>
                  <a:pt x="304" y="-28"/>
                  <a:pt x="309" y="-20"/>
                </a:cubicBezTo>
                <a:lnTo>
                  <a:pt x="364" y="72"/>
                </a:lnTo>
                <a:lnTo>
                  <a:pt x="469" y="46"/>
                </a:lnTo>
                <a:cubicBezTo>
                  <a:pt x="477" y="44"/>
                  <a:pt x="486" y="46"/>
                  <a:pt x="492" y="52"/>
                </a:cubicBezTo>
                <a:cubicBezTo>
                  <a:pt x="498" y="58"/>
                  <a:pt x="500" y="67"/>
                  <a:pt x="498" y="75"/>
                </a:cubicBezTo>
                <a:lnTo>
                  <a:pt x="472" y="180"/>
                </a:lnTo>
                <a:lnTo>
                  <a:pt x="564" y="235"/>
                </a:lnTo>
                <a:cubicBezTo>
                  <a:pt x="572" y="240"/>
                  <a:pt x="576" y="248"/>
                  <a:pt x="576" y="256"/>
                </a:cubicBezTo>
                <a:cubicBezTo>
                  <a:pt x="576" y="264"/>
                  <a:pt x="572" y="272"/>
                  <a:pt x="564" y="277"/>
                </a:cubicBezTo>
                <a:lnTo>
                  <a:pt x="472" y="332"/>
                </a:lnTo>
                <a:lnTo>
                  <a:pt x="498" y="437"/>
                </a:lnTo>
                <a:cubicBezTo>
                  <a:pt x="500" y="445"/>
                  <a:pt x="498" y="454"/>
                  <a:pt x="492" y="460"/>
                </a:cubicBezTo>
                <a:cubicBezTo>
                  <a:pt x="486" y="466"/>
                  <a:pt x="477" y="468"/>
                  <a:pt x="469" y="466"/>
                </a:cubicBezTo>
                <a:lnTo>
                  <a:pt x="364" y="440"/>
                </a:lnTo>
                <a:lnTo>
                  <a:pt x="309" y="532"/>
                </a:lnTo>
                <a:cubicBezTo>
                  <a:pt x="304" y="540"/>
                  <a:pt x="297" y="544"/>
                  <a:pt x="288" y="544"/>
                </a:cubicBezTo>
                <a:cubicBezTo>
                  <a:pt x="280" y="544"/>
                  <a:pt x="272" y="540"/>
                  <a:pt x="267" y="532"/>
                </a:cubicBezTo>
                <a:lnTo>
                  <a:pt x="212" y="440"/>
                </a:lnTo>
                <a:lnTo>
                  <a:pt x="107" y="466"/>
                </a:lnTo>
                <a:cubicBezTo>
                  <a:pt x="99" y="468"/>
                  <a:pt x="90" y="466"/>
                  <a:pt x="84" y="460"/>
                </a:cubicBezTo>
                <a:cubicBezTo>
                  <a:pt x="78" y="454"/>
                  <a:pt x="76" y="445"/>
                  <a:pt x="78" y="437"/>
                </a:cubicBezTo>
                <a:lnTo>
                  <a:pt x="104" y="332"/>
                </a:lnTo>
                <a:lnTo>
                  <a:pt x="12" y="277"/>
                </a:lnTo>
                <a:cubicBezTo>
                  <a:pt x="4" y="272"/>
                  <a:pt x="0" y="264"/>
                  <a:pt x="0" y="256"/>
                </a:cubicBezTo>
                <a:cubicBezTo>
                  <a:pt x="0" y="248"/>
                  <a:pt x="4" y="240"/>
                  <a:pt x="12" y="235"/>
                </a:cubicBezTo>
                <a:lnTo>
                  <a:pt x="104" y="180"/>
                </a:lnTo>
                <a:lnTo>
                  <a:pt x="78" y="75"/>
                </a:lnTo>
                <a:cubicBezTo>
                  <a:pt x="76" y="67"/>
                  <a:pt x="78" y="58"/>
                  <a:pt x="84" y="52"/>
                </a:cubicBezTo>
                <a:cubicBezTo>
                  <a:pt x="90" y="46"/>
                  <a:pt x="99" y="44"/>
                  <a:pt x="107" y="46"/>
                </a:cubicBezTo>
                <a:lnTo>
                  <a:pt x="212" y="72"/>
                </a:lnTo>
                <a:lnTo>
                  <a:pt x="267" y="-20"/>
                </a:lnTo>
                <a:lnTo>
                  <a:pt x="269" y="-23"/>
                </a:lnTo>
                <a:cubicBezTo>
                  <a:pt x="274" y="-29"/>
                  <a:pt x="281" y="-32"/>
                  <a:pt x="288" y="-32"/>
                </a:cubicBezTo>
                <a:close/>
                <a:moveTo>
                  <a:pt x="288" y="112"/>
                </a:moveTo>
                <a:cubicBezTo>
                  <a:pt x="208" y="112"/>
                  <a:pt x="144" y="176"/>
                  <a:pt x="144" y="256"/>
                </a:cubicBezTo>
                <a:cubicBezTo>
                  <a:pt x="144" y="336"/>
                  <a:pt x="208" y="400"/>
                  <a:pt x="288" y="400"/>
                </a:cubicBezTo>
                <a:cubicBezTo>
                  <a:pt x="368" y="400"/>
                  <a:pt x="432" y="336"/>
                  <a:pt x="432" y="256"/>
                </a:cubicBezTo>
                <a:cubicBezTo>
                  <a:pt x="432" y="176"/>
                  <a:pt x="368" y="112"/>
                  <a:pt x="288" y="112"/>
                </a:cubicBezTo>
                <a:close/>
                <a:moveTo>
                  <a:pt x="288" y="352"/>
                </a:moveTo>
                <a:cubicBezTo>
                  <a:pt x="235" y="352"/>
                  <a:pt x="192" y="309"/>
                  <a:pt x="192" y="256"/>
                </a:cubicBezTo>
                <a:cubicBezTo>
                  <a:pt x="192" y="203"/>
                  <a:pt x="235" y="160"/>
                  <a:pt x="288" y="160"/>
                </a:cubicBezTo>
                <a:cubicBezTo>
                  <a:pt x="341" y="160"/>
                  <a:pt x="384" y="203"/>
                  <a:pt x="384" y="256"/>
                </a:cubicBezTo>
                <a:cubicBezTo>
                  <a:pt x="384" y="309"/>
                  <a:pt x="341" y="352"/>
                  <a:pt x="288" y="35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pt-t4"/>
          <p:cNvSpPr txBox="1"/>
          <p:nvPr/>
        </p:nvSpPr>
        <p:spPr>
          <a:xfrm>
            <a:off x="8051800" y="3683000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光线传感器——知道亮暗</a:t>
            </a:r>
            <a:endParaRPr lang="en-US" sz="1200"/>
          </a:p>
        </p:txBody>
      </p:sp>
      <p:sp>
        <p:nvSpPr>
          <p:cNvPr id="19" name="pt-ic5"/>
          <p:cNvSpPr/>
          <p:nvPr/>
        </p:nvSpPr>
        <p:spPr>
          <a:xfrm>
            <a:off x="7696200" y="4191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96"/>
                </a:moveTo>
                <a:cubicBezTo>
                  <a:pt x="64" y="78"/>
                  <a:pt x="78" y="64"/>
                  <a:pt x="96" y="64"/>
                </a:cubicBezTo>
                <a:lnTo>
                  <a:pt x="256" y="64"/>
                </a:lnTo>
                <a:cubicBezTo>
                  <a:pt x="274" y="64"/>
                  <a:pt x="288" y="78"/>
                  <a:pt x="288" y="96"/>
                </a:cubicBezTo>
                <a:lnTo>
                  <a:pt x="288" y="384"/>
                </a:lnTo>
                <a:lnTo>
                  <a:pt x="384" y="384"/>
                </a:lnTo>
                <a:lnTo>
                  <a:pt x="384" y="256"/>
                </a:lnTo>
                <a:cubicBezTo>
                  <a:pt x="384" y="238"/>
                  <a:pt x="398" y="224"/>
                  <a:pt x="41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448" y="288"/>
                </a:lnTo>
                <a:lnTo>
                  <a:pt x="448" y="416"/>
                </a:lnTo>
                <a:cubicBezTo>
                  <a:pt x="448" y="434"/>
                  <a:pt x="434" y="448"/>
                  <a:pt x="416" y="448"/>
                </a:cubicBezTo>
                <a:lnTo>
                  <a:pt x="256" y="448"/>
                </a:lnTo>
                <a:cubicBezTo>
                  <a:pt x="238" y="448"/>
                  <a:pt x="224" y="434"/>
                  <a:pt x="224" y="416"/>
                </a:cubicBezTo>
                <a:lnTo>
                  <a:pt x="224" y="128"/>
                </a:lnTo>
                <a:lnTo>
                  <a:pt x="128" y="128"/>
                </a:lnTo>
                <a:lnTo>
                  <a:pt x="128" y="256"/>
                </a:lnTo>
                <a:cubicBezTo>
                  <a:pt x="128" y="274"/>
                  <a:pt x="114" y="288"/>
                  <a:pt x="96" y="288"/>
                </a:cubicBezTo>
                <a:lnTo>
                  <a:pt x="32" y="288"/>
                </a:lnTo>
                <a:cubicBezTo>
                  <a:pt x="14" y="288"/>
                  <a:pt x="0" y="274"/>
                  <a:pt x="0" y="256"/>
                </a:cubicBezTo>
                <a:cubicBezTo>
                  <a:pt x="0" y="238"/>
                  <a:pt x="14" y="224"/>
                  <a:pt x="32" y="224"/>
                </a:cubicBezTo>
                <a:lnTo>
                  <a:pt x="64" y="224"/>
                </a:lnTo>
                <a:lnTo>
                  <a:pt x="64" y="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pt-t5"/>
          <p:cNvSpPr txBox="1"/>
          <p:nvPr/>
        </p:nvSpPr>
        <p:spPr>
          <a:xfrm>
            <a:off x="8051800" y="4152900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加速度计——知道动没动、往哪边歪</a:t>
            </a:r>
            <a:endParaRPr lang="en-US" sz="1200"/>
          </a:p>
        </p:txBody>
      </p:sp>
      <p:sp>
        <p:nvSpPr>
          <p:cNvPr id="21" name="pt-ic6"/>
          <p:cNvSpPr/>
          <p:nvPr/>
        </p:nvSpPr>
        <p:spPr>
          <a:xfrm>
            <a:off x="7696200" y="4660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534" y="33"/>
                </a:moveTo>
                <a:cubicBezTo>
                  <a:pt x="523" y="24"/>
                  <a:pt x="508" y="26"/>
                  <a:pt x="500" y="36"/>
                </a:cubicBezTo>
                <a:cubicBezTo>
                  <a:pt x="491" y="46"/>
                  <a:pt x="493" y="61"/>
                  <a:pt x="503" y="70"/>
                </a:cubicBezTo>
                <a:cubicBezTo>
                  <a:pt x="558" y="114"/>
                  <a:pt x="592" y="181"/>
                  <a:pt x="592" y="256"/>
                </a:cubicBezTo>
                <a:cubicBezTo>
                  <a:pt x="592" y="331"/>
                  <a:pt x="558" y="398"/>
                  <a:pt x="503" y="442"/>
                </a:cubicBezTo>
                <a:cubicBezTo>
                  <a:pt x="493" y="451"/>
                  <a:pt x="492" y="466"/>
                  <a:pt x="500" y="476"/>
                </a:cubicBezTo>
                <a:cubicBezTo>
                  <a:pt x="508" y="486"/>
                  <a:pt x="523" y="488"/>
                  <a:pt x="534" y="480"/>
                </a:cubicBezTo>
                <a:cubicBezTo>
                  <a:pt x="599" y="427"/>
                  <a:pt x="640" y="346"/>
                  <a:pt x="640" y="256"/>
                </a:cubicBezTo>
                <a:cubicBezTo>
                  <a:pt x="640" y="166"/>
                  <a:pt x="599" y="85"/>
                  <a:pt x="534" y="33"/>
                </a:cubicBezTo>
                <a:close/>
                <a:moveTo>
                  <a:pt x="473" y="107"/>
                </a:moveTo>
                <a:cubicBezTo>
                  <a:pt x="463" y="99"/>
                  <a:pt x="448" y="100"/>
                  <a:pt x="439" y="111"/>
                </a:cubicBezTo>
                <a:cubicBezTo>
                  <a:pt x="431" y="121"/>
                  <a:pt x="433" y="136"/>
                  <a:pt x="443" y="144"/>
                </a:cubicBezTo>
                <a:cubicBezTo>
                  <a:pt x="475" y="171"/>
                  <a:pt x="496" y="211"/>
                  <a:pt x="496" y="256"/>
                </a:cubicBezTo>
                <a:cubicBezTo>
                  <a:pt x="496" y="301"/>
                  <a:pt x="475" y="341"/>
                  <a:pt x="443" y="368"/>
                </a:cubicBezTo>
                <a:cubicBezTo>
                  <a:pt x="433" y="376"/>
                  <a:pt x="431" y="391"/>
                  <a:pt x="439" y="402"/>
                </a:cubicBezTo>
                <a:cubicBezTo>
                  <a:pt x="448" y="412"/>
                  <a:pt x="463" y="413"/>
                  <a:pt x="473" y="405"/>
                </a:cubicBezTo>
                <a:cubicBezTo>
                  <a:pt x="516" y="370"/>
                  <a:pt x="544" y="316"/>
                  <a:pt x="544" y="256"/>
                </a:cubicBezTo>
                <a:cubicBezTo>
                  <a:pt x="544" y="196"/>
                  <a:pt x="516" y="142"/>
                  <a:pt x="473" y="107"/>
                </a:cubicBezTo>
                <a:close/>
                <a:moveTo>
                  <a:pt x="413" y="182"/>
                </a:moveTo>
                <a:cubicBezTo>
                  <a:pt x="402" y="173"/>
                  <a:pt x="387" y="175"/>
                  <a:pt x="379" y="185"/>
                </a:cubicBezTo>
                <a:cubicBezTo>
                  <a:pt x="370" y="195"/>
                  <a:pt x="372" y="210"/>
                  <a:pt x="382" y="219"/>
                </a:cubicBezTo>
                <a:cubicBezTo>
                  <a:pt x="393" y="228"/>
                  <a:pt x="400" y="241"/>
                  <a:pt x="400" y="256"/>
                </a:cubicBezTo>
                <a:cubicBezTo>
                  <a:pt x="400" y="271"/>
                  <a:pt x="393" y="284"/>
                  <a:pt x="382" y="293"/>
                </a:cubicBezTo>
                <a:cubicBezTo>
                  <a:pt x="372" y="302"/>
                  <a:pt x="371" y="317"/>
                  <a:pt x="379" y="327"/>
                </a:cubicBezTo>
                <a:cubicBezTo>
                  <a:pt x="387" y="337"/>
                  <a:pt x="402" y="339"/>
                  <a:pt x="413" y="331"/>
                </a:cubicBezTo>
                <a:cubicBezTo>
                  <a:pt x="434" y="313"/>
                  <a:pt x="448" y="286"/>
                  <a:pt x="448" y="256"/>
                </a:cubicBezTo>
                <a:cubicBezTo>
                  <a:pt x="448" y="226"/>
                  <a:pt x="434" y="199"/>
                  <a:pt x="413" y="182"/>
                </a:cubicBezTo>
                <a:close/>
                <a:moveTo>
                  <a:pt x="80" y="352"/>
                </a:moveTo>
                <a:lnTo>
                  <a:pt x="128" y="352"/>
                </a:lnTo>
                <a:lnTo>
                  <a:pt x="262" y="471"/>
                </a:lnTo>
                <a:cubicBezTo>
                  <a:pt x="269" y="477"/>
                  <a:pt x="277" y="480"/>
                  <a:pt x="285" y="480"/>
                </a:cubicBezTo>
                <a:cubicBezTo>
                  <a:pt x="304" y="480"/>
                  <a:pt x="320" y="464"/>
                  <a:pt x="320" y="445"/>
                </a:cubicBezTo>
                <a:lnTo>
                  <a:pt x="320" y="67"/>
                </a:lnTo>
                <a:cubicBezTo>
                  <a:pt x="320" y="48"/>
                  <a:pt x="304" y="32"/>
                  <a:pt x="285" y="32"/>
                </a:cubicBezTo>
                <a:cubicBezTo>
                  <a:pt x="277" y="32"/>
                  <a:pt x="269" y="35"/>
                  <a:pt x="262" y="41"/>
                </a:cubicBezTo>
                <a:lnTo>
                  <a:pt x="128" y="160"/>
                </a:lnTo>
                <a:lnTo>
                  <a:pt x="80" y="160"/>
                </a:lnTo>
                <a:cubicBezTo>
                  <a:pt x="54" y="160"/>
                  <a:pt x="32" y="182"/>
                  <a:pt x="32" y="208"/>
                </a:cubicBezTo>
                <a:lnTo>
                  <a:pt x="32" y="304"/>
                </a:lnTo>
                <a:cubicBezTo>
                  <a:pt x="32" y="331"/>
                  <a:pt x="54" y="352"/>
                  <a:pt x="80" y="35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pt-t6"/>
          <p:cNvSpPr txBox="1"/>
          <p:nvPr/>
        </p:nvSpPr>
        <p:spPr>
          <a:xfrm>
            <a:off x="8051800" y="4622800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蜂鸣器——会出声：提醒、报警</a:t>
            </a:r>
            <a:endParaRPr lang="en-US" sz="1200"/>
          </a:p>
        </p:txBody>
      </p:sp>
      <p:sp>
        <p:nvSpPr>
          <p:cNvPr id="23" name="pt-ic7"/>
          <p:cNvSpPr/>
          <p:nvPr/>
        </p:nvSpPr>
        <p:spPr>
          <a:xfrm>
            <a:off x="7696200" y="5130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384" y="64"/>
                </a:moveTo>
                <a:cubicBezTo>
                  <a:pt x="384" y="29"/>
                  <a:pt x="355" y="0"/>
                  <a:pt x="320" y="0"/>
                </a:cubicBezTo>
                <a:lnTo>
                  <a:pt x="125" y="0"/>
                </a:lnTo>
                <a:cubicBezTo>
                  <a:pt x="108" y="0"/>
                  <a:pt x="92" y="7"/>
                  <a:pt x="80" y="19"/>
                </a:cubicBezTo>
                <a:lnTo>
                  <a:pt x="19" y="80"/>
                </a:lnTo>
                <a:cubicBezTo>
                  <a:pt x="7" y="92"/>
                  <a:pt x="0" y="108"/>
                  <a:pt x="0" y="125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320" y="512"/>
                </a:lnTo>
                <a:cubicBezTo>
                  <a:pt x="355" y="512"/>
                  <a:pt x="384" y="483"/>
                  <a:pt x="384" y="448"/>
                </a:cubicBezTo>
                <a:lnTo>
                  <a:pt x="384" y="64"/>
                </a:lnTo>
                <a:close/>
                <a:moveTo>
                  <a:pt x="160" y="88"/>
                </a:moveTo>
                <a:lnTo>
                  <a:pt x="160" y="136"/>
                </a:lnTo>
                <a:cubicBezTo>
                  <a:pt x="160" y="149"/>
                  <a:pt x="149" y="160"/>
                  <a:pt x="136" y="160"/>
                </a:cubicBezTo>
                <a:cubicBezTo>
                  <a:pt x="123" y="160"/>
                  <a:pt x="112" y="149"/>
                  <a:pt x="112" y="136"/>
                </a:cubicBezTo>
                <a:lnTo>
                  <a:pt x="112" y="88"/>
                </a:lnTo>
                <a:cubicBezTo>
                  <a:pt x="112" y="75"/>
                  <a:pt x="123" y="64"/>
                  <a:pt x="136" y="64"/>
                </a:cubicBezTo>
                <a:cubicBezTo>
                  <a:pt x="149" y="64"/>
                  <a:pt x="160" y="75"/>
                  <a:pt x="160" y="88"/>
                </a:cubicBezTo>
                <a:close/>
                <a:moveTo>
                  <a:pt x="248" y="88"/>
                </a:moveTo>
                <a:lnTo>
                  <a:pt x="248" y="136"/>
                </a:lnTo>
                <a:cubicBezTo>
                  <a:pt x="248" y="149"/>
                  <a:pt x="237" y="160"/>
                  <a:pt x="224" y="160"/>
                </a:cubicBezTo>
                <a:cubicBezTo>
                  <a:pt x="211" y="160"/>
                  <a:pt x="200" y="149"/>
                  <a:pt x="200" y="136"/>
                </a:cubicBezTo>
                <a:lnTo>
                  <a:pt x="200" y="88"/>
                </a:lnTo>
                <a:cubicBezTo>
                  <a:pt x="200" y="75"/>
                  <a:pt x="211" y="64"/>
                  <a:pt x="224" y="64"/>
                </a:cubicBezTo>
                <a:cubicBezTo>
                  <a:pt x="237" y="64"/>
                  <a:pt x="248" y="75"/>
                  <a:pt x="248" y="88"/>
                </a:cubicBezTo>
                <a:close/>
                <a:moveTo>
                  <a:pt x="336" y="88"/>
                </a:moveTo>
                <a:lnTo>
                  <a:pt x="336" y="136"/>
                </a:lnTo>
                <a:cubicBezTo>
                  <a:pt x="336" y="149"/>
                  <a:pt x="325" y="160"/>
                  <a:pt x="312" y="160"/>
                </a:cubicBezTo>
                <a:cubicBezTo>
                  <a:pt x="299" y="160"/>
                  <a:pt x="288" y="149"/>
                  <a:pt x="288" y="136"/>
                </a:cubicBezTo>
                <a:lnTo>
                  <a:pt x="288" y="88"/>
                </a:lnTo>
                <a:cubicBezTo>
                  <a:pt x="288" y="75"/>
                  <a:pt x="299" y="64"/>
                  <a:pt x="312" y="64"/>
                </a:cubicBezTo>
                <a:cubicBezTo>
                  <a:pt x="325" y="64"/>
                  <a:pt x="336" y="75"/>
                  <a:pt x="336" y="8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4" name="pt-t7"/>
          <p:cNvSpPr txBox="1"/>
          <p:nvPr/>
        </p:nvSpPr>
        <p:spPr>
          <a:xfrm>
            <a:off x="8051800" y="5092700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000000">
                    <a:alpha val="50000"/>
                  </a:srgbClr>
                </a:solidFill>
                <a:latin typeface="MiSans"/>
                <a:ea typeface="MiSans"/>
              </a:rPr>
              <a:t>SD 卡槽——能存东西，先知道存在</a:t>
            </a:r>
            <a:endParaRPr lang="en-US" sz="1200"/>
          </a:p>
        </p:txBody>
      </p:sp>
      <p:sp>
        <p:nvSpPr>
          <p:cNvPr id="25" name="pt-ic8"/>
          <p:cNvSpPr/>
          <p:nvPr/>
        </p:nvSpPr>
        <p:spPr>
          <a:xfrm>
            <a:off x="7696200" y="560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-32"/>
                </a:moveTo>
                <a:cubicBezTo>
                  <a:pt x="146" y="-32"/>
                  <a:pt x="160" y="-18"/>
                  <a:pt x="160" y="0"/>
                </a:cubicBezTo>
                <a:lnTo>
                  <a:pt x="160" y="96"/>
                </a:lnTo>
                <a:lnTo>
                  <a:pt x="288" y="96"/>
                </a:lnTo>
                <a:lnTo>
                  <a:pt x="288" y="0"/>
                </a:lnTo>
                <a:cubicBezTo>
                  <a:pt x="288" y="-18"/>
                  <a:pt x="302" y="-32"/>
                  <a:pt x="320" y="-32"/>
                </a:cubicBezTo>
                <a:cubicBezTo>
                  <a:pt x="338" y="-32"/>
                  <a:pt x="352" y="-18"/>
                  <a:pt x="352" y="0"/>
                </a:cubicBezTo>
                <a:lnTo>
                  <a:pt x="352" y="96"/>
                </a:ln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cubicBezTo>
                  <a:pt x="448" y="146"/>
                  <a:pt x="434" y="160"/>
                  <a:pt x="416" y="160"/>
                </a:cubicBezTo>
                <a:lnTo>
                  <a:pt x="416" y="224"/>
                </a:lnTo>
                <a:cubicBezTo>
                  <a:pt x="416" y="319"/>
                  <a:pt x="347" y="398"/>
                  <a:pt x="256" y="413"/>
                </a:cubicBezTo>
                <a:lnTo>
                  <a:pt x="256" y="480"/>
                </a:lnTo>
                <a:cubicBezTo>
                  <a:pt x="256" y="498"/>
                  <a:pt x="242" y="512"/>
                  <a:pt x="224" y="512"/>
                </a:cubicBezTo>
                <a:cubicBezTo>
                  <a:pt x="206" y="512"/>
                  <a:pt x="192" y="498"/>
                  <a:pt x="192" y="480"/>
                </a:cubicBezTo>
                <a:lnTo>
                  <a:pt x="192" y="413"/>
                </a:lnTo>
                <a:cubicBezTo>
                  <a:pt x="101" y="398"/>
                  <a:pt x="32" y="319"/>
                  <a:pt x="32" y="224"/>
                </a:cubicBez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96" y="96"/>
                </a:lnTo>
                <a:lnTo>
                  <a:pt x="96" y="0"/>
                </a:lnTo>
                <a:cubicBezTo>
                  <a:pt x="96" y="-18"/>
                  <a:pt x="110" y="-32"/>
                  <a:pt x="128" y="-3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pt-t8"/>
          <p:cNvSpPr txBox="1"/>
          <p:nvPr/>
        </p:nvSpPr>
        <p:spPr>
          <a:xfrm>
            <a:off x="8051800" y="5562600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000000">
                    <a:alpha val="50000"/>
                  </a:srgbClr>
                </a:solidFill>
                <a:latin typeface="MiSans"/>
                <a:ea typeface="MiSans"/>
              </a:rPr>
              <a:t>Grove 接口——以后加新模块的门，先知道存在</a:t>
            </a:r>
            <a:endParaRPr lang="en-US" sz="1200"/>
          </a:p>
        </p:txBody>
      </p:sp>
      <p:sp>
        <p:nvSpPr>
          <p:cNvPr id="28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05 / 19</a:t>
            </a:r>
            <a:endParaRPr lang="en-US" sz="1100"/>
          </a:p>
        </p:txBody>
      </p:sp>
      <p:grpSp>
        <p:nvGrpSpPr>
          <p:cNvPr id="52" name="组合 51"/>
          <p:cNvGrpSpPr/>
          <p:nvPr/>
        </p:nvGrpSpPr>
        <p:grpSpPr>
          <a:xfrm>
            <a:off x="3953510" y="2070100"/>
            <a:ext cx="2600960" cy="2231390"/>
            <a:chOff x="5189" y="3172"/>
            <a:chExt cx="4096" cy="3514"/>
          </a:xfrm>
        </p:grpSpPr>
        <p:pic>
          <p:nvPicPr>
            <p:cNvPr id="30" name="Picture 2"/>
            <p:cNvPicPr>
              <a:picLocks noChangeAspect="1"/>
            </p:cNvPicPr>
            <p:nvPr/>
          </p:nvPicPr>
          <p:blipFill>
            <a:blip r:embed="rId1"/>
            <a:srcRect l="20887" r="21962" b="39783"/>
            <a:stretch>
              <a:fillRect/>
            </a:stretch>
          </p:blipFill>
          <p:spPr>
            <a:xfrm>
              <a:off x="5189" y="3172"/>
              <a:ext cx="4096" cy="3514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id="32" name="AutoShape 4"/>
            <p:cNvSpPr/>
            <p:nvPr/>
          </p:nvSpPr>
          <p:spPr>
            <a:xfrm>
              <a:off x="6539" y="6120"/>
              <a:ext cx="128" cy="133"/>
            </a:xfrm>
            <a:prstGeom prst="ellipse">
              <a:avLst/>
            </a:prstGeom>
            <a:noFill/>
            <a:ln w="12700">
              <a:noFill/>
              <a:prstDash val="solid"/>
            </a:ln>
          </p:spPr>
          <p:txBody>
            <a:bodyPr wrap="square" lIns="76200" tIns="38100" rIns="76200" bIns="38100" rtlCol="0" anchor="ctr">
              <a:noAutofit/>
            </a:bodyPr>
            <a:lstStyle/>
            <a:p>
              <a:pPr marL="0" indent="0" algn="ctr">
                <a:lnSpc>
                  <a:spcPct val="133000"/>
                </a:lnSpc>
                <a:defRPr/>
              </a:pPr>
              <a:r>
                <a:rPr lang="en-US" sz="1500" b="0" i="0" u="none" strike="noStrik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 </a:t>
              </a:r>
              <a:endParaRPr lang="en-US" sz="1100"/>
            </a:p>
          </p:txBody>
        </p:sp>
        <p:sp>
          <p:nvSpPr>
            <p:cNvPr id="33" name="AutoShape 5"/>
            <p:cNvSpPr/>
            <p:nvPr/>
          </p:nvSpPr>
          <p:spPr>
            <a:xfrm>
              <a:off x="5417" y="3532"/>
              <a:ext cx="3717" cy="2663"/>
            </a:xfrm>
            <a:prstGeom prst="roundRect">
              <a:avLst>
                <a:gd name="adj" fmla="val 4205"/>
              </a:avLst>
            </a:prstGeom>
            <a:solidFill>
              <a:srgbClr val="333333">
                <a:alpha val="100000"/>
              </a:srgbClr>
            </a:solidFill>
            <a:ln w="12700" cap="flat" cmpd="sng">
              <a:solidFill>
                <a:srgbClr val="5C5C5C">
                  <a:alpha val="100000"/>
                </a:srgbClr>
              </a:solidFill>
              <a:prstDash val="solid"/>
              <a:miter lim="8000000"/>
            </a:ln>
          </p:spPr>
          <p:txBody>
            <a:bodyPr wrap="square" lIns="76200" tIns="38100" rIns="76200" bIns="38100" rtlCol="0" anchor="ctr">
              <a:noAutofit/>
            </a:bodyPr>
            <a:lstStyle/>
            <a:p>
              <a:pPr marL="0" indent="0" algn="ctr">
                <a:lnSpc>
                  <a:spcPct val="133000"/>
                </a:lnSpc>
                <a:defRPr/>
              </a:pPr>
              <a:r>
                <a:rPr lang="en-US" sz="1500" b="0" i="0" u="none" strike="noStrik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 </a:t>
              </a:r>
              <a:endParaRPr lang="en-US" sz="1100"/>
            </a:p>
          </p:txBody>
        </p:sp>
        <p:sp>
          <p:nvSpPr>
            <p:cNvPr id="34" name="AutoShape 6"/>
            <p:cNvSpPr/>
            <p:nvPr/>
          </p:nvSpPr>
          <p:spPr>
            <a:xfrm>
              <a:off x="8539" y="5966"/>
              <a:ext cx="435" cy="435"/>
            </a:xfrm>
            <a:prstGeom prst="ellipse">
              <a:avLst/>
            </a:prstGeom>
            <a:solidFill>
              <a:srgbClr val="3E7DCC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76200" tIns="38100" rIns="76200" bIns="38100" rtlCol="0" anchor="ctr">
              <a:noAutofit/>
            </a:bodyPr>
            <a:lstStyle/>
            <a:p>
              <a:pPr marL="0" indent="0" algn="ctr">
                <a:lnSpc>
                  <a:spcPct val="133000"/>
                </a:lnSpc>
                <a:defRPr/>
              </a:pPr>
              <a:r>
                <a:rPr lang="en-US" sz="1500" b="0" i="0" u="none" strike="noStrik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 </a:t>
              </a:r>
              <a:endParaRPr lang="en-US" sz="1100"/>
            </a:p>
          </p:txBody>
        </p:sp>
        <p:sp>
          <p:nvSpPr>
            <p:cNvPr id="35" name="AutoShape 7"/>
            <p:cNvSpPr/>
            <p:nvPr/>
          </p:nvSpPr>
          <p:spPr>
            <a:xfrm>
              <a:off x="5864" y="3790"/>
              <a:ext cx="2735" cy="2041"/>
            </a:xfrm>
            <a:prstGeom prst="rect">
              <a:avLst/>
            </a:prstGeom>
            <a:solidFill>
              <a:srgbClr val="9D9D9D">
                <a:alpha val="100000"/>
              </a:srgbClr>
            </a:solidFill>
            <a:ln w="12700" cap="flat" cmpd="sng">
              <a:solidFill>
                <a:srgbClr val="5C5C5C">
                  <a:alpha val="100000"/>
                </a:srgbClr>
              </a:solidFill>
              <a:prstDash val="solid"/>
              <a:miter lim="8000000"/>
            </a:ln>
          </p:spPr>
          <p:txBody>
            <a:bodyPr wrap="square" lIns="76200" tIns="38100" rIns="76200" bIns="38100" rtlCol="0" anchor="ctr">
              <a:noAutofit/>
            </a:bodyPr>
            <a:lstStyle/>
            <a:p>
              <a:pPr marL="0" indent="0" algn="ctr">
                <a:lnSpc>
                  <a:spcPct val="133000"/>
                </a:lnSpc>
                <a:defRPr/>
              </a:pPr>
              <a:r>
                <a:rPr lang="en-US" sz="1500" b="0" i="0" u="none" strike="noStrik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 </a:t>
              </a:r>
              <a:endParaRPr lang="en-US" sz="1100"/>
            </a:p>
          </p:txBody>
        </p:sp>
      </p:grpSp>
      <p:pic>
        <p:nvPicPr>
          <p:cNvPr id="37" name="Picture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4865370"/>
            <a:ext cx="3032125" cy="13309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9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00">
            <a:off x="622300" y="2403475"/>
            <a:ext cx="2582545" cy="149415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900" y="4301490"/>
            <a:ext cx="2528570" cy="2022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40361" y="929648"/>
            <a:ext cx="6668744" cy="427242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837383" y="5566456"/>
            <a:ext cx="6767700" cy="86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76200" tIns="38100" rIns="76200" bIns="38100" rtlCol="0" anchor="t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900" b="0" i="0" u="none" strike="noStrike">
                <a:solidFill>
                  <a:srgbClr val="6B85A6"/>
                </a:solidFill>
                <a:latin typeface="Calibri"/>
                <a:ea typeface="Calibri"/>
                <a:cs typeface="Calibri"/>
                <a:sym typeface="Calibri"/>
              </a:rPr>
              <a:t>中文 Wiki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900" b="0" i="0" u="sng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2" tooltip="https://wiki.seeedstudio.com/cn/Wio-Terminal-Getting-Started/"/>
              </a:rPr>
              <a:t>https://wiki.seeedstudio.com/cn/Wio-Terminal-Getting-Started/</a:t>
            </a:r>
            <a:r>
              <a:rPr lang="en-US" sz="9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9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l">
              <a:lnSpc>
                <a:spcPct val="133000"/>
              </a:lnSpc>
            </a:pPr>
            <a:endParaRPr sz="900"/>
          </a:p>
          <a:p>
            <a:pPr marL="0" indent="0" algn="l">
              <a:lnSpc>
                <a:spcPct val="133000"/>
              </a:lnSpc>
            </a:pPr>
            <a:r>
              <a:rPr lang="en-US" sz="900" b="0" i="0" u="none" strike="noStrike">
                <a:solidFill>
                  <a:srgbClr val="6B85A6"/>
                </a:solidFill>
                <a:latin typeface="Calibri"/>
                <a:ea typeface="Calibri"/>
                <a:cs typeface="Calibri"/>
                <a:sym typeface="Calibri"/>
              </a:rPr>
              <a:t>英文 Wiki</a:t>
            </a:r>
            <a:endParaRPr lang="en-US" sz="900" b="0" i="0" u="none" strike="noStrike">
              <a:solidFill>
                <a:srgbClr val="6B85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900" b="0" i="0" u="sng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 tooltip="https://wiki.seeedstudio.com/Wio-Terminal-Getting-Started/"/>
              </a:rPr>
              <a:t>https://wiki.seeedstudio.com/Wio-Terminal-Getting-Started/</a:t>
            </a:r>
            <a:endParaRPr lang="en-US" sz="900" b="0" i="0" u="sng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9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05068" y="5476306"/>
            <a:ext cx="3939300" cy="1042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>
            <a:lvl1pPr marL="444500" indent="-203200"/>
            <a:lvl2pPr marL="901700" indent="-203200"/>
            <a:lvl3pPr marL="1358900" indent="-203200"/>
            <a:lvl4pPr marL="1816100" indent="-203200"/>
            <a:lvl5pPr marL="2273300" indent="-203200"/>
            <a:lvl6pPr marL="2730500" indent="-203200"/>
            <a:lvl7pPr marL="3187700" indent="-203200"/>
            <a:lvl8pPr marL="3644900" indent="-203200"/>
            <a:lvl9pPr marL="4102100" indent="-203200"/>
          </a:lstStyle>
          <a:p>
            <a:pPr marL="241300" indent="-241300" algn="l">
              <a:lnSpc>
                <a:spcPct val="150000"/>
              </a:lnSpc>
              <a:buClr>
                <a:srgbClr val="334155"/>
              </a:buClr>
              <a:buSzPts val="1600"/>
              <a:buFont typeface="Arial" panose="020B0604020202090204"/>
              <a:buChar char="•"/>
              <a:defRPr/>
            </a:pPr>
            <a:r>
              <a:rPr lang="en-US" sz="1600" b="0" i="0" u="none" strike="noStrike">
                <a:solidFill>
                  <a:srgbClr val="334155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  <a:sym typeface="Arial" panose="020B0604020202090204"/>
              </a:rPr>
              <a:t>开源硬件</a:t>
            </a:r>
            <a:endParaRPr lang="en-US" sz="1100">
              <a:latin typeface="Source Han Sans CN Regular" panose="020B0200000000000000" charset="-122"/>
              <a:ea typeface="Source Han Sans CN Regular" panose="020B0200000000000000" charset="-122"/>
              <a:cs typeface="Source Han Sans CN Regular" panose="020B0200000000000000" charset="-122"/>
            </a:endParaRPr>
          </a:p>
          <a:p>
            <a:pPr marL="241300" indent="-241300" algn="l">
              <a:lnSpc>
                <a:spcPct val="150000"/>
              </a:lnSpc>
              <a:buClr>
                <a:srgbClr val="334155"/>
              </a:buClr>
              <a:buSzPts val="1600"/>
              <a:buFont typeface="Arial" panose="020B0604020202090204"/>
              <a:buChar char="•"/>
            </a:pPr>
            <a:r>
              <a:rPr lang="en-US" sz="1600" b="0" i="0" u="none" strike="noStrike">
                <a:solidFill>
                  <a:srgbClr val="334155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  <a:sym typeface="Arial" panose="020B0604020202090204"/>
              </a:rPr>
              <a:t>兼容 Arduino 及多种开发环境</a:t>
            </a:r>
            <a:endParaRPr lang="en-US" sz="1600" b="0" i="0" u="none" strike="noStrike">
              <a:solidFill>
                <a:srgbClr val="334155"/>
              </a:solidFill>
              <a:latin typeface="Source Han Sans CN Regular" panose="020B0200000000000000" charset="-122"/>
              <a:ea typeface="Source Han Sans CN Regular" panose="020B0200000000000000" charset="-122"/>
              <a:cs typeface="Source Han Sans CN Regular" panose="020B0200000000000000" charset="-122"/>
              <a:sym typeface="Arial" panose="020B0604020202090204"/>
            </a:endParaRPr>
          </a:p>
          <a:p>
            <a:pPr marL="241300" indent="-241300" algn="l">
              <a:lnSpc>
                <a:spcPct val="150000"/>
              </a:lnSpc>
              <a:buClr>
                <a:srgbClr val="334155"/>
              </a:buClr>
              <a:buSzPts val="1600"/>
              <a:buFont typeface="Arial" panose="020B0604020202090204"/>
              <a:buChar char="•"/>
            </a:pPr>
            <a:r>
              <a:rPr lang="en-US" sz="1600" b="0" i="0" u="none" strike="noStrike">
                <a:solidFill>
                  <a:srgbClr val="334155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  <a:sym typeface="Arial" panose="020B0604020202090204"/>
              </a:rPr>
              <a:t>丰富的扩展接口</a:t>
            </a:r>
            <a:endParaRPr lang="en-US" sz="1600" b="0" i="0" u="none" strike="noStrike">
              <a:solidFill>
                <a:srgbClr val="334155"/>
              </a:solidFill>
              <a:latin typeface="Source Han Sans CN Regular" panose="020B0200000000000000" charset="-122"/>
              <a:ea typeface="Source Han Sans CN Regular" panose="020B0200000000000000" charset="-122"/>
              <a:cs typeface="Source Han Sans CN Regular" panose="020B0200000000000000" charset="-122"/>
              <a:sym typeface="Arial" panose="020B0604020202090204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76270" y="979321"/>
            <a:ext cx="5275387" cy="428625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7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认识新装备 · 换装备仪式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认识新装备 · 比一比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>
                <a:solidFill>
                  <a:srgbClr val="000000"/>
                </a:solidFill>
                <a:latin typeface="MiSans"/>
                <a:ea typeface="MiSans"/>
              </a:rPr>
              <a:t>为什么换装备？你的作品从今天起有脸、有手了</a:t>
            </a:r>
            <a:endParaRPr lang="en-US" sz="2300"/>
          </a:p>
        </p:txBody>
      </p:sp>
      <p:pic>
        <p:nvPicPr>
          <p:cNvPr id="6" name="old-img"/>
          <p:cNvPicPr/>
          <p:nvPr/>
        </p:nvPicPr>
        <p:blipFill>
          <a:blip r:embed="rId1"/>
          <a:srcRect l="-4378" r="247"/>
          <a:stretch>
            <a:fillRect/>
          </a:stretch>
        </p:blipFill>
        <p:spPr>
          <a:xfrm rot="5400000">
            <a:off x="1850390" y="1588770"/>
            <a:ext cx="2522855" cy="3226435"/>
          </a:xfrm>
          <a:prstGeom prst="rect">
            <a:avLst/>
          </a:prstGeom>
          <a:ln>
            <a:noFill/>
          </a:ln>
        </p:spPr>
      </p:pic>
      <p:sp>
        <p:nvSpPr>
          <p:cNvPr id="7" name="vs-ar"/>
          <p:cNvSpPr/>
          <p:nvPr/>
        </p:nvSpPr>
        <p:spPr>
          <a:xfrm>
            <a:off x="5435600" y="2844800"/>
            <a:ext cx="558800" cy="457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12" name="old-cap"/>
          <p:cNvSpPr txBox="1"/>
          <p:nvPr/>
        </p:nvSpPr>
        <p:spPr>
          <a:xfrm>
            <a:off x="1016000" y="45720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旧板子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（Grove Beginner Kit）：擅长</a:t>
            </a: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感知世界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——传感器焊好了，即插即用。</a:t>
            </a:r>
            <a:endParaRPr lang="en-US" sz="1300"/>
          </a:p>
        </p:txBody>
      </p:sp>
      <p:sp>
        <p:nvSpPr>
          <p:cNvPr id="13" name="new-cap"/>
          <p:cNvSpPr txBox="1"/>
          <p:nvPr/>
        </p:nvSpPr>
        <p:spPr>
          <a:xfrm>
            <a:off x="6985000" y="45720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新掌机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（Wio Terminal）：多了彩屏、摇杆和无线——擅长</a:t>
            </a: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让人和作品互动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。</a:t>
            </a:r>
            <a:endParaRPr lang="en-US" sz="1300"/>
          </a:p>
        </p:txBody>
      </p:sp>
      <p:sp>
        <p:nvSpPr>
          <p:cNvPr id="14" name="quote-card"/>
          <p:cNvSpPr/>
          <p:nvPr/>
        </p:nvSpPr>
        <p:spPr>
          <a:xfrm>
            <a:off x="762000" y="5232400"/>
            <a:ext cx="10668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5" name="quote-bar"/>
          <p:cNvSpPr/>
          <p:nvPr/>
        </p:nvSpPr>
        <p:spPr>
          <a:xfrm>
            <a:off x="762000" y="5232400"/>
            <a:ext cx="76200" cy="5334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6" name="quote-txt"/>
          <p:cNvSpPr txBox="1"/>
          <p:nvPr/>
        </p:nvSpPr>
        <p:spPr>
          <a:xfrm>
            <a:off x="1016000" y="5232400"/>
            <a:ext cx="10236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两块板子都要用——感知世界靠它，人和作品互动靠它。</a:t>
            </a:r>
            <a:endParaRPr lang="en-US" sz="1500"/>
          </a:p>
        </p:txBody>
      </p:sp>
      <p:sp>
        <p:nvSpPr>
          <p:cNvPr id="17" name="anchor-bg"/>
          <p:cNvSpPr/>
          <p:nvPr/>
        </p:nvSpPr>
        <p:spPr>
          <a:xfrm>
            <a:off x="762000" y="5867400"/>
            <a:ext cx="10668000" cy="5588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8" name="anchor-icon"/>
          <p:cNvSpPr/>
          <p:nvPr/>
        </p:nvSpPr>
        <p:spPr>
          <a:xfrm>
            <a:off x="990600" y="6032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9" name="anchor-txt"/>
          <p:cNvSpPr txBox="1"/>
          <p:nvPr/>
        </p:nvSpPr>
        <p:spPr>
          <a:xfrm>
            <a:off x="1346200" y="5867400"/>
            <a:ext cx="990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写进学员文档——"Wio 比旧板子多了：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＿＿＿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（至少写三样）""我最想先用它做：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＿＿＿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"</a:t>
            </a:r>
            <a:endParaRPr lang="en-US" sz="1600"/>
          </a:p>
        </p:txBody>
      </p:sp>
      <p:sp>
        <p:nvSpPr>
          <p:cNvPr id="20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06 / 19</a:t>
            </a:r>
            <a:endParaRPr lang="en-US" sz="110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315" y="2167890"/>
            <a:ext cx="2151380" cy="2068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认识新装备 · 点亮它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光摸不算认识——点亮它才算</a:t>
            </a:r>
            <a:endParaRPr lang="en-US" sz="2800"/>
          </a:p>
        </p:txBody>
      </p:sp>
      <p:sp>
        <p:nvSpPr>
          <p:cNvPr id="5" name="cell0"/>
          <p:cNvSpPr/>
          <p:nvPr/>
        </p:nvSpPr>
        <p:spPr>
          <a:xfrm>
            <a:off x="762000" y="1905000"/>
            <a:ext cx="1905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cell-ic0"/>
          <p:cNvSpPr/>
          <p:nvPr/>
        </p:nvSpPr>
        <p:spPr>
          <a:xfrm>
            <a:off x="1485900" y="218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40"/>
                </a:moveTo>
                <a:cubicBezTo>
                  <a:pt x="128" y="18"/>
                  <a:pt x="146" y="0"/>
                  <a:pt x="168" y="0"/>
                </a:cubicBezTo>
                <a:cubicBezTo>
                  <a:pt x="190" y="0"/>
                  <a:pt x="208" y="18"/>
                  <a:pt x="208" y="40"/>
                </a:cubicBezTo>
                <a:lnTo>
                  <a:pt x="208" y="188"/>
                </a:lnTo>
                <a:cubicBezTo>
                  <a:pt x="217" y="181"/>
                  <a:pt x="228" y="176"/>
                  <a:pt x="240" y="176"/>
                </a:cubicBezTo>
                <a:cubicBezTo>
                  <a:pt x="261" y="176"/>
                  <a:pt x="278" y="189"/>
                  <a:pt x="285" y="207"/>
                </a:cubicBezTo>
                <a:cubicBezTo>
                  <a:pt x="294" y="198"/>
                  <a:pt x="306" y="192"/>
                  <a:pt x="320" y="192"/>
                </a:cubicBezTo>
                <a:cubicBezTo>
                  <a:pt x="345" y="192"/>
                  <a:pt x="366" y="212"/>
                  <a:pt x="368" y="236"/>
                </a:cubicBezTo>
                <a:cubicBezTo>
                  <a:pt x="376" y="229"/>
                  <a:pt x="388" y="224"/>
                  <a:pt x="400" y="224"/>
                </a:cubicBezTo>
                <a:cubicBezTo>
                  <a:pt x="427" y="224"/>
                  <a:pt x="448" y="246"/>
                  <a:pt x="448" y="272"/>
                </a:cubicBezTo>
                <a:lnTo>
                  <a:pt x="448" y="384"/>
                </a:lnTo>
                <a:cubicBezTo>
                  <a:pt x="448" y="455"/>
                  <a:pt x="391" y="512"/>
                  <a:pt x="320" y="512"/>
                </a:cubicBezTo>
                <a:lnTo>
                  <a:pt x="235" y="512"/>
                </a:lnTo>
                <a:cubicBezTo>
                  <a:pt x="230" y="512"/>
                  <a:pt x="225" y="512"/>
                  <a:pt x="220" y="511"/>
                </a:cubicBezTo>
                <a:cubicBezTo>
                  <a:pt x="165" y="505"/>
                  <a:pt x="114" y="477"/>
                  <a:pt x="80" y="432"/>
                </a:cubicBezTo>
                <a:lnTo>
                  <a:pt x="8" y="336"/>
                </a:lnTo>
                <a:cubicBezTo>
                  <a:pt x="-5" y="318"/>
                  <a:pt x="-2" y="293"/>
                  <a:pt x="16" y="280"/>
                </a:cubicBezTo>
                <a:cubicBezTo>
                  <a:pt x="34" y="267"/>
                  <a:pt x="59" y="270"/>
                  <a:pt x="72" y="288"/>
                </a:cubicBezTo>
                <a:lnTo>
                  <a:pt x="128" y="363"/>
                </a:lnTo>
                <a:lnTo>
                  <a:pt x="128" y="40"/>
                </a:lnTo>
                <a:close/>
                <a:moveTo>
                  <a:pt x="240" y="304"/>
                </a:moveTo>
                <a:cubicBezTo>
                  <a:pt x="240" y="295"/>
                  <a:pt x="233" y="288"/>
                  <a:pt x="224" y="288"/>
                </a:cubicBezTo>
                <a:cubicBezTo>
                  <a:pt x="215" y="288"/>
                  <a:pt x="208" y="295"/>
                  <a:pt x="208" y="304"/>
                </a:cubicBezTo>
                <a:lnTo>
                  <a:pt x="208" y="400"/>
                </a:lnTo>
                <a:cubicBezTo>
                  <a:pt x="208" y="409"/>
                  <a:pt x="215" y="416"/>
                  <a:pt x="224" y="416"/>
                </a:cubicBezTo>
                <a:cubicBezTo>
                  <a:pt x="233" y="416"/>
                  <a:pt x="240" y="409"/>
                  <a:pt x="240" y="400"/>
                </a:cubicBezTo>
                <a:lnTo>
                  <a:pt x="240" y="304"/>
                </a:lnTo>
                <a:close/>
                <a:moveTo>
                  <a:pt x="288" y="288"/>
                </a:moveTo>
                <a:cubicBezTo>
                  <a:pt x="279" y="288"/>
                  <a:pt x="272" y="295"/>
                  <a:pt x="272" y="304"/>
                </a:cubicBezTo>
                <a:lnTo>
                  <a:pt x="272" y="400"/>
                </a:lnTo>
                <a:cubicBezTo>
                  <a:pt x="272" y="409"/>
                  <a:pt x="279" y="416"/>
                  <a:pt x="288" y="416"/>
                </a:cubicBezTo>
                <a:cubicBezTo>
                  <a:pt x="297" y="416"/>
                  <a:pt x="304" y="409"/>
                  <a:pt x="304" y="400"/>
                </a:cubicBezTo>
                <a:lnTo>
                  <a:pt x="304" y="304"/>
                </a:lnTo>
                <a:cubicBezTo>
                  <a:pt x="304" y="295"/>
                  <a:pt x="297" y="288"/>
                  <a:pt x="288" y="288"/>
                </a:cubicBezTo>
                <a:close/>
                <a:moveTo>
                  <a:pt x="368" y="304"/>
                </a:moveTo>
                <a:cubicBezTo>
                  <a:pt x="368" y="295"/>
                  <a:pt x="361" y="288"/>
                  <a:pt x="352" y="288"/>
                </a:cubicBezTo>
                <a:cubicBezTo>
                  <a:pt x="343" y="288"/>
                  <a:pt x="336" y="295"/>
                  <a:pt x="336" y="304"/>
                </a:cubicBezTo>
                <a:lnTo>
                  <a:pt x="336" y="400"/>
                </a:lnTo>
                <a:cubicBezTo>
                  <a:pt x="336" y="409"/>
                  <a:pt x="343" y="416"/>
                  <a:pt x="352" y="416"/>
                </a:cubicBezTo>
                <a:cubicBezTo>
                  <a:pt x="361" y="416"/>
                  <a:pt x="368" y="409"/>
                  <a:pt x="368" y="400"/>
                </a:cubicBezTo>
                <a:lnTo>
                  <a:pt x="368" y="3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7" name="cell-n0"/>
          <p:cNvSpPr txBox="1"/>
          <p:nvPr/>
        </p:nvSpPr>
        <p:spPr>
          <a:xfrm>
            <a:off x="889000" y="27686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按键</a:t>
            </a:r>
            <a:endParaRPr lang="en-US" sz="1600"/>
          </a:p>
        </p:txBody>
      </p:sp>
      <p:sp>
        <p:nvSpPr>
          <p:cNvPr id="8" name="cell-box0"/>
          <p:cNvSpPr/>
          <p:nvPr/>
        </p:nvSpPr>
        <p:spPr>
          <a:xfrm>
            <a:off x="1562100" y="3251200"/>
            <a:ext cx="304800" cy="30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</p:sp>
      <p:sp>
        <p:nvSpPr>
          <p:cNvPr id="9" name="cell1"/>
          <p:cNvSpPr/>
          <p:nvPr/>
        </p:nvSpPr>
        <p:spPr>
          <a:xfrm>
            <a:off x="2946400" y="1905000"/>
            <a:ext cx="1905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0" name="cell-ic1"/>
          <p:cNvSpPr/>
          <p:nvPr/>
        </p:nvSpPr>
        <p:spPr>
          <a:xfrm>
            <a:off x="3670300" y="218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48" y="64"/>
                </a:moveTo>
                <a:cubicBezTo>
                  <a:pt x="554" y="64"/>
                  <a:pt x="640" y="150"/>
                  <a:pt x="640" y="256"/>
                </a:cubicBezTo>
                <a:cubicBezTo>
                  <a:pt x="640" y="362"/>
                  <a:pt x="554" y="448"/>
                  <a:pt x="448" y="448"/>
                </a:cubicBezTo>
                <a:lnTo>
                  <a:pt x="192" y="448"/>
                </a:lnTo>
                <a:cubicBezTo>
                  <a:pt x="86" y="448"/>
                  <a:pt x="0" y="362"/>
                  <a:pt x="0" y="256"/>
                </a:cubicBezTo>
                <a:cubicBezTo>
                  <a:pt x="0" y="150"/>
                  <a:pt x="86" y="64"/>
                  <a:pt x="192" y="64"/>
                </a:cubicBezTo>
                <a:lnTo>
                  <a:pt x="448" y="64"/>
                </a:lnTo>
                <a:close/>
                <a:moveTo>
                  <a:pt x="192" y="176"/>
                </a:moveTo>
                <a:cubicBezTo>
                  <a:pt x="179" y="176"/>
                  <a:pt x="168" y="187"/>
                  <a:pt x="168" y="200"/>
                </a:cubicBezTo>
                <a:lnTo>
                  <a:pt x="168" y="232"/>
                </a:lnTo>
                <a:lnTo>
                  <a:pt x="136" y="232"/>
                </a:lnTo>
                <a:cubicBezTo>
                  <a:pt x="123" y="232"/>
                  <a:pt x="112" y="243"/>
                  <a:pt x="112" y="256"/>
                </a:cubicBezTo>
                <a:cubicBezTo>
                  <a:pt x="112" y="269"/>
                  <a:pt x="123" y="280"/>
                  <a:pt x="136" y="280"/>
                </a:cubicBezTo>
                <a:lnTo>
                  <a:pt x="168" y="280"/>
                </a:lnTo>
                <a:lnTo>
                  <a:pt x="168" y="312"/>
                </a:lnTo>
                <a:cubicBezTo>
                  <a:pt x="168" y="325"/>
                  <a:pt x="179" y="336"/>
                  <a:pt x="192" y="336"/>
                </a:cubicBezTo>
                <a:cubicBezTo>
                  <a:pt x="205" y="336"/>
                  <a:pt x="216" y="325"/>
                  <a:pt x="216" y="312"/>
                </a:cubicBezTo>
                <a:lnTo>
                  <a:pt x="216" y="280"/>
                </a:lnTo>
                <a:lnTo>
                  <a:pt x="248" y="280"/>
                </a:lnTo>
                <a:cubicBezTo>
                  <a:pt x="261" y="280"/>
                  <a:pt x="272" y="269"/>
                  <a:pt x="272" y="256"/>
                </a:cubicBezTo>
                <a:cubicBezTo>
                  <a:pt x="272" y="243"/>
                  <a:pt x="261" y="232"/>
                  <a:pt x="248" y="232"/>
                </a:cubicBezTo>
                <a:lnTo>
                  <a:pt x="216" y="232"/>
                </a:lnTo>
                <a:lnTo>
                  <a:pt x="216" y="200"/>
                </a:lnTo>
                <a:cubicBezTo>
                  <a:pt x="216" y="187"/>
                  <a:pt x="205" y="176"/>
                  <a:pt x="192" y="176"/>
                </a:cubicBezTo>
                <a:close/>
                <a:moveTo>
                  <a:pt x="432" y="272"/>
                </a:moveTo>
                <a:cubicBezTo>
                  <a:pt x="414" y="272"/>
                  <a:pt x="400" y="286"/>
                  <a:pt x="400" y="304"/>
                </a:cubicBezTo>
                <a:cubicBezTo>
                  <a:pt x="400" y="322"/>
                  <a:pt x="414" y="336"/>
                  <a:pt x="432" y="336"/>
                </a:cubicBezTo>
                <a:cubicBezTo>
                  <a:pt x="450" y="336"/>
                  <a:pt x="464" y="322"/>
                  <a:pt x="464" y="304"/>
                </a:cubicBezTo>
                <a:cubicBezTo>
                  <a:pt x="464" y="286"/>
                  <a:pt x="450" y="272"/>
                  <a:pt x="432" y="272"/>
                </a:cubicBezTo>
                <a:close/>
                <a:moveTo>
                  <a:pt x="496" y="176"/>
                </a:moveTo>
                <a:cubicBezTo>
                  <a:pt x="478" y="176"/>
                  <a:pt x="464" y="190"/>
                  <a:pt x="464" y="208"/>
                </a:cubicBezTo>
                <a:cubicBezTo>
                  <a:pt x="464" y="226"/>
                  <a:pt x="478" y="240"/>
                  <a:pt x="496" y="240"/>
                </a:cubicBezTo>
                <a:cubicBezTo>
                  <a:pt x="514" y="240"/>
                  <a:pt x="528" y="226"/>
                  <a:pt x="528" y="208"/>
                </a:cubicBezTo>
                <a:cubicBezTo>
                  <a:pt x="528" y="190"/>
                  <a:pt x="514" y="176"/>
                  <a:pt x="496" y="17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1" name="cell-n1"/>
          <p:cNvSpPr txBox="1"/>
          <p:nvPr/>
        </p:nvSpPr>
        <p:spPr>
          <a:xfrm>
            <a:off x="3073400" y="27686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摇杆</a:t>
            </a:r>
            <a:endParaRPr lang="en-US" sz="1600"/>
          </a:p>
        </p:txBody>
      </p:sp>
      <p:sp>
        <p:nvSpPr>
          <p:cNvPr id="12" name="cell-box1"/>
          <p:cNvSpPr/>
          <p:nvPr/>
        </p:nvSpPr>
        <p:spPr>
          <a:xfrm>
            <a:off x="3746500" y="3251200"/>
            <a:ext cx="304800" cy="30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</p:sp>
      <p:sp>
        <p:nvSpPr>
          <p:cNvPr id="13" name="cell2"/>
          <p:cNvSpPr/>
          <p:nvPr/>
        </p:nvSpPr>
        <p:spPr>
          <a:xfrm>
            <a:off x="5130800" y="1905000"/>
            <a:ext cx="1905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4" name="cell-ic2"/>
          <p:cNvSpPr/>
          <p:nvPr/>
        </p:nvSpPr>
        <p:spPr>
          <a:xfrm>
            <a:off x="5854700" y="218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92" y="0"/>
                </a:moveTo>
                <a:cubicBezTo>
                  <a:pt x="139" y="0"/>
                  <a:pt x="96" y="43"/>
                  <a:pt x="96" y="96"/>
                </a:cubicBezTo>
                <a:lnTo>
                  <a:pt x="96" y="224"/>
                </a:lnTo>
                <a:cubicBezTo>
                  <a:pt x="96" y="277"/>
                  <a:pt x="139" y="320"/>
                  <a:pt x="192" y="320"/>
                </a:cubicBezTo>
                <a:cubicBezTo>
                  <a:pt x="245" y="320"/>
                  <a:pt x="288" y="277"/>
                  <a:pt x="288" y="224"/>
                </a:cubicBezTo>
                <a:lnTo>
                  <a:pt x="288" y="96"/>
                </a:lnTo>
                <a:cubicBezTo>
                  <a:pt x="288" y="43"/>
                  <a:pt x="245" y="0"/>
                  <a:pt x="192" y="0"/>
                </a:cubicBezTo>
                <a:close/>
                <a:moveTo>
                  <a:pt x="48" y="184"/>
                </a:moveTo>
                <a:cubicBezTo>
                  <a:pt x="48" y="171"/>
                  <a:pt x="37" y="160"/>
                  <a:pt x="24" y="160"/>
                </a:cubicBezTo>
                <a:cubicBezTo>
                  <a:pt x="11" y="160"/>
                  <a:pt x="0" y="171"/>
                  <a:pt x="0" y="184"/>
                </a:cubicBezTo>
                <a:lnTo>
                  <a:pt x="0" y="224"/>
                </a:lnTo>
                <a:cubicBezTo>
                  <a:pt x="0" y="322"/>
                  <a:pt x="73" y="403"/>
                  <a:pt x="168" y="415"/>
                </a:cubicBezTo>
                <a:lnTo>
                  <a:pt x="168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264" y="512"/>
                </a:lnTo>
                <a:cubicBezTo>
                  <a:pt x="277" y="512"/>
                  <a:pt x="288" y="501"/>
                  <a:pt x="288" y="488"/>
                </a:cubicBezTo>
                <a:cubicBezTo>
                  <a:pt x="288" y="475"/>
                  <a:pt x="277" y="464"/>
                  <a:pt x="264" y="464"/>
                </a:cubicBezTo>
                <a:lnTo>
                  <a:pt x="216" y="464"/>
                </a:lnTo>
                <a:lnTo>
                  <a:pt x="216" y="415"/>
                </a:lnTo>
                <a:cubicBezTo>
                  <a:pt x="311" y="403"/>
                  <a:pt x="384" y="322"/>
                  <a:pt x="384" y="224"/>
                </a:cubicBezTo>
                <a:lnTo>
                  <a:pt x="384" y="184"/>
                </a:lnTo>
                <a:cubicBezTo>
                  <a:pt x="384" y="171"/>
                  <a:pt x="373" y="160"/>
                  <a:pt x="360" y="160"/>
                </a:cubicBezTo>
                <a:cubicBezTo>
                  <a:pt x="347" y="160"/>
                  <a:pt x="336" y="171"/>
                  <a:pt x="336" y="184"/>
                </a:cubicBezTo>
                <a:lnTo>
                  <a:pt x="336" y="224"/>
                </a:lnTo>
                <a:cubicBezTo>
                  <a:pt x="336" y="304"/>
                  <a:pt x="272" y="368"/>
                  <a:pt x="192" y="368"/>
                </a:cubicBezTo>
                <a:cubicBezTo>
                  <a:pt x="113" y="368"/>
                  <a:pt x="48" y="304"/>
                  <a:pt x="48" y="224"/>
                </a:cubicBezTo>
                <a:lnTo>
                  <a:pt x="48" y="18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5" name="cell-n2"/>
          <p:cNvSpPr txBox="1"/>
          <p:nvPr/>
        </p:nvSpPr>
        <p:spPr>
          <a:xfrm>
            <a:off x="5257800" y="27686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麦克风</a:t>
            </a:r>
            <a:endParaRPr lang="en-US" sz="1600"/>
          </a:p>
        </p:txBody>
      </p:sp>
      <p:sp>
        <p:nvSpPr>
          <p:cNvPr id="16" name="cell-box2"/>
          <p:cNvSpPr/>
          <p:nvPr/>
        </p:nvSpPr>
        <p:spPr>
          <a:xfrm>
            <a:off x="5930900" y="3251200"/>
            <a:ext cx="304800" cy="30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</p:sp>
      <p:sp>
        <p:nvSpPr>
          <p:cNvPr id="17" name="cell3"/>
          <p:cNvSpPr/>
          <p:nvPr/>
        </p:nvSpPr>
        <p:spPr>
          <a:xfrm>
            <a:off x="7315200" y="1905000"/>
            <a:ext cx="1905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8" name="cell-ic3"/>
          <p:cNvSpPr/>
          <p:nvPr/>
        </p:nvSpPr>
        <p:spPr>
          <a:xfrm>
            <a:off x="8039100" y="218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-32"/>
                </a:moveTo>
                <a:cubicBezTo>
                  <a:pt x="296" y="-32"/>
                  <a:pt x="304" y="-28"/>
                  <a:pt x="309" y="-20"/>
                </a:cubicBezTo>
                <a:lnTo>
                  <a:pt x="364" y="72"/>
                </a:lnTo>
                <a:lnTo>
                  <a:pt x="469" y="46"/>
                </a:lnTo>
                <a:cubicBezTo>
                  <a:pt x="477" y="44"/>
                  <a:pt x="486" y="46"/>
                  <a:pt x="492" y="52"/>
                </a:cubicBezTo>
                <a:cubicBezTo>
                  <a:pt x="498" y="58"/>
                  <a:pt x="500" y="67"/>
                  <a:pt x="498" y="75"/>
                </a:cubicBezTo>
                <a:lnTo>
                  <a:pt x="472" y="180"/>
                </a:lnTo>
                <a:lnTo>
                  <a:pt x="564" y="235"/>
                </a:lnTo>
                <a:cubicBezTo>
                  <a:pt x="572" y="240"/>
                  <a:pt x="576" y="248"/>
                  <a:pt x="576" y="256"/>
                </a:cubicBezTo>
                <a:cubicBezTo>
                  <a:pt x="576" y="264"/>
                  <a:pt x="572" y="272"/>
                  <a:pt x="564" y="277"/>
                </a:cubicBezTo>
                <a:lnTo>
                  <a:pt x="472" y="332"/>
                </a:lnTo>
                <a:lnTo>
                  <a:pt x="498" y="437"/>
                </a:lnTo>
                <a:cubicBezTo>
                  <a:pt x="500" y="445"/>
                  <a:pt x="498" y="454"/>
                  <a:pt x="492" y="460"/>
                </a:cubicBezTo>
                <a:cubicBezTo>
                  <a:pt x="486" y="466"/>
                  <a:pt x="477" y="468"/>
                  <a:pt x="469" y="466"/>
                </a:cubicBezTo>
                <a:lnTo>
                  <a:pt x="364" y="440"/>
                </a:lnTo>
                <a:lnTo>
                  <a:pt x="309" y="532"/>
                </a:lnTo>
                <a:cubicBezTo>
                  <a:pt x="304" y="540"/>
                  <a:pt x="297" y="544"/>
                  <a:pt x="288" y="544"/>
                </a:cubicBezTo>
                <a:cubicBezTo>
                  <a:pt x="280" y="544"/>
                  <a:pt x="272" y="540"/>
                  <a:pt x="267" y="532"/>
                </a:cubicBezTo>
                <a:lnTo>
                  <a:pt x="212" y="440"/>
                </a:lnTo>
                <a:lnTo>
                  <a:pt x="107" y="466"/>
                </a:lnTo>
                <a:cubicBezTo>
                  <a:pt x="99" y="468"/>
                  <a:pt x="90" y="466"/>
                  <a:pt x="84" y="460"/>
                </a:cubicBezTo>
                <a:cubicBezTo>
                  <a:pt x="78" y="454"/>
                  <a:pt x="76" y="445"/>
                  <a:pt x="78" y="437"/>
                </a:cubicBezTo>
                <a:lnTo>
                  <a:pt x="104" y="332"/>
                </a:lnTo>
                <a:lnTo>
                  <a:pt x="12" y="277"/>
                </a:lnTo>
                <a:cubicBezTo>
                  <a:pt x="4" y="272"/>
                  <a:pt x="0" y="264"/>
                  <a:pt x="0" y="256"/>
                </a:cubicBezTo>
                <a:cubicBezTo>
                  <a:pt x="0" y="248"/>
                  <a:pt x="4" y="240"/>
                  <a:pt x="12" y="235"/>
                </a:cubicBezTo>
                <a:lnTo>
                  <a:pt x="104" y="180"/>
                </a:lnTo>
                <a:lnTo>
                  <a:pt x="78" y="75"/>
                </a:lnTo>
                <a:cubicBezTo>
                  <a:pt x="76" y="67"/>
                  <a:pt x="78" y="58"/>
                  <a:pt x="84" y="52"/>
                </a:cubicBezTo>
                <a:cubicBezTo>
                  <a:pt x="90" y="46"/>
                  <a:pt x="99" y="44"/>
                  <a:pt x="107" y="46"/>
                </a:cubicBezTo>
                <a:lnTo>
                  <a:pt x="212" y="72"/>
                </a:lnTo>
                <a:lnTo>
                  <a:pt x="267" y="-20"/>
                </a:lnTo>
                <a:lnTo>
                  <a:pt x="269" y="-23"/>
                </a:lnTo>
                <a:cubicBezTo>
                  <a:pt x="274" y="-29"/>
                  <a:pt x="281" y="-32"/>
                  <a:pt x="288" y="-32"/>
                </a:cubicBezTo>
                <a:close/>
                <a:moveTo>
                  <a:pt x="288" y="112"/>
                </a:moveTo>
                <a:cubicBezTo>
                  <a:pt x="208" y="112"/>
                  <a:pt x="144" y="176"/>
                  <a:pt x="144" y="256"/>
                </a:cubicBezTo>
                <a:cubicBezTo>
                  <a:pt x="144" y="336"/>
                  <a:pt x="208" y="400"/>
                  <a:pt x="288" y="400"/>
                </a:cubicBezTo>
                <a:cubicBezTo>
                  <a:pt x="368" y="400"/>
                  <a:pt x="432" y="336"/>
                  <a:pt x="432" y="256"/>
                </a:cubicBezTo>
                <a:cubicBezTo>
                  <a:pt x="432" y="176"/>
                  <a:pt x="368" y="112"/>
                  <a:pt x="288" y="112"/>
                </a:cubicBezTo>
                <a:close/>
                <a:moveTo>
                  <a:pt x="288" y="352"/>
                </a:moveTo>
                <a:cubicBezTo>
                  <a:pt x="235" y="352"/>
                  <a:pt x="192" y="309"/>
                  <a:pt x="192" y="256"/>
                </a:cubicBezTo>
                <a:cubicBezTo>
                  <a:pt x="192" y="203"/>
                  <a:pt x="235" y="160"/>
                  <a:pt x="288" y="160"/>
                </a:cubicBezTo>
                <a:cubicBezTo>
                  <a:pt x="341" y="160"/>
                  <a:pt x="384" y="203"/>
                  <a:pt x="384" y="256"/>
                </a:cubicBezTo>
                <a:cubicBezTo>
                  <a:pt x="384" y="309"/>
                  <a:pt x="341" y="352"/>
                  <a:pt x="288" y="35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9" name="cell-n3"/>
          <p:cNvSpPr txBox="1"/>
          <p:nvPr/>
        </p:nvSpPr>
        <p:spPr>
          <a:xfrm>
            <a:off x="7442200" y="27686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光线</a:t>
            </a:r>
            <a:endParaRPr lang="en-US" sz="1600"/>
          </a:p>
        </p:txBody>
      </p:sp>
      <p:sp>
        <p:nvSpPr>
          <p:cNvPr id="20" name="cell-box3"/>
          <p:cNvSpPr/>
          <p:nvPr/>
        </p:nvSpPr>
        <p:spPr>
          <a:xfrm>
            <a:off x="8115300" y="3251200"/>
            <a:ext cx="304800" cy="30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</p:sp>
      <p:sp>
        <p:nvSpPr>
          <p:cNvPr id="21" name="cell4"/>
          <p:cNvSpPr/>
          <p:nvPr/>
        </p:nvSpPr>
        <p:spPr>
          <a:xfrm>
            <a:off x="9499600" y="1905000"/>
            <a:ext cx="1905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2" name="cell-ic4"/>
          <p:cNvSpPr/>
          <p:nvPr/>
        </p:nvSpPr>
        <p:spPr>
          <a:xfrm>
            <a:off x="10223500" y="218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96"/>
                </a:moveTo>
                <a:cubicBezTo>
                  <a:pt x="64" y="78"/>
                  <a:pt x="78" y="64"/>
                  <a:pt x="96" y="64"/>
                </a:cubicBezTo>
                <a:lnTo>
                  <a:pt x="256" y="64"/>
                </a:lnTo>
                <a:cubicBezTo>
                  <a:pt x="274" y="64"/>
                  <a:pt x="288" y="78"/>
                  <a:pt x="288" y="96"/>
                </a:cubicBezTo>
                <a:lnTo>
                  <a:pt x="288" y="384"/>
                </a:lnTo>
                <a:lnTo>
                  <a:pt x="384" y="384"/>
                </a:lnTo>
                <a:lnTo>
                  <a:pt x="384" y="256"/>
                </a:lnTo>
                <a:cubicBezTo>
                  <a:pt x="384" y="238"/>
                  <a:pt x="398" y="224"/>
                  <a:pt x="41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448" y="288"/>
                </a:lnTo>
                <a:lnTo>
                  <a:pt x="448" y="416"/>
                </a:lnTo>
                <a:cubicBezTo>
                  <a:pt x="448" y="434"/>
                  <a:pt x="434" y="448"/>
                  <a:pt x="416" y="448"/>
                </a:cubicBezTo>
                <a:lnTo>
                  <a:pt x="256" y="448"/>
                </a:lnTo>
                <a:cubicBezTo>
                  <a:pt x="238" y="448"/>
                  <a:pt x="224" y="434"/>
                  <a:pt x="224" y="416"/>
                </a:cubicBezTo>
                <a:lnTo>
                  <a:pt x="224" y="128"/>
                </a:lnTo>
                <a:lnTo>
                  <a:pt x="128" y="128"/>
                </a:lnTo>
                <a:lnTo>
                  <a:pt x="128" y="256"/>
                </a:lnTo>
                <a:cubicBezTo>
                  <a:pt x="128" y="274"/>
                  <a:pt x="114" y="288"/>
                  <a:pt x="96" y="288"/>
                </a:cubicBezTo>
                <a:lnTo>
                  <a:pt x="32" y="288"/>
                </a:lnTo>
                <a:cubicBezTo>
                  <a:pt x="14" y="288"/>
                  <a:pt x="0" y="274"/>
                  <a:pt x="0" y="256"/>
                </a:cubicBezTo>
                <a:cubicBezTo>
                  <a:pt x="0" y="238"/>
                  <a:pt x="14" y="224"/>
                  <a:pt x="32" y="224"/>
                </a:cubicBezTo>
                <a:lnTo>
                  <a:pt x="64" y="224"/>
                </a:lnTo>
                <a:lnTo>
                  <a:pt x="64" y="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cell-n4"/>
          <p:cNvSpPr txBox="1"/>
          <p:nvPr/>
        </p:nvSpPr>
        <p:spPr>
          <a:xfrm>
            <a:off x="9626600" y="27686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加速度计</a:t>
            </a:r>
            <a:endParaRPr lang="en-US" sz="1600"/>
          </a:p>
        </p:txBody>
      </p:sp>
      <p:sp>
        <p:nvSpPr>
          <p:cNvPr id="24" name="cell-box4"/>
          <p:cNvSpPr/>
          <p:nvPr/>
        </p:nvSpPr>
        <p:spPr>
          <a:xfrm>
            <a:off x="10299700" y="3251200"/>
            <a:ext cx="304800" cy="30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</p:sp>
      <p:sp>
        <p:nvSpPr>
          <p:cNvPr id="25" name="pace-card"/>
          <p:cNvSpPr/>
          <p:nvPr/>
        </p:nvSpPr>
        <p:spPr>
          <a:xfrm>
            <a:off x="762000" y="4318000"/>
            <a:ext cx="10668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6" name="pace-bar"/>
          <p:cNvSpPr/>
          <p:nvPr/>
        </p:nvSpPr>
        <p:spPr>
          <a:xfrm>
            <a:off x="762000" y="4318000"/>
            <a:ext cx="76200" cy="6604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7" name="pace-txt"/>
          <p:cNvSpPr txBox="1"/>
          <p:nvPr/>
        </p:nvSpPr>
        <p:spPr>
          <a:xfrm>
            <a:off x="1016000" y="4318000"/>
            <a:ext cx="10236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五个微实验，每个你就发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一句话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——老师先发一遍，你们再发。</a:t>
            </a:r>
            <a:endParaRPr lang="en-US" sz="1600"/>
          </a:p>
        </p:txBody>
      </p:sp>
      <p:sp>
        <p:nvSpPr>
          <p:cNvPr id="28" name="doc-tip"/>
          <p:cNvSpPr txBox="1"/>
          <p:nvPr/>
        </p:nvSpPr>
        <p:spPr>
          <a:xfrm>
            <a:off x="762000" y="5232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指令都印在你们的学员文档上。点亮一个，就在文档里打一个勾。</a:t>
            </a:r>
            <a:endParaRPr lang="en-US" sz="1300"/>
          </a:p>
        </p:txBody>
      </p:sp>
      <p:sp>
        <p:nvSpPr>
          <p:cNvPr id="29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07 / 19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点亮它 · 1/5　按键</a:t>
            </a:r>
            <a:endParaRPr lang="en-US" sz="1400"/>
          </a:p>
        </p:txBody>
      </p:sp>
      <p:sp>
        <p:nvSpPr>
          <p:cNvPr id="6" name="ok-label"/>
          <p:cNvSpPr txBox="1"/>
          <p:nvPr/>
        </p:nvSpPr>
        <p:spPr>
          <a:xfrm>
            <a:off x="7239000" y="1422400"/>
            <a:ext cx="419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000000"/>
                </a:solidFill>
                <a:latin typeface="MiSans"/>
                <a:ea typeface="MiSans"/>
              </a:rPr>
              <a:t>成功长这样：</a:t>
            </a:r>
            <a:endParaRPr lang="en-US" sz="1200"/>
          </a:p>
        </p:txBody>
      </p:sp>
      <p:sp>
        <p:nvSpPr>
          <p:cNvPr id="11" name="quote-card"/>
          <p:cNvSpPr/>
          <p:nvPr/>
        </p:nvSpPr>
        <p:spPr>
          <a:xfrm>
            <a:off x="762000" y="533400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2" name="quote-bar"/>
          <p:cNvSpPr/>
          <p:nvPr/>
        </p:nvSpPr>
        <p:spPr>
          <a:xfrm>
            <a:off x="762000" y="5334000"/>
            <a:ext cx="76200" cy="609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quote-txt"/>
          <p:cNvSpPr txBox="1"/>
          <p:nvPr/>
        </p:nvSpPr>
        <p:spPr>
          <a:xfrm>
            <a:off x="1016000" y="53340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按一按，它会应你——A、B、C 三颗键，就是一台小琴。</a:t>
            </a:r>
            <a:endParaRPr lang="en-US" sz="1600"/>
          </a:p>
        </p:txBody>
      </p:sp>
      <p:sp>
        <p:nvSpPr>
          <p:cNvPr id="14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08 / 19</a:t>
            </a:r>
            <a:endParaRPr lang="en-US" sz="11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752600"/>
            <a:ext cx="5861685" cy="2862580"/>
          </a:xfrm>
          <a:prstGeom prst="roundRect">
            <a:avLst>
              <a:gd name="adj" fmla="val 8251"/>
            </a:avLst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2" name="矩形 21"/>
          <p:cNvSpPr/>
          <p:nvPr/>
        </p:nvSpPr>
        <p:spPr>
          <a:xfrm>
            <a:off x="1060450" y="3175635"/>
            <a:ext cx="5200015" cy="652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rPr>
              <a:t>我用的Wio Terminal，请帮我实现下面功能：按 A/B/C 键分别发出 do、mi、sol 的音，屏幕大显示 DO / MI / SOL</a:t>
            </a:r>
            <a:endParaRPr lang="en-US" altLang="zh-CN" sz="1400">
              <a:solidFill>
                <a:schemeClr val="tx1"/>
              </a:solidFill>
              <a:latin typeface="Source Han Sans CN Regular" panose="020B0200000000000000" charset="-122"/>
              <a:ea typeface="Source Han Sans CN Regular" panose="020B0200000000000000" charset="-122"/>
              <a:cs typeface="Source Han Sans CN Regular" panose="020B0200000000000000" charset="-122"/>
            </a:endParaRPr>
          </a:p>
        </p:txBody>
      </p:sp>
      <p:pic>
        <p:nvPicPr>
          <p:cNvPr id="4" name="图片 3" descr="img_v3_02141_70f62716-029d-46d3-bc1a-d0c0ef62aa2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705" y="1752600"/>
            <a:ext cx="3815080" cy="2861945"/>
          </a:xfrm>
          <a:prstGeom prst="roundRect">
            <a:avLst>
              <a:gd name="adj" fmla="val 6453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857375"/>
            <a:ext cx="5861685" cy="2862580"/>
          </a:xfrm>
          <a:prstGeom prst="roundRect">
            <a:avLst>
              <a:gd name="adj" fmla="val 8251"/>
            </a:avLst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2" name="矩形 21"/>
          <p:cNvSpPr/>
          <p:nvPr/>
        </p:nvSpPr>
        <p:spPr>
          <a:xfrm>
            <a:off x="1060450" y="3280410"/>
            <a:ext cx="5200015" cy="652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rPr>
              <a:t>我用的Wio Terminal，请帮我实现下面功能：屏幕中间画一个小球，摇杆推向哪边，小球就往哪边移动</a:t>
            </a:r>
            <a:endParaRPr lang="en-US" altLang="zh-CN" sz="1400">
              <a:solidFill>
                <a:schemeClr val="tx1"/>
              </a:solidFill>
              <a:latin typeface="Source Han Sans CN Regular" panose="020B0200000000000000" charset="-122"/>
              <a:ea typeface="Source Han Sans CN Regular" panose="020B0200000000000000" charset="-122"/>
              <a:cs typeface="Source Han Sans CN Regular" panose="020B0200000000000000" charset="-122"/>
            </a:endParaRPr>
          </a:p>
        </p:txBody>
      </p:sp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点亮它 · 2/5　摇杆</a:t>
            </a:r>
            <a:endParaRPr lang="en-US" sz="1400"/>
          </a:p>
        </p:txBody>
      </p:sp>
      <p:sp>
        <p:nvSpPr>
          <p:cNvPr id="6" name="ok-label"/>
          <p:cNvSpPr txBox="1"/>
          <p:nvPr/>
        </p:nvSpPr>
        <p:spPr>
          <a:xfrm>
            <a:off x="7239000" y="1315720"/>
            <a:ext cx="419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000000"/>
                </a:solidFill>
                <a:latin typeface="MiSans"/>
                <a:ea typeface="MiSans"/>
              </a:rPr>
              <a:t>成功长这样：</a:t>
            </a:r>
            <a:endParaRPr lang="en-US" sz="1200"/>
          </a:p>
        </p:txBody>
      </p:sp>
      <p:sp>
        <p:nvSpPr>
          <p:cNvPr id="11" name="quote-card"/>
          <p:cNvSpPr/>
          <p:nvPr/>
        </p:nvSpPr>
        <p:spPr>
          <a:xfrm>
            <a:off x="762000" y="533400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2" name="quote-bar"/>
          <p:cNvSpPr/>
          <p:nvPr/>
        </p:nvSpPr>
        <p:spPr>
          <a:xfrm>
            <a:off x="762000" y="5334000"/>
            <a:ext cx="76200" cy="609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quote-txt"/>
          <p:cNvSpPr txBox="1"/>
          <p:nvPr/>
        </p:nvSpPr>
        <p:spPr>
          <a:xfrm>
            <a:off x="1016000" y="53340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摇一摇，小球听你的。——摇杆按下也能按，发现的举手。</a:t>
            </a:r>
            <a:endParaRPr lang="en-US" sz="1600"/>
          </a:p>
        </p:txBody>
      </p:sp>
      <p:sp>
        <p:nvSpPr>
          <p:cNvPr id="14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09 / 19</a:t>
            </a:r>
            <a:endParaRPr lang="en-US" sz="1100"/>
          </a:p>
        </p:txBody>
      </p:sp>
      <p:pic>
        <p:nvPicPr>
          <p:cNvPr id="4" name="图片 3" descr="img_v3_02141_705d1a68-02f4-4fdd-ba24-36b11f7c3c7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105" y="1849755"/>
            <a:ext cx="3839845" cy="2880360"/>
          </a:xfrm>
          <a:prstGeom prst="roundRect">
            <a:avLst>
              <a:gd name="adj" fmla="val 8009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点亮它 · 3/5　麦克风</a:t>
            </a:r>
            <a:endParaRPr lang="en-US" sz="1400"/>
          </a:p>
        </p:txBody>
      </p:sp>
      <p:sp>
        <p:nvSpPr>
          <p:cNvPr id="6" name="ok-label"/>
          <p:cNvSpPr txBox="1"/>
          <p:nvPr/>
        </p:nvSpPr>
        <p:spPr>
          <a:xfrm>
            <a:off x="7346315" y="2827655"/>
            <a:ext cx="419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800" b="1">
                <a:solidFill>
                  <a:srgbClr val="000000"/>
                </a:solidFill>
                <a:latin typeface="MiSans"/>
                <a:ea typeface="MiSans"/>
              </a:rPr>
              <a:t>你的成功作品长啥样？</a:t>
            </a:r>
            <a:endParaRPr lang="zh-CN" altLang="en-US" sz="2800" b="1">
              <a:solidFill>
                <a:srgbClr val="000000"/>
              </a:solidFill>
              <a:latin typeface="MiSans"/>
              <a:ea typeface="MiSans"/>
            </a:endParaRPr>
          </a:p>
        </p:txBody>
      </p:sp>
      <p:sp>
        <p:nvSpPr>
          <p:cNvPr id="11" name="quote-card"/>
          <p:cNvSpPr/>
          <p:nvPr/>
        </p:nvSpPr>
        <p:spPr>
          <a:xfrm>
            <a:off x="762000" y="533400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2" name="quote-bar"/>
          <p:cNvSpPr/>
          <p:nvPr/>
        </p:nvSpPr>
        <p:spPr>
          <a:xfrm>
            <a:off x="762000" y="5334000"/>
            <a:ext cx="76200" cy="609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quote-txt"/>
          <p:cNvSpPr txBox="1"/>
          <p:nvPr/>
        </p:nvSpPr>
        <p:spPr>
          <a:xfrm>
            <a:off x="1016000" y="53340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吹口气，蜡烛就灭。——声音不用报数，能办事就行。</a:t>
            </a:r>
            <a:endParaRPr lang="en-US" sz="1600"/>
          </a:p>
        </p:txBody>
      </p:sp>
      <p:sp>
        <p:nvSpPr>
          <p:cNvPr id="14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10 / 19</a:t>
            </a:r>
            <a:endParaRPr lang="en-US" sz="1100"/>
          </a:p>
        </p:txBody>
      </p:sp>
      <p:grpSp>
        <p:nvGrpSpPr>
          <p:cNvPr id="15" name="组合 14"/>
          <p:cNvGrpSpPr/>
          <p:nvPr/>
        </p:nvGrpSpPr>
        <p:grpSpPr>
          <a:xfrm>
            <a:off x="762000" y="1692910"/>
            <a:ext cx="5861685" cy="2862580"/>
            <a:chOff x="1200" y="3093"/>
            <a:chExt cx="9231" cy="450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00" y="3093"/>
              <a:ext cx="9231" cy="4508"/>
            </a:xfrm>
            <a:prstGeom prst="roundRect">
              <a:avLst>
                <a:gd name="adj" fmla="val 8251"/>
              </a:avLst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22" name="矩形 21"/>
            <p:cNvSpPr/>
            <p:nvPr/>
          </p:nvSpPr>
          <p:spPr>
            <a:xfrm>
              <a:off x="1670" y="5334"/>
              <a:ext cx="8189" cy="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>
                <a:lnSpc>
                  <a:spcPct val="150000"/>
                </a:lnSpc>
              </a:pPr>
              <a:r>
                <a:rPr lang="zh-CN" altLang="en-US" sz="1400">
                  <a:solidFill>
                    <a:schemeClr val="tx1"/>
                  </a:solidFill>
                  <a:latin typeface="Source Han Sans CN Regular" panose="020B0200000000000000" charset="-122"/>
                  <a:ea typeface="Source Han Sans CN Regular" panose="020B0200000000000000" charset="-122"/>
                  <a:cs typeface="Source Han Sans CN Regular" panose="020B0200000000000000" charset="-122"/>
                </a:rPr>
                <a:t>我用的Wio Terminal，请帮我实现下面功能：屏幕中间画一支点燃的蜡烛，对麦克风吹气火焰熄灭，过 2 秒重新点亮</a:t>
              </a:r>
              <a:endParaRPr lang="zh-CN" altLang="en-US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endParaRPr>
            </a:p>
            <a:p>
              <a:pPr algn="l">
                <a:lnSpc>
                  <a:spcPct val="150000"/>
                </a:lnSpc>
              </a:pPr>
              <a:endParaRPr lang="zh-CN" altLang="en-US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点亮它 · 4/5　光线</a:t>
            </a:r>
            <a:endParaRPr lang="en-US" sz="1400"/>
          </a:p>
        </p:txBody>
      </p:sp>
      <p:sp>
        <p:nvSpPr>
          <p:cNvPr id="11" name="quote-card"/>
          <p:cNvSpPr/>
          <p:nvPr/>
        </p:nvSpPr>
        <p:spPr>
          <a:xfrm>
            <a:off x="762000" y="533400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2" name="quote-bar"/>
          <p:cNvSpPr/>
          <p:nvPr/>
        </p:nvSpPr>
        <p:spPr>
          <a:xfrm>
            <a:off x="762000" y="5334000"/>
            <a:ext cx="76200" cy="609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quote-txt"/>
          <p:cNvSpPr txBox="1"/>
          <p:nvPr/>
        </p:nvSpPr>
        <p:spPr>
          <a:xfrm>
            <a:off x="1016000" y="53340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盖住它，它就睡着了。——天黑亮灯的本事，换了个玩法。</a:t>
            </a:r>
            <a:endParaRPr lang="en-US" sz="1600"/>
          </a:p>
        </p:txBody>
      </p:sp>
      <p:sp>
        <p:nvSpPr>
          <p:cNvPr id="14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11 / 19</a:t>
            </a:r>
            <a:endParaRPr lang="en-US" sz="1100"/>
          </a:p>
        </p:txBody>
      </p:sp>
      <p:grpSp>
        <p:nvGrpSpPr>
          <p:cNvPr id="15" name="组合 14"/>
          <p:cNvGrpSpPr/>
          <p:nvPr/>
        </p:nvGrpSpPr>
        <p:grpSpPr>
          <a:xfrm>
            <a:off x="762000" y="1692910"/>
            <a:ext cx="5861685" cy="2862580"/>
            <a:chOff x="1200" y="3093"/>
            <a:chExt cx="9231" cy="450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00" y="3093"/>
              <a:ext cx="9231" cy="4508"/>
            </a:xfrm>
            <a:prstGeom prst="roundRect">
              <a:avLst>
                <a:gd name="adj" fmla="val 8251"/>
              </a:avLst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22" name="矩形 21"/>
            <p:cNvSpPr/>
            <p:nvPr/>
          </p:nvSpPr>
          <p:spPr>
            <a:xfrm>
              <a:off x="1670" y="5334"/>
              <a:ext cx="8189" cy="9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>
                <a:lnSpc>
                  <a:spcPct val="150000"/>
                </a:lnSpc>
              </a:pPr>
              <a:r>
                <a:rPr lang="zh-CN" altLang="en-US" sz="1400">
                  <a:solidFill>
                    <a:schemeClr val="tx1"/>
                  </a:solidFill>
                  <a:latin typeface="Source Han Sans CN Regular" panose="020B0200000000000000" charset="-122"/>
                  <a:ea typeface="Source Han Sans CN Regular" panose="020B0200000000000000" charset="-122"/>
                  <a:cs typeface="Source Han Sans CN Regular" panose="020B0200000000000000" charset="-122"/>
                </a:rPr>
                <a:t>我用的Wio Terminal，请帮我实现下面功能：屏幕画两只睁开的眼睛；光线变暗时眼睛闭上并显示 </a:t>
              </a:r>
              <a:r>
                <a:rPr lang="en-US" altLang="zh-CN" sz="1400">
                  <a:solidFill>
                    <a:schemeClr val="tx1"/>
                  </a:solidFill>
                  <a:latin typeface="Source Han Sans CN Regular" panose="020B0200000000000000" charset="-122"/>
                  <a:ea typeface="Source Han Sans CN Regular" panose="020B0200000000000000" charset="-122"/>
                  <a:cs typeface="Source Han Sans CN Regular" panose="020B0200000000000000" charset="-122"/>
                </a:rPr>
                <a:t>ZZZ，</a:t>
              </a:r>
              <a:r>
                <a:rPr lang="zh-CN" altLang="en-US" sz="1400">
                  <a:solidFill>
                    <a:schemeClr val="tx1"/>
                  </a:solidFill>
                  <a:latin typeface="Source Han Sans CN Regular" panose="020B0200000000000000" charset="-122"/>
                  <a:ea typeface="Source Han Sans CN Regular" panose="020B0200000000000000" charset="-122"/>
                  <a:cs typeface="Source Han Sans CN Regular" panose="020B0200000000000000" charset="-122"/>
                </a:rPr>
                <a:t>变亮时重新睁开</a:t>
              </a:r>
              <a:endParaRPr lang="zh-CN" altLang="en-US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endParaRPr>
            </a:p>
            <a:p>
              <a:pPr algn="l">
                <a:lnSpc>
                  <a:spcPct val="150000"/>
                </a:lnSpc>
              </a:pPr>
              <a:endParaRPr lang="zh-CN" altLang="en-US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endParaRPr>
            </a:p>
          </p:txBody>
        </p:sp>
      </p:grpSp>
      <p:sp>
        <p:nvSpPr>
          <p:cNvPr id="20" name="ok-label"/>
          <p:cNvSpPr txBox="1"/>
          <p:nvPr/>
        </p:nvSpPr>
        <p:spPr>
          <a:xfrm>
            <a:off x="7346315" y="2827655"/>
            <a:ext cx="419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800" b="1">
                <a:solidFill>
                  <a:srgbClr val="000000"/>
                </a:solidFill>
                <a:latin typeface="MiSans"/>
                <a:ea typeface="MiSans"/>
              </a:rPr>
              <a:t>你的成功作品长啥样？</a:t>
            </a:r>
            <a:endParaRPr lang="zh-CN" altLang="en-US" sz="2800" b="1">
              <a:solidFill>
                <a:srgbClr val="000000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点亮它 · 5/5　加速度计</a:t>
            </a:r>
            <a:endParaRPr lang="en-US" sz="1400"/>
          </a:p>
        </p:txBody>
      </p:sp>
      <p:sp>
        <p:nvSpPr>
          <p:cNvPr id="11" name="quote-card"/>
          <p:cNvSpPr/>
          <p:nvPr/>
        </p:nvSpPr>
        <p:spPr>
          <a:xfrm>
            <a:off x="762000" y="508000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2" name="quote-bar"/>
          <p:cNvSpPr/>
          <p:nvPr/>
        </p:nvSpPr>
        <p:spPr>
          <a:xfrm>
            <a:off x="762000" y="5080000"/>
            <a:ext cx="76200" cy="609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quote-txt"/>
          <p:cNvSpPr txBox="1"/>
          <p:nvPr/>
        </p:nvSpPr>
        <p:spPr>
          <a:xfrm>
            <a:off x="1016000" y="50800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歪一歪，小球往低处滚。——摇晃检测、摔倒报警，都靠它。</a:t>
            </a:r>
            <a:endParaRPr lang="en-US" sz="1600"/>
          </a:p>
        </p:txBody>
      </p:sp>
      <p:sp>
        <p:nvSpPr>
          <p:cNvPr id="14" name="anchor-bg"/>
          <p:cNvSpPr/>
          <p:nvPr/>
        </p:nvSpPr>
        <p:spPr>
          <a:xfrm>
            <a:off x="762000" y="5791200"/>
            <a:ext cx="10668000" cy="6096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5" name="anchor-icon"/>
          <p:cNvSpPr/>
          <p:nvPr/>
        </p:nvSpPr>
        <p:spPr>
          <a:xfrm>
            <a:off x="990600" y="5981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6" name="anchor-txt"/>
          <p:cNvSpPr txBox="1"/>
          <p:nvPr/>
        </p:nvSpPr>
        <p:spPr>
          <a:xfrm>
            <a:off x="1346200" y="5791200"/>
            <a:ext cx="990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写进学员文档——"我点亮了：□按键 □摇杆 □麦克风 □光线 □加速度计；最让我惊喜的是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＿＿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，因为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＿＿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。"</a:t>
            </a:r>
            <a:endParaRPr lang="en-US" sz="1600"/>
          </a:p>
        </p:txBody>
      </p:sp>
      <p:sp>
        <p:nvSpPr>
          <p:cNvPr id="17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12 / 19</a:t>
            </a:r>
            <a:endParaRPr lang="en-US" sz="1100"/>
          </a:p>
        </p:txBody>
      </p:sp>
      <p:grpSp>
        <p:nvGrpSpPr>
          <p:cNvPr id="18" name="组合 17"/>
          <p:cNvGrpSpPr/>
          <p:nvPr/>
        </p:nvGrpSpPr>
        <p:grpSpPr>
          <a:xfrm>
            <a:off x="762000" y="1565910"/>
            <a:ext cx="5861685" cy="2862580"/>
            <a:chOff x="1200" y="3093"/>
            <a:chExt cx="9231" cy="450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00" y="3093"/>
              <a:ext cx="9231" cy="4508"/>
            </a:xfrm>
            <a:prstGeom prst="roundRect">
              <a:avLst>
                <a:gd name="adj" fmla="val 8251"/>
              </a:avLst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22" name="矩形 21"/>
            <p:cNvSpPr/>
            <p:nvPr/>
          </p:nvSpPr>
          <p:spPr>
            <a:xfrm>
              <a:off x="1670" y="5334"/>
              <a:ext cx="8189" cy="9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>
                <a:lnSpc>
                  <a:spcPct val="150000"/>
                </a:lnSpc>
              </a:pPr>
              <a:r>
                <a:rPr lang="zh-CN" altLang="en-US" sz="1400">
                  <a:solidFill>
                    <a:schemeClr val="tx1"/>
                  </a:solidFill>
                  <a:latin typeface="Source Han Sans CN Regular" panose="020B0200000000000000" charset="-122"/>
                  <a:ea typeface="Source Han Sans CN Regular" panose="020B0200000000000000" charset="-122"/>
                  <a:cs typeface="Source Han Sans CN Regular" panose="020B0200000000000000" charset="-122"/>
                </a:rPr>
                <a:t>我用的Wio Terminal，请帮我实现下面功能：屏幕画一个方框，框里一个小球，倾斜板子小球往低处滚动</a:t>
              </a:r>
              <a:endParaRPr lang="zh-CN" altLang="en-US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endParaRPr>
            </a:p>
            <a:p>
              <a:pPr algn="l">
                <a:lnSpc>
                  <a:spcPct val="150000"/>
                </a:lnSpc>
              </a:pPr>
              <a:endParaRPr lang="zh-CN" altLang="en-US" sz="1400">
                <a:solidFill>
                  <a:schemeClr val="tx1"/>
                </a:solidFill>
                <a:latin typeface="Source Han Sans CN Regular" panose="020B0200000000000000" charset="-122"/>
                <a:ea typeface="Source Han Sans CN Regular" panose="020B0200000000000000" charset="-122"/>
                <a:cs typeface="Source Han Sans CN Regular" panose="020B0200000000000000" charset="-122"/>
              </a:endParaRPr>
            </a:p>
          </p:txBody>
        </p:sp>
      </p:grpSp>
      <p:sp>
        <p:nvSpPr>
          <p:cNvPr id="20" name="ok-label"/>
          <p:cNvSpPr txBox="1"/>
          <p:nvPr/>
        </p:nvSpPr>
        <p:spPr>
          <a:xfrm>
            <a:off x="7346315" y="2700655"/>
            <a:ext cx="419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800" b="1">
                <a:solidFill>
                  <a:srgbClr val="000000"/>
                </a:solidFill>
                <a:latin typeface="MiSans"/>
                <a:ea typeface="MiSans"/>
              </a:rPr>
              <a:t>你的成功作品长啥样？</a:t>
            </a:r>
            <a:endParaRPr lang="zh-CN" altLang="en-US" sz="2800" b="1">
              <a:solidFill>
                <a:srgbClr val="000000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用好它 · 对比实验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同一句话，两种说法</a:t>
            </a:r>
            <a:endParaRPr lang="en-US" sz="2800"/>
          </a:p>
        </p:txBody>
      </p:sp>
      <p:sp>
        <p:nvSpPr>
          <p:cNvPr id="13" name="blur-cap"/>
          <p:cNvSpPr txBox="1"/>
          <p:nvPr/>
        </p:nvSpPr>
        <p:spPr>
          <a:xfrm>
            <a:off x="762000" y="4140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说法一：只说"做个计数器界面"</a:t>
            </a:r>
            <a:endParaRPr lang="en-US" sz="1300"/>
          </a:p>
        </p:txBody>
      </p:sp>
      <p:sp>
        <p:nvSpPr>
          <p:cNvPr id="14" name="clear-cap"/>
          <p:cNvSpPr txBox="1"/>
          <p:nvPr/>
        </p:nvSpPr>
        <p:spPr>
          <a:xfrm>
            <a:off x="7121525" y="4013200"/>
            <a:ext cx="38227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说法二：</a:t>
            </a:r>
            <a:r>
              <a:rPr lang="zh-CN" altLang="en-US" sz="1300">
                <a:solidFill>
                  <a:srgbClr val="000000"/>
                </a:solidFill>
                <a:latin typeface="MiSans"/>
                <a:ea typeface="MiSans"/>
              </a:rPr>
              <a:t>做个计算器，</a:t>
            </a:r>
            <a:r>
              <a:rPr lang="en-US" sz="1300">
                <a:sym typeface="+mn-ea"/>
              </a:rPr>
              <a:t>屏幕中间用最大号字显示数字，左上角小字显示 COUNTER，数字是红色。</a:t>
            </a:r>
            <a:endParaRPr lang="en-US" sz="1300"/>
          </a:p>
        </p:txBody>
      </p:sp>
      <p:sp>
        <p:nvSpPr>
          <p:cNvPr id="15" name="tri-dot0"/>
          <p:cNvSpPr/>
          <p:nvPr/>
        </p:nvSpPr>
        <p:spPr>
          <a:xfrm>
            <a:off x="2032000" y="4724400"/>
            <a:ext cx="177800" cy="177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6" name="tri-t0"/>
          <p:cNvSpPr txBox="1"/>
          <p:nvPr/>
        </p:nvSpPr>
        <p:spPr>
          <a:xfrm>
            <a:off x="2336800" y="4572000"/>
            <a:ext cx="139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位置</a:t>
            </a:r>
            <a:endParaRPr lang="en-US" sz="2800"/>
          </a:p>
        </p:txBody>
      </p:sp>
      <p:sp>
        <p:nvSpPr>
          <p:cNvPr id="17" name="tri-dot1"/>
          <p:cNvSpPr/>
          <p:nvPr/>
        </p:nvSpPr>
        <p:spPr>
          <a:xfrm>
            <a:off x="5334000" y="4724400"/>
            <a:ext cx="177800" cy="177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8" name="tri-t1"/>
          <p:cNvSpPr txBox="1"/>
          <p:nvPr/>
        </p:nvSpPr>
        <p:spPr>
          <a:xfrm>
            <a:off x="5638800" y="4572000"/>
            <a:ext cx="139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大小</a:t>
            </a:r>
            <a:endParaRPr lang="en-US" sz="2800"/>
          </a:p>
        </p:txBody>
      </p:sp>
      <p:sp>
        <p:nvSpPr>
          <p:cNvPr id="19" name="tri-dot2"/>
          <p:cNvSpPr/>
          <p:nvPr/>
        </p:nvSpPr>
        <p:spPr>
          <a:xfrm>
            <a:off x="8636000" y="4724400"/>
            <a:ext cx="177800" cy="177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0" name="tri-t2"/>
          <p:cNvSpPr txBox="1"/>
          <p:nvPr/>
        </p:nvSpPr>
        <p:spPr>
          <a:xfrm>
            <a:off x="8940800" y="4572000"/>
            <a:ext cx="139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颜色</a:t>
            </a:r>
            <a:endParaRPr lang="en-US" sz="2800"/>
          </a:p>
        </p:txBody>
      </p:sp>
      <p:sp>
        <p:nvSpPr>
          <p:cNvPr id="21" name="tpl-card"/>
          <p:cNvSpPr/>
          <p:nvPr/>
        </p:nvSpPr>
        <p:spPr>
          <a:xfrm>
            <a:off x="1651000" y="5334000"/>
            <a:ext cx="8890000" cy="711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22" name="tpl-txt"/>
          <p:cNvSpPr txBox="1"/>
          <p:nvPr/>
        </p:nvSpPr>
        <p:spPr>
          <a:xfrm>
            <a:off x="1905000" y="5334000"/>
            <a:ext cx="8382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JetBrains Mono" panose="02000009000000000000"/>
                <a:ea typeface="JetBrains Mono" panose="02000009000000000000"/>
              </a:rPr>
              <a:t>在【位置】用【大小/颜色】显示【内容】，当【操作】时【变化】。</a:t>
            </a:r>
            <a:endParaRPr lang="en-US" sz="1700"/>
          </a:p>
        </p:txBody>
      </p:sp>
      <p:sp>
        <p:nvSpPr>
          <p:cNvPr id="23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13 / 19</a:t>
            </a:r>
            <a:endParaRPr lang="en-US" sz="110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0" y="1882775"/>
            <a:ext cx="3237865" cy="2130425"/>
          </a:xfrm>
          <a:prstGeom prst="roundRect">
            <a:avLst>
              <a:gd name="adj" fmla="val 6972"/>
            </a:avLst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640" y="1883410"/>
            <a:ext cx="3058160" cy="2130425"/>
          </a:xfrm>
          <a:prstGeom prst="roundRect">
            <a:avLst>
              <a:gd name="adj" fmla="val 6787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用好它 · 跟做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分两步说——这是故意的</a:t>
            </a:r>
            <a:endParaRPr lang="en-US" sz="2800"/>
          </a:p>
        </p:txBody>
      </p:sp>
      <p:sp>
        <p:nvSpPr>
          <p:cNvPr id="5" name="st0-dot"/>
          <p:cNvSpPr/>
          <p:nvPr/>
        </p:nvSpPr>
        <p:spPr>
          <a:xfrm>
            <a:off x="1870710" y="18161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st0-num"/>
          <p:cNvSpPr txBox="1"/>
          <p:nvPr/>
        </p:nvSpPr>
        <p:spPr>
          <a:xfrm>
            <a:off x="1870710" y="18161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7" name="st-lab0"/>
          <p:cNvSpPr txBox="1"/>
          <p:nvPr/>
        </p:nvSpPr>
        <p:spPr>
          <a:xfrm>
            <a:off x="2429510" y="18161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步骤一 · 只说界面</a:t>
            </a:r>
            <a:endParaRPr lang="en-US" sz="1500"/>
          </a:p>
        </p:txBody>
      </p:sp>
      <p:sp>
        <p:nvSpPr>
          <p:cNvPr id="8" name="st-cmd0"/>
          <p:cNvSpPr/>
          <p:nvPr/>
        </p:nvSpPr>
        <p:spPr>
          <a:xfrm>
            <a:off x="1870710" y="2374900"/>
            <a:ext cx="6858000" cy="1041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9" name="st-txt0"/>
          <p:cNvSpPr txBox="1"/>
          <p:nvPr/>
        </p:nvSpPr>
        <p:spPr>
          <a:xfrm>
            <a:off x="2124710" y="2374900"/>
            <a:ext cx="6350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JetBrains Mono" panose="02000009000000000000"/>
                <a:ea typeface="JetBrains Mono" panose="02000009000000000000"/>
              </a:rPr>
              <a:t>「屏幕中间用最大号字显示数字 0，左上角小字写 COUNTER。」　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JetBrains Mono" panose="02000009000000000000"/>
                <a:ea typeface="JetBrains Mono" panose="02000009000000000000"/>
              </a:rPr>
              <a:t>→ 烧录，看效果</a:t>
            </a:r>
            <a:endParaRPr lang="en-US" sz="1500"/>
          </a:p>
        </p:txBody>
      </p:sp>
      <p:sp>
        <p:nvSpPr>
          <p:cNvPr id="14" name="st1-dot"/>
          <p:cNvSpPr/>
          <p:nvPr/>
        </p:nvSpPr>
        <p:spPr>
          <a:xfrm>
            <a:off x="1870710" y="37211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5" name="st1-num"/>
          <p:cNvSpPr txBox="1"/>
          <p:nvPr/>
        </p:nvSpPr>
        <p:spPr>
          <a:xfrm>
            <a:off x="1870710" y="37211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16" name="st-lab1"/>
          <p:cNvSpPr txBox="1"/>
          <p:nvPr/>
        </p:nvSpPr>
        <p:spPr>
          <a:xfrm>
            <a:off x="2429510" y="37211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步骤二 · 再说行为</a:t>
            </a:r>
            <a:endParaRPr lang="en-US" sz="1500"/>
          </a:p>
        </p:txBody>
      </p:sp>
      <p:sp>
        <p:nvSpPr>
          <p:cNvPr id="17" name="st-cmd1"/>
          <p:cNvSpPr/>
          <p:nvPr/>
        </p:nvSpPr>
        <p:spPr>
          <a:xfrm>
            <a:off x="1870710" y="4279900"/>
            <a:ext cx="6858000" cy="1041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18" name="st-txt1"/>
          <p:cNvSpPr txBox="1"/>
          <p:nvPr/>
        </p:nvSpPr>
        <p:spPr>
          <a:xfrm>
            <a:off x="2124710" y="4279900"/>
            <a:ext cx="6350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JetBrains Mono" panose="02000009000000000000"/>
                <a:ea typeface="JetBrains Mono" panose="02000009000000000000"/>
              </a:rPr>
              <a:t>「按 A 键数字加一，按 B 键清零。每按满 10 下，蜂鸣器响一声庆祝。」　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JetBrains Mono" panose="02000009000000000000"/>
                <a:ea typeface="JetBrains Mono" panose="02000009000000000000"/>
              </a:rPr>
              <a:t>→ 再烧录</a:t>
            </a:r>
            <a:endParaRPr lang="en-US" sz="1500"/>
          </a:p>
        </p:txBody>
      </p:sp>
      <p:sp>
        <p:nvSpPr>
          <p:cNvPr id="23" name="cmd-card"/>
          <p:cNvSpPr/>
          <p:nvPr/>
        </p:nvSpPr>
        <p:spPr>
          <a:xfrm>
            <a:off x="762000" y="5740400"/>
            <a:ext cx="10668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4" name="cmd-bar"/>
          <p:cNvSpPr/>
          <p:nvPr/>
        </p:nvSpPr>
        <p:spPr>
          <a:xfrm>
            <a:off x="762000" y="5740400"/>
            <a:ext cx="76200" cy="584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5" name="cmd-txt"/>
          <p:cNvSpPr txBox="1"/>
          <p:nvPr/>
        </p:nvSpPr>
        <p:spPr>
          <a:xfrm>
            <a:off x="1016000" y="5740400"/>
            <a:ext cx="10236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先说样子，再说动作——它就不乱。按键没反应？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没反应？滑一下。</a:t>
            </a:r>
            <a:endParaRPr lang="en-US" sz="1500"/>
          </a:p>
        </p:txBody>
      </p:sp>
      <p:sp>
        <p:nvSpPr>
          <p:cNvPr id="26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14 / 19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用好它 · 自由创作</a:t>
            </a:r>
            <a:endParaRPr lang="en-US" sz="1400"/>
          </a:p>
        </p:txBody>
      </p:sp>
      <p:sp>
        <p:nvSpPr>
          <p:cNvPr id="4" name="brief-bg"/>
          <p:cNvSpPr/>
          <p:nvPr/>
        </p:nvSpPr>
        <p:spPr>
          <a:xfrm>
            <a:off x="762000" y="1168400"/>
            <a:ext cx="10668000" cy="1219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5" name="brief"/>
          <p:cNvSpPr txBox="1"/>
          <p:nvPr/>
        </p:nvSpPr>
        <p:spPr>
          <a:xfrm>
            <a:off x="1016000" y="1168400"/>
            <a:ext cx="10160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做一个有两个画面的东西，用按键或摇杆切换</a:t>
            </a:r>
            <a:endParaRPr lang="en-US" sz="2600"/>
          </a:p>
        </p:txBody>
      </p:sp>
      <p:sp>
        <p:nvSpPr>
          <p:cNvPr id="6" name="cands"/>
          <p:cNvSpPr txBox="1"/>
          <p:nvPr/>
        </p:nvSpPr>
        <p:spPr>
          <a:xfrm>
            <a:off x="762000" y="2540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候选题目：时钟 ／ 心情显示器 ／ 秒表 ／ 自制菜单 ／ 反应力测试（显示内容用英文、数字或图形）</a:t>
            </a:r>
            <a:endParaRPr lang="en-US" sz="1400"/>
          </a:p>
        </p:txBody>
      </p:sp>
      <p:sp>
        <p:nvSpPr>
          <p:cNvPr id="7" name="in-ic0"/>
          <p:cNvSpPr/>
          <p:nvPr/>
        </p:nvSpPr>
        <p:spPr>
          <a:xfrm>
            <a:off x="146050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40"/>
                </a:moveTo>
                <a:cubicBezTo>
                  <a:pt x="128" y="18"/>
                  <a:pt x="146" y="0"/>
                  <a:pt x="168" y="0"/>
                </a:cubicBezTo>
                <a:cubicBezTo>
                  <a:pt x="190" y="0"/>
                  <a:pt x="208" y="18"/>
                  <a:pt x="208" y="40"/>
                </a:cubicBezTo>
                <a:lnTo>
                  <a:pt x="208" y="188"/>
                </a:lnTo>
                <a:cubicBezTo>
                  <a:pt x="217" y="181"/>
                  <a:pt x="228" y="176"/>
                  <a:pt x="240" y="176"/>
                </a:cubicBezTo>
                <a:cubicBezTo>
                  <a:pt x="261" y="176"/>
                  <a:pt x="278" y="189"/>
                  <a:pt x="285" y="207"/>
                </a:cubicBezTo>
                <a:cubicBezTo>
                  <a:pt x="294" y="198"/>
                  <a:pt x="306" y="192"/>
                  <a:pt x="320" y="192"/>
                </a:cubicBezTo>
                <a:cubicBezTo>
                  <a:pt x="345" y="192"/>
                  <a:pt x="366" y="212"/>
                  <a:pt x="368" y="236"/>
                </a:cubicBezTo>
                <a:cubicBezTo>
                  <a:pt x="376" y="229"/>
                  <a:pt x="388" y="224"/>
                  <a:pt x="400" y="224"/>
                </a:cubicBezTo>
                <a:cubicBezTo>
                  <a:pt x="427" y="224"/>
                  <a:pt x="448" y="246"/>
                  <a:pt x="448" y="272"/>
                </a:cubicBezTo>
                <a:lnTo>
                  <a:pt x="448" y="384"/>
                </a:lnTo>
                <a:cubicBezTo>
                  <a:pt x="448" y="455"/>
                  <a:pt x="391" y="512"/>
                  <a:pt x="320" y="512"/>
                </a:cubicBezTo>
                <a:lnTo>
                  <a:pt x="235" y="512"/>
                </a:lnTo>
                <a:cubicBezTo>
                  <a:pt x="230" y="512"/>
                  <a:pt x="225" y="512"/>
                  <a:pt x="220" y="511"/>
                </a:cubicBezTo>
                <a:cubicBezTo>
                  <a:pt x="165" y="505"/>
                  <a:pt x="114" y="477"/>
                  <a:pt x="80" y="432"/>
                </a:cubicBezTo>
                <a:lnTo>
                  <a:pt x="8" y="336"/>
                </a:lnTo>
                <a:cubicBezTo>
                  <a:pt x="-5" y="318"/>
                  <a:pt x="-2" y="293"/>
                  <a:pt x="16" y="280"/>
                </a:cubicBezTo>
                <a:cubicBezTo>
                  <a:pt x="34" y="267"/>
                  <a:pt x="59" y="270"/>
                  <a:pt x="72" y="288"/>
                </a:cubicBezTo>
                <a:lnTo>
                  <a:pt x="128" y="363"/>
                </a:lnTo>
                <a:lnTo>
                  <a:pt x="128" y="40"/>
                </a:lnTo>
                <a:close/>
                <a:moveTo>
                  <a:pt x="240" y="304"/>
                </a:moveTo>
                <a:cubicBezTo>
                  <a:pt x="240" y="295"/>
                  <a:pt x="233" y="288"/>
                  <a:pt x="224" y="288"/>
                </a:cubicBezTo>
                <a:cubicBezTo>
                  <a:pt x="215" y="288"/>
                  <a:pt x="208" y="295"/>
                  <a:pt x="208" y="304"/>
                </a:cubicBezTo>
                <a:lnTo>
                  <a:pt x="208" y="400"/>
                </a:lnTo>
                <a:cubicBezTo>
                  <a:pt x="208" y="409"/>
                  <a:pt x="215" y="416"/>
                  <a:pt x="224" y="416"/>
                </a:cubicBezTo>
                <a:cubicBezTo>
                  <a:pt x="233" y="416"/>
                  <a:pt x="240" y="409"/>
                  <a:pt x="240" y="400"/>
                </a:cubicBezTo>
                <a:lnTo>
                  <a:pt x="240" y="304"/>
                </a:lnTo>
                <a:close/>
                <a:moveTo>
                  <a:pt x="288" y="288"/>
                </a:moveTo>
                <a:cubicBezTo>
                  <a:pt x="279" y="288"/>
                  <a:pt x="272" y="295"/>
                  <a:pt x="272" y="304"/>
                </a:cubicBezTo>
                <a:lnTo>
                  <a:pt x="272" y="400"/>
                </a:lnTo>
                <a:cubicBezTo>
                  <a:pt x="272" y="409"/>
                  <a:pt x="279" y="416"/>
                  <a:pt x="288" y="416"/>
                </a:cubicBezTo>
                <a:cubicBezTo>
                  <a:pt x="297" y="416"/>
                  <a:pt x="304" y="409"/>
                  <a:pt x="304" y="400"/>
                </a:cubicBezTo>
                <a:lnTo>
                  <a:pt x="304" y="304"/>
                </a:lnTo>
                <a:cubicBezTo>
                  <a:pt x="304" y="295"/>
                  <a:pt x="297" y="288"/>
                  <a:pt x="288" y="288"/>
                </a:cubicBezTo>
                <a:close/>
                <a:moveTo>
                  <a:pt x="368" y="304"/>
                </a:moveTo>
                <a:cubicBezTo>
                  <a:pt x="368" y="295"/>
                  <a:pt x="361" y="288"/>
                  <a:pt x="352" y="288"/>
                </a:cubicBezTo>
                <a:cubicBezTo>
                  <a:pt x="343" y="288"/>
                  <a:pt x="336" y="295"/>
                  <a:pt x="336" y="304"/>
                </a:cubicBezTo>
                <a:lnTo>
                  <a:pt x="336" y="400"/>
                </a:lnTo>
                <a:cubicBezTo>
                  <a:pt x="336" y="409"/>
                  <a:pt x="343" y="416"/>
                  <a:pt x="352" y="416"/>
                </a:cubicBezTo>
                <a:cubicBezTo>
                  <a:pt x="361" y="416"/>
                  <a:pt x="368" y="409"/>
                  <a:pt x="368" y="400"/>
                </a:cubicBezTo>
                <a:lnTo>
                  <a:pt x="368" y="3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8" name="in-n0"/>
          <p:cNvSpPr txBox="1"/>
          <p:nvPr/>
        </p:nvSpPr>
        <p:spPr>
          <a:xfrm>
            <a:off x="762000" y="35052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按键</a:t>
            </a:r>
            <a:endParaRPr lang="en-US" sz="1300"/>
          </a:p>
        </p:txBody>
      </p:sp>
      <p:sp>
        <p:nvSpPr>
          <p:cNvPr id="9" name="in-ic1"/>
          <p:cNvSpPr/>
          <p:nvPr/>
        </p:nvSpPr>
        <p:spPr>
          <a:xfrm>
            <a:off x="364490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48" y="64"/>
                </a:moveTo>
                <a:cubicBezTo>
                  <a:pt x="554" y="64"/>
                  <a:pt x="640" y="150"/>
                  <a:pt x="640" y="256"/>
                </a:cubicBezTo>
                <a:cubicBezTo>
                  <a:pt x="640" y="362"/>
                  <a:pt x="554" y="448"/>
                  <a:pt x="448" y="448"/>
                </a:cubicBezTo>
                <a:lnTo>
                  <a:pt x="192" y="448"/>
                </a:lnTo>
                <a:cubicBezTo>
                  <a:pt x="86" y="448"/>
                  <a:pt x="0" y="362"/>
                  <a:pt x="0" y="256"/>
                </a:cubicBezTo>
                <a:cubicBezTo>
                  <a:pt x="0" y="150"/>
                  <a:pt x="86" y="64"/>
                  <a:pt x="192" y="64"/>
                </a:cubicBezTo>
                <a:lnTo>
                  <a:pt x="448" y="64"/>
                </a:lnTo>
                <a:close/>
                <a:moveTo>
                  <a:pt x="192" y="176"/>
                </a:moveTo>
                <a:cubicBezTo>
                  <a:pt x="179" y="176"/>
                  <a:pt x="168" y="187"/>
                  <a:pt x="168" y="200"/>
                </a:cubicBezTo>
                <a:lnTo>
                  <a:pt x="168" y="232"/>
                </a:lnTo>
                <a:lnTo>
                  <a:pt x="136" y="232"/>
                </a:lnTo>
                <a:cubicBezTo>
                  <a:pt x="123" y="232"/>
                  <a:pt x="112" y="243"/>
                  <a:pt x="112" y="256"/>
                </a:cubicBezTo>
                <a:cubicBezTo>
                  <a:pt x="112" y="269"/>
                  <a:pt x="123" y="280"/>
                  <a:pt x="136" y="280"/>
                </a:cubicBezTo>
                <a:lnTo>
                  <a:pt x="168" y="280"/>
                </a:lnTo>
                <a:lnTo>
                  <a:pt x="168" y="312"/>
                </a:lnTo>
                <a:cubicBezTo>
                  <a:pt x="168" y="325"/>
                  <a:pt x="179" y="336"/>
                  <a:pt x="192" y="336"/>
                </a:cubicBezTo>
                <a:cubicBezTo>
                  <a:pt x="205" y="336"/>
                  <a:pt x="216" y="325"/>
                  <a:pt x="216" y="312"/>
                </a:cubicBezTo>
                <a:lnTo>
                  <a:pt x="216" y="280"/>
                </a:lnTo>
                <a:lnTo>
                  <a:pt x="248" y="280"/>
                </a:lnTo>
                <a:cubicBezTo>
                  <a:pt x="261" y="280"/>
                  <a:pt x="272" y="269"/>
                  <a:pt x="272" y="256"/>
                </a:cubicBezTo>
                <a:cubicBezTo>
                  <a:pt x="272" y="243"/>
                  <a:pt x="261" y="232"/>
                  <a:pt x="248" y="232"/>
                </a:cubicBezTo>
                <a:lnTo>
                  <a:pt x="216" y="232"/>
                </a:lnTo>
                <a:lnTo>
                  <a:pt x="216" y="200"/>
                </a:lnTo>
                <a:cubicBezTo>
                  <a:pt x="216" y="187"/>
                  <a:pt x="205" y="176"/>
                  <a:pt x="192" y="176"/>
                </a:cubicBezTo>
                <a:close/>
                <a:moveTo>
                  <a:pt x="432" y="272"/>
                </a:moveTo>
                <a:cubicBezTo>
                  <a:pt x="414" y="272"/>
                  <a:pt x="400" y="286"/>
                  <a:pt x="400" y="304"/>
                </a:cubicBezTo>
                <a:cubicBezTo>
                  <a:pt x="400" y="322"/>
                  <a:pt x="414" y="336"/>
                  <a:pt x="432" y="336"/>
                </a:cubicBezTo>
                <a:cubicBezTo>
                  <a:pt x="450" y="336"/>
                  <a:pt x="464" y="322"/>
                  <a:pt x="464" y="304"/>
                </a:cubicBezTo>
                <a:cubicBezTo>
                  <a:pt x="464" y="286"/>
                  <a:pt x="450" y="272"/>
                  <a:pt x="432" y="272"/>
                </a:cubicBezTo>
                <a:close/>
                <a:moveTo>
                  <a:pt x="496" y="176"/>
                </a:moveTo>
                <a:cubicBezTo>
                  <a:pt x="478" y="176"/>
                  <a:pt x="464" y="190"/>
                  <a:pt x="464" y="208"/>
                </a:cubicBezTo>
                <a:cubicBezTo>
                  <a:pt x="464" y="226"/>
                  <a:pt x="478" y="240"/>
                  <a:pt x="496" y="240"/>
                </a:cubicBezTo>
                <a:cubicBezTo>
                  <a:pt x="514" y="240"/>
                  <a:pt x="528" y="226"/>
                  <a:pt x="528" y="208"/>
                </a:cubicBezTo>
                <a:cubicBezTo>
                  <a:pt x="528" y="190"/>
                  <a:pt x="514" y="176"/>
                  <a:pt x="496" y="17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0" name="in-n1"/>
          <p:cNvSpPr txBox="1"/>
          <p:nvPr/>
        </p:nvSpPr>
        <p:spPr>
          <a:xfrm>
            <a:off x="2946400" y="35052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摇杆</a:t>
            </a:r>
            <a:endParaRPr lang="en-US" sz="1300"/>
          </a:p>
        </p:txBody>
      </p:sp>
      <p:sp>
        <p:nvSpPr>
          <p:cNvPr id="11" name="in-ic2"/>
          <p:cNvSpPr/>
          <p:nvPr/>
        </p:nvSpPr>
        <p:spPr>
          <a:xfrm>
            <a:off x="582930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92" y="0"/>
                </a:moveTo>
                <a:cubicBezTo>
                  <a:pt x="139" y="0"/>
                  <a:pt x="96" y="43"/>
                  <a:pt x="96" y="96"/>
                </a:cubicBezTo>
                <a:lnTo>
                  <a:pt x="96" y="224"/>
                </a:lnTo>
                <a:cubicBezTo>
                  <a:pt x="96" y="277"/>
                  <a:pt x="139" y="320"/>
                  <a:pt x="192" y="320"/>
                </a:cubicBezTo>
                <a:cubicBezTo>
                  <a:pt x="245" y="320"/>
                  <a:pt x="288" y="277"/>
                  <a:pt x="288" y="224"/>
                </a:cubicBezTo>
                <a:lnTo>
                  <a:pt x="288" y="96"/>
                </a:lnTo>
                <a:cubicBezTo>
                  <a:pt x="288" y="43"/>
                  <a:pt x="245" y="0"/>
                  <a:pt x="192" y="0"/>
                </a:cubicBezTo>
                <a:close/>
                <a:moveTo>
                  <a:pt x="48" y="184"/>
                </a:moveTo>
                <a:cubicBezTo>
                  <a:pt x="48" y="171"/>
                  <a:pt x="37" y="160"/>
                  <a:pt x="24" y="160"/>
                </a:cubicBezTo>
                <a:cubicBezTo>
                  <a:pt x="11" y="160"/>
                  <a:pt x="0" y="171"/>
                  <a:pt x="0" y="184"/>
                </a:cubicBezTo>
                <a:lnTo>
                  <a:pt x="0" y="224"/>
                </a:lnTo>
                <a:cubicBezTo>
                  <a:pt x="0" y="322"/>
                  <a:pt x="73" y="403"/>
                  <a:pt x="168" y="415"/>
                </a:cubicBezTo>
                <a:lnTo>
                  <a:pt x="168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264" y="512"/>
                </a:lnTo>
                <a:cubicBezTo>
                  <a:pt x="277" y="512"/>
                  <a:pt x="288" y="501"/>
                  <a:pt x="288" y="488"/>
                </a:cubicBezTo>
                <a:cubicBezTo>
                  <a:pt x="288" y="475"/>
                  <a:pt x="277" y="464"/>
                  <a:pt x="264" y="464"/>
                </a:cubicBezTo>
                <a:lnTo>
                  <a:pt x="216" y="464"/>
                </a:lnTo>
                <a:lnTo>
                  <a:pt x="216" y="415"/>
                </a:lnTo>
                <a:cubicBezTo>
                  <a:pt x="311" y="403"/>
                  <a:pt x="384" y="322"/>
                  <a:pt x="384" y="224"/>
                </a:cubicBezTo>
                <a:lnTo>
                  <a:pt x="384" y="184"/>
                </a:lnTo>
                <a:cubicBezTo>
                  <a:pt x="384" y="171"/>
                  <a:pt x="373" y="160"/>
                  <a:pt x="360" y="160"/>
                </a:cubicBezTo>
                <a:cubicBezTo>
                  <a:pt x="347" y="160"/>
                  <a:pt x="336" y="171"/>
                  <a:pt x="336" y="184"/>
                </a:cubicBezTo>
                <a:lnTo>
                  <a:pt x="336" y="224"/>
                </a:lnTo>
                <a:cubicBezTo>
                  <a:pt x="336" y="304"/>
                  <a:pt x="272" y="368"/>
                  <a:pt x="192" y="368"/>
                </a:cubicBezTo>
                <a:cubicBezTo>
                  <a:pt x="113" y="368"/>
                  <a:pt x="48" y="304"/>
                  <a:pt x="48" y="224"/>
                </a:cubicBezTo>
                <a:lnTo>
                  <a:pt x="48" y="18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2" name="in-n2"/>
          <p:cNvSpPr txBox="1"/>
          <p:nvPr/>
        </p:nvSpPr>
        <p:spPr>
          <a:xfrm>
            <a:off x="5130800" y="35052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麦克风</a:t>
            </a:r>
            <a:endParaRPr lang="en-US" sz="1300"/>
          </a:p>
        </p:txBody>
      </p:sp>
      <p:sp>
        <p:nvSpPr>
          <p:cNvPr id="13" name="in-ic3"/>
          <p:cNvSpPr/>
          <p:nvPr/>
        </p:nvSpPr>
        <p:spPr>
          <a:xfrm>
            <a:off x="801370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-32"/>
                </a:moveTo>
                <a:cubicBezTo>
                  <a:pt x="296" y="-32"/>
                  <a:pt x="304" y="-28"/>
                  <a:pt x="309" y="-20"/>
                </a:cubicBezTo>
                <a:lnTo>
                  <a:pt x="364" y="72"/>
                </a:lnTo>
                <a:lnTo>
                  <a:pt x="469" y="46"/>
                </a:lnTo>
                <a:cubicBezTo>
                  <a:pt x="477" y="44"/>
                  <a:pt x="486" y="46"/>
                  <a:pt x="492" y="52"/>
                </a:cubicBezTo>
                <a:cubicBezTo>
                  <a:pt x="498" y="58"/>
                  <a:pt x="500" y="67"/>
                  <a:pt x="498" y="75"/>
                </a:cubicBezTo>
                <a:lnTo>
                  <a:pt x="472" y="180"/>
                </a:lnTo>
                <a:lnTo>
                  <a:pt x="564" y="235"/>
                </a:lnTo>
                <a:cubicBezTo>
                  <a:pt x="572" y="240"/>
                  <a:pt x="576" y="248"/>
                  <a:pt x="576" y="256"/>
                </a:cubicBezTo>
                <a:cubicBezTo>
                  <a:pt x="576" y="264"/>
                  <a:pt x="572" y="272"/>
                  <a:pt x="564" y="277"/>
                </a:cubicBezTo>
                <a:lnTo>
                  <a:pt x="472" y="332"/>
                </a:lnTo>
                <a:lnTo>
                  <a:pt x="498" y="437"/>
                </a:lnTo>
                <a:cubicBezTo>
                  <a:pt x="500" y="445"/>
                  <a:pt x="498" y="454"/>
                  <a:pt x="492" y="460"/>
                </a:cubicBezTo>
                <a:cubicBezTo>
                  <a:pt x="486" y="466"/>
                  <a:pt x="477" y="468"/>
                  <a:pt x="469" y="466"/>
                </a:cubicBezTo>
                <a:lnTo>
                  <a:pt x="364" y="440"/>
                </a:lnTo>
                <a:lnTo>
                  <a:pt x="309" y="532"/>
                </a:lnTo>
                <a:cubicBezTo>
                  <a:pt x="304" y="540"/>
                  <a:pt x="297" y="544"/>
                  <a:pt x="288" y="544"/>
                </a:cubicBezTo>
                <a:cubicBezTo>
                  <a:pt x="280" y="544"/>
                  <a:pt x="272" y="540"/>
                  <a:pt x="267" y="532"/>
                </a:cubicBezTo>
                <a:lnTo>
                  <a:pt x="212" y="440"/>
                </a:lnTo>
                <a:lnTo>
                  <a:pt x="107" y="466"/>
                </a:lnTo>
                <a:cubicBezTo>
                  <a:pt x="99" y="468"/>
                  <a:pt x="90" y="466"/>
                  <a:pt x="84" y="460"/>
                </a:cubicBezTo>
                <a:cubicBezTo>
                  <a:pt x="78" y="454"/>
                  <a:pt x="76" y="445"/>
                  <a:pt x="78" y="437"/>
                </a:cubicBezTo>
                <a:lnTo>
                  <a:pt x="104" y="332"/>
                </a:lnTo>
                <a:lnTo>
                  <a:pt x="12" y="277"/>
                </a:lnTo>
                <a:cubicBezTo>
                  <a:pt x="4" y="272"/>
                  <a:pt x="0" y="264"/>
                  <a:pt x="0" y="256"/>
                </a:cubicBezTo>
                <a:cubicBezTo>
                  <a:pt x="0" y="248"/>
                  <a:pt x="4" y="240"/>
                  <a:pt x="12" y="235"/>
                </a:cubicBezTo>
                <a:lnTo>
                  <a:pt x="104" y="180"/>
                </a:lnTo>
                <a:lnTo>
                  <a:pt x="78" y="75"/>
                </a:lnTo>
                <a:cubicBezTo>
                  <a:pt x="76" y="67"/>
                  <a:pt x="78" y="58"/>
                  <a:pt x="84" y="52"/>
                </a:cubicBezTo>
                <a:cubicBezTo>
                  <a:pt x="90" y="46"/>
                  <a:pt x="99" y="44"/>
                  <a:pt x="107" y="46"/>
                </a:cubicBezTo>
                <a:lnTo>
                  <a:pt x="212" y="72"/>
                </a:lnTo>
                <a:lnTo>
                  <a:pt x="267" y="-20"/>
                </a:lnTo>
                <a:lnTo>
                  <a:pt x="269" y="-23"/>
                </a:lnTo>
                <a:cubicBezTo>
                  <a:pt x="274" y="-29"/>
                  <a:pt x="281" y="-32"/>
                  <a:pt x="288" y="-32"/>
                </a:cubicBezTo>
                <a:close/>
                <a:moveTo>
                  <a:pt x="288" y="112"/>
                </a:moveTo>
                <a:cubicBezTo>
                  <a:pt x="208" y="112"/>
                  <a:pt x="144" y="176"/>
                  <a:pt x="144" y="256"/>
                </a:cubicBezTo>
                <a:cubicBezTo>
                  <a:pt x="144" y="336"/>
                  <a:pt x="208" y="400"/>
                  <a:pt x="288" y="400"/>
                </a:cubicBezTo>
                <a:cubicBezTo>
                  <a:pt x="368" y="400"/>
                  <a:pt x="432" y="336"/>
                  <a:pt x="432" y="256"/>
                </a:cubicBezTo>
                <a:cubicBezTo>
                  <a:pt x="432" y="176"/>
                  <a:pt x="368" y="112"/>
                  <a:pt x="288" y="112"/>
                </a:cubicBezTo>
                <a:close/>
                <a:moveTo>
                  <a:pt x="288" y="352"/>
                </a:moveTo>
                <a:cubicBezTo>
                  <a:pt x="235" y="352"/>
                  <a:pt x="192" y="309"/>
                  <a:pt x="192" y="256"/>
                </a:cubicBezTo>
                <a:cubicBezTo>
                  <a:pt x="192" y="203"/>
                  <a:pt x="235" y="160"/>
                  <a:pt x="288" y="160"/>
                </a:cubicBezTo>
                <a:cubicBezTo>
                  <a:pt x="341" y="160"/>
                  <a:pt x="384" y="203"/>
                  <a:pt x="384" y="256"/>
                </a:cubicBezTo>
                <a:cubicBezTo>
                  <a:pt x="384" y="309"/>
                  <a:pt x="341" y="352"/>
                  <a:pt x="288" y="35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4" name="in-n3"/>
          <p:cNvSpPr txBox="1"/>
          <p:nvPr/>
        </p:nvSpPr>
        <p:spPr>
          <a:xfrm>
            <a:off x="7315200" y="35052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光线</a:t>
            </a:r>
            <a:endParaRPr lang="en-US" sz="1300"/>
          </a:p>
        </p:txBody>
      </p:sp>
      <p:sp>
        <p:nvSpPr>
          <p:cNvPr id="15" name="in-ic4"/>
          <p:cNvSpPr/>
          <p:nvPr/>
        </p:nvSpPr>
        <p:spPr>
          <a:xfrm>
            <a:off x="1019810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96"/>
                </a:moveTo>
                <a:cubicBezTo>
                  <a:pt x="64" y="78"/>
                  <a:pt x="78" y="64"/>
                  <a:pt x="96" y="64"/>
                </a:cubicBezTo>
                <a:lnTo>
                  <a:pt x="256" y="64"/>
                </a:lnTo>
                <a:cubicBezTo>
                  <a:pt x="274" y="64"/>
                  <a:pt x="288" y="78"/>
                  <a:pt x="288" y="96"/>
                </a:cubicBezTo>
                <a:lnTo>
                  <a:pt x="288" y="384"/>
                </a:lnTo>
                <a:lnTo>
                  <a:pt x="384" y="384"/>
                </a:lnTo>
                <a:lnTo>
                  <a:pt x="384" y="256"/>
                </a:lnTo>
                <a:cubicBezTo>
                  <a:pt x="384" y="238"/>
                  <a:pt x="398" y="224"/>
                  <a:pt x="41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448" y="288"/>
                </a:lnTo>
                <a:lnTo>
                  <a:pt x="448" y="416"/>
                </a:lnTo>
                <a:cubicBezTo>
                  <a:pt x="448" y="434"/>
                  <a:pt x="434" y="448"/>
                  <a:pt x="416" y="448"/>
                </a:cubicBezTo>
                <a:lnTo>
                  <a:pt x="256" y="448"/>
                </a:lnTo>
                <a:cubicBezTo>
                  <a:pt x="238" y="448"/>
                  <a:pt x="224" y="434"/>
                  <a:pt x="224" y="416"/>
                </a:cubicBezTo>
                <a:lnTo>
                  <a:pt x="224" y="128"/>
                </a:lnTo>
                <a:lnTo>
                  <a:pt x="128" y="128"/>
                </a:lnTo>
                <a:lnTo>
                  <a:pt x="128" y="256"/>
                </a:lnTo>
                <a:cubicBezTo>
                  <a:pt x="128" y="274"/>
                  <a:pt x="114" y="288"/>
                  <a:pt x="96" y="288"/>
                </a:cubicBezTo>
                <a:lnTo>
                  <a:pt x="32" y="288"/>
                </a:lnTo>
                <a:cubicBezTo>
                  <a:pt x="14" y="288"/>
                  <a:pt x="0" y="274"/>
                  <a:pt x="0" y="256"/>
                </a:cubicBezTo>
                <a:cubicBezTo>
                  <a:pt x="0" y="238"/>
                  <a:pt x="14" y="224"/>
                  <a:pt x="32" y="224"/>
                </a:cubicBezTo>
                <a:lnTo>
                  <a:pt x="64" y="224"/>
                </a:lnTo>
                <a:lnTo>
                  <a:pt x="64" y="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6" name="in-n4"/>
          <p:cNvSpPr txBox="1"/>
          <p:nvPr/>
        </p:nvSpPr>
        <p:spPr>
          <a:xfrm>
            <a:off x="9499600" y="35052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加速度计</a:t>
            </a:r>
            <a:endParaRPr lang="en-US" sz="1300"/>
          </a:p>
        </p:txBody>
      </p:sp>
      <p:sp>
        <p:nvSpPr>
          <p:cNvPr id="17" name="in-cap"/>
          <p:cNvSpPr txBox="1"/>
          <p:nvPr/>
        </p:nvSpPr>
        <p:spPr>
          <a:xfrm>
            <a:off x="762000" y="38862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五种输入任你挑——挑顺手的用</a:t>
            </a:r>
            <a:endParaRPr lang="en-US" sz="1200"/>
          </a:p>
        </p:txBody>
      </p:sp>
      <p:sp>
        <p:nvSpPr>
          <p:cNvPr id="18" name="discipline-card"/>
          <p:cNvSpPr/>
          <p:nvPr/>
        </p:nvSpPr>
        <p:spPr>
          <a:xfrm>
            <a:off x="762000" y="4368800"/>
            <a:ext cx="10668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9" name="discipline-bar"/>
          <p:cNvSpPr/>
          <p:nvPr/>
        </p:nvSpPr>
        <p:spPr>
          <a:xfrm>
            <a:off x="762000" y="4368800"/>
            <a:ext cx="76200" cy="6604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0" name="discipline-txt"/>
          <p:cNvSpPr txBox="1"/>
          <p:nvPr/>
        </p:nvSpPr>
        <p:spPr>
          <a:xfrm>
            <a:off x="1016000" y="4368800"/>
            <a:ext cx="10236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老纪律：先对同桌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口头描述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两个画面各长什么样——位置、大小、颜色说清楚——再跟 AI 说。</a:t>
            </a:r>
            <a:endParaRPr lang="en-US" sz="1500"/>
          </a:p>
        </p:txBody>
      </p:sp>
      <p:sp>
        <p:nvSpPr>
          <p:cNvPr id="21" name="anchor-bg"/>
          <p:cNvSpPr/>
          <p:nvPr/>
        </p:nvSpPr>
        <p:spPr>
          <a:xfrm>
            <a:off x="762000" y="5232400"/>
            <a:ext cx="10668000" cy="635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22" name="anchor-icon"/>
          <p:cNvSpPr/>
          <p:nvPr/>
        </p:nvSpPr>
        <p:spPr>
          <a:xfrm>
            <a:off x="990600" y="5435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anchor-txt"/>
          <p:cNvSpPr txBox="1"/>
          <p:nvPr/>
        </p:nvSpPr>
        <p:spPr>
          <a:xfrm>
            <a:off x="1346200" y="5232400"/>
            <a:ext cx="990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写进学员文档——"我跟 AI 说界面的那句话"，抄一句你最得意的描述。</a:t>
            </a:r>
            <a:endParaRPr lang="en-US" sz="1600"/>
          </a:p>
        </p:txBody>
      </p:sp>
      <p:sp>
        <p:nvSpPr>
          <p:cNvPr id="24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15 / 19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用好它 · 跑偏展览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全场围观一个宝贝</a:t>
            </a:r>
            <a:endParaRPr lang="en-US" sz="2800"/>
          </a:p>
        </p:txBody>
      </p:sp>
      <p:sp>
        <p:nvSpPr>
          <p:cNvPr id="9" name="note-card"/>
          <p:cNvSpPr/>
          <p:nvPr/>
        </p:nvSpPr>
        <p:spPr>
          <a:xfrm>
            <a:off x="838200" y="2857500"/>
            <a:ext cx="106680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0" name="note-txt"/>
          <p:cNvSpPr txBox="1"/>
          <p:nvPr/>
        </p:nvSpPr>
        <p:spPr>
          <a:xfrm>
            <a:off x="1092200" y="28575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他说的是：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＿＿＿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　→　AI 做的是：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＿＿＿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　→　差在哪一句？</a:t>
            </a:r>
            <a:endParaRPr lang="en-US" sz="1500"/>
          </a:p>
        </p:txBody>
      </p:sp>
      <p:sp>
        <p:nvSpPr>
          <p:cNvPr id="11" name="quote-card"/>
          <p:cNvSpPr/>
          <p:nvPr/>
        </p:nvSpPr>
        <p:spPr>
          <a:xfrm>
            <a:off x="762000" y="563880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2" name="quote-bar"/>
          <p:cNvSpPr/>
          <p:nvPr/>
        </p:nvSpPr>
        <p:spPr>
          <a:xfrm>
            <a:off x="762000" y="5638800"/>
            <a:ext cx="76200" cy="609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quote-txt"/>
          <p:cNvSpPr txBox="1"/>
          <p:nvPr/>
        </p:nvSpPr>
        <p:spPr>
          <a:xfrm>
            <a:off x="1016000" y="56388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感谢这位同学，他替全班踩了这个坑。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翻车不是笑话，是教材。</a:t>
            </a:r>
            <a:endParaRPr lang="en-US" sz="1600"/>
          </a:p>
        </p:txBody>
      </p:sp>
      <p:sp>
        <p:nvSpPr>
          <p:cNvPr id="14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16 / 19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用好它 · 收束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用好这台掌机的三条要领</a:t>
            </a:r>
            <a:endParaRPr lang="en-US" sz="2800"/>
          </a:p>
        </p:txBody>
      </p:sp>
      <p:sp>
        <p:nvSpPr>
          <p:cNvPr id="5" name="tip-card0"/>
          <p:cNvSpPr/>
          <p:nvPr/>
        </p:nvSpPr>
        <p:spPr>
          <a:xfrm>
            <a:off x="762000" y="1803400"/>
            <a:ext cx="5207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tip0-dot"/>
          <p:cNvSpPr/>
          <p:nvPr/>
        </p:nvSpPr>
        <p:spPr>
          <a:xfrm>
            <a:off x="965200" y="21082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7" name="tip0-num"/>
          <p:cNvSpPr txBox="1"/>
          <p:nvPr/>
        </p:nvSpPr>
        <p:spPr>
          <a:xfrm>
            <a:off x="965200" y="2108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8" name="tip-t0"/>
          <p:cNvSpPr txBox="1"/>
          <p:nvPr/>
        </p:nvSpPr>
        <p:spPr>
          <a:xfrm>
            <a:off x="1498600" y="1803400"/>
            <a:ext cx="431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界面要说清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位置、大小、颜色</a:t>
            </a:r>
            <a:endParaRPr lang="en-US" sz="1500"/>
          </a:p>
        </p:txBody>
      </p:sp>
      <p:sp>
        <p:nvSpPr>
          <p:cNvPr id="9" name="tip-card1"/>
          <p:cNvSpPr/>
          <p:nvPr/>
        </p:nvSpPr>
        <p:spPr>
          <a:xfrm>
            <a:off x="762000" y="2921000"/>
            <a:ext cx="5207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0" name="tip1-dot"/>
          <p:cNvSpPr/>
          <p:nvPr/>
        </p:nvSpPr>
        <p:spPr>
          <a:xfrm>
            <a:off x="965200" y="32258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1" name="tip1-num"/>
          <p:cNvSpPr txBox="1"/>
          <p:nvPr/>
        </p:nvSpPr>
        <p:spPr>
          <a:xfrm>
            <a:off x="965200" y="3225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12" name="tip-t1"/>
          <p:cNvSpPr txBox="1"/>
          <p:nvPr/>
        </p:nvSpPr>
        <p:spPr>
          <a:xfrm>
            <a:off x="1498600" y="2921000"/>
            <a:ext cx="431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状态要看得见——让屏幕显示"现在走到哪一步"</a:t>
            </a:r>
            <a:endParaRPr lang="en-US" sz="1500"/>
          </a:p>
        </p:txBody>
      </p:sp>
      <p:sp>
        <p:nvSpPr>
          <p:cNvPr id="13" name="tip-card2"/>
          <p:cNvSpPr/>
          <p:nvPr/>
        </p:nvSpPr>
        <p:spPr>
          <a:xfrm>
            <a:off x="762000" y="4038600"/>
            <a:ext cx="5207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4" name="tip2-dot"/>
          <p:cNvSpPr/>
          <p:nvPr/>
        </p:nvSpPr>
        <p:spPr>
          <a:xfrm>
            <a:off x="965200" y="43434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5" name="tip2-num"/>
          <p:cNvSpPr txBox="1"/>
          <p:nvPr/>
        </p:nvSpPr>
        <p:spPr>
          <a:xfrm>
            <a:off x="965200" y="4343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endParaRPr lang="en-US" sz="1500"/>
          </a:p>
        </p:txBody>
      </p:sp>
      <p:sp>
        <p:nvSpPr>
          <p:cNvPr id="16" name="tip-t2"/>
          <p:cNvSpPr txBox="1"/>
          <p:nvPr/>
        </p:nvSpPr>
        <p:spPr>
          <a:xfrm>
            <a:off x="1498600" y="4038600"/>
            <a:ext cx="431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输入多，就多试几种组合</a:t>
            </a:r>
            <a:endParaRPr lang="en-US" sz="1500"/>
          </a:p>
        </p:txBody>
      </p:sp>
      <p:sp>
        <p:nvSpPr>
          <p:cNvPr id="17" name="log-card"/>
          <p:cNvSpPr/>
          <p:nvPr/>
        </p:nvSpPr>
        <p:spPr>
          <a:xfrm>
            <a:off x="6350000" y="1803400"/>
            <a:ext cx="5080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8" name="log-h"/>
          <p:cNvSpPr txBox="1"/>
          <p:nvPr/>
        </p:nvSpPr>
        <p:spPr>
          <a:xfrm>
            <a:off x="6604000" y="1930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今天的日志，四句不变</a:t>
            </a:r>
            <a:endParaRPr lang="en-US" sz="1400"/>
          </a:p>
        </p:txBody>
      </p:sp>
      <p:sp>
        <p:nvSpPr>
          <p:cNvPr id="19" name="log-t"/>
          <p:cNvSpPr txBox="1"/>
          <p:nvPr/>
        </p:nvSpPr>
        <p:spPr>
          <a:xfrm>
            <a:off x="6604000" y="2286000"/>
            <a:ext cx="457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做了＿＿ ／ 卡在＿＿ ／ 后来＿＿ ／ 下次想＿＿</a:t>
            </a:r>
            <a:endParaRPr lang="en-US" sz="1300"/>
          </a:p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今天的"卡在"写具体：差的是位置、大小还是颜色。</a:t>
            </a:r>
            <a:endParaRPr lang="en-US" sz="1300"/>
          </a:p>
        </p:txBody>
      </p:sp>
      <p:sp>
        <p:nvSpPr>
          <p:cNvPr id="20" name="ai-card"/>
          <p:cNvSpPr/>
          <p:nvPr/>
        </p:nvSpPr>
        <p:spPr>
          <a:xfrm>
            <a:off x="6350000" y="3479800"/>
            <a:ext cx="5080000" cy="838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21" name="ai-txt"/>
          <p:cNvSpPr txBox="1"/>
          <p:nvPr/>
        </p:nvSpPr>
        <p:spPr>
          <a:xfrm>
            <a:off x="6553200" y="34798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>
                <a:solidFill>
                  <a:srgbClr val="000000"/>
                </a:solidFill>
                <a:latin typeface="JetBrains Mono" panose="02000009000000000000"/>
                <a:ea typeface="JetBrains Mono" panose="02000009000000000000"/>
              </a:rPr>
              <a:t>「帮我整理成日志，只许整理我说过的，不许加我没说的。」</a:t>
            </a:r>
            <a:endParaRPr lang="en-US" sz="1400"/>
          </a:p>
        </p:txBody>
      </p:sp>
      <p:sp>
        <p:nvSpPr>
          <p:cNvPr id="22" name="warn-card"/>
          <p:cNvSpPr/>
          <p:nvPr/>
        </p:nvSpPr>
        <p:spPr>
          <a:xfrm>
            <a:off x="6350000" y="4470400"/>
            <a:ext cx="5080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3" name="warn-bar"/>
          <p:cNvSpPr/>
          <p:nvPr/>
        </p:nvSpPr>
        <p:spPr>
          <a:xfrm>
            <a:off x="6350000" y="4470400"/>
            <a:ext cx="76200" cy="736600"/>
          </a:xfrm>
          <a:prstGeom prst="rect">
            <a:avLst/>
          </a:prstGeom>
          <a:solidFill>
            <a:srgbClr val="D84144"/>
          </a:solidFill>
          <a:ln>
            <a:noFill/>
          </a:ln>
        </p:spPr>
      </p:sp>
      <p:sp>
        <p:nvSpPr>
          <p:cNvPr id="24" name="warn-txt"/>
          <p:cNvSpPr txBox="1"/>
          <p:nvPr/>
        </p:nvSpPr>
        <p:spPr>
          <a:xfrm>
            <a:off x="6604000" y="4470400"/>
            <a:ext cx="4648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注意：AI 会一本正经地编——校对是你的事。</a:t>
            </a:r>
            <a:endParaRPr lang="en-US" sz="1400"/>
          </a:p>
        </p:txBody>
      </p:sp>
      <p:sp>
        <p:nvSpPr>
          <p:cNvPr id="25" name="anchor-bg"/>
          <p:cNvSpPr/>
          <p:nvPr/>
        </p:nvSpPr>
        <p:spPr>
          <a:xfrm>
            <a:off x="762000" y="5435600"/>
            <a:ext cx="10668000" cy="6604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26" name="anchor-icon"/>
          <p:cNvSpPr/>
          <p:nvPr/>
        </p:nvSpPr>
        <p:spPr>
          <a:xfrm>
            <a:off x="990600" y="565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7" name="anchor-txt"/>
          <p:cNvSpPr txBox="1"/>
          <p:nvPr/>
        </p:nvSpPr>
        <p:spPr>
          <a:xfrm>
            <a:off x="1346200" y="5435600"/>
            <a:ext cx="990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写进学员文档——三条要领里圈一句"今天我最常用到的是第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＿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条"；日志写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校对后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的版本。</a:t>
            </a:r>
            <a:endParaRPr lang="en-US" sz="1600"/>
          </a:p>
        </p:txBody>
      </p:sp>
      <p:sp>
        <p:nvSpPr>
          <p:cNvPr id="28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17 / 19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缓冲 · 机动</a:t>
            </a:r>
            <a:endParaRPr lang="en-US" sz="1400"/>
          </a:p>
        </p:txBody>
      </p:sp>
      <p:sp>
        <p:nvSpPr>
          <p:cNvPr id="4" name="big30"/>
          <p:cNvSpPr txBox="1"/>
          <p:nvPr/>
        </p:nvSpPr>
        <p:spPr>
          <a:xfrm>
            <a:off x="4191000" y="1016000"/>
            <a:ext cx="2794000" cy="200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0" b="1">
                <a:solidFill>
                  <a:srgbClr val="000000"/>
                </a:solidFill>
                <a:latin typeface="MiSans"/>
                <a:ea typeface="MiSans"/>
              </a:rPr>
              <a:t>30</a:t>
            </a:r>
            <a:endParaRPr lang="en-US" sz="14000"/>
          </a:p>
        </p:txBody>
      </p:sp>
      <p:sp>
        <p:nvSpPr>
          <p:cNvPr id="5" name="min"/>
          <p:cNvSpPr txBox="1"/>
          <p:nvPr/>
        </p:nvSpPr>
        <p:spPr>
          <a:xfrm>
            <a:off x="7112000" y="17780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分钟</a:t>
            </a:r>
            <a:endParaRPr lang="en-US" sz="2600"/>
          </a:p>
        </p:txBody>
      </p:sp>
      <p:sp>
        <p:nvSpPr>
          <p:cNvPr id="6" name="ex-card0"/>
          <p:cNvSpPr/>
          <p:nvPr/>
        </p:nvSpPr>
        <p:spPr>
          <a:xfrm>
            <a:off x="762000" y="3175000"/>
            <a:ext cx="34544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7" name="ex-h0"/>
          <p:cNvSpPr txBox="1"/>
          <p:nvPr/>
        </p:nvSpPr>
        <p:spPr>
          <a:xfrm>
            <a:off x="965200" y="33528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出口一 · 补达标</a:t>
            </a:r>
            <a:endParaRPr lang="en-US" sz="1500"/>
          </a:p>
        </p:txBody>
      </p:sp>
      <p:sp>
        <p:nvSpPr>
          <p:cNvPr id="8" name="ex-line0"/>
          <p:cNvSpPr/>
          <p:nvPr/>
        </p:nvSpPr>
        <p:spPr>
          <a:xfrm>
            <a:off x="965200" y="3733800"/>
            <a:ext cx="762000" cy="50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9" name="ex-t0"/>
          <p:cNvSpPr txBox="1"/>
          <p:nvPr/>
        </p:nvSpPr>
        <p:spPr>
          <a:xfrm>
            <a:off x="965200" y="3886200"/>
            <a:ext cx="3048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计数器跑通＋一个两屏界面作品——人人必须过线</a:t>
            </a:r>
            <a:endParaRPr lang="en-US" sz="1200"/>
          </a:p>
        </p:txBody>
      </p:sp>
      <p:sp>
        <p:nvSpPr>
          <p:cNvPr id="10" name="ex-card1"/>
          <p:cNvSpPr/>
          <p:nvPr/>
        </p:nvSpPr>
        <p:spPr>
          <a:xfrm>
            <a:off x="4521200" y="3175000"/>
            <a:ext cx="3454400" cy="1905000"/>
          </a:xfrm>
          <a:prstGeom prst="rect">
            <a:avLst/>
          </a:prstGeom>
          <a:solidFill>
            <a:srgbClr val="F3D230">
              <a:alpha val="14902"/>
            </a:srgbClr>
          </a:solidFill>
          <a:ln w="12700">
            <a:solidFill>
              <a:srgbClr val="000000"/>
            </a:solidFill>
          </a:ln>
        </p:spPr>
      </p:sp>
      <p:sp>
        <p:nvSpPr>
          <p:cNvPr id="11" name="ex-h1"/>
          <p:cNvSpPr txBox="1"/>
          <p:nvPr/>
        </p:nvSpPr>
        <p:spPr>
          <a:xfrm>
            <a:off x="4724400" y="33528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出口二 · 进阶挑战</a:t>
            </a:r>
            <a:endParaRPr lang="en-US" sz="1500"/>
          </a:p>
        </p:txBody>
      </p:sp>
      <p:sp>
        <p:nvSpPr>
          <p:cNvPr id="12" name="ex-line1"/>
          <p:cNvSpPr/>
          <p:nvPr/>
        </p:nvSpPr>
        <p:spPr>
          <a:xfrm>
            <a:off x="4724400" y="3733800"/>
            <a:ext cx="762000" cy="50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ex-t1"/>
          <p:cNvSpPr txBox="1"/>
          <p:nvPr/>
        </p:nvSpPr>
        <p:spPr>
          <a:xfrm>
            <a:off x="4724400" y="3886200"/>
            <a:ext cx="3048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电子骰子：晃一晃（或摇摇杆），随机出 1–6；或平衡球进洞：微实验 5 加目标洞，球进洞蜂鸣器响一声</a:t>
            </a:r>
            <a:endParaRPr lang="en-US" sz="1200"/>
          </a:p>
        </p:txBody>
      </p:sp>
      <p:sp>
        <p:nvSpPr>
          <p:cNvPr id="14" name="ex-card2"/>
          <p:cNvSpPr/>
          <p:nvPr/>
        </p:nvSpPr>
        <p:spPr>
          <a:xfrm>
            <a:off x="8280400" y="3175000"/>
            <a:ext cx="34544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5" name="ex-h2"/>
          <p:cNvSpPr txBox="1"/>
          <p:nvPr/>
        </p:nvSpPr>
        <p:spPr>
          <a:xfrm>
            <a:off x="8483600" y="33528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出口三 · 帮同桌＋加联动</a:t>
            </a:r>
            <a:endParaRPr lang="en-US" sz="1500"/>
          </a:p>
        </p:txBody>
      </p:sp>
      <p:sp>
        <p:nvSpPr>
          <p:cNvPr id="16" name="ex-line2"/>
          <p:cNvSpPr/>
          <p:nvPr/>
        </p:nvSpPr>
        <p:spPr>
          <a:xfrm>
            <a:off x="8483600" y="3733800"/>
            <a:ext cx="762000" cy="50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7" name="ex-t2"/>
          <p:cNvSpPr txBox="1"/>
          <p:nvPr/>
        </p:nvSpPr>
        <p:spPr>
          <a:xfrm>
            <a:off x="8483600" y="3886200"/>
            <a:ext cx="3048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给两屏作品加一个传感器联动（比如光线暗自动切夜间界面）</a:t>
            </a:r>
            <a:endParaRPr lang="en-US" sz="1200"/>
          </a:p>
        </p:txBody>
      </p:sp>
      <p:sp>
        <p:nvSpPr>
          <p:cNvPr id="18" name="rule-card"/>
          <p:cNvSpPr/>
          <p:nvPr/>
        </p:nvSpPr>
        <p:spPr>
          <a:xfrm>
            <a:off x="762000" y="5257800"/>
            <a:ext cx="10668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9" name="rule-bar"/>
          <p:cNvSpPr/>
          <p:nvPr/>
        </p:nvSpPr>
        <p:spPr>
          <a:xfrm>
            <a:off x="762000" y="5257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0" name="rule-txt"/>
          <p:cNvSpPr txBox="1"/>
          <p:nvPr/>
        </p:nvSpPr>
        <p:spPr>
          <a:xfrm>
            <a:off x="1016000" y="5257800"/>
            <a:ext cx="10236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先保人人达标，再放飞快手。——缓冲是课的一部分，不是提前放学。</a:t>
            </a:r>
            <a:endParaRPr lang="en-US" sz="1500"/>
          </a:p>
        </p:txBody>
      </p:sp>
      <p:sp>
        <p:nvSpPr>
          <p:cNvPr id="21" name="doc-tip"/>
          <p:cNvSpPr txBox="1"/>
          <p:nvPr/>
        </p:nvSpPr>
        <p:spPr>
          <a:xfrm>
            <a:off x="762000" y="5943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做挑战的同学，写进学员文档——"我用＿＿（哪种输入）做了＿＿（什么小东西）"。</a:t>
            </a:r>
            <a:endParaRPr lang="en-US" sz="1100"/>
          </a:p>
        </p:txBody>
      </p:sp>
      <p:sp>
        <p:nvSpPr>
          <p:cNvPr id="22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18 / 19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收尾 · 互展＋预告</a:t>
            </a:r>
            <a:endParaRPr lang="en-US" sz="1400"/>
          </a:p>
        </p:txBody>
      </p:sp>
      <p:sp>
        <p:nvSpPr>
          <p:cNvPr id="4" name="rule-card"/>
          <p:cNvSpPr/>
          <p:nvPr/>
        </p:nvSpPr>
        <p:spPr>
          <a:xfrm>
            <a:off x="762000" y="1168400"/>
            <a:ext cx="10668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5" name="rule-bar"/>
          <p:cNvSpPr/>
          <p:nvPr/>
        </p:nvSpPr>
        <p:spPr>
          <a:xfrm>
            <a:off x="762000" y="1168400"/>
            <a:ext cx="76200" cy="635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rule-txt"/>
          <p:cNvSpPr txBox="1"/>
          <p:nvPr/>
        </p:nvSpPr>
        <p:spPr>
          <a:xfrm>
            <a:off x="1016000" y="1168400"/>
            <a:ext cx="10236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桌内每人 30 秒——演示作品，说一句"我用了哪个输入、怎么切的画面"。</a:t>
            </a:r>
            <a:endParaRPr lang="en-US" sz="1500"/>
          </a:p>
        </p:txBody>
      </p:sp>
      <p:sp>
        <p:nvSpPr>
          <p:cNvPr id="7" name="gain-card0"/>
          <p:cNvSpPr/>
          <p:nvPr/>
        </p:nvSpPr>
        <p:spPr>
          <a:xfrm>
            <a:off x="762000" y="2006600"/>
            <a:ext cx="5080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8" name="gain0-dot"/>
          <p:cNvSpPr/>
          <p:nvPr/>
        </p:nvSpPr>
        <p:spPr>
          <a:xfrm>
            <a:off x="965200" y="22352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9" name="gain0-num"/>
          <p:cNvSpPr txBox="1"/>
          <p:nvPr/>
        </p:nvSpPr>
        <p:spPr>
          <a:xfrm>
            <a:off x="965200" y="2235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10" name="gain-h0"/>
          <p:cNvSpPr txBox="1"/>
          <p:nvPr/>
        </p:nvSpPr>
        <p:spPr>
          <a:xfrm>
            <a:off x="1498600" y="22352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认识了新装备</a:t>
            </a:r>
            <a:endParaRPr lang="en-US" sz="1600"/>
          </a:p>
        </p:txBody>
      </p:sp>
      <p:sp>
        <p:nvSpPr>
          <p:cNvPr id="11" name="gain-t0"/>
          <p:cNvSpPr txBox="1"/>
          <p:nvPr/>
        </p:nvSpPr>
        <p:spPr>
          <a:xfrm>
            <a:off x="1498600" y="2667000"/>
            <a:ext cx="4140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屏幕、按键摇杆、三个传感器，每一个都亲手点亮过</a:t>
            </a:r>
            <a:endParaRPr lang="en-US" sz="1300"/>
          </a:p>
        </p:txBody>
      </p:sp>
      <p:sp>
        <p:nvSpPr>
          <p:cNvPr id="12" name="gain-card1"/>
          <p:cNvSpPr/>
          <p:nvPr/>
        </p:nvSpPr>
        <p:spPr>
          <a:xfrm>
            <a:off x="6350000" y="2006600"/>
            <a:ext cx="5080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3" name="gain1-dot"/>
          <p:cNvSpPr/>
          <p:nvPr/>
        </p:nvSpPr>
        <p:spPr>
          <a:xfrm>
            <a:off x="6553200" y="22352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gain1-num"/>
          <p:cNvSpPr txBox="1"/>
          <p:nvPr/>
        </p:nvSpPr>
        <p:spPr>
          <a:xfrm>
            <a:off x="6553200" y="2235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15" name="gain-h1"/>
          <p:cNvSpPr txBox="1"/>
          <p:nvPr/>
        </p:nvSpPr>
        <p:spPr>
          <a:xfrm>
            <a:off x="7086600" y="22352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学会了说界面</a:t>
            </a:r>
            <a:endParaRPr lang="en-US" sz="1600"/>
          </a:p>
        </p:txBody>
      </p:sp>
      <p:sp>
        <p:nvSpPr>
          <p:cNvPr id="16" name="gain-t1"/>
          <p:cNvSpPr txBox="1"/>
          <p:nvPr/>
        </p:nvSpPr>
        <p:spPr>
          <a:xfrm>
            <a:off x="7086600" y="2667000"/>
            <a:ext cx="4140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位置、大小、颜色说清楚——作品今天有了真正的界面</a:t>
            </a:r>
            <a:endParaRPr lang="en-US" sz="1300"/>
          </a:p>
        </p:txBody>
      </p:sp>
      <p:sp>
        <p:nvSpPr>
          <p:cNvPr id="17" name="next-line"/>
          <p:cNvSpPr/>
          <p:nvPr/>
        </p:nvSpPr>
        <p:spPr>
          <a:xfrm>
            <a:off x="762000" y="3759200"/>
            <a:ext cx="1524000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8" name="next-title"/>
          <p:cNvSpPr txBox="1"/>
          <p:nvPr/>
        </p:nvSpPr>
        <p:spPr>
          <a:xfrm>
            <a:off x="762000" y="40132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第 4 课：给 AI 组一个团队</a:t>
            </a:r>
            <a:endParaRPr lang="en-US" sz="3000"/>
          </a:p>
        </p:txBody>
      </p:sp>
      <p:sp>
        <p:nvSpPr>
          <p:cNvPr id="19" name="next-sub"/>
          <p:cNvSpPr txBox="1"/>
          <p:nvPr/>
        </p:nvSpPr>
        <p:spPr>
          <a:xfrm>
            <a:off x="762000" y="4622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从头到尾做一个完整项目：属于你的智能番茄钟</a:t>
            </a:r>
            <a:endParaRPr lang="en-US" sz="1800"/>
          </a:p>
        </p:txBody>
      </p:sp>
      <p:sp>
        <p:nvSpPr>
          <p:cNvPr id="20" name="next-tip"/>
          <p:cNvSpPr txBox="1"/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番茄钟就在这块彩屏上做，今天的界面本事正好全用上。带着你的选题来。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课后收成果：md 的发链接，手书的拍照。</a:t>
            </a:r>
            <a:endParaRPr lang="en-US" sz="1300"/>
          </a:p>
        </p:txBody>
      </p:sp>
      <p:sp>
        <p:nvSpPr>
          <p:cNvPr id="21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19 / 19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3001</Words>
  <Application>WPS 文字</Application>
  <PresentationFormat/>
  <Paragraphs>354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宋体</vt:lpstr>
      <vt:lpstr>Wingdings</vt:lpstr>
      <vt:lpstr>MiSans</vt:lpstr>
      <vt:lpstr>Thonburi</vt:lpstr>
      <vt:lpstr>Source Han Sans CN</vt:lpstr>
      <vt:lpstr>Source Han Sans CN Regular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JetBrains Mono</vt:lpstr>
      <vt:lpstr>JetBrains Mono</vt:lpstr>
      <vt:lpstr>MiSans</vt:lpstr>
      <vt:lpstr>苹方-简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冯磊</cp:lastModifiedBy>
  <cp:revision>3</cp:revision>
  <dcterms:created xsi:type="dcterms:W3CDTF">2026-07-28T10:01:24Z</dcterms:created>
  <dcterms:modified xsi:type="dcterms:W3CDTF">2026-07-28T10:01:24Z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2052-12.1.26026.26026</vt:lpwstr>
  </property>
  <property fmtid="{D5CDD505-2E9C-101B-9397-08002B2CF9AE}" pid="4" name="ICV">
    <vt:lpwstr>F021869AB98AFEEE9B60686AD391938F_42</vt:lpwstr>
  </property>
</Properties>
</file>