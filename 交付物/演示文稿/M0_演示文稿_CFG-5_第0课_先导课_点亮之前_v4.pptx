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68" r:id="rId19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notesMasterIdLst>
    <p:notesMasterId r:id="rId15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开场白参考：「先别碰板子。今天这节课不动手——你们先搞清楚三件事：这十次课要去哪、结课时带走什么、这门课怎么玩。右边这张图，是下一课下课前你们每个人都会做到的样子。」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【课前必填】封面上的讲师姓名和一句话来历。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【讲师填写指引】四条占位全部换成自己的真实信息；有作品集链接（Fab Academy 页面、专栏、GitHub 皆可）就投屏带看一眼，可信度比头衔重要。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讲法参考 V1 先导课：少讲履历，多讲「我自己就是这套方法的活人证据」——引出下一页。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【讲师填写指引】放你自己的案例（参考 V1 胡慧东的 AI-Reader：3 周、零代码、完整产品）。讲四件事：做了什么、给谁用、AI 写了所有代码、我负责提要求和验收。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落点在底部那句话：不是 AI 替我干活，是 AI 按我的标准干活——这就是你们这门课要学会的姿势。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互动建议：先问一句「你们觉得 AI 现在会做什么？」收两三个答案，再翻这页——四样 AI 拿不走的能力，会贯穿整门课——后面每一课都在练它们。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「导演不扛摄像机，但全剧组听导演的。这门课也一样：你负责想和拍板，代码让 AI 写。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为什么不让你们手写？不是代码不重要，是手写代码你们随时能学，而「把需求说清楚、把结果验明白」这套本事，学校里没人教——这才是这门课的主菜。」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有实物就把三样设备都举起来传看一圈，不用讲参数，只讲一句「它能干嘛」。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三件武器对应三段旅程：入门套件打基础 → Wio 做交互 → XIAO 玩视觉；最后全部汇入你自己的作品。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指着地图走一遍：「前两课点亮技能、找到你的题；中间四课，每学一样新本事，都想想能不能用在你的题上；最后四课是马拉松——分三棒做完你自己的作品，第 10 课你上台讲。」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「马拉松」要解释：不是跑步，是连续几周集中做一个东西，像真正的创客那样。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「做一个真实的产品，写代码只是八步里的一步。题谁出？用户谁找？功能砍哪个？做完给谁看？——这些AI都能搭把手，但拍板的永远是你。」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不用展开每一步，第 2 课起会一步步解锁。这页只建立一个感觉：这门课走的是全程，不是只玩代码。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强调进度感：每课末尾带全班回顾「今天点亮了什么本事」，每解锁一个环节，就在八步地图上加一面小旗。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「看得见的进度」对中学生最直接——告诉他们：十次课走完的人，做任何项目都有一套自己的方法。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别人结课只有一个作品，你们结课有一个作品加它的成长史——从第一次点亮名字，到最后路演，每一步都有日志。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这四样现在听不懂没关系，结课时回头看，每一样都数得出来。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给 30 秒安静时间真的想，不点人回答——这个问题要「发酵」到第 2 课才用。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好作品都是从好问题长出来的。今天先埋种子，第 2 课发芽，第 6 课立项，第 10 课开花。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收尾不超过两分钟：「地图看完了。下一课，每人一块板子，你说一句话，它会听你的。把今天那个让你烦的小事带来。」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如果有提问时间，只答课程安排类问题；技术细节一概回答：「下一课你亲手试。」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【页 4 · Brandy 案例 · 约 2 分钟】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开场：「刚才是我的故事。你可能想：那是老师你。那这个呢？」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指照片：「这个键盘，是一位专业工程师做的。Brandy（李世雯），Seeed 的应用工程师——就是你们手上这些开发板那家公司的工程师。」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「她的烦恼特别具体：跟 AI 一起写程序，每说一句话都要敲一大段字，思路老被打断。她想：能不能像对讲机一样，按住就说、松开发送？」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「注意她怎么做的：代码一行没写。她只做三件事——把需求说清楚、给 AI 提要求、按标准验收。第一版她只接一个键，标准是连续按 20 次、一次不漏，过了关才加新功能。现在这个键盘她每天都在用。」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右侧三个标签逐一点过去：一个真实的烦恼 → 零行手写代码 → 一个能用的东西。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收尾（落点，说慢）：「专业工程师，也是这么干活的。她比你们多的不是写代码的能力，是把需求说清楚、把好验收关的能力——这正是这门课要练的。第 8 课做你们自己的第一版作品时，还会再见到她。」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【教学提示】</a:t>
            </a:r>
          </a:p>
          <a:p>
            <a:r>
              <a:rPr lang="en-US" sz="1200"/>
              <a:t>· 本页目标是建立信心：专业工程师的工作方式 = 学员这门课要学的方式。</a:t>
            </a:r>
          </a:p>
          <a:p>
            <a:r>
              <a:rPr lang="en-US" sz="1200"/>
              <a:t>· 若页 3 自己的案例忘填或没有，直接用本页当主案例，讲 3 分钟。</a:t>
            </a:r>
          </a:p>
          <a:p>
            <a:r>
              <a:rPr lang="en-US" sz="1200"/>
              <a:t>· 有学员问「她真的没写代码吗」——答：她写的是需求和验收标准，代码 AI 写。</a:t>
            </a:r>
          </a:p>
          <a:p>
            <a:r>
              <a:rPr lang="en-US" sz="1200"/>
              <a:t>· 不要展开技术细节（什么芯片、什么模型），学员追问就说：第 5 课教硬件『看』和『听』时会讲到。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jpg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2" Type="http://schemas.openxmlformats.org/officeDocument/2006/relationships/image" Target="../media/image2.png"/><Relationship Id="rIdImage3" Type="http://schemas.openxmlformats.org/officeDocument/2006/relationships/image" Target="../media/image3.png"/><Relationship Id="rIdImage4" Type="http://schemas.openxmlformats.org/officeDocument/2006/relationships/image" Target="../media/image4.jpg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7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8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9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5" Type="http://schemas.openxmlformats.org/officeDocument/2006/relationships/image" Target="../media/image5.png"/><Relationship Id="rIdNotes1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00" Type="http://schemas.openxmlformats.org/officeDocument/2006/relationships/image" Target="../media/image_brandy_kbd.jpg"/><Relationship Id="rIdNotes13" Type="http://schemas.openxmlformats.org/officeDocument/2006/relationships/notesSlide" Target="../notesSlides/notesSlide13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19050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36600" y="1905000"/>
            <a:ext cx="660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柴火创客学园 M0 · 零基础智能硬件入门 · 先导课</a:t>
            </a:r>
            <a:endParaRPr lang="en-US" sz="1500"/>
          </a:p>
        </p:txBody>
      </p:sp>
      <p:sp>
        <p:nvSpPr>
          <p:cNvPr id="4" name="big"/>
          <p:cNvSpPr txBox="1"/>
          <p:nvPr/>
        </p:nvSpPr>
        <p:spPr>
          <a:xfrm>
            <a:off x="508000" y="2476500"/>
            <a:ext cx="660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6400" b="1">
                <a:solidFill>
                  <a:srgbClr val="000000"/>
                </a:solidFill>
                <a:latin typeface="Noto Sans SC"/>
                <a:ea typeface="Noto Sans SC"/>
              </a:rPr>
              <a:t>点亮之前</a:t>
            </a:r>
            <a:endParaRPr lang="en-US" sz="1600"/>
          </a:p>
        </p:txBody>
      </p:sp>
      <p:sp>
        <p:nvSpPr>
          <p:cNvPr id="5" name="teacher"/>
          <p:cNvSpPr txBox="1"/>
          <p:nvPr/>
        </p:nvSpPr>
        <p:spPr>
          <a:xfrm>
            <a:off x="508000" y="4191000"/>
            <a:ext cx="660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讲师：＿＿＿＿＿＿　｜　一句话来历（课前填好）</a:t>
            </a:r>
            <a:endParaRPr lang="en-US" sz="1700"/>
          </a:p>
        </p:txBody>
      </p:sp>
      <p:sp>
        <p:nvSpPr>
          <p:cNvPr id="6" name="sub"/>
          <p:cNvSpPr txBox="1"/>
          <p:nvPr/>
        </p:nvSpPr>
        <p:spPr>
          <a:xfrm>
            <a:off x="508000" y="46736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6B7280"/>
                </a:solidFill>
                <a:latin typeface="MiSans"/>
                <a:ea typeface="MiSans"/>
              </a:rPr>
              <a:t>十次课旅程的全貌——去哪、带走什么、怎么玩，先讲清楚，再动手。</a:t>
            </a:r>
            <a:endParaRPr lang="en-US" sz="1500"/>
          </a:p>
        </p:txBody>
      </p:sp>
      <p:pic>
        <p:nvPicPr>
          <p:cNvPr id="7" name="photo"/>
          <p:cNvPicPr/>
          <p:nvPr/>
        </p:nvPicPr>
        <p:blipFill>
          <a:blip r:embed="rIdImage1"/>
          <a:srcRect l="8333" r="8333"/>
          <a:stretch>
            <a:fillRect/>
          </a:stretch>
        </p:blipFill>
        <p:spPr>
          <a:xfrm>
            <a:off x="7620000" y="1778000"/>
            <a:ext cx="4064000" cy="3048000"/>
          </a:xfrm>
          <a:prstGeom prst="rect">
            <a:avLst/>
          </a:prstGeom>
          <a:ln>
            <a:noFill/>
          </a:ln>
        </p:spPr>
      </p:pic>
      <p:sp>
        <p:nvSpPr>
          <p:cNvPr id="8" name="photo-border"/>
          <p:cNvSpPr/>
          <p:nvPr/>
        </p:nvSpPr>
        <p:spPr>
          <a:xfrm>
            <a:off x="7620000" y="1778000"/>
            <a:ext cx="4064000" cy="30480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9" name="photo-cap"/>
          <p:cNvSpPr txBox="1"/>
          <p:nvPr/>
        </p:nvSpPr>
        <p:spPr>
          <a:xfrm>
            <a:off x="7620000" y="49530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第 1 课的成果——你的名字，亮在屏上（讲师实拍）</a:t>
            </a:r>
            <a:endParaRPr lang="en-US" sz="1300"/>
          </a:p>
        </p:txBody>
      </p:sp>
      <p:sp>
        <p:nvSpPr>
          <p:cNvPr id="10" name="cover-footer"/>
          <p:cNvSpPr txBox="1"/>
          <p:nvPr/>
        </p:nvSpPr>
        <p:spPr>
          <a:xfrm>
            <a:off x="508000" y="64516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｜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认识我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我是谁，为什么由我带这门课</a:t>
            </a:r>
            <a:endParaRPr lang="en-US" sz="3800"/>
          </a:p>
        </p:txBody>
      </p:sp>
      <p:sp>
        <p:nvSpPr>
          <p:cNvPr id="5" name="photo"/>
          <p:cNvSpPr/>
          <p:nvPr/>
        </p:nvSpPr>
        <p:spPr>
          <a:xfrm>
            <a:off x="762000" y="1905000"/>
            <a:ext cx="3810000" cy="381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CA3AF"/>
            </a:solidFill>
          </a:ln>
        </p:spPr>
      </p:sp>
      <p:sp>
        <p:nvSpPr>
          <p:cNvPr id="6" name="photo-t"/>
          <p:cNvSpPr txBox="1"/>
          <p:nvPr/>
        </p:nvSpPr>
        <p:spPr>
          <a:xfrm>
            <a:off x="762000" y="1905000"/>
            <a:ext cx="3810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9CA3AF"/>
                </a:solidFill>
                <a:latin typeface="MiSans"/>
                <a:ea typeface="MiSans"/>
              </a:rPr>
              <a:t>［ 讲师照片占位 ］</a:t>
            </a:r>
            <a:endParaRPr lang="en-US" sz="1600"/>
          </a:p>
        </p:txBody>
      </p:sp>
      <p:sp>
        <p:nvSpPr>
          <p:cNvPr id="7" name="bio"/>
          <p:cNvSpPr txBox="1"/>
          <p:nvPr/>
        </p:nvSpPr>
        <p:spPr>
          <a:xfrm>
            <a:off x="5080000" y="1905000"/>
            <a:ext cx="6604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20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· 姓名：＿＿＿＿＿＿（来自哪里）</a:t>
            </a:r>
            <a:endParaRPr lang="en-US" sz="1800"/>
          </a:p>
          <a:p>
            <a:pPr algn="l">
              <a:lnSpc>
                <a:spcPct val="20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· 在柴火创客空间：＿＿＿＿＿＿（你的角色）</a:t>
            </a:r>
            <a:endParaRPr lang="en-US" sz="1800"/>
          </a:p>
          <a:p>
            <a:pPr algn="l">
              <a:lnSpc>
                <a:spcPct val="20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· 做过的事 / 带过的课：＿＿＿＿＿＿</a:t>
            </a:r>
            <a:endParaRPr lang="en-US" sz="1800"/>
          </a:p>
          <a:p>
            <a:pPr algn="l">
              <a:lnSpc>
                <a:spcPct val="20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· 我用 AI 做过最得意的东西：＿＿＿＿</a:t>
            </a:r>
            <a:endParaRPr lang="en-US" sz="1800"/>
          </a:p>
          <a:p>
            <a:pPr algn="l">
              <a:lnSpc>
                <a:spcPct val="200000"/>
              </a:lnSpc>
            </a:pPr>
            <a:r>
              <a:rPr lang="en-US" sz="1800">
                <a:solidFill>
                  <a:srgbClr val="9CA3AF"/>
                </a:solidFill>
                <a:latin typeface="MiSans"/>
                <a:ea typeface="MiSans"/>
              </a:rPr>
              <a:t>（就是下一页这个）</a:t>
            </a:r>
            <a:endParaRPr lang="en-US" sz="1800"/>
          </a:p>
        </p:txBody>
      </p:sp>
      <p:sp>
        <p:nvSpPr>
          <p:cNvPr id="8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02 / 12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一个真实的例子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零代码，我也做出了完整的东西</a:t>
            </a:r>
            <a:endParaRPr lang="en-US" sz="3800"/>
          </a:p>
        </p:txBody>
      </p:sp>
      <p:sp>
        <p:nvSpPr>
          <p:cNvPr id="5" name="shot"/>
          <p:cNvSpPr/>
          <p:nvPr/>
        </p:nvSpPr>
        <p:spPr>
          <a:xfrm>
            <a:off x="762000" y="1854200"/>
            <a:ext cx="6604000" cy="355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CA3AF"/>
            </a:solidFill>
          </a:ln>
        </p:spPr>
      </p:sp>
      <p:sp>
        <p:nvSpPr>
          <p:cNvPr id="6" name="shot-t"/>
          <p:cNvSpPr txBox="1"/>
          <p:nvPr/>
        </p:nvSpPr>
        <p:spPr>
          <a:xfrm>
            <a:off x="762000" y="1854200"/>
            <a:ext cx="66040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9CA3AF"/>
                </a:solidFill>
                <a:latin typeface="MiSans"/>
                <a:ea typeface="MiSans"/>
              </a:rPr>
              <a:t>［ 你的 AI 作品截图占位 ］</a:t>
            </a:r>
            <a:endParaRPr lang="en-US" sz="1600"/>
          </a:p>
        </p:txBody>
      </p:sp>
      <p:sp>
        <p:nvSpPr>
          <p:cNvPr id="7" name="chip1"/>
          <p:cNvSpPr/>
          <p:nvPr/>
        </p:nvSpPr>
        <p:spPr>
          <a:xfrm>
            <a:off x="7772400" y="1854200"/>
            <a:ext cx="3657600" cy="1016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chip1-t"/>
          <p:cNvSpPr txBox="1"/>
          <p:nvPr/>
        </p:nvSpPr>
        <p:spPr>
          <a:xfrm>
            <a:off x="7772400" y="18542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＿＿ 周做完</a:t>
            </a:r>
            <a:endParaRPr lang="en-US" sz="2200"/>
          </a:p>
        </p:txBody>
      </p:sp>
      <p:sp>
        <p:nvSpPr>
          <p:cNvPr id="9" name="chip2"/>
          <p:cNvSpPr/>
          <p:nvPr/>
        </p:nvSpPr>
        <p:spPr>
          <a:xfrm>
            <a:off x="7772400" y="3124200"/>
            <a:ext cx="3657600" cy="1016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chip2-t"/>
          <p:cNvSpPr txBox="1"/>
          <p:nvPr/>
        </p:nvSpPr>
        <p:spPr>
          <a:xfrm>
            <a:off x="7772400" y="31242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0 行手写代码</a:t>
            </a:r>
            <a:endParaRPr lang="en-US" sz="2200"/>
          </a:p>
        </p:txBody>
      </p:sp>
      <p:sp>
        <p:nvSpPr>
          <p:cNvPr id="11" name="chip3"/>
          <p:cNvSpPr/>
          <p:nvPr/>
        </p:nvSpPr>
        <p:spPr>
          <a:xfrm>
            <a:off x="7772400" y="4394200"/>
            <a:ext cx="3657600" cy="1016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chip3-t"/>
          <p:cNvSpPr txBox="1"/>
          <p:nvPr/>
        </p:nvSpPr>
        <p:spPr>
          <a:xfrm>
            <a:off x="7772400" y="43942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1 个完整作品</a:t>
            </a:r>
            <a:endParaRPr lang="en-US" sz="2200"/>
          </a:p>
        </p:txBody>
      </p:sp>
      <p:sp>
        <p:nvSpPr>
          <p:cNvPr id="13" name="bar"/>
          <p:cNvSpPr/>
          <p:nvPr/>
        </p:nvSpPr>
        <p:spPr>
          <a:xfrm>
            <a:off x="762000" y="5664200"/>
            <a:ext cx="10668000" cy="5588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14" name="bar-t"/>
          <p:cNvSpPr txBox="1"/>
          <p:nvPr/>
        </p:nvSpPr>
        <p:spPr>
          <a:xfrm>
            <a:off x="1117600" y="56642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我一行代码都没写——但每一行，都是按我的要求生成的。</a:t>
            </a:r>
            <a:endParaRPr lang="en-US" sz="1900"/>
          </a:p>
        </p:txBody>
      </p:sp>
      <p:sp>
        <p:nvSpPr>
          <p:cNvPr id="15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16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03 / 12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为什么是现在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AI 正在重新定义「值钱」</a:t>
            </a:r>
            <a:endParaRPr lang="en-US" sz="3800"/>
          </a:p>
        </p:txBody>
      </p:sp>
      <p:sp>
        <p:nvSpPr>
          <p:cNvPr id="5" name="intro"/>
          <p:cNvSpPr txBox="1"/>
          <p:nvPr/>
        </p:nvSpPr>
        <p:spPr>
          <a:xfrm>
            <a:off x="762000" y="17780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写代码、画图、翻译、查资料——AI 都会了，而且越来越快。那，人还剩什么？</a:t>
            </a:r>
            <a:endParaRPr lang="en-US" sz="1900"/>
          </a:p>
        </p:txBody>
      </p:sp>
      <p:sp>
        <p:nvSpPr>
          <p:cNvPr id="6" name="c1"/>
          <p:cNvSpPr/>
          <p:nvPr/>
        </p:nvSpPr>
        <p:spPr>
          <a:xfrm>
            <a:off x="508000" y="2413000"/>
            <a:ext cx="5397500" cy="133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7" name="c1-chip"/>
          <p:cNvSpPr/>
          <p:nvPr/>
        </p:nvSpPr>
        <p:spPr>
          <a:xfrm>
            <a:off x="711200" y="28194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c1-i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825500" y="293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9" name="c1-t"/>
          <p:cNvSpPr txBox="1"/>
          <p:nvPr/>
        </p:nvSpPr>
        <p:spPr>
          <a:xfrm>
            <a:off x="1422400" y="2413000"/>
            <a:ext cx="4178300" cy="133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会出题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AI 能解题，但问对问题，靠你</a:t>
            </a:r>
            <a:endParaRPr lang="en-US" sz="1600"/>
          </a:p>
        </p:txBody>
      </p:sp>
      <p:sp>
        <p:nvSpPr>
          <p:cNvPr id="10" name="c2"/>
          <p:cNvSpPr/>
          <p:nvPr/>
        </p:nvSpPr>
        <p:spPr>
          <a:xfrm>
            <a:off x="6286500" y="2413000"/>
            <a:ext cx="5397500" cy="133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1" name="c2-chip"/>
          <p:cNvSpPr/>
          <p:nvPr/>
        </p:nvSpPr>
        <p:spPr>
          <a:xfrm>
            <a:off x="6489700" y="28194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c2-i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6604000" y="293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3" name="c2-t"/>
          <p:cNvSpPr txBox="1"/>
          <p:nvPr/>
        </p:nvSpPr>
        <p:spPr>
          <a:xfrm>
            <a:off x="7200900" y="2413000"/>
            <a:ext cx="4178300" cy="133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会判断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AI 给一百个答案，选哪个，靠你</a:t>
            </a:r>
            <a:endParaRPr lang="en-US" sz="1600"/>
          </a:p>
        </p:txBody>
      </p:sp>
      <p:sp>
        <p:nvSpPr>
          <p:cNvPr id="14" name="c3"/>
          <p:cNvSpPr/>
          <p:nvPr/>
        </p:nvSpPr>
        <p:spPr>
          <a:xfrm>
            <a:off x="508000" y="3937000"/>
            <a:ext cx="5397500" cy="133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5" name="c3-chip"/>
          <p:cNvSpPr/>
          <p:nvPr/>
        </p:nvSpPr>
        <p:spPr>
          <a:xfrm>
            <a:off x="711200" y="43434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6" name="c3-i"/>
          <p:cNvSpPr/>
          <p:nvPr>
            <p:extLst>
              <p:ext uri="{F5677B7D-0D2A-4D9B-9A5C-6D8D7D0E5A5D}">
                <pptd:icon encoding="base64url">eyJpY29uTmFtZSI6ImZhczp1c2VycyJ9</pptd:icon>
              </p:ext>
            </p:extLst>
          </p:nvPr>
        </p:nvSpPr>
        <p:spPr>
          <a:xfrm>
            <a:off x="825500" y="4457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c3-t"/>
          <p:cNvSpPr txBox="1"/>
          <p:nvPr/>
        </p:nvSpPr>
        <p:spPr>
          <a:xfrm>
            <a:off x="1422400" y="3937000"/>
            <a:ext cx="4178300" cy="133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懂真人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人要什么、烦什么，你知道，AI 不知道</a:t>
            </a:r>
            <a:endParaRPr lang="en-US" sz="1600"/>
          </a:p>
        </p:txBody>
      </p:sp>
      <p:sp>
        <p:nvSpPr>
          <p:cNvPr id="18" name="c4"/>
          <p:cNvSpPr/>
          <p:nvPr/>
        </p:nvSpPr>
        <p:spPr>
          <a:xfrm>
            <a:off x="6286500" y="3937000"/>
            <a:ext cx="5397500" cy="133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9" name="c4-chip"/>
          <p:cNvSpPr/>
          <p:nvPr/>
        </p:nvSpPr>
        <p:spPr>
          <a:xfrm>
            <a:off x="6489700" y="43434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0" name="c4-i"/>
          <p:cNvSpPr/>
          <p:nvPr>
            <p:extLst>
              <p:ext uri="{F5677B7D-0D2A-4D9B-9A5C-6D8D7D0E5A5D}">
                <pptd:icon encoding="base64url">eyJpY29uTmFtZSI6ImZhczpnYXZlbCJ9</pptd:icon>
              </p:ext>
            </p:extLst>
          </p:nvPr>
        </p:nvSpPr>
        <p:spPr>
          <a:xfrm>
            <a:off x="6604000" y="4457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70" y="153"/>
                </a:moveTo>
                <a:lnTo>
                  <a:pt x="151" y="135"/>
                </a:lnTo>
                <a:cubicBezTo>
                  <a:pt x="138" y="122"/>
                  <a:pt x="138" y="102"/>
                  <a:pt x="151" y="89"/>
                </a:cubicBezTo>
                <a:lnTo>
                  <a:pt x="266" y="-25"/>
                </a:lnTo>
                <a:cubicBezTo>
                  <a:pt x="278" y="-38"/>
                  <a:pt x="298" y="-38"/>
                  <a:pt x="311" y="-25"/>
                </a:cubicBezTo>
                <a:lnTo>
                  <a:pt x="330" y="-7"/>
                </a:lnTo>
                <a:cubicBezTo>
                  <a:pt x="342" y="6"/>
                  <a:pt x="342" y="26"/>
                  <a:pt x="330" y="39"/>
                </a:cubicBezTo>
                <a:lnTo>
                  <a:pt x="215" y="153"/>
                </a:lnTo>
                <a:cubicBezTo>
                  <a:pt x="202" y="166"/>
                  <a:pt x="182" y="166"/>
                  <a:pt x="170" y="153"/>
                </a:cubicBezTo>
                <a:close/>
                <a:moveTo>
                  <a:pt x="276" y="212"/>
                </a:moveTo>
                <a:lnTo>
                  <a:pt x="245" y="180"/>
                </a:lnTo>
                <a:lnTo>
                  <a:pt x="357" y="68"/>
                </a:lnTo>
                <a:lnTo>
                  <a:pt x="476" y="188"/>
                </a:lnTo>
                <a:lnTo>
                  <a:pt x="364" y="300"/>
                </a:lnTo>
                <a:lnTo>
                  <a:pt x="333" y="268"/>
                </a:lnTo>
                <a:lnTo>
                  <a:pt x="101" y="500"/>
                </a:lnTo>
                <a:cubicBezTo>
                  <a:pt x="85" y="516"/>
                  <a:pt x="60" y="516"/>
                  <a:pt x="44" y="500"/>
                </a:cubicBezTo>
                <a:cubicBezTo>
                  <a:pt x="28" y="485"/>
                  <a:pt x="28" y="459"/>
                  <a:pt x="44" y="444"/>
                </a:cubicBezTo>
                <a:lnTo>
                  <a:pt x="276" y="212"/>
                </a:lnTo>
                <a:close/>
                <a:moveTo>
                  <a:pt x="391" y="375"/>
                </a:moveTo>
                <a:cubicBezTo>
                  <a:pt x="378" y="362"/>
                  <a:pt x="378" y="342"/>
                  <a:pt x="391" y="329"/>
                </a:cubicBezTo>
                <a:lnTo>
                  <a:pt x="506" y="215"/>
                </a:lnTo>
                <a:cubicBezTo>
                  <a:pt x="518" y="202"/>
                  <a:pt x="538" y="202"/>
                  <a:pt x="551" y="215"/>
                </a:cubicBezTo>
                <a:lnTo>
                  <a:pt x="570" y="233"/>
                </a:lnTo>
                <a:cubicBezTo>
                  <a:pt x="582" y="246"/>
                  <a:pt x="582" y="266"/>
                  <a:pt x="570" y="279"/>
                </a:cubicBezTo>
                <a:lnTo>
                  <a:pt x="455" y="393"/>
                </a:lnTo>
                <a:cubicBezTo>
                  <a:pt x="442" y="406"/>
                  <a:pt x="422" y="406"/>
                  <a:pt x="410" y="393"/>
                </a:cubicBezTo>
                <a:lnTo>
                  <a:pt x="391" y="375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21" name="c4-t"/>
          <p:cNvSpPr txBox="1"/>
          <p:nvPr/>
        </p:nvSpPr>
        <p:spPr>
          <a:xfrm>
            <a:off x="7200900" y="3937000"/>
            <a:ext cx="4178300" cy="133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敢拍板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做取舍、为结果负责的，是你</a:t>
            </a:r>
            <a:endParaRPr lang="en-US" sz="1600"/>
          </a:p>
        </p:txBody>
      </p:sp>
      <p:sp>
        <p:nvSpPr>
          <p:cNvPr id="22" name="bar2"/>
          <p:cNvSpPr/>
          <p:nvPr/>
        </p:nvSpPr>
        <p:spPr>
          <a:xfrm>
            <a:off x="762000" y="5588000"/>
            <a:ext cx="10668000" cy="5842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23" name="bar2-t"/>
          <p:cNvSpPr txBox="1"/>
          <p:nvPr/>
        </p:nvSpPr>
        <p:spPr>
          <a:xfrm>
            <a:off x="1117600" y="5588000"/>
            <a:ext cx="9956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这门课练的，全是这四样。</a:t>
            </a:r>
            <a:endParaRPr lang="en-US" sz="1900"/>
          </a:p>
        </p:txBody>
      </p:sp>
      <p:sp>
        <p:nvSpPr>
          <p:cNvPr id="24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25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05 / 13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你的角色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你是导演，AI 是程序员</a:t>
            </a:r>
            <a:endParaRPr lang="en-US" sz="3800"/>
          </a:p>
        </p:txBody>
      </p:sp>
      <p:sp>
        <p:nvSpPr>
          <p:cNvPr id="5" name="you"/>
          <p:cNvSpPr/>
          <p:nvPr/>
        </p:nvSpPr>
        <p:spPr>
          <a:xfrm>
            <a:off x="508000" y="1905000"/>
            <a:ext cx="5397500" cy="266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you-chip"/>
          <p:cNvSpPr/>
          <p:nvPr/>
        </p:nvSpPr>
        <p:spPr>
          <a:xfrm>
            <a:off x="4991100" y="2108200"/>
            <a:ext cx="660400" cy="6604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you-i"/>
          <p:cNvSpPr/>
          <p:nvPr>
            <p:extLst>
              <p:ext uri="{F5677B7D-0D2A-4D9B-9A5C-6D8D7D0E5A5D}">
                <pptd:icon encoding="base64url">eyJpY29uTmFtZSI6ImZhczpjbGFwcGVyYm9hcmQifQ</pptd:icon>
              </p:ext>
            </p:extLst>
          </p:nvPr>
        </p:nvSpPr>
        <p:spPr>
          <a:xfrm>
            <a:off x="514350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64"/>
                </a:moveTo>
                <a:cubicBezTo>
                  <a:pt x="450" y="64"/>
                  <a:pt x="452" y="64"/>
                  <a:pt x="454" y="64"/>
                </a:cubicBezTo>
                <a:lnTo>
                  <a:pt x="358" y="160"/>
                </a:lnTo>
                <a:lnTo>
                  <a:pt x="426" y="160"/>
                </a:lnTo>
                <a:lnTo>
                  <a:pt x="498" y="88"/>
                </a:lnTo>
                <a:cubicBezTo>
                  <a:pt x="507" y="99"/>
                  <a:pt x="512" y="113"/>
                  <a:pt x="512" y="128"/>
                </a:cubicBezTo>
                <a:lnTo>
                  <a:pt x="512" y="384"/>
                </a:lnTo>
                <a:cubicBezTo>
                  <a:pt x="512" y="419"/>
                  <a:pt x="483" y="448"/>
                  <a:pt x="448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134" y="64"/>
                </a:lnTo>
                <a:lnTo>
                  <a:pt x="38" y="160"/>
                </a:lnTo>
                <a:lnTo>
                  <a:pt x="106" y="160"/>
                </a:lnTo>
                <a:lnTo>
                  <a:pt x="201" y="65"/>
                </a:lnTo>
                <a:lnTo>
                  <a:pt x="202" y="64"/>
                </a:lnTo>
                <a:lnTo>
                  <a:pt x="294" y="64"/>
                </a:lnTo>
                <a:lnTo>
                  <a:pt x="198" y="160"/>
                </a:lnTo>
                <a:lnTo>
                  <a:pt x="266" y="160"/>
                </a:lnTo>
                <a:lnTo>
                  <a:pt x="361" y="65"/>
                </a:lnTo>
                <a:lnTo>
                  <a:pt x="362" y="64"/>
                </a:lnTo>
                <a:lnTo>
                  <a:pt x="448" y="64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8" name="you-t"/>
          <p:cNvSpPr txBox="1"/>
          <p:nvPr/>
        </p:nvSpPr>
        <p:spPr>
          <a:xfrm>
            <a:off x="889000" y="1905000"/>
            <a:ext cx="3810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你（导演）</a:t>
            </a:r>
            <a:endParaRPr lang="en-US" sz="1600"/>
          </a:p>
          <a:p>
            <a:pPr algn="l">
              <a:lnSpc>
                <a:spcPct val="18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· 做什么，你出题</a:t>
            </a:r>
            <a:endParaRPr lang="en-US" sz="1600"/>
          </a:p>
          <a:p>
            <a:pPr algn="l">
              <a:lnSpc>
                <a:spcPct val="18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· 做到什么算好，你定标准</a:t>
            </a:r>
            <a:endParaRPr lang="en-US" sz="1600"/>
          </a:p>
          <a:p>
            <a:pPr algn="l">
              <a:lnSpc>
                <a:spcPct val="18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· 行不行，你验收</a:t>
            </a:r>
            <a:endParaRPr lang="en-US" sz="1600"/>
          </a:p>
        </p:txBody>
      </p:sp>
      <p:sp>
        <p:nvSpPr>
          <p:cNvPr id="9" name="ai"/>
          <p:cNvSpPr/>
          <p:nvPr/>
        </p:nvSpPr>
        <p:spPr>
          <a:xfrm>
            <a:off x="6286500" y="1905000"/>
            <a:ext cx="5397500" cy="266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0" name="ai-chip"/>
          <p:cNvSpPr/>
          <p:nvPr/>
        </p:nvSpPr>
        <p:spPr>
          <a:xfrm>
            <a:off x="10769600" y="2108200"/>
            <a:ext cx="660400" cy="6604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ai-i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10922000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2" name="ai-t"/>
          <p:cNvSpPr txBox="1"/>
          <p:nvPr/>
        </p:nvSpPr>
        <p:spPr>
          <a:xfrm>
            <a:off x="6667500" y="1905000"/>
            <a:ext cx="3810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AI（程序员）</a:t>
            </a:r>
            <a:endParaRPr lang="en-US" sz="1600"/>
          </a:p>
          <a:p>
            <a:pPr algn="l">
              <a:lnSpc>
                <a:spcPct val="18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· 写代码、搭结构</a:t>
            </a:r>
            <a:endParaRPr lang="en-US" sz="1600"/>
          </a:p>
          <a:p>
            <a:pPr algn="l">
              <a:lnSpc>
                <a:spcPct val="18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· 改 bug、跑测试</a:t>
            </a:r>
            <a:endParaRPr lang="en-US" sz="1600"/>
          </a:p>
          <a:p>
            <a:pPr algn="l">
              <a:lnSpc>
                <a:spcPct val="18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· 随叫随到，不喊累</a:t>
            </a:r>
            <a:endParaRPr lang="en-US" sz="1600"/>
          </a:p>
        </p:txBody>
      </p:sp>
      <p:sp>
        <p:nvSpPr>
          <p:cNvPr id="13" name="rulebar"/>
          <p:cNvSpPr/>
          <p:nvPr/>
        </p:nvSpPr>
        <p:spPr>
          <a:xfrm>
            <a:off x="508000" y="5029200"/>
            <a:ext cx="76200" cy="812800"/>
          </a:xfrm>
          <a:prstGeom prst="rect">
            <a:avLst/>
          </a:prstGeom>
          <a:solidFill>
            <a:srgbClr val="D84144"/>
          </a:solidFill>
          <a:ln>
            <a:noFill/>
          </a:ln>
        </p:spPr>
      </p:sp>
      <p:sp>
        <p:nvSpPr>
          <p:cNvPr id="14" name="rule"/>
          <p:cNvSpPr/>
          <p:nvPr/>
        </p:nvSpPr>
        <p:spPr>
          <a:xfrm>
            <a:off x="584200" y="5029200"/>
            <a:ext cx="110998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4144"/>
            </a:solidFill>
          </a:ln>
        </p:spPr>
      </p:sp>
      <p:sp>
        <p:nvSpPr>
          <p:cNvPr id="15" name="rule-t"/>
          <p:cNvSpPr txBox="1"/>
          <p:nvPr/>
        </p:nvSpPr>
        <p:spPr>
          <a:xfrm>
            <a:off x="889000" y="5029200"/>
            <a:ext cx="10490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900" b="1">
                <a:solidFill>
                  <a:srgbClr val="D84144"/>
                </a:solidFill>
                <a:latin typeface="MiSans"/>
                <a:ea typeface="MiSans"/>
              </a:rPr>
              <a:t>本课铁律：严禁自己手写代码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——你的活只有三件：说清楚、看效果、不满意让它改。</a:t>
            </a:r>
            <a:endParaRPr lang="en-US" sz="1900"/>
          </a:p>
        </p:txBody>
      </p:sp>
      <p:sp>
        <p:nvSpPr>
          <p:cNvPr id="16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1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06 / 13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你的武器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这门课里，你会用到三件武器</a:t>
            </a:r>
            <a:endParaRPr lang="en-US" sz="3800"/>
          </a:p>
        </p:txBody>
      </p:sp>
      <p:sp>
        <p:nvSpPr>
          <p:cNvPr id="5" name="w1"/>
          <p:cNvSpPr/>
          <p:nvPr/>
        </p:nvSpPr>
        <p:spPr>
          <a:xfrm>
            <a:off x="508000" y="1854200"/>
            <a:ext cx="340360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w1-tag"/>
          <p:cNvSpPr/>
          <p:nvPr/>
        </p:nvSpPr>
        <p:spPr>
          <a:xfrm>
            <a:off x="508000" y="1854200"/>
            <a:ext cx="34036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pic>
        <p:nvPicPr>
          <p:cNvPr id="7" name="w1-img"/>
          <p:cNvPicPr/>
          <p:nvPr/>
        </p:nvPicPr>
        <p:blipFill>
          <a:blip r:embed="rIdImage2"/>
          <a:srcRect l="-97935" r="-97935"/>
          <a:stretch>
            <a:fillRect/>
          </a:stretch>
        </p:blipFill>
        <p:spPr>
          <a:xfrm>
            <a:off x="685800" y="2032000"/>
            <a:ext cx="3048000" cy="1371600"/>
          </a:xfrm>
          <a:prstGeom prst="rect">
            <a:avLst/>
          </a:prstGeom>
          <a:ln>
            <a:noFill/>
          </a:ln>
        </p:spPr>
      </p:pic>
      <p:sp>
        <p:nvSpPr>
          <p:cNvPr id="8" name="w1-name"/>
          <p:cNvSpPr txBox="1"/>
          <p:nvPr/>
        </p:nvSpPr>
        <p:spPr>
          <a:xfrm>
            <a:off x="762000" y="3479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Grove Beginner Kit</a:t>
            </a:r>
            <a:endParaRPr lang="en-US" sz="1600"/>
          </a:p>
        </p:txBody>
      </p:sp>
      <p:sp>
        <p:nvSpPr>
          <p:cNvPr id="9" name="w1-lesson"/>
          <p:cNvSpPr txBox="1"/>
          <p:nvPr/>
        </p:nvSpPr>
        <p:spPr>
          <a:xfrm>
            <a:off x="762000" y="38608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　第 1–2 课，第 6 课起　</a:t>
            </a:r>
            <a:endParaRPr lang="en-US" sz="1600"/>
          </a:p>
        </p:txBody>
      </p:sp>
      <p:sp>
        <p:nvSpPr>
          <p:cNvPr id="10" name="w1-desc"/>
          <p:cNvSpPr txBox="1"/>
          <p:nvPr/>
        </p:nvSpPr>
        <p:spPr>
          <a:xfrm>
            <a:off x="762000" y="4216400"/>
            <a:ext cx="2895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10 种传感器 + OLED 屏，插上 USB 就能用——感知世界的入门套件。</a:t>
            </a:r>
            <a:endParaRPr lang="en-US" sz="1600"/>
          </a:p>
        </p:txBody>
      </p:sp>
      <p:sp>
        <p:nvSpPr>
          <p:cNvPr id="11" name="w2"/>
          <p:cNvSpPr/>
          <p:nvPr/>
        </p:nvSpPr>
        <p:spPr>
          <a:xfrm>
            <a:off x="4394200" y="1854200"/>
            <a:ext cx="340360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2" name="w2-tag"/>
          <p:cNvSpPr/>
          <p:nvPr/>
        </p:nvSpPr>
        <p:spPr>
          <a:xfrm>
            <a:off x="4394200" y="1854200"/>
            <a:ext cx="34036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pic>
        <p:nvPicPr>
          <p:cNvPr id="13" name="w2-img"/>
          <p:cNvPicPr/>
          <p:nvPr/>
        </p:nvPicPr>
        <p:blipFill>
          <a:blip r:embed="rIdImage3"/>
          <a:srcRect l="-14542" r="-14542"/>
          <a:stretch>
            <a:fillRect/>
          </a:stretch>
        </p:blipFill>
        <p:spPr>
          <a:xfrm>
            <a:off x="4572000" y="2032000"/>
            <a:ext cx="3048000" cy="1371600"/>
          </a:xfrm>
          <a:prstGeom prst="rect">
            <a:avLst/>
          </a:prstGeom>
          <a:ln>
            <a:noFill/>
          </a:ln>
        </p:spPr>
      </p:pic>
      <p:sp>
        <p:nvSpPr>
          <p:cNvPr id="14" name="w2-name"/>
          <p:cNvSpPr txBox="1"/>
          <p:nvPr/>
        </p:nvSpPr>
        <p:spPr>
          <a:xfrm>
            <a:off x="4648200" y="3479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Wio Terminal</a:t>
            </a:r>
            <a:endParaRPr lang="en-US" sz="1600"/>
          </a:p>
        </p:txBody>
      </p:sp>
      <p:sp>
        <p:nvSpPr>
          <p:cNvPr id="15" name="w2-lesson"/>
          <p:cNvSpPr txBox="1"/>
          <p:nvPr/>
        </p:nvSpPr>
        <p:spPr>
          <a:xfrm>
            <a:off x="4648200" y="38608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　第 3–4、6 课　</a:t>
            </a:r>
            <a:endParaRPr lang="en-US" sz="1600"/>
          </a:p>
        </p:txBody>
      </p:sp>
      <p:sp>
        <p:nvSpPr>
          <p:cNvPr id="16" name="w2-desc"/>
          <p:cNvSpPr txBox="1"/>
          <p:nvPr/>
        </p:nvSpPr>
        <p:spPr>
          <a:xfrm>
            <a:off x="4648200" y="4216400"/>
            <a:ext cx="2895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彩色屏 + 摇杆按键，一台掌上交互原型机——给作品一张像样的「脸」。</a:t>
            </a:r>
            <a:endParaRPr lang="en-US" sz="1600"/>
          </a:p>
        </p:txBody>
      </p:sp>
      <p:sp>
        <p:nvSpPr>
          <p:cNvPr id="17" name="w3"/>
          <p:cNvSpPr/>
          <p:nvPr/>
        </p:nvSpPr>
        <p:spPr>
          <a:xfrm>
            <a:off x="8280400" y="1854200"/>
            <a:ext cx="340360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8" name="w3-tag"/>
          <p:cNvSpPr/>
          <p:nvPr/>
        </p:nvSpPr>
        <p:spPr>
          <a:xfrm>
            <a:off x="8280400" y="1854200"/>
            <a:ext cx="34036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pic>
        <p:nvPicPr>
          <p:cNvPr id="19" name="w3-img"/>
          <p:cNvPicPr/>
          <p:nvPr/>
        </p:nvPicPr>
        <p:blipFill>
          <a:blip r:embed="rIdImage4"/>
          <a:srcRect l="-44340" r="-44340"/>
          <a:stretch>
            <a:fillRect/>
          </a:stretch>
        </p:blipFill>
        <p:spPr>
          <a:xfrm>
            <a:off x="8458200" y="2032000"/>
            <a:ext cx="3048000" cy="1371600"/>
          </a:xfrm>
          <a:prstGeom prst="rect">
            <a:avLst/>
          </a:prstGeom>
          <a:ln>
            <a:noFill/>
          </a:ln>
        </p:spPr>
      </p:pic>
      <p:sp>
        <p:nvSpPr>
          <p:cNvPr id="20" name="w3-name"/>
          <p:cNvSpPr txBox="1"/>
          <p:nvPr/>
        </p:nvSpPr>
        <p:spPr>
          <a:xfrm>
            <a:off x="8534400" y="3479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XIAO ESP32S3 Sense</a:t>
            </a:r>
            <a:endParaRPr lang="en-US" sz="1600"/>
          </a:p>
        </p:txBody>
      </p:sp>
      <p:sp>
        <p:nvSpPr>
          <p:cNvPr id="21" name="w3-lesson"/>
          <p:cNvSpPr txBox="1"/>
          <p:nvPr/>
        </p:nvSpPr>
        <p:spPr>
          <a:xfrm>
            <a:off x="8534400" y="38608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　第 5 课　</a:t>
            </a:r>
            <a:endParaRPr lang="en-US" sz="1600"/>
          </a:p>
        </p:txBody>
      </p:sp>
      <p:sp>
        <p:nvSpPr>
          <p:cNvPr id="22" name="w3-desc"/>
          <p:cNvSpPr txBox="1"/>
          <p:nvPr/>
        </p:nvSpPr>
        <p:spPr>
          <a:xfrm>
            <a:off x="8534400" y="4216400"/>
            <a:ext cx="2895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指甲盖大的视觉 AI 板，带摄像头——教硬件学会「看」。</a:t>
            </a:r>
            <a:endParaRPr lang="en-US" sz="1600"/>
          </a:p>
        </p:txBody>
      </p:sp>
      <p:sp>
        <p:nvSpPr>
          <p:cNvPr id="23" name="bottom"/>
          <p:cNvSpPr txBox="1"/>
          <p:nvPr/>
        </p:nvSpPr>
        <p:spPr>
          <a:xfrm>
            <a:off x="508000" y="54864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第 7 课起，它们一起为你的作品打工。</a:t>
            </a:r>
            <a:endParaRPr lang="en-US" sz="1700"/>
          </a:p>
        </p:txBody>
      </p:sp>
      <p:sp>
        <p:nvSpPr>
          <p:cNvPr id="24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25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07 / 13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全局地图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十次课，一张地图</a:t>
            </a:r>
            <a:endParaRPr lang="en-US" sz="3800"/>
          </a:p>
        </p:txBody>
      </p:sp>
      <p:sp>
        <p:nvSpPr>
          <p:cNvPr id="5" name="p1"/>
          <p:cNvSpPr/>
          <p:nvPr/>
        </p:nvSpPr>
        <p:spPr>
          <a:xfrm>
            <a:off x="508000" y="1854200"/>
            <a:ext cx="2489200" cy="1066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p1-i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685800" y="223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7" name="p1-t"/>
          <p:cNvSpPr txBox="1"/>
          <p:nvPr/>
        </p:nvSpPr>
        <p:spPr>
          <a:xfrm>
            <a:off x="1143000" y="1905000"/>
            <a:ext cx="1752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第 1–2 课</a:t>
            </a:r>
            <a:endParaRPr lang="en-US" sz="1600"/>
          </a:p>
          <a:p>
            <a:pPr algn="l">
              <a:lnSpc>
                <a:spcPct val="13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点亮 + 找题</a:t>
            </a:r>
            <a:endParaRPr lang="en-US" sz="1600"/>
          </a:p>
        </p:txBody>
      </p:sp>
      <p:sp>
        <p:nvSpPr>
          <p:cNvPr id="8" name="l1"/>
          <p:cNvSpPr/>
          <p:nvPr/>
        </p:nvSpPr>
        <p:spPr>
          <a:xfrm>
            <a:off x="3200400" y="1854200"/>
            <a:ext cx="4064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9" name="l1-t"/>
          <p:cNvSpPr txBox="1"/>
          <p:nvPr/>
        </p:nvSpPr>
        <p:spPr>
          <a:xfrm>
            <a:off x="3327400" y="1854200"/>
            <a:ext cx="381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　用 AI 点亮你的第一块硬件</a:t>
            </a:r>
            <a:endParaRPr lang="en-US" sz="1600"/>
          </a:p>
        </p:txBody>
      </p:sp>
      <p:sp>
        <p:nvSpPr>
          <p:cNvPr id="10" name="l2"/>
          <p:cNvSpPr/>
          <p:nvPr/>
        </p:nvSpPr>
        <p:spPr>
          <a:xfrm>
            <a:off x="7467600" y="1854200"/>
            <a:ext cx="4216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11" name="l2-t"/>
          <p:cNvSpPr txBox="1"/>
          <p:nvPr/>
        </p:nvSpPr>
        <p:spPr>
          <a:xfrm>
            <a:off x="7594600" y="1854200"/>
            <a:ext cx="3962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　找到值得做的题目</a:t>
            </a:r>
            <a:endParaRPr lang="en-US" sz="1600"/>
          </a:p>
        </p:txBody>
      </p:sp>
      <p:sp>
        <p:nvSpPr>
          <p:cNvPr id="12" name="p2"/>
          <p:cNvSpPr/>
          <p:nvPr/>
        </p:nvSpPr>
        <p:spPr>
          <a:xfrm>
            <a:off x="508000" y="3124200"/>
            <a:ext cx="2489200" cy="1066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p2-i"/>
          <p:cNvSpPr/>
          <p:nvPr>
            <p:extLst>
              <p:ext uri="{F5677B7D-0D2A-4D9B-9A5C-6D8D7D0E5A5D}">
                <pptd:icon encoding="base64url">eyJpY29uTmFtZSI6ImZhczp0b29sYm94In0</pptd:icon>
              </p:ext>
            </p:extLst>
          </p:nvPr>
        </p:nvSpPr>
        <p:spPr>
          <a:xfrm>
            <a:off x="685800" y="350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96"/>
                </a:moveTo>
                <a:lnTo>
                  <a:pt x="128" y="56"/>
                </a:lnTo>
                <a:cubicBezTo>
                  <a:pt x="128" y="25"/>
                  <a:pt x="153" y="0"/>
                  <a:pt x="184" y="0"/>
                </a:cubicBezTo>
                <a:lnTo>
                  <a:pt x="328" y="0"/>
                </a:lnTo>
                <a:cubicBezTo>
                  <a:pt x="359" y="0"/>
                  <a:pt x="384" y="25"/>
                  <a:pt x="384" y="56"/>
                </a:cubicBezTo>
                <a:lnTo>
                  <a:pt x="384" y="96"/>
                </a:lnTo>
                <a:lnTo>
                  <a:pt x="412" y="96"/>
                </a:lnTo>
                <a:cubicBezTo>
                  <a:pt x="425" y="96"/>
                  <a:pt x="437" y="101"/>
                  <a:pt x="446" y="110"/>
                </a:cubicBezTo>
                <a:lnTo>
                  <a:pt x="498" y="162"/>
                </a:lnTo>
                <a:cubicBezTo>
                  <a:pt x="507" y="171"/>
                  <a:pt x="512" y="183"/>
                  <a:pt x="512" y="196"/>
                </a:cubicBezTo>
                <a:lnTo>
                  <a:pt x="512" y="272"/>
                </a:lnTo>
                <a:lnTo>
                  <a:pt x="376" y="272"/>
                </a:lnTo>
                <a:lnTo>
                  <a:pt x="376" y="256"/>
                </a:lnTo>
                <a:cubicBezTo>
                  <a:pt x="376" y="243"/>
                  <a:pt x="365" y="232"/>
                  <a:pt x="352" y="232"/>
                </a:cubicBezTo>
                <a:cubicBezTo>
                  <a:pt x="339" y="232"/>
                  <a:pt x="328" y="243"/>
                  <a:pt x="328" y="256"/>
                </a:cubicBezTo>
                <a:lnTo>
                  <a:pt x="328" y="272"/>
                </a:lnTo>
                <a:lnTo>
                  <a:pt x="184" y="272"/>
                </a:lnTo>
                <a:lnTo>
                  <a:pt x="184" y="256"/>
                </a:lnTo>
                <a:cubicBezTo>
                  <a:pt x="184" y="243"/>
                  <a:pt x="173" y="232"/>
                  <a:pt x="160" y="232"/>
                </a:cubicBezTo>
                <a:cubicBezTo>
                  <a:pt x="147" y="232"/>
                  <a:pt x="136" y="243"/>
                  <a:pt x="136" y="256"/>
                </a:cubicBezTo>
                <a:lnTo>
                  <a:pt x="136" y="272"/>
                </a:lnTo>
                <a:lnTo>
                  <a:pt x="0" y="272"/>
                </a:lnTo>
                <a:lnTo>
                  <a:pt x="0" y="196"/>
                </a:lnTo>
                <a:cubicBezTo>
                  <a:pt x="0" y="183"/>
                  <a:pt x="5" y="171"/>
                  <a:pt x="14" y="162"/>
                </a:cubicBezTo>
                <a:lnTo>
                  <a:pt x="66" y="110"/>
                </a:lnTo>
                <a:cubicBezTo>
                  <a:pt x="75" y="101"/>
                  <a:pt x="87" y="96"/>
                  <a:pt x="100" y="96"/>
                </a:cubicBezTo>
                <a:lnTo>
                  <a:pt x="128" y="96"/>
                </a:lnTo>
                <a:close/>
                <a:moveTo>
                  <a:pt x="176" y="56"/>
                </a:moveTo>
                <a:lnTo>
                  <a:pt x="176" y="96"/>
                </a:lnTo>
                <a:lnTo>
                  <a:pt x="336" y="96"/>
                </a:lnTo>
                <a:lnTo>
                  <a:pt x="336" y="56"/>
                </a:lnTo>
                <a:cubicBezTo>
                  <a:pt x="336" y="52"/>
                  <a:pt x="332" y="48"/>
                  <a:pt x="328" y="48"/>
                </a:cubicBezTo>
                <a:lnTo>
                  <a:pt x="184" y="48"/>
                </a:lnTo>
                <a:cubicBezTo>
                  <a:pt x="180" y="48"/>
                  <a:pt x="176" y="52"/>
                  <a:pt x="176" y="56"/>
                </a:cubicBezTo>
                <a:close/>
                <a:moveTo>
                  <a:pt x="0" y="416"/>
                </a:moveTo>
                <a:lnTo>
                  <a:pt x="0" y="320"/>
                </a:lnTo>
                <a:lnTo>
                  <a:pt x="136" y="320"/>
                </a:lnTo>
                <a:lnTo>
                  <a:pt x="136" y="336"/>
                </a:lnTo>
                <a:cubicBezTo>
                  <a:pt x="136" y="349"/>
                  <a:pt x="147" y="360"/>
                  <a:pt x="160" y="360"/>
                </a:cubicBezTo>
                <a:cubicBezTo>
                  <a:pt x="173" y="360"/>
                  <a:pt x="184" y="349"/>
                  <a:pt x="184" y="336"/>
                </a:cubicBezTo>
                <a:lnTo>
                  <a:pt x="184" y="320"/>
                </a:lnTo>
                <a:lnTo>
                  <a:pt x="328" y="320"/>
                </a:lnTo>
                <a:lnTo>
                  <a:pt x="328" y="336"/>
                </a:lnTo>
                <a:cubicBezTo>
                  <a:pt x="328" y="349"/>
                  <a:pt x="339" y="360"/>
                  <a:pt x="352" y="360"/>
                </a:cubicBezTo>
                <a:cubicBezTo>
                  <a:pt x="365" y="360"/>
                  <a:pt x="376" y="349"/>
                  <a:pt x="376" y="336"/>
                </a:cubicBezTo>
                <a:lnTo>
                  <a:pt x="376" y="320"/>
                </a:lnTo>
                <a:lnTo>
                  <a:pt x="512" y="320"/>
                </a:lnTo>
                <a:lnTo>
                  <a:pt x="512" y="416"/>
                </a:lnTo>
                <a:cubicBezTo>
                  <a:pt x="512" y="451"/>
                  <a:pt x="483" y="480"/>
                  <a:pt x="448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4" name="p2-t"/>
          <p:cNvSpPr txBox="1"/>
          <p:nvPr/>
        </p:nvSpPr>
        <p:spPr>
          <a:xfrm>
            <a:off x="1143000" y="3175000"/>
            <a:ext cx="1752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第 3–6 课</a:t>
            </a:r>
            <a:endParaRPr lang="en-US" sz="1600"/>
          </a:p>
          <a:p>
            <a:pPr algn="l">
              <a:lnSpc>
                <a:spcPct val="13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组 AI 团队，学本事</a:t>
            </a:r>
            <a:endParaRPr lang="en-US" sz="1600"/>
          </a:p>
        </p:txBody>
      </p:sp>
      <p:sp>
        <p:nvSpPr>
          <p:cNvPr id="15" name="l3"/>
          <p:cNvSpPr/>
          <p:nvPr/>
        </p:nvSpPr>
        <p:spPr>
          <a:xfrm>
            <a:off x="3200400" y="3124200"/>
            <a:ext cx="203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16" name="l3-t"/>
          <p:cNvSpPr txBox="1"/>
          <p:nvPr/>
        </p:nvSpPr>
        <p:spPr>
          <a:xfrm>
            <a:off x="3327400" y="31242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给作品装上屏幕</a:t>
            </a:r>
            <a:endParaRPr lang="en-US" sz="1600"/>
          </a:p>
        </p:txBody>
      </p:sp>
      <p:sp>
        <p:nvSpPr>
          <p:cNvPr id="17" name="l4"/>
          <p:cNvSpPr/>
          <p:nvPr/>
        </p:nvSpPr>
        <p:spPr>
          <a:xfrm>
            <a:off x="5334000" y="3124200"/>
            <a:ext cx="203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18" name="l4-t"/>
          <p:cNvSpPr txBox="1"/>
          <p:nvPr/>
        </p:nvSpPr>
        <p:spPr>
          <a:xfrm>
            <a:off x="5461000" y="31242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组 AI 团队，做番茄钟</a:t>
            </a:r>
            <a:endParaRPr lang="en-US" sz="1600"/>
          </a:p>
        </p:txBody>
      </p:sp>
      <p:sp>
        <p:nvSpPr>
          <p:cNvPr id="19" name="l5"/>
          <p:cNvSpPr/>
          <p:nvPr/>
        </p:nvSpPr>
        <p:spPr>
          <a:xfrm>
            <a:off x="7467600" y="3124200"/>
            <a:ext cx="203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20" name="l5-t"/>
          <p:cNvSpPr txBox="1"/>
          <p:nvPr/>
        </p:nvSpPr>
        <p:spPr>
          <a:xfrm>
            <a:off x="7594600" y="31242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5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教硬件学会「看」</a:t>
            </a:r>
            <a:endParaRPr lang="en-US" sz="1600"/>
          </a:p>
        </p:txBody>
      </p:sp>
      <p:sp>
        <p:nvSpPr>
          <p:cNvPr id="21" name="l6"/>
          <p:cNvSpPr/>
          <p:nvPr/>
        </p:nvSpPr>
        <p:spPr>
          <a:xfrm>
            <a:off x="9601200" y="3124200"/>
            <a:ext cx="20828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22" name="l6-t"/>
          <p:cNvSpPr txBox="1"/>
          <p:nvPr/>
        </p:nvSpPr>
        <p:spPr>
          <a:xfrm>
            <a:off x="9728200" y="3124200"/>
            <a:ext cx="1828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6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把作品搬回自己的电脑</a:t>
            </a:r>
            <a:endParaRPr lang="en-US" sz="1600"/>
          </a:p>
        </p:txBody>
      </p:sp>
      <p:sp>
        <p:nvSpPr>
          <p:cNvPr id="23" name="p3"/>
          <p:cNvSpPr/>
          <p:nvPr/>
        </p:nvSpPr>
        <p:spPr>
          <a:xfrm>
            <a:off x="508000" y="4394200"/>
            <a:ext cx="2489200" cy="1066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4" name="p3-i"/>
          <p:cNvSpPr/>
          <p:nvPr>
            <p:extLst>
              <p:ext uri="{F5677B7D-0D2A-4D9B-9A5C-6D8D7D0E5A5D}">
                <pptd:icon encoding="base64url">eyJpY29uTmFtZSI6ImZhczpwZXJzb24tcnVubmluZyJ9</pptd:icon>
              </p:ext>
            </p:extLst>
          </p:nvPr>
        </p:nvSpPr>
        <p:spPr>
          <a:xfrm>
            <a:off x="685800" y="477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57" y="-32"/>
                </a:moveTo>
                <a:cubicBezTo>
                  <a:pt x="287" y="-32"/>
                  <a:pt x="313" y="-7"/>
                  <a:pt x="313" y="24"/>
                </a:cubicBezTo>
                <a:cubicBezTo>
                  <a:pt x="313" y="55"/>
                  <a:pt x="287" y="80"/>
                  <a:pt x="257" y="80"/>
                </a:cubicBezTo>
                <a:cubicBezTo>
                  <a:pt x="226" y="80"/>
                  <a:pt x="201" y="55"/>
                  <a:pt x="201" y="24"/>
                </a:cubicBezTo>
                <a:cubicBezTo>
                  <a:pt x="201" y="-7"/>
                  <a:pt x="226" y="-32"/>
                  <a:pt x="257" y="-32"/>
                </a:cubicBezTo>
                <a:close/>
                <a:moveTo>
                  <a:pt x="124" y="176"/>
                </a:moveTo>
                <a:cubicBezTo>
                  <a:pt x="120" y="176"/>
                  <a:pt x="117" y="178"/>
                  <a:pt x="116" y="181"/>
                </a:cubicBezTo>
                <a:lnTo>
                  <a:pt x="94" y="236"/>
                </a:lnTo>
                <a:cubicBezTo>
                  <a:pt x="88" y="252"/>
                  <a:pt x="69" y="260"/>
                  <a:pt x="53" y="254"/>
                </a:cubicBezTo>
                <a:cubicBezTo>
                  <a:pt x="36" y="247"/>
                  <a:pt x="28" y="229"/>
                  <a:pt x="35" y="212"/>
                </a:cubicBezTo>
                <a:lnTo>
                  <a:pt x="57" y="157"/>
                </a:lnTo>
                <a:cubicBezTo>
                  <a:pt x="68" y="130"/>
                  <a:pt x="94" y="112"/>
                  <a:pt x="124" y="112"/>
                </a:cubicBezTo>
                <a:lnTo>
                  <a:pt x="221" y="112"/>
                </a:lnTo>
                <a:cubicBezTo>
                  <a:pt x="249" y="112"/>
                  <a:pt x="276" y="127"/>
                  <a:pt x="290" y="152"/>
                </a:cubicBezTo>
                <a:lnTo>
                  <a:pt x="323" y="208"/>
                </a:lnTo>
                <a:lnTo>
                  <a:pt x="384" y="208"/>
                </a:lnTo>
                <a:cubicBezTo>
                  <a:pt x="402" y="208"/>
                  <a:pt x="416" y="222"/>
                  <a:pt x="416" y="240"/>
                </a:cubicBezTo>
                <a:cubicBezTo>
                  <a:pt x="416" y="258"/>
                  <a:pt x="402" y="272"/>
                  <a:pt x="384" y="272"/>
                </a:cubicBezTo>
                <a:lnTo>
                  <a:pt x="323" y="272"/>
                </a:lnTo>
                <a:cubicBezTo>
                  <a:pt x="300" y="272"/>
                  <a:pt x="279" y="260"/>
                  <a:pt x="268" y="240"/>
                </a:cubicBezTo>
                <a:lnTo>
                  <a:pt x="258" y="223"/>
                </a:lnTo>
                <a:lnTo>
                  <a:pt x="237" y="294"/>
                </a:lnTo>
                <a:lnTo>
                  <a:pt x="312" y="316"/>
                </a:lnTo>
                <a:cubicBezTo>
                  <a:pt x="340" y="324"/>
                  <a:pt x="354" y="355"/>
                  <a:pt x="342" y="382"/>
                </a:cubicBezTo>
                <a:lnTo>
                  <a:pt x="286" y="509"/>
                </a:lnTo>
                <a:cubicBezTo>
                  <a:pt x="279" y="525"/>
                  <a:pt x="260" y="532"/>
                  <a:pt x="244" y="525"/>
                </a:cubicBezTo>
                <a:cubicBezTo>
                  <a:pt x="227" y="518"/>
                  <a:pt x="220" y="499"/>
                  <a:pt x="227" y="483"/>
                </a:cubicBezTo>
                <a:lnTo>
                  <a:pt x="277" y="372"/>
                </a:lnTo>
                <a:lnTo>
                  <a:pt x="181" y="343"/>
                </a:lnTo>
                <a:cubicBezTo>
                  <a:pt x="148" y="334"/>
                  <a:pt x="129" y="300"/>
                  <a:pt x="137" y="267"/>
                </a:cubicBezTo>
                <a:lnTo>
                  <a:pt x="160" y="176"/>
                </a:lnTo>
                <a:lnTo>
                  <a:pt x="124" y="176"/>
                </a:lnTo>
                <a:close/>
                <a:moveTo>
                  <a:pt x="116" y="357"/>
                </a:moveTo>
                <a:cubicBezTo>
                  <a:pt x="129" y="372"/>
                  <a:pt x="146" y="383"/>
                  <a:pt x="167" y="389"/>
                </a:cubicBezTo>
                <a:lnTo>
                  <a:pt x="172" y="391"/>
                </a:lnTo>
                <a:lnTo>
                  <a:pt x="165" y="410"/>
                </a:lnTo>
                <a:cubicBezTo>
                  <a:pt x="159" y="426"/>
                  <a:pt x="149" y="441"/>
                  <a:pt x="135" y="452"/>
                </a:cubicBezTo>
                <a:lnTo>
                  <a:pt x="53" y="520"/>
                </a:lnTo>
                <a:cubicBezTo>
                  <a:pt x="39" y="531"/>
                  <a:pt x="19" y="529"/>
                  <a:pt x="8" y="516"/>
                </a:cubicBezTo>
                <a:cubicBezTo>
                  <a:pt x="-3" y="502"/>
                  <a:pt x="-1" y="482"/>
                  <a:pt x="12" y="471"/>
                </a:cubicBezTo>
                <a:lnTo>
                  <a:pt x="95" y="403"/>
                </a:lnTo>
                <a:cubicBezTo>
                  <a:pt x="99" y="399"/>
                  <a:pt x="102" y="394"/>
                  <a:pt x="104" y="389"/>
                </a:cubicBezTo>
                <a:lnTo>
                  <a:pt x="116" y="357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25" name="p3-t"/>
          <p:cNvSpPr txBox="1"/>
          <p:nvPr/>
        </p:nvSpPr>
        <p:spPr>
          <a:xfrm>
            <a:off x="1143000" y="4445000"/>
            <a:ext cx="1752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第 7–10 课</a:t>
            </a:r>
            <a:endParaRPr lang="en-US" sz="1600"/>
          </a:p>
          <a:p>
            <a:pPr algn="l">
              <a:lnSpc>
                <a:spcPct val="13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马拉松：做作品</a:t>
            </a:r>
            <a:endParaRPr lang="en-US" sz="1600"/>
          </a:p>
        </p:txBody>
      </p:sp>
      <p:sp>
        <p:nvSpPr>
          <p:cNvPr id="26" name="l7"/>
          <p:cNvSpPr/>
          <p:nvPr/>
        </p:nvSpPr>
        <p:spPr>
          <a:xfrm>
            <a:off x="3200400" y="4394200"/>
            <a:ext cx="203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27" name="l7-t"/>
          <p:cNvSpPr txBox="1"/>
          <p:nvPr/>
        </p:nvSpPr>
        <p:spPr>
          <a:xfrm>
            <a:off x="3327400" y="43942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7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为我的作品立项</a:t>
            </a:r>
            <a:endParaRPr lang="en-US" sz="1600"/>
          </a:p>
        </p:txBody>
      </p:sp>
      <p:sp>
        <p:nvSpPr>
          <p:cNvPr id="28" name="l8"/>
          <p:cNvSpPr/>
          <p:nvPr/>
        </p:nvSpPr>
        <p:spPr>
          <a:xfrm>
            <a:off x="5334000" y="4394200"/>
            <a:ext cx="203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29" name="l8-t"/>
          <p:cNvSpPr txBox="1"/>
          <p:nvPr/>
        </p:nvSpPr>
        <p:spPr>
          <a:xfrm>
            <a:off x="5461000" y="43942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8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马拉松 · 第一棒</a:t>
            </a:r>
            <a:endParaRPr lang="en-US" sz="1600"/>
          </a:p>
        </p:txBody>
      </p:sp>
      <p:sp>
        <p:nvSpPr>
          <p:cNvPr id="30" name="l9"/>
          <p:cNvSpPr/>
          <p:nvPr/>
        </p:nvSpPr>
        <p:spPr>
          <a:xfrm>
            <a:off x="7467600" y="4394200"/>
            <a:ext cx="203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31" name="l9-t"/>
          <p:cNvSpPr txBox="1"/>
          <p:nvPr/>
        </p:nvSpPr>
        <p:spPr>
          <a:xfrm>
            <a:off x="7594600" y="43942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9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马拉松 · 第二棒（请外援）</a:t>
            </a:r>
            <a:endParaRPr lang="en-US" sz="1600"/>
          </a:p>
        </p:txBody>
      </p:sp>
      <p:sp>
        <p:nvSpPr>
          <p:cNvPr id="32" name="l10"/>
          <p:cNvSpPr/>
          <p:nvPr/>
        </p:nvSpPr>
        <p:spPr>
          <a:xfrm>
            <a:off x="9601200" y="4394200"/>
            <a:ext cx="20828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</p:sp>
      <p:sp>
        <p:nvSpPr>
          <p:cNvPr id="33" name="l10-t"/>
          <p:cNvSpPr txBox="1"/>
          <p:nvPr/>
        </p:nvSpPr>
        <p:spPr>
          <a:xfrm>
            <a:off x="9728200" y="4394200"/>
            <a:ext cx="1828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10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　我的作品，我来讲</a:t>
            </a:r>
            <a:endParaRPr lang="en-US" sz="1600"/>
          </a:p>
        </p:txBody>
      </p:sp>
      <p:sp>
        <p:nvSpPr>
          <p:cNvPr id="34" name="note"/>
          <p:cNvSpPr txBox="1"/>
          <p:nvPr/>
        </p:nvSpPr>
        <p:spPr>
          <a:xfrm>
            <a:off x="508000" y="56642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记住两个节点就行：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第 7 课立项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（开始做自己定的题）、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第 10 课路演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（讲给全场听）。</a:t>
            </a:r>
            <a:endParaRPr lang="en-US" sz="1600"/>
          </a:p>
        </p:txBody>
      </p:sp>
      <p:sp>
        <p:nvSpPr>
          <p:cNvPr id="35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36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08 / 13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项目全貌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一个项目的完整旅程：八步</a:t>
            </a:r>
            <a:endParaRPr lang="en-US" sz="3800"/>
          </a:p>
        </p:txBody>
      </p:sp>
      <p:sp>
        <p:nvSpPr>
          <p:cNvPr id="5" name="s1"/>
          <p:cNvSpPr/>
          <p:nvPr/>
        </p:nvSpPr>
        <p:spPr>
          <a:xfrm>
            <a:off x="508000" y="19050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s1-i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25781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7" name="s1-t"/>
          <p:cNvSpPr txBox="1"/>
          <p:nvPr/>
        </p:nvSpPr>
        <p:spPr>
          <a:xfrm>
            <a:off x="711200" y="19050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01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选题</a:t>
            </a:r>
            <a:endParaRPr lang="en-US" sz="1600"/>
          </a:p>
        </p:txBody>
      </p:sp>
      <p:sp>
        <p:nvSpPr>
          <p:cNvPr id="8" name="s2"/>
          <p:cNvSpPr/>
          <p:nvPr/>
        </p:nvSpPr>
        <p:spPr>
          <a:xfrm>
            <a:off x="3390900" y="19050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9" name="s2-i"/>
          <p:cNvSpPr/>
          <p:nvPr>
            <p:extLst>
              <p:ext uri="{F5677B7D-0D2A-4D9B-9A5C-6D8D7D0E5A5D}">
                <pptd:icon encoding="base64url">eyJpY29uTmFtZSI6ImZhczp1c2VycyJ9</pptd:icon>
              </p:ext>
            </p:extLst>
          </p:nvPr>
        </p:nvSpPr>
        <p:spPr>
          <a:xfrm>
            <a:off x="54610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0" name="s2-t"/>
          <p:cNvSpPr txBox="1"/>
          <p:nvPr/>
        </p:nvSpPr>
        <p:spPr>
          <a:xfrm>
            <a:off x="3594100" y="19050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02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找用户</a:t>
            </a:r>
            <a:endParaRPr lang="en-US" sz="1600"/>
          </a:p>
        </p:txBody>
      </p:sp>
      <p:sp>
        <p:nvSpPr>
          <p:cNvPr id="11" name="s3"/>
          <p:cNvSpPr/>
          <p:nvPr/>
        </p:nvSpPr>
        <p:spPr>
          <a:xfrm>
            <a:off x="6273800" y="19050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2" name="s3-i"/>
          <p:cNvSpPr/>
          <p:nvPr>
            <p:extLst>
              <p:ext uri="{F5677B7D-0D2A-4D9B-9A5C-6D8D7D0E5A5D}">
                <pptd:icon encoding="base64url">eyJpY29uTmFtZSI6ImZhczpzY3Jld2RyaXZlci13cmVuY2gifQ</pptd:icon>
              </p:ext>
            </p:extLst>
          </p:nvPr>
        </p:nvSpPr>
        <p:spPr>
          <a:xfrm>
            <a:off x="83439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3" name="s3-t"/>
          <p:cNvSpPr txBox="1"/>
          <p:nvPr/>
        </p:nvSpPr>
        <p:spPr>
          <a:xfrm>
            <a:off x="6477000" y="19050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03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做原型</a:t>
            </a:r>
            <a:endParaRPr lang="en-US" sz="1600"/>
          </a:p>
        </p:txBody>
      </p:sp>
      <p:sp>
        <p:nvSpPr>
          <p:cNvPr id="14" name="s4"/>
          <p:cNvSpPr/>
          <p:nvPr/>
        </p:nvSpPr>
        <p:spPr>
          <a:xfrm>
            <a:off x="9156700" y="19050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5" name="s4-i"/>
          <p:cNvSpPr/>
          <p:nvPr>
            <p:extLst>
              <p:ext uri="{F5677B7D-0D2A-4D9B-9A5C-6D8D7D0E5A5D}">
                <pptd:icon encoding="base64url">eyJpY29uTmFtZSI6ImZhczpjb2RlIn0</pptd:icon>
              </p:ext>
            </p:extLst>
          </p:nvPr>
        </p:nvSpPr>
        <p:spPr>
          <a:xfrm>
            <a:off x="112268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6" name="s4-t"/>
          <p:cNvSpPr txBox="1"/>
          <p:nvPr/>
        </p:nvSpPr>
        <p:spPr>
          <a:xfrm>
            <a:off x="9359900" y="19050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04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写代码</a:t>
            </a:r>
            <a:endParaRPr lang="en-US" sz="1600"/>
          </a:p>
        </p:txBody>
      </p:sp>
      <p:sp>
        <p:nvSpPr>
          <p:cNvPr id="17" name="s5"/>
          <p:cNvSpPr/>
          <p:nvPr/>
        </p:nvSpPr>
        <p:spPr>
          <a:xfrm>
            <a:off x="508000" y="32258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8" name="s5-i"/>
          <p:cNvSpPr/>
          <p:nvPr>
            <p:extLst>
              <p:ext uri="{F5677B7D-0D2A-4D9B-9A5C-6D8D7D0E5A5D}">
                <pptd:icon encoding="base64url">eyJpY29uTmFtZSI6ImZhczpzY2lzc29ycyJ9</pptd:icon>
              </p:ext>
            </p:extLst>
          </p:nvPr>
        </p:nvSpPr>
        <p:spPr>
          <a:xfrm>
            <a:off x="2578100" y="340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2" y="256"/>
                </a:moveTo>
                <a:lnTo>
                  <a:pt x="153" y="296"/>
                </a:lnTo>
                <a:cubicBezTo>
                  <a:pt x="140" y="291"/>
                  <a:pt x="126" y="288"/>
                  <a:pt x="112" y="288"/>
                </a:cubicBezTo>
                <a:cubicBezTo>
                  <a:pt x="50" y="288"/>
                  <a:pt x="0" y="338"/>
                  <a:pt x="0" y="400"/>
                </a:cubicBezTo>
                <a:cubicBezTo>
                  <a:pt x="0" y="462"/>
                  <a:pt x="50" y="512"/>
                  <a:pt x="112" y="512"/>
                </a:cubicBezTo>
                <a:cubicBezTo>
                  <a:pt x="174" y="512"/>
                  <a:pt x="224" y="462"/>
                  <a:pt x="224" y="400"/>
                </a:cubicBezTo>
                <a:cubicBezTo>
                  <a:pt x="224" y="386"/>
                  <a:pt x="221" y="372"/>
                  <a:pt x="217" y="360"/>
                </a:cubicBezTo>
                <a:lnTo>
                  <a:pt x="499" y="77"/>
                </a:lnTo>
                <a:cubicBezTo>
                  <a:pt x="506" y="70"/>
                  <a:pt x="506" y="58"/>
                  <a:pt x="499" y="51"/>
                </a:cubicBezTo>
                <a:cubicBezTo>
                  <a:pt x="471" y="23"/>
                  <a:pt x="425" y="23"/>
                  <a:pt x="397" y="51"/>
                </a:cubicBezTo>
                <a:lnTo>
                  <a:pt x="256" y="192"/>
                </a:lnTo>
                <a:lnTo>
                  <a:pt x="217" y="153"/>
                </a:lnTo>
                <a:cubicBezTo>
                  <a:pt x="221" y="140"/>
                  <a:pt x="224" y="126"/>
                  <a:pt x="224" y="112"/>
                </a:cubicBezTo>
                <a:cubicBezTo>
                  <a:pt x="224" y="50"/>
                  <a:pt x="174" y="0"/>
                  <a:pt x="112" y="0"/>
                </a:cubicBezTo>
                <a:cubicBezTo>
                  <a:pt x="50" y="0"/>
                  <a:pt x="0" y="50"/>
                  <a:pt x="0" y="112"/>
                </a:cubicBezTo>
                <a:cubicBezTo>
                  <a:pt x="0" y="174"/>
                  <a:pt x="50" y="224"/>
                  <a:pt x="112" y="224"/>
                </a:cubicBezTo>
                <a:cubicBezTo>
                  <a:pt x="126" y="224"/>
                  <a:pt x="140" y="221"/>
                  <a:pt x="153" y="217"/>
                </a:cubicBezTo>
                <a:lnTo>
                  <a:pt x="192" y="256"/>
                </a:lnTo>
                <a:close/>
                <a:moveTo>
                  <a:pt x="64" y="112"/>
                </a:moveTo>
                <a:cubicBezTo>
                  <a:pt x="64" y="85"/>
                  <a:pt x="85" y="64"/>
                  <a:pt x="112" y="64"/>
                </a:cubicBezTo>
                <a:cubicBezTo>
                  <a:pt x="139" y="64"/>
                  <a:pt x="160" y="85"/>
                  <a:pt x="160" y="112"/>
                </a:cubicBezTo>
                <a:cubicBezTo>
                  <a:pt x="160" y="139"/>
                  <a:pt x="139" y="160"/>
                  <a:pt x="112" y="160"/>
                </a:cubicBezTo>
                <a:cubicBezTo>
                  <a:pt x="85" y="160"/>
                  <a:pt x="64" y="139"/>
                  <a:pt x="64" y="112"/>
                </a:cubicBezTo>
                <a:close/>
                <a:moveTo>
                  <a:pt x="112" y="352"/>
                </a:moveTo>
                <a:cubicBezTo>
                  <a:pt x="139" y="352"/>
                  <a:pt x="160" y="373"/>
                  <a:pt x="160" y="400"/>
                </a:cubicBezTo>
                <a:cubicBezTo>
                  <a:pt x="160" y="427"/>
                  <a:pt x="139" y="448"/>
                  <a:pt x="112" y="448"/>
                </a:cubicBezTo>
                <a:cubicBezTo>
                  <a:pt x="85" y="448"/>
                  <a:pt x="64" y="427"/>
                  <a:pt x="64" y="400"/>
                </a:cubicBezTo>
                <a:cubicBezTo>
                  <a:pt x="64" y="373"/>
                  <a:pt x="85" y="352"/>
                  <a:pt x="112" y="352"/>
                </a:cubicBezTo>
                <a:close/>
                <a:moveTo>
                  <a:pt x="290" y="354"/>
                </a:moveTo>
                <a:lnTo>
                  <a:pt x="397" y="461"/>
                </a:lnTo>
                <a:cubicBezTo>
                  <a:pt x="425" y="489"/>
                  <a:pt x="471" y="489"/>
                  <a:pt x="499" y="461"/>
                </a:cubicBezTo>
                <a:cubicBezTo>
                  <a:pt x="506" y="454"/>
                  <a:pt x="506" y="442"/>
                  <a:pt x="499" y="435"/>
                </a:cubicBezTo>
                <a:lnTo>
                  <a:pt x="354" y="290"/>
                </a:lnTo>
                <a:lnTo>
                  <a:pt x="290" y="354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9" name="s5-t"/>
          <p:cNvSpPr txBox="1"/>
          <p:nvPr/>
        </p:nvSpPr>
        <p:spPr>
          <a:xfrm>
            <a:off x="711200" y="32258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05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取舍</a:t>
            </a:r>
            <a:endParaRPr lang="en-US" sz="1600"/>
          </a:p>
        </p:txBody>
      </p:sp>
      <p:sp>
        <p:nvSpPr>
          <p:cNvPr id="20" name="s6"/>
          <p:cNvSpPr/>
          <p:nvPr/>
        </p:nvSpPr>
        <p:spPr>
          <a:xfrm>
            <a:off x="3390900" y="32258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1" name="s6-i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5461000" y="340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22" name="s6-t"/>
          <p:cNvSpPr txBox="1"/>
          <p:nvPr/>
        </p:nvSpPr>
        <p:spPr>
          <a:xfrm>
            <a:off x="3594100" y="32258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06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验证</a:t>
            </a:r>
            <a:endParaRPr lang="en-US" sz="1600"/>
          </a:p>
        </p:txBody>
      </p:sp>
      <p:sp>
        <p:nvSpPr>
          <p:cNvPr id="23" name="s7"/>
          <p:cNvSpPr/>
          <p:nvPr/>
        </p:nvSpPr>
        <p:spPr>
          <a:xfrm>
            <a:off x="6273800" y="32258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4" name="s7-i"/>
          <p:cNvSpPr/>
          <p:nvPr>
            <p:extLst>
              <p:ext uri="{F5677B7D-0D2A-4D9B-9A5C-6D8D7D0E5A5D}">
                <pptd:icon encoding="base64url">eyJpY29uTmFtZSI6ImZhczpwZW4ifQ</pptd:icon>
              </p:ext>
            </p:extLst>
          </p:nvPr>
        </p:nvSpPr>
        <p:spPr>
          <a:xfrm>
            <a:off x="8343900" y="340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3" y="21"/>
                </a:moveTo>
                <a:lnTo>
                  <a:pt x="308" y="66"/>
                </a:lnTo>
                <a:lnTo>
                  <a:pt x="446" y="204"/>
                </a:lnTo>
                <a:lnTo>
                  <a:pt x="491" y="159"/>
                </a:lnTo>
                <a:cubicBezTo>
                  <a:pt x="504" y="146"/>
                  <a:pt x="512" y="127"/>
                  <a:pt x="512" y="108"/>
                </a:cubicBezTo>
                <a:cubicBezTo>
                  <a:pt x="512" y="89"/>
                  <a:pt x="504" y="70"/>
                  <a:pt x="491" y="57"/>
                </a:cubicBezTo>
                <a:lnTo>
                  <a:pt x="455" y="21"/>
                </a:lnTo>
                <a:cubicBezTo>
                  <a:pt x="442" y="8"/>
                  <a:pt x="423" y="0"/>
                  <a:pt x="404" y="0"/>
                </a:cubicBezTo>
                <a:cubicBezTo>
                  <a:pt x="385" y="0"/>
                  <a:pt x="366" y="8"/>
                  <a:pt x="353" y="21"/>
                </a:cubicBezTo>
                <a:close/>
                <a:moveTo>
                  <a:pt x="274" y="100"/>
                </a:moveTo>
                <a:lnTo>
                  <a:pt x="59" y="315"/>
                </a:lnTo>
                <a:cubicBezTo>
                  <a:pt x="48" y="326"/>
                  <a:pt x="40" y="339"/>
                  <a:pt x="36" y="354"/>
                </a:cubicBezTo>
                <a:lnTo>
                  <a:pt x="1" y="482"/>
                </a:lnTo>
                <a:cubicBezTo>
                  <a:pt x="-1" y="490"/>
                  <a:pt x="1" y="499"/>
                  <a:pt x="7" y="505"/>
                </a:cubicBezTo>
                <a:cubicBezTo>
                  <a:pt x="13" y="511"/>
                  <a:pt x="22" y="514"/>
                  <a:pt x="31" y="511"/>
                </a:cubicBezTo>
                <a:lnTo>
                  <a:pt x="158" y="476"/>
                </a:lnTo>
                <a:cubicBezTo>
                  <a:pt x="173" y="472"/>
                  <a:pt x="186" y="464"/>
                  <a:pt x="197" y="453"/>
                </a:cubicBezTo>
                <a:lnTo>
                  <a:pt x="412" y="238"/>
                </a:lnTo>
                <a:lnTo>
                  <a:pt x="274" y="100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25" name="s7-t"/>
          <p:cNvSpPr txBox="1"/>
          <p:nvPr/>
        </p:nvSpPr>
        <p:spPr>
          <a:xfrm>
            <a:off x="6477000" y="32258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07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记录</a:t>
            </a:r>
            <a:endParaRPr lang="en-US" sz="1600"/>
          </a:p>
        </p:txBody>
      </p:sp>
      <p:sp>
        <p:nvSpPr>
          <p:cNvPr id="26" name="s8"/>
          <p:cNvSpPr/>
          <p:nvPr/>
        </p:nvSpPr>
        <p:spPr>
          <a:xfrm>
            <a:off x="9156700" y="3225800"/>
            <a:ext cx="2603500" cy="106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7" name="s8-i"/>
          <p:cNvSpPr/>
          <p:nvPr>
            <p:extLst>
              <p:ext uri="{F5677B7D-0D2A-4D9B-9A5C-6D8D7D0E5A5D}">
                <pptd:icon encoding="base64url">eyJpY29uTmFtZSI6ImZhczpzdG9yZSJ9</pptd:icon>
              </p:ext>
            </p:extLst>
          </p:nvPr>
        </p:nvSpPr>
        <p:spPr>
          <a:xfrm>
            <a:off x="11226800" y="340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1" y="72"/>
                </a:moveTo>
                <a:cubicBezTo>
                  <a:pt x="38" y="48"/>
                  <a:pt x="60" y="32"/>
                  <a:pt x="84" y="32"/>
                </a:cubicBezTo>
                <a:lnTo>
                  <a:pt x="428" y="32"/>
                </a:lnTo>
                <a:cubicBezTo>
                  <a:pt x="453" y="32"/>
                  <a:pt x="475" y="48"/>
                  <a:pt x="482" y="72"/>
                </a:cubicBezTo>
                <a:lnTo>
                  <a:pt x="506" y="153"/>
                </a:lnTo>
                <a:cubicBezTo>
                  <a:pt x="518" y="196"/>
                  <a:pt x="485" y="240"/>
                  <a:pt x="440" y="240"/>
                </a:cubicBezTo>
                <a:cubicBezTo>
                  <a:pt x="414" y="240"/>
                  <a:pt x="391" y="225"/>
                  <a:pt x="379" y="203"/>
                </a:cubicBezTo>
                <a:cubicBezTo>
                  <a:pt x="368" y="225"/>
                  <a:pt x="345" y="240"/>
                  <a:pt x="318" y="240"/>
                </a:cubicBezTo>
                <a:cubicBezTo>
                  <a:pt x="291" y="240"/>
                  <a:pt x="268" y="225"/>
                  <a:pt x="257" y="203"/>
                </a:cubicBezTo>
                <a:cubicBezTo>
                  <a:pt x="245" y="225"/>
                  <a:pt x="222" y="240"/>
                  <a:pt x="195" y="240"/>
                </a:cubicBezTo>
                <a:cubicBezTo>
                  <a:pt x="168" y="240"/>
                  <a:pt x="145" y="225"/>
                  <a:pt x="134" y="203"/>
                </a:cubicBezTo>
                <a:cubicBezTo>
                  <a:pt x="122" y="225"/>
                  <a:pt x="99" y="240"/>
                  <a:pt x="73" y="240"/>
                </a:cubicBezTo>
                <a:cubicBezTo>
                  <a:pt x="27" y="240"/>
                  <a:pt x="-5" y="196"/>
                  <a:pt x="7" y="153"/>
                </a:cubicBezTo>
                <a:lnTo>
                  <a:pt x="31" y="72"/>
                </a:lnTo>
                <a:close/>
                <a:moveTo>
                  <a:pt x="96" y="352"/>
                </a:moveTo>
                <a:lnTo>
                  <a:pt x="416" y="352"/>
                </a:lnTo>
                <a:lnTo>
                  <a:pt x="416" y="286"/>
                </a:lnTo>
                <a:cubicBezTo>
                  <a:pt x="424" y="287"/>
                  <a:pt x="432" y="288"/>
                  <a:pt x="440" y="288"/>
                </a:cubicBezTo>
                <a:cubicBezTo>
                  <a:pt x="454" y="288"/>
                  <a:pt x="468" y="285"/>
                  <a:pt x="480" y="281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281"/>
                </a:lnTo>
                <a:cubicBezTo>
                  <a:pt x="45" y="285"/>
                  <a:pt x="58" y="288"/>
                  <a:pt x="73" y="288"/>
                </a:cubicBezTo>
                <a:cubicBezTo>
                  <a:pt x="81" y="288"/>
                  <a:pt x="89" y="287"/>
                  <a:pt x="96" y="286"/>
                </a:cubicBezTo>
                <a:lnTo>
                  <a:pt x="96" y="352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28" name="s8-t"/>
          <p:cNvSpPr txBox="1"/>
          <p:nvPr/>
        </p:nvSpPr>
        <p:spPr>
          <a:xfrm>
            <a:off x="9359900" y="3225800"/>
            <a:ext cx="177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500" b="1">
                <a:solidFill>
                  <a:srgbClr val="9CA3AF"/>
                </a:solidFill>
                <a:latin typeface="MiSans"/>
                <a:ea typeface="MiSans"/>
              </a:rPr>
              <a:t>08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讲出去</a:t>
            </a:r>
            <a:endParaRPr lang="en-US" sz="1600"/>
          </a:p>
        </p:txBody>
      </p:sp>
      <p:sp>
        <p:nvSpPr>
          <p:cNvPr id="29" name="bar"/>
          <p:cNvSpPr/>
          <p:nvPr/>
        </p:nvSpPr>
        <p:spPr>
          <a:xfrm>
            <a:off x="762000" y="4826000"/>
            <a:ext cx="10668000" cy="7112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30" name="bar-t"/>
          <p:cNvSpPr txBox="1"/>
          <p:nvPr/>
        </p:nvSpPr>
        <p:spPr>
          <a:xfrm>
            <a:off x="1117600" y="4826000"/>
            <a:ext cx="9956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大多数课只教你第 ④ 步。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这门课：八步，每一步 AI 都是你的搭档。</a:t>
            </a:r>
            <a:endParaRPr lang="en-US" sz="1800"/>
          </a:p>
        </p:txBody>
      </p:sp>
      <p:sp>
        <p:nvSpPr>
          <p:cNvPr id="31" name="map"/>
          <p:cNvSpPr txBox="1"/>
          <p:nvPr/>
        </p:nvSpPr>
        <p:spPr>
          <a:xfrm>
            <a:off x="508000" y="57404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每跑通一步，在日志里点亮一格——进度条，握在你自己手里。</a:t>
            </a:r>
            <a:endParaRPr lang="en-US" sz="1600"/>
          </a:p>
        </p:txBody>
      </p:sp>
      <p:sp>
        <p:nvSpPr>
          <p:cNvPr id="32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33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09 / 13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怎么玩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两样本事，陪你十次课</a:t>
            </a:r>
            <a:endParaRPr lang="en-US" sz="3800"/>
          </a:p>
        </p:txBody>
      </p:sp>
      <p:sp>
        <p:nvSpPr>
          <p:cNvPr id="5" name="k1"/>
          <p:cNvSpPr/>
          <p:nvPr/>
        </p:nvSpPr>
        <p:spPr>
          <a:xfrm>
            <a:off x="508000" y="1854200"/>
            <a:ext cx="5461000" cy="375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k1-tag"/>
          <p:cNvSpPr/>
          <p:nvPr/>
        </p:nvSpPr>
        <p:spPr>
          <a:xfrm>
            <a:off x="508000" y="1854200"/>
            <a:ext cx="54610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k1-i"/>
          <p:cNvSpPr/>
          <p:nvPr>
            <p:extLst>
              <p:ext uri="{F5677B7D-0D2A-4D9B-9A5C-6D8D7D0E5A5D}">
                <pptd:icon encoding="base64url">eyJpY29uTmFtZSI6ImZhczppZC1jYXJkIn0</pptd:icon>
              </p:ext>
            </p:extLst>
          </p:nvPr>
        </p:nvSpPr>
        <p:spPr>
          <a:xfrm>
            <a:off x="4953000" y="2184400"/>
            <a:ext cx="660400" cy="660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0" y="96"/>
                </a:lnTo>
                <a:close/>
                <a:moveTo>
                  <a:pt x="0" y="144"/>
                </a:moveTo>
                <a:lnTo>
                  <a:pt x="576" y="144"/>
                </a:lnTo>
                <a:lnTo>
                  <a:pt x="576" y="416"/>
                </a:lnTo>
                <a:cubicBezTo>
                  <a:pt x="576" y="451"/>
                  <a:pt x="547" y="480"/>
                  <a:pt x="512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44"/>
                </a:lnTo>
                <a:close/>
                <a:moveTo>
                  <a:pt x="247" y="416"/>
                </a:moveTo>
                <a:cubicBezTo>
                  <a:pt x="268" y="416"/>
                  <a:pt x="283" y="397"/>
                  <a:pt x="270" y="381"/>
                </a:cubicBezTo>
                <a:cubicBezTo>
                  <a:pt x="255" y="363"/>
                  <a:pt x="233" y="352"/>
                  <a:pt x="208" y="352"/>
                </a:cubicBezTo>
                <a:lnTo>
                  <a:pt x="144" y="352"/>
                </a:lnTo>
                <a:cubicBezTo>
                  <a:pt x="119" y="352"/>
                  <a:pt x="97" y="363"/>
                  <a:pt x="82" y="381"/>
                </a:cubicBezTo>
                <a:cubicBezTo>
                  <a:pt x="69" y="397"/>
                  <a:pt x="85" y="416"/>
                  <a:pt x="105" y="416"/>
                </a:cubicBezTo>
                <a:lnTo>
                  <a:pt x="247" y="416"/>
                </a:lnTo>
                <a:close/>
                <a:moveTo>
                  <a:pt x="176" y="312"/>
                </a:moveTo>
                <a:cubicBezTo>
                  <a:pt x="207" y="312"/>
                  <a:pt x="232" y="287"/>
                  <a:pt x="232" y="256"/>
                </a:cubicBezTo>
                <a:cubicBezTo>
                  <a:pt x="232" y="225"/>
                  <a:pt x="207" y="200"/>
                  <a:pt x="176" y="200"/>
                </a:cubicBezTo>
                <a:cubicBezTo>
                  <a:pt x="145" y="200"/>
                  <a:pt x="120" y="225"/>
                  <a:pt x="120" y="256"/>
                </a:cubicBezTo>
                <a:cubicBezTo>
                  <a:pt x="120" y="287"/>
                  <a:pt x="145" y="312"/>
                  <a:pt x="176" y="312"/>
                </a:cubicBezTo>
                <a:close/>
                <a:moveTo>
                  <a:pt x="360" y="208"/>
                </a:moveTo>
                <a:cubicBezTo>
                  <a:pt x="347" y="208"/>
                  <a:pt x="336" y="219"/>
                  <a:pt x="336" y="232"/>
                </a:cubicBezTo>
                <a:cubicBezTo>
                  <a:pt x="336" y="245"/>
                  <a:pt x="347" y="256"/>
                  <a:pt x="360" y="256"/>
                </a:cubicBezTo>
                <a:lnTo>
                  <a:pt x="472" y="256"/>
                </a:lnTo>
                <a:cubicBezTo>
                  <a:pt x="485" y="256"/>
                  <a:pt x="496" y="245"/>
                  <a:pt x="496" y="232"/>
                </a:cubicBezTo>
                <a:cubicBezTo>
                  <a:pt x="496" y="219"/>
                  <a:pt x="485" y="208"/>
                  <a:pt x="472" y="208"/>
                </a:cubicBezTo>
                <a:lnTo>
                  <a:pt x="360" y="208"/>
                </a:lnTo>
                <a:close/>
                <a:moveTo>
                  <a:pt x="360" y="304"/>
                </a:moveTo>
                <a:cubicBezTo>
                  <a:pt x="347" y="304"/>
                  <a:pt x="336" y="315"/>
                  <a:pt x="336" y="328"/>
                </a:cubicBezTo>
                <a:cubicBezTo>
                  <a:pt x="336" y="341"/>
                  <a:pt x="347" y="352"/>
                  <a:pt x="360" y="352"/>
                </a:cubicBezTo>
                <a:lnTo>
                  <a:pt x="472" y="352"/>
                </a:lnTo>
                <a:cubicBezTo>
                  <a:pt x="485" y="352"/>
                  <a:pt x="496" y="341"/>
                  <a:pt x="496" y="328"/>
                </a:cubicBezTo>
                <a:cubicBezTo>
                  <a:pt x="496" y="315"/>
                  <a:pt x="485" y="304"/>
                  <a:pt x="472" y="304"/>
                </a:cubicBezTo>
                <a:lnTo>
                  <a:pt x="360" y="304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8" name="k1-t"/>
          <p:cNvSpPr txBox="1"/>
          <p:nvPr/>
        </p:nvSpPr>
        <p:spPr>
          <a:xfrm>
            <a:off x="838200" y="2108200"/>
            <a:ext cx="3810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六样能力</a:t>
            </a:r>
            <a:endParaRPr lang="en-US" sz="1600"/>
          </a:p>
          <a:p>
            <a:pPr algn="l">
              <a:lnSpc>
                <a:spcPct val="19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会出题 · 会找用户 · 会做出来</a:t>
            </a:r>
            <a:endParaRPr lang="en-US" sz="1600"/>
          </a:p>
          <a:p>
            <a:pPr algn="l">
              <a:lnSpc>
                <a:spcPct val="19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会取舍 · 会判断好坏 · 会讲给别人听</a:t>
            </a:r>
            <a:endParaRPr lang="en-US" sz="1600"/>
          </a:p>
          <a:p>
            <a:pPr algn="l">
              <a:lnSpc>
                <a:spcPct val="190000"/>
              </a:lnSpc>
            </a:pPr>
            <a:r>
              <a:rPr lang="en-US" sz="1500">
                <a:solidFill>
                  <a:srgbClr val="6B7280"/>
                </a:solidFill>
                <a:latin typeface="MiSans"/>
                <a:ea typeface="MiSans"/>
              </a:rPr>
              <a:t>做到了，就在日志里点亮一格。结课时，六样全部点亮。</a:t>
            </a:r>
            <a:endParaRPr lang="en-US" sz="1600"/>
          </a:p>
        </p:txBody>
      </p:sp>
      <p:sp>
        <p:nvSpPr>
          <p:cNvPr id="9" name="k2"/>
          <p:cNvSpPr/>
          <p:nvPr/>
        </p:nvSpPr>
        <p:spPr>
          <a:xfrm>
            <a:off x="6223000" y="1854200"/>
            <a:ext cx="5461000" cy="375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0" name="k2-tag"/>
          <p:cNvSpPr/>
          <p:nvPr/>
        </p:nvSpPr>
        <p:spPr>
          <a:xfrm>
            <a:off x="6223000" y="1854200"/>
            <a:ext cx="54610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k2-i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10668000" y="2184400"/>
            <a:ext cx="660400" cy="660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2" name="k2-t"/>
          <p:cNvSpPr txBox="1"/>
          <p:nvPr/>
        </p:nvSpPr>
        <p:spPr>
          <a:xfrm>
            <a:off x="6553200" y="2108200"/>
            <a:ext cx="3810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一整套 AI 协作句式</a:t>
            </a:r>
            <a:endParaRPr lang="en-US" sz="1600"/>
          </a:p>
          <a:p>
            <a:pPr algn="l">
              <a:lnSpc>
                <a:spcPct val="19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教你怎么跟 AI 把话说清楚——</a:t>
            </a:r>
            <a:endParaRPr lang="en-US" sz="1600"/>
          </a:p>
          <a:p>
            <a:pPr algn="l">
              <a:lnSpc>
                <a:spcPct val="19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怎么说需求、怎么纠错、怎么处理报错</a:t>
            </a:r>
            <a:endParaRPr lang="en-US" sz="1600"/>
          </a:p>
          <a:p>
            <a:pPr algn="l">
              <a:lnSpc>
                <a:spcPct val="190000"/>
              </a:lnSpc>
            </a:pPr>
            <a:r>
              <a:rPr lang="en-US" sz="1500">
                <a:solidFill>
                  <a:srgbClr val="6B7280"/>
                </a:solidFill>
                <a:latin typeface="MiSans"/>
                <a:ea typeface="MiSans"/>
              </a:rPr>
              <a:t>随课解锁：用到哪句，投屏带读哪句，都存在你的学员文档里。结课整套带走，写作业、做课题都能用。</a:t>
            </a:r>
            <a:endParaRPr lang="en-US" sz="1600"/>
          </a:p>
        </p:txBody>
      </p:sp>
      <p:sp>
        <p:nvSpPr>
          <p:cNvPr id="13" name="bottom"/>
          <p:cNvSpPr txBox="1"/>
          <p:nvPr/>
        </p:nvSpPr>
        <p:spPr>
          <a:xfrm>
            <a:off x="508000" y="57912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句式是脚手架，不是替你做主的人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——做什么、做得对不对，永远你说了算。</a:t>
            </a:r>
            <a:endParaRPr lang="en-US" sz="1600"/>
          </a:p>
        </p:txBody>
      </p:sp>
      <p:sp>
        <p:nvSpPr>
          <p:cNvPr id="14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15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10 / 13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结课收获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结课时，你带走什么</a:t>
            </a:r>
            <a:endParaRPr lang="en-US" sz="3800"/>
          </a:p>
        </p:txBody>
      </p:sp>
      <p:sp>
        <p:nvSpPr>
          <p:cNvPr id="5" name="t1"/>
          <p:cNvSpPr/>
          <p:nvPr/>
        </p:nvSpPr>
        <p:spPr>
          <a:xfrm>
            <a:off x="508000" y="1854200"/>
            <a:ext cx="5397500" cy="149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t1-chip"/>
          <p:cNvSpPr/>
          <p:nvPr/>
        </p:nvSpPr>
        <p:spPr>
          <a:xfrm>
            <a:off x="711200" y="23495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t1-i"/>
          <p:cNvSpPr/>
          <p:nvPr>
            <p:extLst>
              <p:ext uri="{F5677B7D-0D2A-4D9B-9A5C-6D8D7D0E5A5D}">
                <pptd:icon encoding="base64url">eyJpY29uTmFtZSI6ImZhczptaWNyb2NoaXAifQ</pptd:icon>
              </p:ext>
            </p:extLst>
          </p:nvPr>
        </p:nvSpPr>
        <p:spPr>
          <a:xfrm>
            <a:off x="825500" y="2463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8" name="t1-t"/>
          <p:cNvSpPr txBox="1"/>
          <p:nvPr/>
        </p:nvSpPr>
        <p:spPr>
          <a:xfrm>
            <a:off x="1422400" y="1854200"/>
            <a:ext cx="41783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一个你的作品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6B7280"/>
                </a:solidFill>
                <a:latin typeface="MiSans"/>
                <a:ea typeface="MiSans"/>
              </a:rPr>
              <a:t>题目你自己定，东西能现场演示——不是作业，是作品</a:t>
            </a:r>
            <a:endParaRPr lang="en-US" sz="1600"/>
          </a:p>
        </p:txBody>
      </p:sp>
      <p:sp>
        <p:nvSpPr>
          <p:cNvPr id="9" name="t2"/>
          <p:cNvSpPr/>
          <p:nvPr/>
        </p:nvSpPr>
        <p:spPr>
          <a:xfrm>
            <a:off x="6286500" y="1854200"/>
            <a:ext cx="5397500" cy="149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0" name="t2-chip"/>
          <p:cNvSpPr/>
          <p:nvPr/>
        </p:nvSpPr>
        <p:spPr>
          <a:xfrm>
            <a:off x="6489700" y="23495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t2-i"/>
          <p:cNvSpPr/>
          <p:nvPr>
            <p:extLst>
              <p:ext uri="{F5677B7D-0D2A-4D9B-9A5C-6D8D7D0E5A5D}">
                <pptd:icon encoding="base64url">eyJpY29uTmFtZSI6ImZhczpib29rLW9wZW4ifQ</pptd:icon>
              </p:ext>
            </p:extLst>
          </p:nvPr>
        </p:nvSpPr>
        <p:spPr>
          <a:xfrm>
            <a:off x="6604000" y="2463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2" name="t2-t"/>
          <p:cNvSpPr txBox="1"/>
          <p:nvPr/>
        </p:nvSpPr>
        <p:spPr>
          <a:xfrm>
            <a:off x="7200900" y="1854200"/>
            <a:ext cx="41783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它的成长史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6B7280"/>
                </a:solidFill>
                <a:latin typeface="MiSans"/>
                <a:ea typeface="MiSans"/>
              </a:rPr>
              <a:t>每课一条 AI 日志，结课汇成项目 README——怎么做出来的，全有记录</a:t>
            </a:r>
            <a:endParaRPr lang="en-US" sz="1600"/>
          </a:p>
        </p:txBody>
      </p:sp>
      <p:sp>
        <p:nvSpPr>
          <p:cNvPr id="13" name="t3"/>
          <p:cNvSpPr/>
          <p:nvPr/>
        </p:nvSpPr>
        <p:spPr>
          <a:xfrm>
            <a:off x="508000" y="3606800"/>
            <a:ext cx="5397500" cy="149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" name="t3-chip"/>
          <p:cNvSpPr/>
          <p:nvPr/>
        </p:nvSpPr>
        <p:spPr>
          <a:xfrm>
            <a:off x="711200" y="41021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t3-i"/>
          <p:cNvSpPr/>
          <p:nvPr>
            <p:extLst>
              <p:ext uri="{F5677B7D-0D2A-4D9B-9A5C-6D8D7D0E5A5D}">
                <pptd:icon encoding="base64url">eyJpY29uTmFtZSI6ImZhczptaWNyb3Bob25lIn0</pptd:icon>
              </p:ext>
            </p:extLst>
          </p:nvPr>
        </p:nvSpPr>
        <p:spPr>
          <a:xfrm>
            <a:off x="825500" y="4216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0"/>
                </a:moveTo>
                <a:cubicBezTo>
                  <a:pt x="139" y="0"/>
                  <a:pt x="96" y="43"/>
                  <a:pt x="96" y="96"/>
                </a:cubicBezTo>
                <a:lnTo>
                  <a:pt x="96" y="224"/>
                </a:lnTo>
                <a:cubicBezTo>
                  <a:pt x="96" y="277"/>
                  <a:pt x="139" y="320"/>
                  <a:pt x="192" y="320"/>
                </a:cubicBezTo>
                <a:cubicBezTo>
                  <a:pt x="245" y="320"/>
                  <a:pt x="288" y="277"/>
                  <a:pt x="288" y="224"/>
                </a:cubicBezTo>
                <a:lnTo>
                  <a:pt x="288" y="96"/>
                </a:lnTo>
                <a:cubicBezTo>
                  <a:pt x="288" y="43"/>
                  <a:pt x="245" y="0"/>
                  <a:pt x="192" y="0"/>
                </a:cubicBezTo>
                <a:close/>
                <a:moveTo>
                  <a:pt x="48" y="184"/>
                </a:moveTo>
                <a:cubicBezTo>
                  <a:pt x="48" y="171"/>
                  <a:pt x="37" y="160"/>
                  <a:pt x="24" y="160"/>
                </a:cubicBezTo>
                <a:cubicBezTo>
                  <a:pt x="11" y="160"/>
                  <a:pt x="0" y="171"/>
                  <a:pt x="0" y="184"/>
                </a:cubicBezTo>
                <a:lnTo>
                  <a:pt x="0" y="224"/>
                </a:lnTo>
                <a:cubicBezTo>
                  <a:pt x="0" y="322"/>
                  <a:pt x="73" y="403"/>
                  <a:pt x="168" y="415"/>
                </a:cubicBezTo>
                <a:lnTo>
                  <a:pt x="168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264" y="512"/>
                </a:lnTo>
                <a:cubicBezTo>
                  <a:pt x="277" y="512"/>
                  <a:pt x="288" y="501"/>
                  <a:pt x="288" y="488"/>
                </a:cubicBezTo>
                <a:cubicBezTo>
                  <a:pt x="288" y="475"/>
                  <a:pt x="277" y="464"/>
                  <a:pt x="264" y="464"/>
                </a:cubicBezTo>
                <a:lnTo>
                  <a:pt x="216" y="464"/>
                </a:lnTo>
                <a:lnTo>
                  <a:pt x="216" y="415"/>
                </a:lnTo>
                <a:cubicBezTo>
                  <a:pt x="311" y="403"/>
                  <a:pt x="384" y="322"/>
                  <a:pt x="384" y="224"/>
                </a:cubicBezTo>
                <a:lnTo>
                  <a:pt x="384" y="184"/>
                </a:lnTo>
                <a:cubicBezTo>
                  <a:pt x="384" y="171"/>
                  <a:pt x="373" y="160"/>
                  <a:pt x="360" y="160"/>
                </a:cubicBezTo>
                <a:cubicBezTo>
                  <a:pt x="347" y="160"/>
                  <a:pt x="336" y="171"/>
                  <a:pt x="336" y="184"/>
                </a:cubicBezTo>
                <a:lnTo>
                  <a:pt x="336" y="224"/>
                </a:lnTo>
                <a:cubicBezTo>
                  <a:pt x="336" y="304"/>
                  <a:pt x="272" y="368"/>
                  <a:pt x="192" y="368"/>
                </a:cubicBezTo>
                <a:cubicBezTo>
                  <a:pt x="113" y="368"/>
                  <a:pt x="48" y="304"/>
                  <a:pt x="48" y="224"/>
                </a:cubicBezTo>
                <a:lnTo>
                  <a:pt x="48" y="184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6" name="t3-t"/>
          <p:cNvSpPr txBox="1"/>
          <p:nvPr/>
        </p:nvSpPr>
        <p:spPr>
          <a:xfrm>
            <a:off x="1422400" y="3606800"/>
            <a:ext cx="41783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一场你的路演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6B7280"/>
                </a:solidFill>
                <a:latin typeface="MiSans"/>
                <a:ea typeface="MiSans"/>
              </a:rPr>
              <a:t>第 10 课，你站上台，把你的作品讲给全场听</a:t>
            </a:r>
            <a:endParaRPr lang="en-US" sz="1600"/>
          </a:p>
        </p:txBody>
      </p:sp>
      <p:sp>
        <p:nvSpPr>
          <p:cNvPr id="17" name="t4"/>
          <p:cNvSpPr/>
          <p:nvPr/>
        </p:nvSpPr>
        <p:spPr>
          <a:xfrm>
            <a:off x="6286500" y="3606800"/>
            <a:ext cx="5397500" cy="149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8" name="t4-chip"/>
          <p:cNvSpPr/>
          <p:nvPr/>
        </p:nvSpPr>
        <p:spPr>
          <a:xfrm>
            <a:off x="6489700" y="4102100"/>
            <a:ext cx="508000" cy="5080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9" name="t4-i"/>
          <p:cNvSpPr/>
          <p:nvPr>
            <p:extLst>
              <p:ext uri="{F5677B7D-0D2A-4D9B-9A5C-6D8D7D0E5A5D}">
                <pptd:icon encoding="base64url">eyJpY29uTmFtZSI6ImZhczppZC1jYXJkIn0</pptd:icon>
              </p:ext>
            </p:extLst>
          </p:nvPr>
        </p:nvSpPr>
        <p:spPr>
          <a:xfrm>
            <a:off x="6604000" y="4216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0" y="96"/>
                </a:lnTo>
                <a:close/>
                <a:moveTo>
                  <a:pt x="0" y="144"/>
                </a:moveTo>
                <a:lnTo>
                  <a:pt x="576" y="144"/>
                </a:lnTo>
                <a:lnTo>
                  <a:pt x="576" y="416"/>
                </a:lnTo>
                <a:cubicBezTo>
                  <a:pt x="576" y="451"/>
                  <a:pt x="547" y="480"/>
                  <a:pt x="512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44"/>
                </a:lnTo>
                <a:close/>
                <a:moveTo>
                  <a:pt x="247" y="416"/>
                </a:moveTo>
                <a:cubicBezTo>
                  <a:pt x="268" y="416"/>
                  <a:pt x="283" y="397"/>
                  <a:pt x="270" y="381"/>
                </a:cubicBezTo>
                <a:cubicBezTo>
                  <a:pt x="255" y="363"/>
                  <a:pt x="233" y="352"/>
                  <a:pt x="208" y="352"/>
                </a:cubicBezTo>
                <a:lnTo>
                  <a:pt x="144" y="352"/>
                </a:lnTo>
                <a:cubicBezTo>
                  <a:pt x="119" y="352"/>
                  <a:pt x="97" y="363"/>
                  <a:pt x="82" y="381"/>
                </a:cubicBezTo>
                <a:cubicBezTo>
                  <a:pt x="69" y="397"/>
                  <a:pt x="85" y="416"/>
                  <a:pt x="105" y="416"/>
                </a:cubicBezTo>
                <a:lnTo>
                  <a:pt x="247" y="416"/>
                </a:lnTo>
                <a:close/>
                <a:moveTo>
                  <a:pt x="176" y="312"/>
                </a:moveTo>
                <a:cubicBezTo>
                  <a:pt x="207" y="312"/>
                  <a:pt x="232" y="287"/>
                  <a:pt x="232" y="256"/>
                </a:cubicBezTo>
                <a:cubicBezTo>
                  <a:pt x="232" y="225"/>
                  <a:pt x="207" y="200"/>
                  <a:pt x="176" y="200"/>
                </a:cubicBezTo>
                <a:cubicBezTo>
                  <a:pt x="145" y="200"/>
                  <a:pt x="120" y="225"/>
                  <a:pt x="120" y="256"/>
                </a:cubicBezTo>
                <a:cubicBezTo>
                  <a:pt x="120" y="287"/>
                  <a:pt x="145" y="312"/>
                  <a:pt x="176" y="312"/>
                </a:cubicBezTo>
                <a:close/>
                <a:moveTo>
                  <a:pt x="360" y="208"/>
                </a:moveTo>
                <a:cubicBezTo>
                  <a:pt x="347" y="208"/>
                  <a:pt x="336" y="219"/>
                  <a:pt x="336" y="232"/>
                </a:cubicBezTo>
                <a:cubicBezTo>
                  <a:pt x="336" y="245"/>
                  <a:pt x="347" y="256"/>
                  <a:pt x="360" y="256"/>
                </a:cubicBezTo>
                <a:lnTo>
                  <a:pt x="472" y="256"/>
                </a:lnTo>
                <a:cubicBezTo>
                  <a:pt x="485" y="256"/>
                  <a:pt x="496" y="245"/>
                  <a:pt x="496" y="232"/>
                </a:cubicBezTo>
                <a:cubicBezTo>
                  <a:pt x="496" y="219"/>
                  <a:pt x="485" y="208"/>
                  <a:pt x="472" y="208"/>
                </a:cubicBezTo>
                <a:lnTo>
                  <a:pt x="360" y="208"/>
                </a:lnTo>
                <a:close/>
                <a:moveTo>
                  <a:pt x="360" y="304"/>
                </a:moveTo>
                <a:cubicBezTo>
                  <a:pt x="347" y="304"/>
                  <a:pt x="336" y="315"/>
                  <a:pt x="336" y="328"/>
                </a:cubicBezTo>
                <a:cubicBezTo>
                  <a:pt x="336" y="341"/>
                  <a:pt x="347" y="352"/>
                  <a:pt x="360" y="352"/>
                </a:cubicBezTo>
                <a:lnTo>
                  <a:pt x="472" y="352"/>
                </a:lnTo>
                <a:cubicBezTo>
                  <a:pt x="485" y="352"/>
                  <a:pt x="496" y="341"/>
                  <a:pt x="496" y="328"/>
                </a:cubicBezTo>
                <a:cubicBezTo>
                  <a:pt x="496" y="315"/>
                  <a:pt x="485" y="304"/>
                  <a:pt x="472" y="304"/>
                </a:cubicBezTo>
                <a:lnTo>
                  <a:pt x="360" y="304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20" name="t4-t"/>
          <p:cNvSpPr txBox="1"/>
          <p:nvPr/>
        </p:nvSpPr>
        <p:spPr>
          <a:xfrm>
            <a:off x="7200900" y="3606800"/>
            <a:ext cx="41783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一套带得走的方法</a:t>
            </a:r>
            <a:endParaRPr lang="en-US" sz="1600"/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6B7280"/>
                </a:solidFill>
                <a:latin typeface="MiSans"/>
                <a:ea typeface="MiSans"/>
              </a:rPr>
              <a:t>六样能力 + 全套协作句式——以后做任何项目都用得上</a:t>
            </a:r>
            <a:endParaRPr lang="en-US" sz="1600"/>
          </a:p>
        </p:txBody>
      </p:sp>
      <p:sp>
        <p:nvSpPr>
          <p:cNvPr id="21" name="bar"/>
          <p:cNvSpPr/>
          <p:nvPr/>
        </p:nvSpPr>
        <p:spPr>
          <a:xfrm>
            <a:off x="762000" y="5435600"/>
            <a:ext cx="10668000" cy="635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22" name="bar-t"/>
          <p:cNvSpPr txBox="1"/>
          <p:nvPr/>
        </p:nvSpPr>
        <p:spPr>
          <a:xfrm>
            <a:off x="1117600" y="5435600"/>
            <a:ext cx="9956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比赛、面试、给爸妈看——成长史，比作品更值钱。</a:t>
            </a:r>
            <a:endParaRPr lang="en-US" sz="1800"/>
          </a:p>
        </p:txBody>
      </p:sp>
      <p:sp>
        <p:nvSpPr>
          <p:cNvPr id="23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2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11 / 13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现在就开始想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你的作品，从这个问题开始</a:t>
            </a:r>
            <a:endParaRPr lang="en-US" sz="3800"/>
          </a:p>
        </p:txBody>
      </p:sp>
      <p:sp>
        <p:nvSpPr>
          <p:cNvPr id="5" name="seed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579120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6" name="q"/>
          <p:cNvSpPr txBox="1"/>
          <p:nvPr/>
        </p:nvSpPr>
        <p:spPr>
          <a:xfrm>
            <a:off x="508000" y="2489200"/>
            <a:ext cx="11176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你身边，有什么小事让你烦？</a:t>
            </a:r>
            <a:endParaRPr lang="en-US" sz="1600"/>
          </a:p>
        </p:txBody>
      </p:sp>
      <p:sp>
        <p:nvSpPr>
          <p:cNvPr id="7" name="q-sub"/>
          <p:cNvSpPr txBox="1"/>
          <p:nvPr/>
        </p:nvSpPr>
        <p:spPr>
          <a:xfrm>
            <a:off x="508000" y="3530600"/>
            <a:ext cx="1117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家里、学校里、路上——天天要人跑腿、天天要人盯着的事。</a:t>
            </a:r>
            <a:endParaRPr lang="en-US" sz="1600"/>
          </a:p>
        </p:txBody>
      </p:sp>
      <p:sp>
        <p:nvSpPr>
          <p:cNvPr id="8" name="ex"/>
          <p:cNvSpPr/>
          <p:nvPr/>
        </p:nvSpPr>
        <p:spPr>
          <a:xfrm>
            <a:off x="2286000" y="4267200"/>
            <a:ext cx="7620000" cy="812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9" name="ex-t"/>
          <p:cNvSpPr txBox="1"/>
          <p:nvPr/>
        </p:nvSpPr>
        <p:spPr>
          <a:xfrm>
            <a:off x="2603500" y="4267200"/>
            <a:ext cx="698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比如：总忘了给花浇水 ｜ 教室灯没人关 ｜ 奶奶吃药老记错时间</a:t>
            </a:r>
            <a:endParaRPr lang="en-US" sz="1600"/>
          </a:p>
        </p:txBody>
      </p:sp>
      <p:sp>
        <p:nvSpPr>
          <p:cNvPr id="10" name="tail"/>
          <p:cNvSpPr txBox="1"/>
          <p:nvPr/>
        </p:nvSpPr>
        <p:spPr>
          <a:xfrm>
            <a:off x="508000" y="55626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6B7280"/>
                </a:solidFill>
                <a:latin typeface="MiSans"/>
                <a:ea typeface="MiSans"/>
              </a:rPr>
              <a:t>不用现在回答。把它记住——第 2 课，我们把它变成你的题目。</a:t>
            </a:r>
            <a:endParaRPr lang="en-US" sz="1600"/>
          </a:p>
        </p:txBody>
      </p:sp>
      <p:sp>
        <p:nvSpPr>
          <p:cNvPr id="11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12 / 13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下一课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下一课：用 AI 点亮你的第一块硬件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508000" y="2286000"/>
            <a:ext cx="6477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70000"/>
              </a:lnSpc>
            </a:pPr>
            <a:r>
              <a:rPr lang="en-US" sz="2100">
                <a:solidFill>
                  <a:srgbClr val="000000"/>
                </a:solidFill>
                <a:latin typeface="MiSans"/>
                <a:ea typeface="MiSans"/>
              </a:rPr>
              <a:t>你说一句话，AI 写指令，板子三分钟动起来。</a:t>
            </a:r>
            <a:endParaRPr lang="en-US" sz="1600"/>
          </a:p>
          <a:p>
            <a:pPr algn="l">
              <a:lnSpc>
                <a:spcPct val="170000"/>
              </a:lnSpc>
            </a:pPr>
            <a:r>
              <a:rPr lang="en-US" sz="2100">
                <a:solidFill>
                  <a:srgbClr val="000000"/>
                </a:solidFill>
                <a:latin typeface="MiSans"/>
                <a:ea typeface="MiSans"/>
              </a:rPr>
              <a:t>下课前，你的名字会亮在屏幕上。</a:t>
            </a:r>
            <a:endParaRPr lang="en-US" sz="1600"/>
          </a:p>
        </p:txBody>
      </p:sp>
      <p:pic>
        <p:nvPicPr>
          <p:cNvPr id="6" name="board"/>
          <p:cNvPicPr/>
          <p:nvPr/>
        </p:nvPicPr>
        <p:blipFill>
          <a:blip r:embed="rIdImage5"/>
          <a:srcRect t="-9729" b="-9729"/>
          <a:stretch>
            <a:fillRect/>
          </a:stretch>
        </p:blipFill>
        <p:spPr>
          <a:xfrm>
            <a:off x="7366000" y="1905000"/>
            <a:ext cx="4318000" cy="2235200"/>
          </a:xfrm>
          <a:prstGeom prst="rect">
            <a:avLst/>
          </a:prstGeom>
          <a:ln>
            <a:noFill/>
          </a:ln>
        </p:spPr>
      </p:pic>
      <p:sp>
        <p:nvSpPr>
          <p:cNvPr id="7" name="board-cap"/>
          <p:cNvSpPr txBox="1"/>
          <p:nvPr/>
        </p:nvSpPr>
        <p:spPr>
          <a:xfrm>
            <a:off x="7366000" y="4191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你的新搭档：Grove Beginner Kit</a:t>
            </a:r>
            <a:endParaRPr lang="en-US" sz="1300"/>
          </a:p>
        </p:txBody>
      </p:sp>
      <p:sp>
        <p:nvSpPr>
          <p:cNvPr id="8" name="bar"/>
          <p:cNvSpPr/>
          <p:nvPr/>
        </p:nvSpPr>
        <p:spPr>
          <a:xfrm>
            <a:off x="762000" y="4826000"/>
            <a:ext cx="10668000" cy="762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9" name="bar-t"/>
          <p:cNvSpPr txBox="1"/>
          <p:nvPr/>
        </p:nvSpPr>
        <p:spPr>
          <a:xfrm>
            <a:off x="1117600" y="4826000"/>
            <a:ext cx="9956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先导课结束——带好你的问题，下次见。</a:t>
            </a:r>
            <a:endParaRPr lang="en-US" sz="2000"/>
          </a:p>
        </p:txBody>
      </p:sp>
      <p:sp>
        <p:nvSpPr>
          <p:cNvPr id="10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11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13 / 13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这样的例子，不止我一个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专业工程师，也是这么干活的</a:t>
            </a:r>
            <a:endParaRPr lang="en-US" sz="3800"/>
          </a:p>
        </p:txBody>
      </p:sp>
      <p:sp>
        <p:nvSpPr>
          <p:cNvPr id="5" name="shot"/>
          <p:cNvSpPr/>
          <p:nvPr/>
        </p:nvSpPr>
        <p:spPr>
          <a:xfrm>
            <a:off x="762000" y="1854200"/>
            <a:ext cx="6604000" cy="355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CA3AF"/>
            </a:solidFill>
          </a:ln>
        </p:spPr>
      </p:sp>
      <p:pic>
        <p:nvPicPr>
          <p:cNvPr id="20" name="brandy_kbd"/>
          <p:cNvPicPr>
            <a:picLocks noChangeAspect="1"/>
          </p:cNvPicPr>
          <p:nvPr/>
        </p:nvPicPr>
        <p:blipFill>
          <a:blip r:embed="rId100"/>
          <a:srcRect t="14100" b="14100"/>
          <a:stretch>
            <a:fillRect/>
          </a:stretch>
        </p:blipFill>
        <p:spPr>
          <a:xfrm>
            <a:off x="762000" y="1854200"/>
            <a:ext cx="6604000" cy="3556000"/>
          </a:xfrm>
          <a:prstGeom prst="rect">
            <a:avLst/>
          </a:prstGeom>
        </p:spPr>
      </p:pic>
      <p:sp>
        <p:nvSpPr>
          <p:cNvPr id="6" name="shot-t"/>
          <p:cNvSpPr txBox="1"/>
          <p:nvPr/>
        </p:nvSpPr>
        <p:spPr>
          <a:xfrm>
            <a:off x="762000" y="1854200"/>
            <a:ext cx="66040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9CA3AF"/>
                </a:solidFill>
                <a:latin typeface="MiSans"/>
                <a:ea typeface="MiSans"/>
              </a:rPr>
              <a:t/>
            </a:r>
            <a:endParaRPr lang="en-US" sz="1600"/>
          </a:p>
        </p:txBody>
      </p:sp>
      <p:sp>
        <p:nvSpPr>
          <p:cNvPr id="7" name="chip1"/>
          <p:cNvSpPr/>
          <p:nvPr/>
        </p:nvSpPr>
        <p:spPr>
          <a:xfrm>
            <a:off x="7772400" y="1854200"/>
            <a:ext cx="3657600" cy="1016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chip1-t"/>
          <p:cNvSpPr txBox="1"/>
          <p:nvPr/>
        </p:nvSpPr>
        <p:spPr>
          <a:xfrm>
            <a:off x="7772400" y="18542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1 个真实的烦恼：输 Prompt 太打断</a:t>
            </a:r>
            <a:endParaRPr lang="en-US" sz="2000"/>
          </a:p>
          <a:p>
            <a:pPr algn="ctr">
              <a:lnSpc>
                <a:spcPct val="115000"/>
              </a:lnSpc>
            </a:pPr>
            <a:r>
              <a:rPr lang="en-US" sz="1100">
                <a:solidFill>
                  <a:srgbClr val="333333"/>
                </a:solidFill>
                <a:latin typeface="Noto Sans SC"/>
                <a:ea typeface="Noto Sans SC"/>
              </a:rPr>
              <a:t>和 AI 写程序时思路老被敲字打断，她想：按住说话行不行？</a:t>
            </a:r>
            <a:endParaRPr lang="en-US" sz="1100"/>
          </a:p>
        </p:txBody>
      </p:sp>
      <p:sp>
        <p:nvSpPr>
          <p:cNvPr id="9" name="chip2"/>
          <p:cNvSpPr/>
          <p:nvPr/>
        </p:nvSpPr>
        <p:spPr>
          <a:xfrm>
            <a:off x="7772400" y="3124200"/>
            <a:ext cx="3657600" cy="1016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chip2-t"/>
          <p:cNvSpPr txBox="1"/>
          <p:nvPr/>
        </p:nvSpPr>
        <p:spPr>
          <a:xfrm>
            <a:off x="7772400" y="31242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0 行手写代码</a:t>
            </a:r>
            <a:endParaRPr lang="en-US" sz="2000"/>
          </a:p>
          <a:p>
            <a:pPr algn="ctr">
              <a:lnSpc>
                <a:spcPct val="115000"/>
              </a:lnSpc>
            </a:pPr>
            <a:r>
              <a:rPr lang="en-US" sz="1100">
                <a:solidFill>
                  <a:srgbClr val="333333"/>
                </a:solidFill>
                <a:latin typeface="Noto Sans SC"/>
                <a:ea typeface="Noto Sans SC"/>
              </a:rPr>
              <a:t>她只做三件事：说清需求、提要求、验收——代码全由 AI 写</a:t>
            </a:r>
            <a:endParaRPr lang="en-US" sz="1100"/>
          </a:p>
        </p:txBody>
      </p:sp>
      <p:sp>
        <p:nvSpPr>
          <p:cNvPr id="11" name="chip3"/>
          <p:cNvSpPr/>
          <p:nvPr/>
        </p:nvSpPr>
        <p:spPr>
          <a:xfrm>
            <a:off x="7772400" y="4394200"/>
            <a:ext cx="3657600" cy="1016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chip3-t"/>
          <p:cNvSpPr txBox="1"/>
          <p:nvPr/>
        </p:nvSpPr>
        <p:spPr>
          <a:xfrm>
            <a:off x="7772400" y="43942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1 个能用的语音键盘</a:t>
            </a:r>
            <a:endParaRPr lang="en-US" sz="2000"/>
          </a:p>
          <a:p>
            <a:pPr algn="ctr">
              <a:lnSpc>
                <a:spcPct val="115000"/>
              </a:lnSpc>
            </a:pPr>
            <a:r>
              <a:rPr lang="en-US" sz="1100">
                <a:solidFill>
                  <a:srgbClr val="333333"/>
                </a:solidFill>
                <a:latin typeface="Noto Sans SC"/>
                <a:ea typeface="Noto Sans SC"/>
              </a:rPr>
              <a:t>按住说话、松开发送；第一版只接 1 个键，连按 20 次不漏才算过</a:t>
            </a:r>
            <a:endParaRPr lang="en-US" sz="1100"/>
          </a:p>
        </p:txBody>
      </p:sp>
      <p:sp>
        <p:nvSpPr>
          <p:cNvPr id="13" name="bar"/>
          <p:cNvSpPr/>
          <p:nvPr/>
        </p:nvSpPr>
        <p:spPr>
          <a:xfrm>
            <a:off x="762000" y="5664200"/>
            <a:ext cx="10668000" cy="5588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14" name="bar-t"/>
          <p:cNvSpPr txBox="1"/>
          <p:nvPr/>
        </p:nvSpPr>
        <p:spPr>
          <a:xfrm>
            <a:off x="1117600" y="56642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Brandy（李世雯）· Seeed 工程师——零代码做出这个语音键盘。</a:t>
            </a:r>
            <a:endParaRPr lang="en-US" sz="1900"/>
          </a:p>
        </p:txBody>
      </p:sp>
      <p:sp>
        <p:nvSpPr>
          <p:cNvPr id="15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先导课 · 点亮之前</a:t>
            </a:r>
            <a:endParaRPr lang="en-US" sz="1100"/>
          </a:p>
        </p:txBody>
      </p:sp>
      <p:sp>
        <p:nvSpPr>
          <p:cNvPr id="16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04 / 13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12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