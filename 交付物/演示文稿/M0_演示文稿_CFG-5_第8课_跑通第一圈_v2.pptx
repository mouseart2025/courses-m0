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notesMasterIdLst>
    <p:notesMasterId r:id="rId45"/>
  </p:notesMasterIdLst>
  <p:sldSz cx="12192000" cy="6858000" type="custom"/>
  <p:notesSz cx="12192000" cy="6858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（候场页，无讲稿。学员入座时屏幕常亮本页。）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「30 秒回顾：上次课，你的 作品立了项——需求单在你手里，核心功能只剩一个；再上次课，作品搬进了你自己的电脑，从租户变成主人。从今天起，课程换档：我只巡，不教。马拉松三棒：第一棒（今天）做出你作品的 MVP；第二棒（第 9 课）给作品请外援：新模块、新库，让 MVP 长出新本事；第三棒（第 10 课）冲刺打磨，路演见人。每一棒的节奏都一样：站会→创作→AI 评审→决定→交接。跑完三棒，你的作品就长大了。」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「MVP 是什么？工程师的行话，全称最小可行产品——能拿出来演示的最小一版。注意，它不是半成品：半成品是'做了一半'，MVP 是'最小但完整的一圈'——它感觉到点什么，然后做出反应，从头到尾走通一次。需求单上的全部功能？今天不做，今天只做最小的这一圈。还记得 Neil 的螺旋开发吗？今天就是第一圈。」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「还记得先导课的 Brandy 吗？李世雯，Seeed 的应用工程师，零代码做语音键盘的那位。看她的第一版——只接了一个键。验收标准只有一条：连续按 20 次，一次不漏。过不了，不加新功能；过了关，才加第二个键。现在这个键盘她每天都在用。这就是专业工程师的 MVP：最小，但完整走通，而且验收标准说得清清楚楚。今天你的第一圈也一样：别贪多，走通一次，按 20 次不漏。」学员若问「一个键也算作品吗」——答：算，因为她验证了最难的那一段；你的第一圈也是先验证最难的那一段。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（本课灵魂页：宣读后创作段 115 分钟全程常亮。）「规则三条（逐条念）：一，对照你的需求单——改可以，划掉不删除；二，15 分钟无进展必须举手——卡住不丢人，硬扛才丢人；三，代码问题先问你的 AI，我和助教只答方向、只救卡死。」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「站会，马拉松每天的第一件事。规矩：每人一句话，不许超过一句：'今天我要先做出___。'这句话必须可验收——说'继续做'不算，说'让按钮按下去灯亮起来'才算。」两种开法按人数二选一：人少（一圈 5 分钟能过完）全体起立逐个说，持沙漏；人多就两人一组互说＋把这句话写在需求单顶上，抽 3–4 人说给全班听，其余巡场扫纸上那句。目标模糊当场追问："做完那一刻，我能看到什么？"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领料规则：按你需求单的'硬件确认'栏领，领几样登记几样——名字写在桌上的登记纸上。用不到的件不许领；热门件被领完了，写到白板排队区，然后想替代——工程师第一课：用手上的东西解决问题。每棒结束，没在用的件归还。这是公共池，下一棒你还要靠它。」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「开工。第一件事：把最小闭环切成两步——先让'它感觉到'（传感器有读数），再让'它做出反应'（灯亮/铃响/屏显）。一次只要一步。我 15 分钟转一圈，举手我随时在。要喝水要洗手间的，自便——设备别关，AI 的对话窗别关。」（讲完回页 04 常亮。）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「一句话：我做到哪／卡在哪／下一步干什么。谁说不出'下一步'，助教记名，创作下半开场先救他。」（真站着，顺便活动；沙漏计时，超 30 秒转创作时间单聊。）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「下半场任务：收口。闭环还断在哪一段，就补哪一段。评审前 15 分钟，全场停手——不管做到哪，评审照常开始。记住：评审不是等做完了才配拥有的东西，半成品更该被挑刺。」（讲完回页 04 常亮；评审前 15 分钟起逐桌提醒保存进度、准备两段话。）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「保存进度，准备两段话：我的作品现在能___；它现在还不能___。这是评审的'投喂材料'——必须喂当前真实状态，拿立项时的旧描述糊弄的，退回重写；吹牛的评审等于没评。」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「停手。评审时间。前面你让 AI 当过同事，今天让它当评委——它的工作是挑刺，不是夸你。评委两位：第一位是你需求单上那个真人（挑剔用户），第二位是老熟人 Quinn。第 3 课它只挑过 1 个刺，今天起是完整版——3 个刺＋5 条清单，以后每棒都是这个规格。评审加决定 25 分钟是制度底线，谁都挤不掉——包括我。」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「句式照投屏（学员文档里有同款），就在你原来的对话窗里接着聊。必须喂当前真实状态——'现在能什么、还不能什么'。它要是敢夸你，把红色那句顶回去——评审夸你＝评审没上班。」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「Quinn 段同理，还是原来那个对话窗。清单到手抽 2 条当场实测——别客气，它就是让你把作品往坏里用的。结果记进学员文档的评审记录。提醒前提：Quinn 是 BMAD 团队的测试工程师，这个对话窗里要有团队它才出场——第 4 课延续至今的直接发；新对话窗先补一句背景（团队点名那句），再发句式。」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「老规矩，逐条决定：接受还是拒绝，都要写理由。提醒一句：拒绝有理由，和接受同分——但全盘接受的我要找你聊（没主见比不改更危险）。接受的，当场能改的改（5 分钟以内能改的）；改不完的，写进棒交接单'下一棒第一件事'——不是'以后再说'，是下一棒开工的第一个动作。」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「填棒交接单（投屏模板，写进你的学员文档）。它是你的马拉松接力棒——第 9 课一进门，你就靠它找回今天的感觉。也是缺课同学的回归锚。'下一棒第一件事'写成可验收的动作，写'继续做'的退回。日志四句照旧，'做了'那句：我的作品第一版能___，评审给我挑了___个刺，我接受了___、拒绝了___。」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回头看今天这一棒，你干成了三件事：一，从一张需求单，做出了能演示的第一版——它真的感觉到了什么、真的做出了反应；二，你被两位评委挑了一轮刺，还活着；三，你做了接受还是拒绝的决定，还知道下一棒第一件事干什么。这就是工程师一个完整的迭代——今天你是真的跑完了一圈。下次课预告：马拉松第二棒——两个家（aily 和网页版）一起用，你的作品要长新本事。带上你的棒交接单和双视图小抄。模块归还非在用件，主套件入箱，立项墙便签不动。」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「正课到这里就结束了。后面是附录——一个完整案例，来自 Brandy（李世雯），Seeed 应用工程师，柴火创客社区的技术分享。时间够就带他们过一遍（10 分钟）；时间不够，告诉他们：附录在 PPT 里，回去自己翻，下周立项直接照着用。接下来几页我按她的思路讲，不是我编的故事。」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「先认识一下这个人。Brandy，李世雯，Seeed 的 AE 工程师——AE 就是应用工程师，日常工作就是帮大家把手上的开发板用起来。她主要做 Maker 方向，喜欢做电子玩具。这不是一个『AI 专家』在讲理论，是一个天天和硬件打交道的工程师，在讲她自己干活的方法。」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「她的开场白很重要：今天不只看成品。看成品很爽，但带不走。她要给你的是一套可复用的方法——三句话：第一步问什么、每一步验证什么、怎么把问题说给 AI 听。这三句你们划重点，整个附录都在回答它们。」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「她先讲了一个大背景。过去，是人适应电脑：你要会敲键盘、会开 IDE、会运行，机器怎么要求，你就怎么来。现在反过来了：你有想法，告诉 AI，等它做，你来修改、继续。写代码的动作变少了，协作的动作变多了——所以『会不会协作』变成了新的分水岭。这就是她做语音键盘的动机来源：连协作里最烦的那个动作都想优化掉。」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「Brandy 天天和 AI 一起写程序。她观察了自己一段时间，发现真正浪费时间的不是写代码——是两件小事反复打断她：一，不停敲 Prompt；二，等 AI 的时候干耗着。90% 的注意力被这两个动作切碎。她就盯上了第一个：能不能不按键盘，把『说需求』变成一个动作？」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她的附录结构：用两个器件，验证同一套『硬件外扩法』。主案例语音键盘——把声音接入电脑，从单键一路走到四键、USB、语音识别和外壳，走完全过程；迁移案例电子沙漏——把姿态变成动画，验证这套方法换个项目还能不能复用。一主一辅，先看主案例。」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很多人问：那到底怎么做？从哪步开始？她先泼了盆冷水——做个真硬件，过去要会多少东西：代码、固件、API、PCB、原理图、布线、3D、外壳、结构、UI、交互、动画、网页、服务、控制台。过去这需要跨团队、跨工具、跨知识域。但现在不用了：先做出一个能工作的版本，再逐步变好。这句话就是 MVP 的另一种说法。」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「她的方法一句话版：从一个模糊想法出发，靠四样工具让 AI 帮你把软件能力外扩到真实硬件——SOP（先做什么后做什么）、思维导图（把 AI 说的一大堆话理出结构）、图片标注（画个圈告诉 AI 问题在哪）、可验证原型（每一步都有东西能验）。注意：这四样，没有一样是写代码。都是把想法变成机器能理解的语言的工具。」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「这是她现场的互动练习，我们也可以玩。假如你对 AI 说『帮我做一个可以控制 AI 的按钮』——这句话够不够？不够。缺什么？请他们喊出来：什么开发板？几个按键？按下去是输入，那输出是什么？怎么连？什么叫成功？这六个空补齐了，AI 才真的能干活。这就是『把需求说清楚』的具体含义。」（可现场抽 2–3 人回答，每说对一个补一格）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「于是她做了这个——语音键盘。注意她的破题方式：不是『给键盘加个麦克风』，那是堆功能；她说的是『把 Prompt 输入压缩成一个动作』——按住，说；松开，发送。一句话说清了这东西为谁解决什么问题。这就是工程师说需求的方式，和你们立项需求单的第一段是同一件事。」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「想法定了，她不急着写代码，先画思维导图——左边是最终要的效果，右边是输入输出的拆解。她说 AI 输出的话往往一大堆，思维导图能把它们梳理清楚：AI 说到哪一步了、SOP 走到哪一步了，图上一眼就看清。这张图就是她给语音键盘画的。你们以后项目大了，也可以让 AI 帮你把它的方案整理成思维导图再看。」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「动手之前，她先写了一页纸——输入/输出契约。输入：按下、松开、长按、人的声音；约束：USB 连接、桌面用、不能一直监听；输出：灯光、录音、识别文字、发 Prompt；最后一条最关键——成功标准：一次按压完成一次语音输入，不切窗口。有了这一页，AI 才知道往哪写，她才知道什么叫『成了』。你们的需求单，三段式，就是这页纸的简化版。」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「然后就是你们今天刚跑过的那一招——第一圈，只做最小验证。她明确写下这一轮不做什么：四键、录音、外壳，都不做。只接一个键，串口打印按下和松开，连续按 20 次，无漏触发、无重复触发——过了，才开下一圈。之后一圈一圈长：四个键、USB、语音识别、外壳。她的键盘功能不少，但没有一样是第一圈就上的。这就是螺旋开发在真实工程师手里的样子。」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「几圈之后，最终交互定下来了，就三个动作：按住——开始录音；灯亮——给你确定的反馈，你知道它听见了；松开——结束录音，识别文字，发送 Prompt。注意灯亮这个细节：好的作品会给用户『确定的反馈』，不用猜。你们的作品也一样——按钮按下去，有没有让人知道它收到了？」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「外壳这一步，她也踩了坑。左边这张是 AI 出的概念图——像不像真产品？很酷。但按这个方向做出来的东西，拿在手里根本不顺手。右边是她最后的实物：尺寸来自真实元件，开孔的位置来自『手怎么按』这个动作。她总结了一句话，请他们记住：AI 能快速给方案，但『拿在手里顺不顺』，只有实物能验证。你们做作品外壳时也一样——别信渲染图，信自己的手。」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「外壳具体怎么做的？左边是她的手绘草图——尺寸不是拍脑袋，是用卡尺量真实元件量出来的；开孔开在哪，取决于手怎么按、USB 线从哪插。右边是 AI 帮她建的 3D 模型，快速打印出来验证。她的分工很清楚：AI 负责加速，她负责约束。AI 画图快，但『对不对』由她说了算。」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「她做分享要现场演示，现场演示最怕翻车。她的办法不是靠运气，是靠一张检查表：灯是不是立即亮？录音是不是正常结束？识别出的文字完不完整？Prompt 进没进对窗口？四条全过，才算准备好。还留了降级方案：万一现场失败，串口日志、录屏、成品视频都备着，照样能把问题讲清楚。第 10 课你们路演，也用这张表检查自己的作品。」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「第二个项目：电子沙漏。还是那种破题方式——不是『做一个会亮的灯』，而是『把等待变成可感知的物理运动』。等 AI 的那几分钟，不用盯着屏幕干着急：沙子在桌面上流，流完了，AI 也差不多好了。翻过来，再流回去。一个为了解决自己真实烦恼做出来的东西——跟她做语音键盘是同一个起点。」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「动手之前，她备了两张图：接线图回答『怎么连』——哪根线进哪个口，照着插就不会错；SOP 回答『先做什么』——第一步干嘛、第二步干嘛，写清楚了再开工。AI 给的接线图一定要对着实物核一遍，图上标的口和板子上的口，名字可能对不上。这跟她第一大点的四样工具是一回事：先把『怎么想』变成『看得见的纸面东西』，再动手。」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「『像沙子』是个感觉，AI 听不懂感觉，她得把它拆成机器能懂的东西——还是输入输出契约那一招：输入是设备姿态和时间；中间状态是重力方向、每个粒子的位置、像素缓冲区；输出是两个 LED 矩阵里粒子的运动。成功标准照样具体：翻转后方向正确、转移连续、刷新稳定。感觉被拆完，AI 就能写了。」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调试时出了个问题：沙子流的方向和重力对不上。这两张照片就是她当时拍的——她说，最有价值的照片，往往是『逻辑不对』的那一张。因为它把问题钉死了：现象是什么，清清楚楚。然后她把问题拆到三处：坐标映射对不对、边界检查对不对、缓冲区更新顺序对不对。修复方式只有一条纪律：一次只改一条规则，改完用实物姿态复测。跟你们下午『报错原样发回 AI，一次只要一步』完全同一套。」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「两个项目讲完，她总结了 Vibe Coding 的两大关键，本质都是『翻译』。第一，把你的想法转换成机器能理解的语言——画图、连线图、截代码片段用圆框方框标注，精准告诉 AI 哪里有问题，别光打字说『不对』。第二，把机器的输出转换成你能理解的语言——AI 可能输出一大堆，用思维导图梳理清楚，明确它说到了 SOP 的哪一步。会这两手翻译，你就驾驭得了 AI。」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「这一页可以直接拍照带走——一段能复制的硬件 Prompt 模板。注意它的结构：先报家底（什么板、什么器件、要干嘛），再定输入输出，然后主动划范围（先只做什么、暂不做什么），最后要求 AI 按固定顺序输出五样东西：模块连接、接线表、最小测试代码、验证步骤与成功标准、常见错误排查。第 9 课你们接新模块，就把这个模板套上去用。」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「她的收尾是五步循环：先定义输入输出，再画连接与边界，切成最小验证，用证据反馈 AI——注意是证据，照片、串口日志，不是『我觉得不对』——最后把成功回写进 SOP，下次接着用。她说了一句很有野心的话：未来的开发者不会只买工具，我们会用 AI 把软件能力外扩到真实世界，做出最适合自己的工具。你们的作品，就是这句话的开始。」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「附录最后收一下。Brandy 把她的方法总结成四行规格——任何一个想法，动手前先回答这四行：输入是什么？输出是什么？最小可验证版本是什么？什么现象代表成功？请他们注意：这四行，他们已经全用过了——上节课立项的需求单是前两行，今天的 MVP 是第三行，『按 20 次不漏』是第四行。这不是工程师的专利，是他们已经在跑的方法。下一棒请外援、接新模块，还按这四行来。」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1" Type="http://schemas.openxmlformats.org/officeDocument/2006/relationships/image" Target="../media/image1.png"/><Relationship Id="rIdNotes1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2" Type="http://schemas.openxmlformats.org/officeDocument/2006/relationships/image" Target="../media/image2.jpg"/><Relationship Id="rIdNotes4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5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6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7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8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9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1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3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4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5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6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7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18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3" Type="http://schemas.openxmlformats.org/officeDocument/2006/relationships/image" Target="../media/image3.jpg"/><Relationship Id="rIdNotes19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1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4" Type="http://schemas.openxmlformats.org/officeDocument/2006/relationships/image" Target="../media/image4.jpg"/><Relationship Id="rIdImage5" Type="http://schemas.openxmlformats.org/officeDocument/2006/relationships/image" Target="../media/image5.jpg"/><Relationship Id="rIdNotes23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4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5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6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6" Type="http://schemas.openxmlformats.org/officeDocument/2006/relationships/image" Target="../media/image6.jpg"/><Relationship Id="rIdNotes27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7" Type="http://schemas.openxmlformats.org/officeDocument/2006/relationships/image" Target="../media/image7.jpg"/><Relationship Id="rIdNotes28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29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0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8" Type="http://schemas.openxmlformats.org/officeDocument/2006/relationships/image" Target="../media/image8.jpg"/><Relationship Id="rIdNotes31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9" Type="http://schemas.openxmlformats.org/officeDocument/2006/relationships/image" Target="../media/image9.jpg"/><Relationship Id="rIdImage10" Type="http://schemas.openxmlformats.org/officeDocument/2006/relationships/image" Target="../media/image10.jpg"/><Relationship Id="rIdNotes3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11" Type="http://schemas.openxmlformats.org/officeDocument/2006/relationships/image" Target="../media/image11.jpg"/><Relationship Id="rIdImage12" Type="http://schemas.openxmlformats.org/officeDocument/2006/relationships/image" Target="../media/image12.jpg"/><Relationship Id="rIdNotes33" Type="http://schemas.openxmlformats.org/officeDocument/2006/relationships/notesSlide" Target="../notesSlides/notesSlide33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4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5" Type="http://schemas.openxmlformats.org/officeDocument/2006/relationships/image" Target="../media/image5.jpg"/><Relationship Id="rIdNotes35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13" Type="http://schemas.openxmlformats.org/officeDocument/2006/relationships/image" Target="../media/image13.jpg"/><Relationship Id="rIdNotes36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7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Image14" Type="http://schemas.openxmlformats.org/officeDocument/2006/relationships/image" Target="../media/image14.jpg"/><Relationship Id="rIdImage15" Type="http://schemas.openxmlformats.org/officeDocument/2006/relationships/image" Target="../media/image15.jpg"/><Relationship Id="rIdNotes38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39" Type="http://schemas.openxmlformats.org/officeDocument/2006/relationships/notesSlide" Target="../notesSlides/notesSlide39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40" Type="http://schemas.openxmlformats.org/officeDocument/2006/relationships/notesSlide" Target="../notesSlides/notesSlide40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41" Type="http://schemas.openxmlformats.org/officeDocument/2006/relationships/notesSlide" Target="../notesSlides/notesSlide4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Notes42" Type="http://schemas.openxmlformats.org/officeDocument/2006/relationships/notesSlide" Target="../notesSlides/notesSlide42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62000" y="25400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20000"/>
              </a:lnSpc>
            </a:pPr>
            <a:r>
              <a:rPr lang="en-US" sz="4000" b="1">
                <a:solidFill>
                  <a:srgbClr val="000000"/>
                </a:solidFill>
                <a:latin typeface="MiSans"/>
                <a:ea typeface="MiSans"/>
              </a:rPr>
              <a:t>跑通第一圈</a:t>
            </a:r>
            <a:endParaRPr lang="en-US" sz="4000"/>
          </a:p>
        </p:txBody>
      </p:sp>
      <p:sp>
        <p:nvSpPr>
          <p:cNvPr id="3" name="titleline"/>
          <p:cNvSpPr/>
          <p:nvPr/>
        </p:nvSpPr>
        <p:spPr>
          <a:xfrm>
            <a:off x="762000" y="3492500"/>
            <a:ext cx="2286000" cy="76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4" name="subtitle"/>
          <p:cNvSpPr txBox="1"/>
          <p:nvPr/>
        </p:nvSpPr>
        <p:spPr>
          <a:xfrm>
            <a:off x="762000" y="3810000"/>
            <a:ext cx="584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第 8 课 ｜ 马拉松 · 第一棒</a:t>
            </a:r>
            <a:endParaRPr lang="en-US" sz="2000"/>
          </a:p>
          <a:p>
            <a:pPr algn="l">
              <a:lnSpc>
                <a:spcPct val="14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今天，做出你作品的 </a:t>
            </a: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MVP</a:t>
            </a:r>
            <a:endParaRPr lang="en-US" sz="2000"/>
          </a:p>
        </p:txBody>
      </p:sp>
      <p:pic>
        <p:nvPicPr>
          <p:cNvPr id="5" name="coverimg"/>
          <p:cNvPicPr/>
          <p:nvPr/>
        </p:nvPicPr>
        <p:blipFill>
          <a:blip r:embed="rIdImage1"/>
          <a:srcRect l="-0" r="-0"/>
          <a:stretch>
            <a:fillRect/>
          </a:stretch>
        </p:blipFill>
        <p:spPr>
          <a:xfrm>
            <a:off x="6858000" y="1270000"/>
            <a:ext cx="4826000" cy="4826000"/>
          </a:xfrm>
          <a:prstGeom prst="rect">
            <a:avLst/>
          </a:prstGeom>
          <a:ln>
            <a:noFill/>
          </a:ln>
        </p:spPr>
      </p:pic>
      <p:sp>
        <p:nvSpPr>
          <p:cNvPr id="6" name="footinfo"/>
          <p:cNvSpPr txBox="1"/>
          <p:nvPr/>
        </p:nvSpPr>
        <p:spPr>
          <a:xfrm>
            <a:off x="762000" y="6223000"/>
            <a:ext cx="635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柴火创客学园 M0 · CFG-5 学期班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起跑 ｜ 定档</a:t>
            </a:r>
            <a:endParaRPr lang="en-US" sz="1400"/>
          </a:p>
        </p:txBody>
      </p:sp>
      <p:sp>
        <p:nvSpPr>
          <p:cNvPr id="4" name="recap"/>
          <p:cNvSpPr txBox="1"/>
          <p:nvPr/>
        </p:nvSpPr>
        <p:spPr>
          <a:xfrm>
            <a:off x="762000" y="10668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30 秒回顾：作品立了项——需求单就在你手里；作品搬进了你自己的电脑，从租户变成主人</a:t>
            </a:r>
            <a:endParaRPr lang="en-US" sz="1500"/>
          </a:p>
        </p:txBody>
      </p:sp>
      <p:sp>
        <p:nvSpPr>
          <p:cNvPr id="5" name="big"/>
          <p:cNvSpPr txBox="1"/>
          <p:nvPr/>
        </p:nvSpPr>
        <p:spPr>
          <a:xfrm>
            <a:off x="762000" y="16510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4400" b="1">
                <a:solidFill>
                  <a:srgbClr val="000000"/>
                </a:solidFill>
                <a:latin typeface="MiSans"/>
                <a:ea typeface="MiSans"/>
              </a:rPr>
              <a:t>从今天起，我只巡，不教。</a:t>
            </a:r>
            <a:endParaRPr lang="en-US" sz="4400"/>
          </a:p>
        </p:txBody>
      </p:sp>
      <p:sp>
        <p:nvSpPr>
          <p:cNvPr id="6" name="leg1"/>
          <p:cNvSpPr/>
          <p:nvPr/>
        </p:nvSpPr>
        <p:spPr>
          <a:xfrm>
            <a:off x="762000" y="2997200"/>
            <a:ext cx="3302000" cy="1397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7" name="leg1t"/>
          <p:cNvSpPr txBox="1"/>
          <p:nvPr/>
        </p:nvSpPr>
        <p:spPr>
          <a:xfrm>
            <a:off x="965200" y="3124200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第一棒（今天）</a:t>
            </a:r>
            <a:endParaRPr lang="en-US" sz="1700"/>
          </a:p>
          <a:p>
            <a:pPr algn="l">
              <a:lnSpc>
                <a:spcPct val="145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做出你作品的 </a:t>
            </a: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MVP</a:t>
            </a:r>
            <a:endParaRPr lang="en-US" sz="1700"/>
          </a:p>
        </p:txBody>
      </p:sp>
      <p:sp>
        <p:nvSpPr>
          <p:cNvPr id="8" name="ar1"/>
          <p:cNvSpPr/>
          <p:nvPr/>
        </p:nvSpPr>
        <p:spPr>
          <a:xfrm>
            <a:off x="4191000" y="3505200"/>
            <a:ext cx="508000" cy="355600"/>
          </a:xfrm>
          <a:prstGeom prst="rightArrow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9" name="leg2"/>
          <p:cNvSpPr/>
          <p:nvPr/>
        </p:nvSpPr>
        <p:spPr>
          <a:xfrm>
            <a:off x="4826000" y="2997200"/>
            <a:ext cx="2794000" cy="1397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10" name="leg2t"/>
          <p:cNvSpPr txBox="1"/>
          <p:nvPr/>
        </p:nvSpPr>
        <p:spPr>
          <a:xfrm>
            <a:off x="5029200" y="3124200"/>
            <a:ext cx="23876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第二棒（第 9 课）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给作品请外援：新模块、新库，让 MVP 长新本事</a:t>
            </a:r>
            <a:endParaRPr lang="en-US" sz="1500"/>
          </a:p>
        </p:txBody>
      </p:sp>
      <p:sp>
        <p:nvSpPr>
          <p:cNvPr id="11" name="ar2"/>
          <p:cNvSpPr/>
          <p:nvPr/>
        </p:nvSpPr>
        <p:spPr>
          <a:xfrm>
            <a:off x="7747000" y="3505200"/>
            <a:ext cx="508000" cy="355600"/>
          </a:xfrm>
          <a:prstGeom prst="rightArrow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2" name="leg3"/>
          <p:cNvSpPr/>
          <p:nvPr/>
        </p:nvSpPr>
        <p:spPr>
          <a:xfrm>
            <a:off x="8382000" y="2997200"/>
            <a:ext cx="3048000" cy="1397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13" name="leg3t"/>
          <p:cNvSpPr txBox="1"/>
          <p:nvPr/>
        </p:nvSpPr>
        <p:spPr>
          <a:xfrm>
            <a:off x="8585200" y="3124200"/>
            <a:ext cx="26416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第三棒（第 10 课）</a:t>
            </a:r>
            <a:endParaRPr lang="en-US" sz="1700"/>
          </a:p>
          <a:p>
            <a:pPr algn="l">
              <a:lnSpc>
                <a:spcPct val="145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冲刺打磨，路演见人</a:t>
            </a:r>
            <a:endParaRPr lang="en-US" sz="1700"/>
          </a:p>
        </p:txBody>
      </p:sp>
      <p:sp>
        <p:nvSpPr>
          <p:cNvPr id="14" name="rhythmbg"/>
          <p:cNvSpPr/>
          <p:nvPr/>
        </p:nvSpPr>
        <p:spPr>
          <a:xfrm>
            <a:off x="762000" y="5029200"/>
            <a:ext cx="10668000" cy="8128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5" name="rhythm"/>
          <p:cNvSpPr txBox="1"/>
          <p:nvPr/>
        </p:nvSpPr>
        <p:spPr>
          <a:xfrm>
            <a:off x="1066800" y="5029200"/>
            <a:ext cx="10058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每一棒节奏一样——</a:t>
            </a: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站会 → 创作 → AI 评审 → 决定 → 交接</a:t>
            </a:r>
            <a:endParaRPr lang="en-US" sz="1700"/>
          </a:p>
          <a:p>
            <a:pPr algn="l">
              <a:lnSpc>
                <a:spcPct val="14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跑完三棒，你的作品就长大了。</a:t>
            </a:r>
            <a:endParaRPr lang="en-US" sz="17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起跑 ｜ MVP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今天的目标：做出你作品的 MVP</a:t>
            </a:r>
            <a:endParaRPr lang="en-US" sz="3400"/>
          </a:p>
        </p:txBody>
      </p:sp>
      <p:sp>
        <p:nvSpPr>
          <p:cNvPr id="5" name="defbg"/>
          <p:cNvSpPr/>
          <p:nvPr/>
        </p:nvSpPr>
        <p:spPr>
          <a:xfrm>
            <a:off x="762000" y="1498600"/>
            <a:ext cx="10668000" cy="7112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6" name="def"/>
          <p:cNvSpPr txBox="1"/>
          <p:nvPr/>
        </p:nvSpPr>
        <p:spPr>
          <a:xfrm>
            <a:off x="1066800" y="1498600"/>
            <a:ext cx="10058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MVP ＝ M</a:t>
            </a: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inimum </a:t>
            </a: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V</a:t>
            </a: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iable </a:t>
            </a: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P</a:t>
            </a: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roduct 的缩写，</a:t>
            </a: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最小可行产品</a:t>
            </a: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——能拿出来演示的</a:t>
            </a: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最小一版</a:t>
            </a:r>
            <a:endParaRPr lang="en-US" sz="2000"/>
          </a:p>
        </p:txBody>
      </p:sp>
      <p:sp>
        <p:nvSpPr>
          <p:cNvPr id="7" name="step1"/>
          <p:cNvSpPr/>
          <p:nvPr/>
        </p:nvSpPr>
        <p:spPr>
          <a:xfrm>
            <a:off x="1270000" y="2489200"/>
            <a:ext cx="4064000" cy="1143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8" name="step1t"/>
          <p:cNvSpPr txBox="1"/>
          <p:nvPr/>
        </p:nvSpPr>
        <p:spPr>
          <a:xfrm>
            <a:off x="1524000" y="2616200"/>
            <a:ext cx="355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它感觉到点什么</a:t>
            </a:r>
            <a:endParaRPr lang="en-US" sz="18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（传感器有读数）</a:t>
            </a:r>
            <a:endParaRPr lang="en-US" sz="1800"/>
          </a:p>
        </p:txBody>
      </p:sp>
      <p:sp>
        <p:nvSpPr>
          <p:cNvPr id="9" name="arr"/>
          <p:cNvSpPr/>
          <p:nvPr/>
        </p:nvSpPr>
        <p:spPr>
          <a:xfrm>
            <a:off x="5537200" y="2882900"/>
            <a:ext cx="762000" cy="355600"/>
          </a:xfrm>
          <a:prstGeom prst="rightArrow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step2"/>
          <p:cNvSpPr/>
          <p:nvPr/>
        </p:nvSpPr>
        <p:spPr>
          <a:xfrm>
            <a:off x="6502400" y="2489200"/>
            <a:ext cx="4064000" cy="1143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11" name="step2t"/>
          <p:cNvSpPr txBox="1"/>
          <p:nvPr/>
        </p:nvSpPr>
        <p:spPr>
          <a:xfrm>
            <a:off x="6756400" y="2616200"/>
            <a:ext cx="3556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它做出反应</a:t>
            </a:r>
            <a:endParaRPr lang="en-US" sz="18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（灯亮／铃响／屏显）</a:t>
            </a:r>
            <a:endParaRPr lang="en-US" sz="1800"/>
          </a:p>
        </p:txBody>
      </p:sp>
      <p:sp>
        <p:nvSpPr>
          <p:cNvPr id="12" name="onceline"/>
          <p:cNvSpPr txBox="1"/>
          <p:nvPr/>
        </p:nvSpPr>
        <p:spPr>
          <a:xfrm>
            <a:off x="762000" y="3810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从头到尾，走通一次</a:t>
            </a:r>
            <a:endParaRPr lang="en-US" sz="1800"/>
          </a:p>
        </p:txBody>
      </p:sp>
      <p:sp>
        <p:nvSpPr>
          <p:cNvPr id="13" name="isbg"/>
          <p:cNvSpPr/>
          <p:nvPr/>
        </p:nvSpPr>
        <p:spPr>
          <a:xfrm>
            <a:off x="762000" y="4470400"/>
            <a:ext cx="5080000" cy="1651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4" name="ist"/>
          <p:cNvSpPr txBox="1"/>
          <p:nvPr/>
        </p:nvSpPr>
        <p:spPr>
          <a:xfrm>
            <a:off x="1066800" y="4622800"/>
            <a:ext cx="4470400" cy="1346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✅ 是</a:t>
            </a: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：最小但完整的一圈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今天就是 Neil 螺旋开发的第一圈</a:t>
            </a:r>
            <a:endParaRPr lang="en-US" sz="1700"/>
          </a:p>
        </p:txBody>
      </p:sp>
      <p:sp>
        <p:nvSpPr>
          <p:cNvPr id="15" name="notcard"/>
          <p:cNvSpPr/>
          <p:nvPr/>
        </p:nvSpPr>
        <p:spPr>
          <a:xfrm>
            <a:off x="6350000" y="4470400"/>
            <a:ext cx="5080000" cy="1651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16" name="nott"/>
          <p:cNvSpPr txBox="1"/>
          <p:nvPr/>
        </p:nvSpPr>
        <p:spPr>
          <a:xfrm>
            <a:off x="6654800" y="4622800"/>
            <a:ext cx="4470400" cy="1346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❌ 不是</a:t>
            </a: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：半成品（"做了一半"）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需求单全部功能？今天不做——其余的在"以后再做"里睡得好好的</a:t>
            </a:r>
            <a:endParaRPr lang="en-US" sz="17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起跑 ｜ 工程师的 MVP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专业工程师的第一版：只接 1 个键</a:t>
            </a:r>
            <a:endParaRPr lang="en-US" sz="3400"/>
          </a:p>
        </p:txBody>
      </p:sp>
      <p:pic>
        <p:nvPicPr>
          <p:cNvPr id="5" name="photo"/>
          <p:cNvPicPr/>
          <p:nvPr/>
        </p:nvPicPr>
        <p:blipFill>
          <a:blip r:embed="rIdImage2"/>
          <a:srcRect l="-0" r="-0"/>
          <a:stretch>
            <a:fillRect/>
          </a:stretch>
        </p:blipFill>
        <p:spPr>
          <a:xfrm>
            <a:off x="762000" y="1498600"/>
            <a:ext cx="5842000" cy="4381500"/>
          </a:xfrm>
          <a:prstGeom prst="rect">
            <a:avLst/>
          </a:prstGeom>
          <a:ln>
            <a:noFill/>
          </a:ln>
        </p:spPr>
      </p:pic>
      <p:sp>
        <p:nvSpPr>
          <p:cNvPr id="6" name="name"/>
          <p:cNvSpPr txBox="1"/>
          <p:nvPr/>
        </p:nvSpPr>
        <p:spPr>
          <a:xfrm>
            <a:off x="7112000" y="1498600"/>
            <a:ext cx="4318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Brandy（李世雯）· Seeed 应用工程师</a:t>
            </a:r>
            <a:endParaRPr lang="en-US" sz="1600"/>
          </a:p>
        </p:txBody>
      </p:sp>
      <p:sp>
        <p:nvSpPr>
          <p:cNvPr id="7" name="chip1"/>
          <p:cNvSpPr/>
          <p:nvPr/>
        </p:nvSpPr>
        <p:spPr>
          <a:xfrm>
            <a:off x="7112000" y="1981200"/>
            <a:ext cx="4318000" cy="11684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8" name="chip1t"/>
          <p:cNvSpPr txBox="1"/>
          <p:nvPr/>
        </p:nvSpPr>
        <p:spPr>
          <a:xfrm>
            <a:off x="7366000" y="2082800"/>
            <a:ext cx="3810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第一版：只接 1 个键</a:t>
            </a:r>
            <a:endParaRPr lang="en-US" sz="1700"/>
          </a:p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语音键盘的第一圈，只有一个按键</a:t>
            </a:r>
            <a:endParaRPr lang="en-US" sz="1700"/>
          </a:p>
        </p:txBody>
      </p:sp>
      <p:sp>
        <p:nvSpPr>
          <p:cNvPr id="9" name="chip2"/>
          <p:cNvSpPr/>
          <p:nvPr/>
        </p:nvSpPr>
        <p:spPr>
          <a:xfrm>
            <a:off x="7112000" y="3302000"/>
            <a:ext cx="4318000" cy="11684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0" name="chip2t"/>
          <p:cNvSpPr txBox="1"/>
          <p:nvPr/>
        </p:nvSpPr>
        <p:spPr>
          <a:xfrm>
            <a:off x="7366000" y="3403600"/>
            <a:ext cx="3810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验收标准：按 20 次，一次不漏</a:t>
            </a:r>
            <a:endParaRPr lang="en-US" sz="1700"/>
          </a:p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过不了，不加新功能</a:t>
            </a:r>
            <a:endParaRPr lang="en-US" sz="1700"/>
          </a:p>
        </p:txBody>
      </p:sp>
      <p:sp>
        <p:nvSpPr>
          <p:cNvPr id="11" name="chip3"/>
          <p:cNvSpPr/>
          <p:nvPr/>
        </p:nvSpPr>
        <p:spPr>
          <a:xfrm>
            <a:off x="7112000" y="4622800"/>
            <a:ext cx="4318000" cy="11684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2" name="chip3t"/>
          <p:cNvSpPr txBox="1"/>
          <p:nvPr/>
        </p:nvSpPr>
        <p:spPr>
          <a:xfrm>
            <a:off x="7366000" y="4724400"/>
            <a:ext cx="3810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过了关，才长第二圈</a:t>
            </a:r>
            <a:endParaRPr lang="en-US" sz="1700"/>
          </a:p>
          <a:p>
            <a:pPr algn="l">
              <a:lnSpc>
                <a:spcPct val="145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现在这个键盘，她每天都在用</a:t>
            </a:r>
            <a:endParaRPr lang="en-US" sz="1700"/>
          </a:p>
        </p:txBody>
      </p:sp>
      <p:sp>
        <p:nvSpPr>
          <p:cNvPr id="13" name="bottombar"/>
          <p:cNvSpPr/>
          <p:nvPr/>
        </p:nvSpPr>
        <p:spPr>
          <a:xfrm>
            <a:off x="762000" y="6121400"/>
            <a:ext cx="10668000" cy="508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4" name="bottombart"/>
          <p:cNvSpPr txBox="1"/>
          <p:nvPr/>
        </p:nvSpPr>
        <p:spPr>
          <a:xfrm>
            <a:off x="1066800" y="6121400"/>
            <a:ext cx="10058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最小不是简陋，是专业——今天你的第一圈，也只要走通一次</a:t>
            </a:r>
            <a:endParaRPr lang="en-US" sz="18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起跑 ｜ 三规则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MiSans"/>
                <a:ea typeface="MiSans"/>
              </a:rPr>
              <a:t>创作三规则</a:t>
            </a:r>
            <a:endParaRPr lang="en-US" sz="3800"/>
          </a:p>
        </p:txBody>
      </p:sp>
      <p:sp>
        <p:nvSpPr>
          <p:cNvPr id="5" name="r1dot"/>
          <p:cNvSpPr/>
          <p:nvPr/>
        </p:nvSpPr>
        <p:spPr>
          <a:xfrm>
            <a:off x="762000" y="17780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6" name="r1n"/>
          <p:cNvSpPr txBox="1"/>
          <p:nvPr/>
        </p:nvSpPr>
        <p:spPr>
          <a:xfrm>
            <a:off x="762000" y="17780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1800"/>
          </a:p>
        </p:txBody>
      </p:sp>
      <p:sp>
        <p:nvSpPr>
          <p:cNvPr id="7" name="r1card"/>
          <p:cNvSpPr/>
          <p:nvPr/>
        </p:nvSpPr>
        <p:spPr>
          <a:xfrm>
            <a:off x="1371600" y="1625600"/>
            <a:ext cx="10058400" cy="11176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8" name="r1t"/>
          <p:cNvSpPr txBox="1"/>
          <p:nvPr/>
        </p:nvSpPr>
        <p:spPr>
          <a:xfrm>
            <a:off x="1727200" y="1625600"/>
            <a:ext cx="9398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对照你的需求单——改需求可以，划掉不删除</a:t>
            </a:r>
            <a:endParaRPr lang="en-US" sz="2400"/>
          </a:p>
        </p:txBody>
      </p:sp>
      <p:sp>
        <p:nvSpPr>
          <p:cNvPr id="9" name="r2dot"/>
          <p:cNvSpPr/>
          <p:nvPr/>
        </p:nvSpPr>
        <p:spPr>
          <a:xfrm>
            <a:off x="762000" y="32512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r2n"/>
          <p:cNvSpPr txBox="1"/>
          <p:nvPr/>
        </p:nvSpPr>
        <p:spPr>
          <a:xfrm>
            <a:off x="762000" y="32512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1800"/>
          </a:p>
        </p:txBody>
      </p:sp>
      <p:sp>
        <p:nvSpPr>
          <p:cNvPr id="11" name="r2card"/>
          <p:cNvSpPr/>
          <p:nvPr/>
        </p:nvSpPr>
        <p:spPr>
          <a:xfrm>
            <a:off x="1371600" y="3098800"/>
            <a:ext cx="10058400" cy="1219200"/>
          </a:xfrm>
          <a:prstGeom prst="rect">
            <a:avLst/>
          </a:prstGeom>
          <a:noFill/>
          <a:ln w="25400">
            <a:solidFill>
              <a:srgbClr val="D84144"/>
            </a:solidFill>
          </a:ln>
        </p:spPr>
      </p:sp>
      <p:sp>
        <p:nvSpPr>
          <p:cNvPr id="12" name="r2t"/>
          <p:cNvSpPr txBox="1"/>
          <p:nvPr/>
        </p:nvSpPr>
        <p:spPr>
          <a:xfrm>
            <a:off x="1727200" y="3098800"/>
            <a:ext cx="9398000" cy="1219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D84144"/>
                </a:solidFill>
                <a:latin typeface="MiSans"/>
                <a:ea typeface="MiSans"/>
              </a:rPr>
              <a:t>15 分钟无进展必须举手——卡住不丢人，硬扛才丢人</a:t>
            </a:r>
            <a:endParaRPr lang="en-US" sz="2400"/>
          </a:p>
        </p:txBody>
      </p:sp>
      <p:sp>
        <p:nvSpPr>
          <p:cNvPr id="13" name="r3dot"/>
          <p:cNvSpPr/>
          <p:nvPr/>
        </p:nvSpPr>
        <p:spPr>
          <a:xfrm>
            <a:off x="762000" y="48260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4" name="r3n"/>
          <p:cNvSpPr txBox="1"/>
          <p:nvPr/>
        </p:nvSpPr>
        <p:spPr>
          <a:xfrm>
            <a:off x="762000" y="48260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3</a:t>
            </a:r>
            <a:endParaRPr lang="en-US" sz="1800"/>
          </a:p>
        </p:txBody>
      </p:sp>
      <p:sp>
        <p:nvSpPr>
          <p:cNvPr id="15" name="r3card"/>
          <p:cNvSpPr/>
          <p:nvPr/>
        </p:nvSpPr>
        <p:spPr>
          <a:xfrm>
            <a:off x="1371600" y="4673600"/>
            <a:ext cx="10058400" cy="11176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16" name="r3t"/>
          <p:cNvSpPr txBox="1"/>
          <p:nvPr/>
        </p:nvSpPr>
        <p:spPr>
          <a:xfrm>
            <a:off x="1727200" y="4673600"/>
            <a:ext cx="9398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代码问题先问你的 AI——"一次只要一步"</a:t>
            </a:r>
            <a:endParaRPr lang="en-US" sz="24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起跑 ｜ 站会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站会——每人一句话，可验收</a:t>
            </a:r>
            <a:endParaRPr lang="en-US" sz="3400"/>
          </a:p>
        </p:txBody>
      </p:sp>
      <p:sp>
        <p:nvSpPr>
          <p:cNvPr id="5" name="sentbg"/>
          <p:cNvSpPr/>
          <p:nvPr/>
        </p:nvSpPr>
        <p:spPr>
          <a:xfrm>
            <a:off x="1524000" y="1905000"/>
            <a:ext cx="9144000" cy="1143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6" name="sent"/>
          <p:cNvSpPr txBox="1"/>
          <p:nvPr/>
        </p:nvSpPr>
        <p:spPr>
          <a:xfrm>
            <a:off x="1524000" y="19050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今天我要先做出 ＿＿＿。</a:t>
            </a:r>
            <a:endParaRPr lang="en-US" sz="2800"/>
          </a:p>
        </p:txBody>
      </p:sp>
      <p:sp>
        <p:nvSpPr>
          <p:cNvPr id="7" name="nocard"/>
          <p:cNvSpPr/>
          <p:nvPr/>
        </p:nvSpPr>
        <p:spPr>
          <a:xfrm>
            <a:off x="1524000" y="3556000"/>
            <a:ext cx="4191000" cy="1143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8" name="not"/>
          <p:cNvSpPr txBox="1"/>
          <p:nvPr/>
        </p:nvSpPr>
        <p:spPr>
          <a:xfrm>
            <a:off x="1778000" y="3683000"/>
            <a:ext cx="368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❌ "继续做我的项目"</a:t>
            </a:r>
            <a:endParaRPr lang="en-US" sz="1700"/>
          </a:p>
          <a:p>
            <a:pPr algn="l">
              <a:lnSpc>
                <a:spcPct val="145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——不算</a:t>
            </a:r>
            <a:endParaRPr lang="en-US" sz="1700"/>
          </a:p>
        </p:txBody>
      </p:sp>
      <p:sp>
        <p:nvSpPr>
          <p:cNvPr id="9" name="yescard"/>
          <p:cNvSpPr/>
          <p:nvPr/>
        </p:nvSpPr>
        <p:spPr>
          <a:xfrm>
            <a:off x="6477000" y="3556000"/>
            <a:ext cx="4191000" cy="1143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10" name="yest"/>
          <p:cNvSpPr txBox="1"/>
          <p:nvPr/>
        </p:nvSpPr>
        <p:spPr>
          <a:xfrm>
            <a:off x="6731000" y="3683000"/>
            <a:ext cx="3683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✅ "让按钮按下去，灯亮起来"</a:t>
            </a:r>
            <a:endParaRPr lang="en-US" sz="1700"/>
          </a:p>
          <a:p>
            <a:pPr algn="l">
              <a:lnSpc>
                <a:spcPct val="145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——才算</a:t>
            </a:r>
            <a:endParaRPr lang="en-US" sz="1700"/>
          </a:p>
        </p:txBody>
      </p:sp>
      <p:sp>
        <p:nvSpPr>
          <p:cNvPr id="11" name="hint"/>
          <p:cNvSpPr txBox="1"/>
          <p:nvPr/>
        </p:nvSpPr>
        <p:spPr>
          <a:xfrm>
            <a:off x="762000" y="5080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问自己：做完那一刻，别人能看到什么？</a:t>
            </a:r>
            <a:endParaRPr lang="en-US" sz="1800"/>
          </a:p>
        </p:txBody>
      </p:sp>
      <p:sp>
        <p:nvSpPr>
          <p:cNvPr id="12" name="modebg"/>
          <p:cNvSpPr/>
          <p:nvPr/>
        </p:nvSpPr>
        <p:spPr>
          <a:xfrm>
            <a:off x="1524000" y="5664200"/>
            <a:ext cx="9144000" cy="7112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3" name="mode"/>
          <p:cNvSpPr txBox="1"/>
          <p:nvPr/>
        </p:nvSpPr>
        <p:spPr>
          <a:xfrm>
            <a:off x="1778000" y="5664200"/>
            <a:ext cx="8636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0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人少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：全体起立，逐个说 ｜ 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人多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：两人互说＋写在需求单顶上，抽几人讲给全班</a:t>
            </a:r>
            <a:endParaRPr lang="en-US" sz="16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第一幕 · 起跑 ｜ 领料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按需求单领，领了登记</a:t>
            </a:r>
            <a:endParaRPr lang="en-US" sz="3400"/>
          </a:p>
        </p:txBody>
      </p:sp>
      <p:sp>
        <p:nvSpPr>
          <p:cNvPr id="5" name="rules"/>
          <p:cNvSpPr txBox="1"/>
          <p:nvPr/>
        </p:nvSpPr>
        <p:spPr>
          <a:xfrm>
            <a:off x="1016000" y="1676400"/>
            <a:ext cx="101600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8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1.</a:t>
            </a: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 按需求单"硬件确认"栏领——</a:t>
            </a: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用不到的件不许领</a:t>
            </a:r>
            <a:endParaRPr lang="en-US" sz="2000"/>
          </a:p>
          <a:p>
            <a:pPr algn="l">
              <a:lnSpc>
                <a:spcPct val="18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2.</a:t>
            </a: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 领几样登记几样（名字写上桌上的登记纸）</a:t>
            </a:r>
            <a:endParaRPr lang="en-US" sz="2000"/>
          </a:p>
          <a:p>
            <a:pPr algn="l">
              <a:lnSpc>
                <a:spcPct val="18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3.</a:t>
            </a: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 热门件被领完了 → 白板排队区登记，然后想替代</a:t>
            </a:r>
            <a:endParaRPr lang="en-US" sz="2000"/>
          </a:p>
          <a:p>
            <a:pPr algn="l">
              <a:lnSpc>
                <a:spcPct val="18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4.</a:t>
            </a: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 需求单写了池里没有的 → 现场改需求（划掉不删除，写上替代）</a:t>
            </a:r>
            <a:endParaRPr lang="en-US" sz="2000"/>
          </a:p>
        </p:txBody>
      </p:sp>
      <p:sp>
        <p:nvSpPr>
          <p:cNvPr id="6" name="backbg"/>
          <p:cNvSpPr/>
          <p:nvPr/>
        </p:nvSpPr>
        <p:spPr>
          <a:xfrm>
            <a:off x="762000" y="5257800"/>
            <a:ext cx="10668000" cy="8128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7" name="backt"/>
          <p:cNvSpPr txBox="1"/>
          <p:nvPr/>
        </p:nvSpPr>
        <p:spPr>
          <a:xfrm>
            <a:off x="1066800" y="5257800"/>
            <a:ext cx="100584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归还约定</a:t>
            </a: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：每棒结束，没在用的件归还——</a:t>
            </a:r>
            <a:endParaRPr lang="en-US" sz="1700"/>
          </a:p>
          <a:p>
            <a:pPr algn="l">
              <a:lnSpc>
                <a:spcPct val="14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这是公共池，下一棒你还要靠它。</a:t>
            </a:r>
            <a:endParaRPr lang="en-US" sz="17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第二幕 · 创作 ｜ 切两步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第一件事：把闭环切成两步</a:t>
            </a:r>
            <a:endParaRPr lang="en-US" sz="3400"/>
          </a:p>
        </p:txBody>
      </p:sp>
      <p:sp>
        <p:nvSpPr>
          <p:cNvPr id="5" name="s1"/>
          <p:cNvSpPr/>
          <p:nvPr/>
        </p:nvSpPr>
        <p:spPr>
          <a:xfrm>
            <a:off x="1270000" y="1905000"/>
            <a:ext cx="4191000" cy="1397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6" name="s1t"/>
          <p:cNvSpPr txBox="1"/>
          <p:nvPr/>
        </p:nvSpPr>
        <p:spPr>
          <a:xfrm>
            <a:off x="1574800" y="2057400"/>
            <a:ext cx="35814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① 让它感觉到</a:t>
            </a:r>
            <a:endParaRPr lang="en-US" sz="1900"/>
          </a:p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传感器有读数</a:t>
            </a:r>
            <a:endParaRPr lang="en-US" sz="1900"/>
          </a:p>
        </p:txBody>
      </p:sp>
      <p:sp>
        <p:nvSpPr>
          <p:cNvPr id="7" name="arr"/>
          <p:cNvSpPr/>
          <p:nvPr/>
        </p:nvSpPr>
        <p:spPr>
          <a:xfrm>
            <a:off x="5664200" y="2413000"/>
            <a:ext cx="762000" cy="355600"/>
          </a:xfrm>
          <a:prstGeom prst="rightArrow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8" name="s2"/>
          <p:cNvSpPr/>
          <p:nvPr/>
        </p:nvSpPr>
        <p:spPr>
          <a:xfrm>
            <a:off x="6629400" y="1905000"/>
            <a:ext cx="4191000" cy="1397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9" name="s2t"/>
          <p:cNvSpPr txBox="1"/>
          <p:nvPr/>
        </p:nvSpPr>
        <p:spPr>
          <a:xfrm>
            <a:off x="6934200" y="2057400"/>
            <a:ext cx="35814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② 让它做出反应</a:t>
            </a:r>
            <a:endParaRPr lang="en-US" sz="1900"/>
          </a:p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灯亮／铃响／屏显</a:t>
            </a:r>
            <a:endParaRPr lang="en-US" sz="1900"/>
          </a:p>
        </p:txBody>
      </p:sp>
      <p:sp>
        <p:nvSpPr>
          <p:cNvPr id="10" name="onebg"/>
          <p:cNvSpPr/>
          <p:nvPr/>
        </p:nvSpPr>
        <p:spPr>
          <a:xfrm>
            <a:off x="762000" y="4064000"/>
            <a:ext cx="10668000" cy="889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1" name="onet"/>
          <p:cNvSpPr txBox="1"/>
          <p:nvPr/>
        </p:nvSpPr>
        <p:spPr>
          <a:xfrm>
            <a:off x="762000" y="40640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一次只要一步</a:t>
            </a:r>
            <a:endParaRPr lang="en-US" sz="2200"/>
          </a:p>
        </p:txBody>
      </p:sp>
      <p:sp>
        <p:nvSpPr>
          <p:cNvPr id="12" name="note"/>
          <p:cNvSpPr txBox="1"/>
          <p:nvPr/>
        </p:nvSpPr>
        <p:spPr>
          <a:xfrm>
            <a:off x="762000" y="5334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设备别关，AI 的对话窗别关；</a:t>
            </a:r>
            <a:endParaRPr lang="en-US" sz="1600"/>
          </a:p>
          <a:p>
            <a:pPr algn="ctr">
              <a:lnSpc>
                <a:spcPct val="15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要喝水要洗手间的，自便。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第二幕 · 创作 ｜ 中途站会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还是站着，还是一句话</a:t>
            </a:r>
            <a:endParaRPr lang="en-US" sz="3400"/>
          </a:p>
        </p:txBody>
      </p:sp>
      <p:sp>
        <p:nvSpPr>
          <p:cNvPr id="5" name="b1"/>
          <p:cNvSpPr/>
          <p:nvPr/>
        </p:nvSpPr>
        <p:spPr>
          <a:xfrm>
            <a:off x="762000" y="1905000"/>
            <a:ext cx="76200" cy="889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6" name="t1"/>
          <p:cNvSpPr txBox="1"/>
          <p:nvPr/>
        </p:nvSpPr>
        <p:spPr>
          <a:xfrm>
            <a:off x="1117600" y="1905000"/>
            <a:ext cx="9652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我做到哪</a:t>
            </a:r>
            <a:endParaRPr lang="en-US" sz="2600"/>
          </a:p>
        </p:txBody>
      </p:sp>
      <p:sp>
        <p:nvSpPr>
          <p:cNvPr id="7" name="b2"/>
          <p:cNvSpPr/>
          <p:nvPr/>
        </p:nvSpPr>
        <p:spPr>
          <a:xfrm>
            <a:off x="762000" y="3098800"/>
            <a:ext cx="76200" cy="889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8" name="t2"/>
          <p:cNvSpPr txBox="1"/>
          <p:nvPr/>
        </p:nvSpPr>
        <p:spPr>
          <a:xfrm>
            <a:off x="1117600" y="3098800"/>
            <a:ext cx="9652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卡在哪</a:t>
            </a:r>
            <a:endParaRPr lang="en-US" sz="2600"/>
          </a:p>
        </p:txBody>
      </p:sp>
      <p:sp>
        <p:nvSpPr>
          <p:cNvPr id="9" name="b3"/>
          <p:cNvSpPr/>
          <p:nvPr/>
        </p:nvSpPr>
        <p:spPr>
          <a:xfrm>
            <a:off x="762000" y="4292600"/>
            <a:ext cx="76200" cy="889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t3"/>
          <p:cNvSpPr txBox="1"/>
          <p:nvPr/>
        </p:nvSpPr>
        <p:spPr>
          <a:xfrm>
            <a:off x="1117600" y="4292600"/>
            <a:ext cx="9652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下一步干什么</a:t>
            </a:r>
            <a:endParaRPr lang="en-US" sz="2600"/>
          </a:p>
        </p:txBody>
      </p:sp>
      <p:sp>
        <p:nvSpPr>
          <p:cNvPr id="11" name="hint"/>
          <p:cNvSpPr txBox="1"/>
          <p:nvPr/>
        </p:nvSpPr>
        <p:spPr>
          <a:xfrm>
            <a:off x="762000" y="5638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说不出"下一步"的，创作下半开场先救你</a:t>
            </a:r>
            <a:endParaRPr lang="en-US" sz="17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第二幕 · 创作 ｜ 收口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下半场任务：收口</a:t>
            </a:r>
            <a:endParaRPr lang="en-US" sz="3400"/>
          </a:p>
        </p:txBody>
      </p:sp>
      <p:sp>
        <p:nvSpPr>
          <p:cNvPr id="5" name="task"/>
          <p:cNvSpPr txBox="1"/>
          <p:nvPr/>
        </p:nvSpPr>
        <p:spPr>
          <a:xfrm>
            <a:off x="762000" y="17780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闭环还断在哪一段，就补哪一段</a:t>
            </a:r>
            <a:endParaRPr lang="en-US" sz="2400"/>
          </a:p>
        </p:txBody>
      </p:sp>
      <p:sp>
        <p:nvSpPr>
          <p:cNvPr id="6" name="warnbg"/>
          <p:cNvSpPr/>
          <p:nvPr/>
        </p:nvSpPr>
        <p:spPr>
          <a:xfrm>
            <a:off x="762000" y="2794000"/>
            <a:ext cx="10668000" cy="1143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7" name="warnt"/>
          <p:cNvSpPr txBox="1"/>
          <p:nvPr/>
        </p:nvSpPr>
        <p:spPr>
          <a:xfrm>
            <a:off x="1066800" y="279400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5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评审前 15 分钟，全场停手</a:t>
            </a:r>
            <a:endParaRPr lang="en-US" sz="2000"/>
          </a:p>
          <a:p>
            <a:pPr algn="ctr">
              <a:lnSpc>
                <a:spcPct val="145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不管做到哪，评审照常开始</a:t>
            </a:r>
            <a:endParaRPr lang="en-US" sz="2000"/>
          </a:p>
        </p:txBody>
      </p:sp>
      <p:sp>
        <p:nvSpPr>
          <p:cNvPr id="8" name="punch"/>
          <p:cNvSpPr txBox="1"/>
          <p:nvPr/>
        </p:nvSpPr>
        <p:spPr>
          <a:xfrm>
            <a:off x="762000" y="45720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评审不是等做完了才配拥有的东西——</a:t>
            </a:r>
            <a:endParaRPr lang="en-US" sz="2200"/>
          </a:p>
          <a:p>
            <a:pPr algn="ctr">
              <a:lnSpc>
                <a:spcPct val="14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半成品更该被挑刺</a:t>
            </a:r>
            <a:endParaRPr lang="en-US" sz="22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第三幕 · 评审与交接 ｜ 两段话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停手，准备两段话</a:t>
            </a:r>
            <a:endParaRPr lang="en-US" sz="3400"/>
          </a:p>
        </p:txBody>
      </p:sp>
      <p:sp>
        <p:nvSpPr>
          <p:cNvPr id="5" name="c1"/>
          <p:cNvSpPr/>
          <p:nvPr/>
        </p:nvSpPr>
        <p:spPr>
          <a:xfrm>
            <a:off x="1270000" y="1905000"/>
            <a:ext cx="4572000" cy="1397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6" name="c1t"/>
          <p:cNvSpPr txBox="1"/>
          <p:nvPr/>
        </p:nvSpPr>
        <p:spPr>
          <a:xfrm>
            <a:off x="1574800" y="2057400"/>
            <a:ext cx="39624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我的作品</a:t>
            </a:r>
            <a:endParaRPr lang="en-US" sz="2000"/>
          </a:p>
          <a:p>
            <a:pPr algn="l">
              <a:lnSpc>
                <a:spcPct val="145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现在能 ＿＿＿</a:t>
            </a:r>
            <a:endParaRPr lang="en-US" sz="2000"/>
          </a:p>
        </p:txBody>
      </p:sp>
      <p:sp>
        <p:nvSpPr>
          <p:cNvPr id="7" name="c2"/>
          <p:cNvSpPr/>
          <p:nvPr/>
        </p:nvSpPr>
        <p:spPr>
          <a:xfrm>
            <a:off x="6350000" y="1905000"/>
            <a:ext cx="4572000" cy="1397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8" name="c2t"/>
          <p:cNvSpPr txBox="1"/>
          <p:nvPr/>
        </p:nvSpPr>
        <p:spPr>
          <a:xfrm>
            <a:off x="6654800" y="2057400"/>
            <a:ext cx="39624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它现在</a:t>
            </a:r>
            <a:endParaRPr lang="en-US" sz="2000"/>
          </a:p>
          <a:p>
            <a:pPr algn="l">
              <a:lnSpc>
                <a:spcPct val="145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还不能 ＿＿＿</a:t>
            </a:r>
            <a:endParaRPr lang="en-US" sz="2000"/>
          </a:p>
        </p:txBody>
      </p:sp>
      <p:sp>
        <p:nvSpPr>
          <p:cNvPr id="9" name="warn"/>
          <p:cNvSpPr txBox="1"/>
          <p:nvPr/>
        </p:nvSpPr>
        <p:spPr>
          <a:xfrm>
            <a:off x="762000" y="4064000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5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评审对话必须喂</a:t>
            </a: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当前真实状态</a:t>
            </a: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——</a:t>
            </a:r>
            <a:endParaRPr lang="en-US" sz="1800"/>
          </a:p>
          <a:p>
            <a:pPr algn="ctr">
              <a:lnSpc>
                <a:spcPct val="155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拿立项时的旧描述糊弄的，退回重写；</a:t>
            </a:r>
            <a:endParaRPr lang="en-US" sz="1800"/>
          </a:p>
          <a:p>
            <a:pPr algn="ctr">
              <a:lnSpc>
                <a:spcPct val="155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吹牛的评审等于没评</a:t>
            </a:r>
            <a:endParaRPr lang="en-US" sz="18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第三幕 · 评审与交接 ｜ AI 评审官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8382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200" b="1">
                <a:solidFill>
                  <a:srgbClr val="000000"/>
                </a:solidFill>
                <a:latin typeface="MiSans"/>
                <a:ea typeface="MiSans"/>
              </a:rPr>
              <a:t>前面你让 AI 当同事，今天让它当评委</a:t>
            </a:r>
            <a:endParaRPr lang="en-US" sz="3200"/>
          </a:p>
        </p:txBody>
      </p:sp>
      <p:sp>
        <p:nvSpPr>
          <p:cNvPr id="5" name="j1"/>
          <p:cNvSpPr/>
          <p:nvPr/>
        </p:nvSpPr>
        <p:spPr>
          <a:xfrm>
            <a:off x="1016000" y="1905000"/>
            <a:ext cx="4826000" cy="1651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6" name="j1t"/>
          <p:cNvSpPr txBox="1"/>
          <p:nvPr/>
        </p:nvSpPr>
        <p:spPr>
          <a:xfrm>
            <a:off x="1320800" y="2057400"/>
            <a:ext cx="4216400" cy="1346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评委一 · 挑剔用户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你需求单上那个真人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挑 3 个刺</a:t>
            </a:r>
            <a:endParaRPr lang="en-US" sz="1700"/>
          </a:p>
        </p:txBody>
      </p:sp>
      <p:sp>
        <p:nvSpPr>
          <p:cNvPr id="7" name="j2"/>
          <p:cNvSpPr/>
          <p:nvPr/>
        </p:nvSpPr>
        <p:spPr>
          <a:xfrm>
            <a:off x="6350000" y="1905000"/>
            <a:ext cx="4826000" cy="1651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8" name="j2t"/>
          <p:cNvSpPr txBox="1"/>
          <p:nvPr/>
        </p:nvSpPr>
        <p:spPr>
          <a:xfrm>
            <a:off x="6654800" y="2057400"/>
            <a:ext cx="4216400" cy="1346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评委二 · Quinn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老熟人，测试工程师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5 条"用坏它"清单</a:t>
            </a:r>
            <a:endParaRPr lang="en-US" sz="1700"/>
          </a:p>
        </p:txBody>
      </p:sp>
      <p:sp>
        <p:nvSpPr>
          <p:cNvPr id="9" name="upnote"/>
          <p:cNvSpPr txBox="1"/>
          <p:nvPr/>
        </p:nvSpPr>
        <p:spPr>
          <a:xfrm>
            <a:off x="762000" y="39370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第 3 课它只挑过 1 个刺——今天起完整版：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3 刺＋5 清单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，以后每棒都是这个规格；</a:t>
            </a:r>
            <a:endParaRPr lang="en-US" sz="1600"/>
          </a:p>
          <a:p>
            <a:pPr algn="ctr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就在你原来的对话窗里接着聊，别新开窗口。</a:t>
            </a:r>
            <a:endParaRPr lang="en-US" sz="1600"/>
          </a:p>
        </p:txBody>
      </p:sp>
      <p:sp>
        <p:nvSpPr>
          <p:cNvPr id="10" name="redline"/>
          <p:cNvSpPr txBox="1"/>
          <p:nvPr/>
        </p:nvSpPr>
        <p:spPr>
          <a:xfrm>
            <a:off x="762000" y="50800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D84144"/>
                </a:solidFill>
                <a:latin typeface="MiSans"/>
                <a:ea typeface="MiSans"/>
              </a:rPr>
              <a:t>评审时间一到，准时开始——谁都挤不掉，包括讲师</a:t>
            </a:r>
            <a:endParaRPr lang="en-US" sz="22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第三幕 · 评审与交接 ｜ 挑剔用户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把这段话发给 AI（原对话窗，别新开）</a:t>
            </a:r>
            <a:endParaRPr lang="en-US" sz="3400"/>
          </a:p>
        </p:txBody>
      </p:sp>
      <p:sp>
        <p:nvSpPr>
          <p:cNvPr id="5" name="codebox"/>
          <p:cNvSpPr/>
          <p:nvPr/>
        </p:nvSpPr>
        <p:spPr>
          <a:xfrm>
            <a:off x="762000" y="1574800"/>
            <a:ext cx="10668000" cy="3175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6" name="codetext"/>
          <p:cNvSpPr txBox="1"/>
          <p:nvPr/>
        </p:nvSpPr>
        <p:spPr>
          <a:xfrm>
            <a:off x="1066800" y="1778000"/>
            <a:ext cx="10058400" cy="276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你现在是我的真实用户（名字：</a:t>
            </a:r>
            <a:r>
              <a:rPr lang="en-US" sz="15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，他/她的情况：</a:t>
            </a:r>
            <a:r>
              <a:rPr lang="en-US" sz="15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——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抄你需求单上的真人）。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我的作品目前做到了：</a:t>
            </a:r>
            <a:r>
              <a:rPr lang="en-US" sz="15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（当前真实状态，不吹牛）。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它现在还不能：</a:t>
            </a:r>
            <a:r>
              <a:rPr lang="en-US" sz="15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。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 b="1">
                <a:solidFill>
                  <a:srgbClr val="000000"/>
                </a:solidFill>
                <a:latin typeface="Source Code Pro"/>
                <a:ea typeface="Source Code Pro"/>
              </a:rPr>
              <a:t>你不许夸我。</a:t>
            </a: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以他/她的身份挑 3 个刺：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最让他在意的、最可能用不起来的、最疑惑的。每个刺一句话。</a:t>
            </a:r>
            <a:endParaRPr lang="en-US" sz="1500"/>
          </a:p>
        </p:txBody>
      </p:sp>
      <p:sp>
        <p:nvSpPr>
          <p:cNvPr id="7" name="redline"/>
          <p:cNvSpPr txBox="1"/>
          <p:nvPr/>
        </p:nvSpPr>
        <p:spPr>
          <a:xfrm>
            <a:off x="762000" y="51054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D84144"/>
                </a:solidFill>
                <a:latin typeface="MiSans"/>
                <a:ea typeface="MiSans"/>
              </a:rPr>
              <a:t>AI 开夸了？顶回去——"不许夸。只许挑刺，3 个，每个一句话。"</a:t>
            </a:r>
            <a:endParaRPr lang="en-US" sz="20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第三幕 · 评审与交接 ｜ Quinn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Quinn，还是你——5 条"用坏它"清单</a:t>
            </a:r>
            <a:endParaRPr lang="en-US" sz="3400"/>
          </a:p>
        </p:txBody>
      </p:sp>
      <p:sp>
        <p:nvSpPr>
          <p:cNvPr id="5" name="codebox"/>
          <p:cNvSpPr/>
          <p:nvPr/>
        </p:nvSpPr>
        <p:spPr>
          <a:xfrm>
            <a:off x="762000" y="1574800"/>
            <a:ext cx="10668000" cy="2159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6" name="codetext"/>
          <p:cNvSpPr txBox="1"/>
          <p:nvPr/>
        </p:nvSpPr>
        <p:spPr>
          <a:xfrm>
            <a:off x="1066800" y="1778000"/>
            <a:ext cx="10058400" cy="175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Quinn，还是你。基于当前状态：我的作品现在能</a:t>
            </a:r>
            <a:r>
              <a:rPr lang="en-US" sz="15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，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还不能</a:t>
            </a:r>
            <a:r>
              <a:rPr lang="en-US" sz="1500">
                <a:solidFill>
                  <a:srgbClr val="000000"/>
                </a:solidFill>
                <a:highlight>
                  <a:srgbClr val="F3D230"/>
                </a:highlight>
                <a:latin typeface="Source Code Pro"/>
                <a:ea typeface="Source Code Pro"/>
              </a:rPr>
              <a:t>＿＿＿</a:t>
            </a: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。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你是测试工程师，给我 5 条"怎么把它用坏/失灵"的清单，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具体到怎么操作、看什么现象。</a:t>
            </a:r>
            <a:endParaRPr lang="en-US" sz="1500"/>
          </a:p>
        </p:txBody>
      </p:sp>
      <p:sp>
        <p:nvSpPr>
          <p:cNvPr id="7" name="testbg"/>
          <p:cNvSpPr/>
          <p:nvPr/>
        </p:nvSpPr>
        <p:spPr>
          <a:xfrm>
            <a:off x="762000" y="4038600"/>
            <a:ext cx="10668000" cy="9906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8" name="testt"/>
          <p:cNvSpPr txBox="1"/>
          <p:nvPr/>
        </p:nvSpPr>
        <p:spPr>
          <a:xfrm>
            <a:off x="1066800" y="4038600"/>
            <a:ext cx="100584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清单到手，</a:t>
            </a: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抽 2 条当场实测</a:t>
            </a: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——</a:t>
            </a:r>
            <a:endParaRPr lang="en-US" sz="1900"/>
          </a:p>
          <a:p>
            <a:pPr algn="l">
              <a:lnSpc>
                <a:spcPct val="15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别客气，它就是让你把作品往坏里用的；结果记进学员文档的评审记录。</a:t>
            </a:r>
            <a:endParaRPr lang="en-US" sz="1900"/>
          </a:p>
        </p:txBody>
      </p:sp>
      <p:sp>
        <p:nvSpPr>
          <p:cNvPr id="9" name="prebg"/>
          <p:cNvSpPr/>
          <p:nvPr/>
        </p:nvSpPr>
        <p:spPr>
          <a:xfrm>
            <a:off x="762000" y="5334000"/>
            <a:ext cx="10668000" cy="11684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10" name="pret"/>
          <p:cNvSpPr txBox="1"/>
          <p:nvPr/>
        </p:nvSpPr>
        <p:spPr>
          <a:xfrm>
            <a:off x="1066800" y="5435600"/>
            <a:ext cx="100584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100" b="1">
                <a:solidFill>
                  <a:srgbClr val="000000"/>
                </a:solidFill>
                <a:latin typeface="MiSans"/>
                <a:ea typeface="MiSans"/>
              </a:rPr>
              <a:t>前提：这个对话窗里要有 BMAD 团队</a:t>
            </a: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——Quinn 是团队的测试工程师。</a:t>
            </a:r>
            <a:endParaRPr lang="en-US" sz="1100"/>
          </a:p>
          <a:p>
            <a:pPr algn="l">
              <a:lnSpc>
                <a:spcPct val="145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对话从第 4 课延续至今的直接发；</a:t>
            </a:r>
            <a:r>
              <a:rPr lang="en-US" sz="1100" b="1">
                <a:solidFill>
                  <a:srgbClr val="000000"/>
                </a:solidFill>
                <a:latin typeface="MiSans"/>
                <a:ea typeface="MiSans"/>
              </a:rPr>
              <a:t>新对话窗</a:t>
            </a: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先补一句背景：</a:t>
            </a:r>
            <a:endParaRPr lang="en-US" sz="1100"/>
          </a:p>
          <a:p>
            <a:pPr algn="l">
              <a:lnSpc>
                <a:spcPct val="145000"/>
              </a:lnSpc>
            </a:pPr>
            <a:r>
              <a:rPr lang="en-US" sz="1100">
                <a:solidFill>
                  <a:srgbClr val="000000"/>
                </a:solidFill>
                <a:latin typeface="MiSans"/>
                <a:ea typeface="MiSans"/>
              </a:rPr>
              <a:t>「这个对话里有 BMAD 团队：John（PM）、Sally（UX）、Winston（架构师）、Amelia（开发）、Quinn（测试）。记住了，后面我会直接找他们干活。」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第三幕 · 评审与交接 ｜ 决定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逐条决定——接受还是拒绝，都要写理由</a:t>
            </a:r>
            <a:endParaRPr lang="en-US" sz="3400"/>
          </a:p>
        </p:txBody>
      </p:sp>
      <p:sp>
        <p:nvSpPr>
          <p:cNvPr id="5" name="ac"/>
          <p:cNvSpPr/>
          <p:nvPr/>
        </p:nvSpPr>
        <p:spPr>
          <a:xfrm>
            <a:off x="1016000" y="1676400"/>
            <a:ext cx="4826000" cy="1905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6" name="act"/>
          <p:cNvSpPr txBox="1"/>
          <p:nvPr/>
        </p:nvSpPr>
        <p:spPr>
          <a:xfrm>
            <a:off x="1320800" y="1828800"/>
            <a:ext cx="4216400" cy="160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接受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当场能改的改（5 分钟以内能改的）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改不完的 → 写进棒交接单</a:t>
            </a: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"下一棒第一件事"</a:t>
            </a:r>
            <a:endParaRPr lang="en-US" sz="1700"/>
          </a:p>
        </p:txBody>
      </p:sp>
      <p:sp>
        <p:nvSpPr>
          <p:cNvPr id="7" name="rc"/>
          <p:cNvSpPr/>
          <p:nvPr/>
        </p:nvSpPr>
        <p:spPr>
          <a:xfrm>
            <a:off x="6350000" y="1676400"/>
            <a:ext cx="4826000" cy="1905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8" name="rct"/>
          <p:cNvSpPr txBox="1"/>
          <p:nvPr/>
        </p:nvSpPr>
        <p:spPr>
          <a:xfrm>
            <a:off x="6654800" y="1828800"/>
            <a:ext cx="4216400" cy="160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拒绝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写上理由——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拒绝有理由，和接受同分</a:t>
            </a:r>
            <a:endParaRPr lang="en-US" sz="1700"/>
          </a:p>
        </p:txBody>
      </p:sp>
      <p:sp>
        <p:nvSpPr>
          <p:cNvPr id="9" name="tip"/>
          <p:cNvSpPr txBox="1"/>
          <p:nvPr/>
        </p:nvSpPr>
        <p:spPr>
          <a:xfrm>
            <a:off x="762000" y="39370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5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"下一棒第一件事"不是"以后再说"——</a:t>
            </a:r>
            <a:endParaRPr lang="en-US" sz="1700"/>
          </a:p>
          <a:p>
            <a:pPr algn="ctr">
              <a:lnSpc>
                <a:spcPct val="145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是下一棒开工的</a:t>
            </a: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第一个动作</a:t>
            </a: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（具体、可验收）</a:t>
            </a:r>
            <a:endParaRPr lang="en-US" sz="1700"/>
          </a:p>
        </p:txBody>
      </p:sp>
      <p:sp>
        <p:nvSpPr>
          <p:cNvPr id="10" name="redline"/>
          <p:cNvSpPr txBox="1"/>
          <p:nvPr/>
        </p:nvSpPr>
        <p:spPr>
          <a:xfrm>
            <a:off x="762000" y="50800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100" b="1">
                <a:solidFill>
                  <a:srgbClr val="D84144"/>
                </a:solidFill>
                <a:latin typeface="MiSans"/>
                <a:ea typeface="MiSans"/>
              </a:rPr>
              <a:t>全盘接受的，我要找你聊——没主见比不改更危险</a:t>
            </a:r>
            <a:endParaRPr lang="en-US" sz="2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第三幕 · 评审与交接 ｜ 棒交接单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填棒交接单——你的马拉松接力棒</a:t>
            </a:r>
            <a:endParaRPr lang="en-US" sz="3400"/>
          </a:p>
        </p:txBody>
      </p:sp>
      <p:sp>
        <p:nvSpPr>
          <p:cNvPr id="5" name="codebox"/>
          <p:cNvSpPr/>
          <p:nvPr/>
        </p:nvSpPr>
        <p:spPr>
          <a:xfrm>
            <a:off x="762000" y="1574800"/>
            <a:ext cx="10668000" cy="26670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6" name="codetext"/>
          <p:cNvSpPr txBox="1"/>
          <p:nvPr/>
        </p:nvSpPr>
        <p:spPr>
          <a:xfrm>
            <a:off x="1066800" y="1778000"/>
            <a:ext cx="10058400" cy="226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# 棒交接单 · 第 1 棒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名字：＿＿＿　日期：＿＿＿</a:t>
            </a:r>
            <a:endParaRPr lang="en-US" sz="150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## 本棒做到哪（一句可验证的话：能演示什么）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## AI 评审最重要的 1 个刺 + 我的决定（接受/拒绝 + 理由）</a:t>
            </a:r>
            <a:endParaRPr lang="en-US" sz="15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Source Code Pro"/>
                <a:ea typeface="Source Code Pro"/>
              </a:rPr>
              <a:t>## 下一棒第一件事（具体、可验收）</a:t>
            </a:r>
            <a:endParaRPr lang="en-US" sz="1500"/>
          </a:p>
        </p:txBody>
      </p:sp>
      <p:sp>
        <p:nvSpPr>
          <p:cNvPr id="7" name="use"/>
          <p:cNvSpPr txBox="1"/>
          <p:nvPr/>
        </p:nvSpPr>
        <p:spPr>
          <a:xfrm>
            <a:off x="762000" y="4470400"/>
            <a:ext cx="10668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写进你的学员文档——第 9 课一进门，你就靠它找回今天的感觉；</a:t>
            </a:r>
            <a:endParaRPr lang="en-US" sz="1600"/>
          </a:p>
          <a:p>
            <a:pPr algn="ctr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也是缺课同学的回归锚。</a:t>
            </a:r>
            <a:endParaRPr lang="en-US" sz="1600"/>
          </a:p>
        </p:txBody>
      </p:sp>
      <p:sp>
        <p:nvSpPr>
          <p:cNvPr id="8" name="logbg"/>
          <p:cNvSpPr/>
          <p:nvPr/>
        </p:nvSpPr>
        <p:spPr>
          <a:xfrm>
            <a:off x="762000" y="5384800"/>
            <a:ext cx="10668000" cy="889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9" name="logt"/>
          <p:cNvSpPr txBox="1"/>
          <p:nvPr/>
        </p:nvSpPr>
        <p:spPr>
          <a:xfrm>
            <a:off x="1066800" y="5384800"/>
            <a:ext cx="10058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日志四句照旧，"做了"那句必填——</a:t>
            </a:r>
            <a:endParaRPr lang="en-US" sz="1600"/>
          </a:p>
          <a:p>
            <a:pPr algn="l">
              <a:lnSpc>
                <a:spcPct val="145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我的作品第一版能＿＿＿，评审给我挑了＿＿＿个刺，我接受了＿＿＿、拒绝了＿＿＿。</a:t>
            </a:r>
            <a:endParaRPr lang="en-US" sz="16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收尾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今天，你跑完了一个完整的迭代</a:t>
            </a:r>
            <a:endParaRPr lang="en-US" sz="3400"/>
          </a:p>
        </p:txBody>
      </p:sp>
      <p:sp>
        <p:nvSpPr>
          <p:cNvPr id="5" name="reviewbar"/>
          <p:cNvSpPr/>
          <p:nvPr/>
        </p:nvSpPr>
        <p:spPr>
          <a:xfrm>
            <a:off x="762000" y="1574800"/>
            <a:ext cx="76200" cy="32004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6" name="reviewcard"/>
          <p:cNvSpPr/>
          <p:nvPr/>
        </p:nvSpPr>
        <p:spPr>
          <a:xfrm>
            <a:off x="838200" y="1574800"/>
            <a:ext cx="5334000" cy="32004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7" name="reviewtext"/>
          <p:cNvSpPr txBox="1"/>
          <p:nvPr/>
        </p:nvSpPr>
        <p:spPr>
          <a:xfrm>
            <a:off x="1143000" y="1752600"/>
            <a:ext cx="4724400" cy="284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✅ 从一张需求单，做出了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能演示的第一版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——它真的感觉到了什么、真的做出了反应</a:t>
            </a:r>
            <a:endParaRPr lang="en-US" sz="160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✅ 被两位评委挑了一轮刺，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还活着</a:t>
            </a:r>
            <a:endParaRPr lang="en-US" sz="160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✅ 做了接受/拒绝的决定，还知道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下一棒第一件事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干什么</a:t>
            </a:r>
            <a:endParaRPr lang="en-US" sz="1600"/>
          </a:p>
        </p:txBody>
      </p:sp>
      <p:sp>
        <p:nvSpPr>
          <p:cNvPr id="8" name="nextcard"/>
          <p:cNvSpPr/>
          <p:nvPr/>
        </p:nvSpPr>
        <p:spPr>
          <a:xfrm>
            <a:off x="6553200" y="1574800"/>
            <a:ext cx="4876800" cy="32004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9" name="nexttext"/>
          <p:cNvSpPr txBox="1"/>
          <p:nvPr/>
        </p:nvSpPr>
        <p:spPr>
          <a:xfrm>
            <a:off x="6858000" y="1752600"/>
            <a:ext cx="4267200" cy="284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下次课：马拉松第二棒</a:t>
            </a:r>
            <a:endParaRPr lang="en-US" sz="160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两个家（aily 和网页版）一起用，你的作品要长新本事。</a:t>
            </a:r>
            <a:endParaRPr lang="en-US" sz="1600"/>
          </a:p>
          <a:p>
            <a:pPr algn="l">
              <a:lnSpc>
                <a:spcPct val="155000"/>
              </a:lnSpc>
              <a:spcBef>
                <a:spcPts val="800"/>
              </a:spcBef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带上你的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棒交接单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和</a:t>
            </a: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双视图小抄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。</a:t>
            </a:r>
            <a:endParaRPr lang="en-US" sz="1600"/>
          </a:p>
        </p:txBody>
      </p:sp>
      <p:sp>
        <p:nvSpPr>
          <p:cNvPr id="10" name="footnote"/>
          <p:cNvSpPr txBox="1"/>
          <p:nvPr/>
        </p:nvSpPr>
        <p:spPr>
          <a:xfrm>
            <a:off x="762000" y="50800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模块归还非在用件，主套件入箱，立项墙便签不动。</a:t>
            </a:r>
            <a:endParaRPr lang="en-US" sz="15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762000" y="2667000"/>
            <a:ext cx="101600" cy="1524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1168400" y="25400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rgbClr val="F3D230"/>
                </a:solidFill>
                <a:latin typeface="MiSans"/>
                <a:ea typeface="MiSans"/>
              </a:rPr>
              <a:t>附录 · 完整案例拆解</a:t>
            </a:r>
            <a:endParaRPr lang="en-US" sz="1600"/>
          </a:p>
        </p:txBody>
      </p:sp>
      <p:sp>
        <p:nvSpPr>
          <p:cNvPr id="4" name="title"/>
          <p:cNvSpPr txBox="1"/>
          <p:nvPr/>
        </p:nvSpPr>
        <p:spPr>
          <a:xfrm>
            <a:off x="1168400" y="2971800"/>
            <a:ext cx="9906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FFFFFF"/>
                </a:solidFill>
                <a:latin typeface="MiSans"/>
                <a:ea typeface="MiSans"/>
              </a:rPr>
              <a:t>Brandy：把软件能力，外扩到真实硬件</a:t>
            </a:r>
            <a:endParaRPr lang="en-US" sz="3800"/>
          </a:p>
        </p:txBody>
      </p:sp>
      <p:sp>
        <p:nvSpPr>
          <p:cNvPr id="5" name="sub"/>
          <p:cNvSpPr txBox="1"/>
          <p:nvPr/>
        </p:nvSpPr>
        <p:spPr>
          <a:xfrm>
            <a:off x="1168400" y="3759200"/>
            <a:ext cx="990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FFFFFF"/>
                </a:solidFill>
                <a:latin typeface="MiSans"/>
                <a:ea typeface="MiSans"/>
              </a:rPr>
              <a:t>两个真实项目，走通「需求 → 最小验证 → 排错」的完整一遍</a:t>
            </a:r>
            <a:endParaRPr lang="en-US" sz="1800"/>
          </a:p>
        </p:txBody>
      </p:sp>
      <p:sp>
        <p:nvSpPr>
          <p:cNvPr id="6" name="credit"/>
          <p:cNvSpPr txBox="1"/>
          <p:nvPr/>
        </p:nvSpPr>
        <p:spPr>
          <a:xfrm>
            <a:off x="1168400" y="4318000"/>
            <a:ext cx="990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F3D230"/>
                </a:solidFill>
                <a:latin typeface="MiSans"/>
                <a:ea typeface="MiSans"/>
              </a:rPr>
              <a:t>Brandy（李世雯）· Seeed 应用工程师 · 柴火创客社区技术分享</a:t>
            </a:r>
            <a:endParaRPr lang="en-US" sz="14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她是谁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Brandy：天天和硬件打交道的工程师</a:t>
            </a:r>
            <a:endParaRPr lang="en-US" sz="3400"/>
          </a:p>
        </p:txBody>
      </p:sp>
      <p:pic>
        <p:nvPicPr>
          <p:cNvPr id="5" name="photo"/>
          <p:cNvPicPr/>
          <p:nvPr/>
        </p:nvPicPr>
        <p:blipFill>
          <a:blip r:embed="rIdImage3"/>
          <a:srcRect l="-21712" r="-21712"/>
          <a:stretch>
            <a:fillRect/>
          </a:stretch>
        </p:blipFill>
        <p:spPr>
          <a:xfrm>
            <a:off x="762000" y="1651000"/>
            <a:ext cx="4826000" cy="4572000"/>
          </a:xfrm>
          <a:prstGeom prst="rect">
            <a:avLst/>
          </a:prstGeom>
          <a:ln>
            <a:noFill/>
          </a:ln>
        </p:spPr>
      </p:pic>
      <p:sp>
        <p:nvSpPr>
          <p:cNvPr id="6" name="facts"/>
          <p:cNvSpPr txBox="1"/>
          <p:nvPr/>
        </p:nvSpPr>
        <p:spPr>
          <a:xfrm>
            <a:off x="6096000" y="1778000"/>
            <a:ext cx="5334000" cy="431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7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李世雯（Brandy）</a:t>
            </a:r>
            <a:endParaRPr lang="en-US" sz="1900"/>
          </a:p>
          <a:p>
            <a:pPr algn="l">
              <a:lnSpc>
                <a:spcPct val="17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· Seeed studio </a:t>
            </a: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应用工程师（AE）</a:t>
            </a: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——就是你们手上这些开发板那家公司的</a:t>
            </a:r>
            <a:endParaRPr lang="en-US" sz="1900"/>
          </a:p>
          <a:p>
            <a:pPr algn="l">
              <a:lnSpc>
                <a:spcPct val="17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· 主要从事 </a:t>
            </a: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Maker</a:t>
            </a: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 方向</a:t>
            </a:r>
            <a:endParaRPr lang="en-US" sz="1900"/>
          </a:p>
          <a:p>
            <a:pPr algn="l">
              <a:lnSpc>
                <a:spcPct val="17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· 喜欢做一些</a:t>
            </a: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电子玩具</a:t>
            </a:r>
            <a:endParaRPr lang="en-US" sz="1900"/>
          </a:p>
          <a:p>
            <a:pPr algn="l">
              <a:lnSpc>
                <a:spcPct val="17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· 在柴火创客社区做过这场技术分享</a:t>
            </a:r>
            <a:endParaRPr lang="en-US" sz="19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这场分享给什么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不只看成品——带走一套可复用的方法</a:t>
            </a:r>
            <a:endParaRPr lang="en-US" sz="3400"/>
          </a:p>
        </p:txBody>
      </p:sp>
      <p:sp>
        <p:nvSpPr>
          <p:cNvPr id="5" name="c1"/>
          <p:cNvSpPr/>
          <p:nvPr/>
        </p:nvSpPr>
        <p:spPr>
          <a:xfrm>
            <a:off x="762000" y="1905000"/>
            <a:ext cx="3302000" cy="2794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6" name="c1t"/>
          <p:cNvSpPr txBox="1"/>
          <p:nvPr/>
        </p:nvSpPr>
        <p:spPr>
          <a:xfrm>
            <a:off x="1066800" y="2133600"/>
            <a:ext cx="2692400" cy="233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6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第一步</a:t>
            </a:r>
            <a:endParaRPr lang="en-US" sz="2000"/>
          </a:p>
          <a:p>
            <a:pPr algn="l">
              <a:lnSpc>
                <a:spcPct val="16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问什么</a:t>
            </a:r>
            <a:endParaRPr lang="en-US" sz="2000"/>
          </a:p>
        </p:txBody>
      </p:sp>
      <p:sp>
        <p:nvSpPr>
          <p:cNvPr id="7" name="c2"/>
          <p:cNvSpPr/>
          <p:nvPr/>
        </p:nvSpPr>
        <p:spPr>
          <a:xfrm>
            <a:off x="4445000" y="1905000"/>
            <a:ext cx="3302000" cy="2794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8" name="c2t"/>
          <p:cNvSpPr txBox="1"/>
          <p:nvPr/>
        </p:nvSpPr>
        <p:spPr>
          <a:xfrm>
            <a:off x="4749800" y="2133600"/>
            <a:ext cx="2692400" cy="233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6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每一步</a:t>
            </a:r>
            <a:endParaRPr lang="en-US" sz="2000"/>
          </a:p>
          <a:p>
            <a:pPr algn="l">
              <a:lnSpc>
                <a:spcPct val="16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验证什么</a:t>
            </a:r>
            <a:endParaRPr lang="en-US" sz="2000"/>
          </a:p>
        </p:txBody>
      </p:sp>
      <p:sp>
        <p:nvSpPr>
          <p:cNvPr id="9" name="c3"/>
          <p:cNvSpPr/>
          <p:nvPr/>
        </p:nvSpPr>
        <p:spPr>
          <a:xfrm>
            <a:off x="8128000" y="1905000"/>
            <a:ext cx="3302000" cy="2794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0" name="c3t"/>
          <p:cNvSpPr txBox="1"/>
          <p:nvPr/>
        </p:nvSpPr>
        <p:spPr>
          <a:xfrm>
            <a:off x="8432800" y="2133600"/>
            <a:ext cx="2692400" cy="233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6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怎样把问题</a:t>
            </a:r>
            <a:endParaRPr lang="en-US" sz="2000"/>
          </a:p>
          <a:p>
            <a:pPr algn="l">
              <a:lnSpc>
                <a:spcPct val="16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说给 AI 听</a:t>
            </a:r>
            <a:endParaRPr lang="en-US" sz="2000"/>
          </a:p>
        </p:txBody>
      </p:sp>
      <p:sp>
        <p:nvSpPr>
          <p:cNvPr id="11" name="bottom"/>
          <p:cNvSpPr txBox="1"/>
          <p:nvPr/>
        </p:nvSpPr>
        <p:spPr>
          <a:xfrm>
            <a:off x="762000" y="5334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用两个真实项目讲透：需求、接线、固件、电脑端、外壳与排错</a:t>
            </a:r>
            <a:endParaRPr lang="en-US" sz="20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大背景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过去人适应电脑，现在人和 AI 协作</a:t>
            </a:r>
            <a:endParaRPr lang="en-US" sz="3400"/>
          </a:p>
        </p:txBody>
      </p:sp>
      <p:sp>
        <p:nvSpPr>
          <p:cNvPr id="5" name="past"/>
          <p:cNvSpPr/>
          <p:nvPr/>
        </p:nvSpPr>
        <p:spPr>
          <a:xfrm>
            <a:off x="762000" y="1778000"/>
            <a:ext cx="5080000" cy="3048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6" name="pastt"/>
          <p:cNvSpPr txBox="1"/>
          <p:nvPr/>
        </p:nvSpPr>
        <p:spPr>
          <a:xfrm>
            <a:off x="1092200" y="2006600"/>
            <a:ext cx="4419600" cy="259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8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过去</a:t>
            </a:r>
            <a:endParaRPr lang="en-US" sz="2000"/>
          </a:p>
          <a:p>
            <a:pPr algn="l">
              <a:lnSpc>
                <a:spcPct val="18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键盘</a:t>
            </a:r>
            <a:endParaRPr lang="en-US" sz="2000"/>
          </a:p>
          <a:p>
            <a:pPr algn="l">
              <a:lnSpc>
                <a:spcPct val="18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IDE</a:t>
            </a:r>
            <a:endParaRPr lang="en-US" sz="2000"/>
          </a:p>
          <a:p>
            <a:pPr algn="l">
              <a:lnSpc>
                <a:spcPct val="18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运行</a:t>
            </a:r>
            <a:endParaRPr lang="en-US" sz="2000"/>
          </a:p>
          <a:p>
            <a:pPr algn="l">
              <a:lnSpc>
                <a:spcPct val="18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机器怎么要求，人就怎么来</a:t>
            </a:r>
            <a:endParaRPr lang="en-US" sz="2000"/>
          </a:p>
        </p:txBody>
      </p:sp>
      <p:sp>
        <p:nvSpPr>
          <p:cNvPr id="7" name="now"/>
          <p:cNvSpPr/>
          <p:nvPr/>
        </p:nvSpPr>
        <p:spPr>
          <a:xfrm>
            <a:off x="6350000" y="1778000"/>
            <a:ext cx="5080000" cy="3048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8" name="nowt"/>
          <p:cNvSpPr txBox="1"/>
          <p:nvPr/>
        </p:nvSpPr>
        <p:spPr>
          <a:xfrm>
            <a:off x="6680200" y="2006600"/>
            <a:ext cx="4419600" cy="259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8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现在</a:t>
            </a:r>
            <a:endParaRPr lang="en-US" sz="2000"/>
          </a:p>
          <a:p>
            <a:pPr algn="l">
              <a:lnSpc>
                <a:spcPct val="18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想法 → 告诉 AI</a:t>
            </a:r>
            <a:endParaRPr lang="en-US" sz="2000"/>
          </a:p>
          <a:p>
            <a:pPr algn="l">
              <a:lnSpc>
                <a:spcPct val="18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等待 → 修改 → 继续</a:t>
            </a:r>
            <a:endParaRPr lang="en-US" sz="2000"/>
          </a:p>
          <a:p>
            <a:pPr algn="l">
              <a:lnSpc>
                <a:spcPct val="18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人提要求，AI 干活</a:t>
            </a:r>
            <a:endParaRPr lang="en-US" sz="2000"/>
          </a:p>
        </p:txBody>
      </p:sp>
      <p:sp>
        <p:nvSpPr>
          <p:cNvPr id="9" name="bottombar"/>
          <p:cNvSpPr/>
          <p:nvPr/>
        </p:nvSpPr>
        <p:spPr>
          <a:xfrm>
            <a:off x="762000" y="5334000"/>
            <a:ext cx="10668000" cy="711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bottombart"/>
          <p:cNvSpPr txBox="1"/>
          <p:nvPr/>
        </p:nvSpPr>
        <p:spPr>
          <a:xfrm>
            <a:off x="1066800" y="5334000"/>
            <a:ext cx="100584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写代码的动作变少了，协作的动作变多了</a:t>
            </a:r>
            <a:endParaRPr lang="en-US" sz="19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她的起点：一个真实的烦恼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真正浪费时间的，不是写代码</a:t>
            </a:r>
            <a:endParaRPr lang="en-US" sz="3400"/>
          </a:p>
        </p:txBody>
      </p:sp>
      <p:sp>
        <p:nvSpPr>
          <p:cNvPr id="5" name="big"/>
          <p:cNvSpPr txBox="1"/>
          <p:nvPr/>
        </p:nvSpPr>
        <p:spPr>
          <a:xfrm>
            <a:off x="762000" y="1778000"/>
            <a:ext cx="10668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4000" b="1">
                <a:solidFill>
                  <a:srgbClr val="000000"/>
                </a:solidFill>
                <a:latin typeface="MiSans"/>
                <a:ea typeface="MiSans"/>
              </a:rPr>
              <a:t>90% 的注意力，被两件事反复打断</a:t>
            </a:r>
            <a:endParaRPr lang="en-US" sz="4000"/>
          </a:p>
        </p:txBody>
      </p:sp>
      <p:sp>
        <p:nvSpPr>
          <p:cNvPr id="6" name="chip1"/>
          <p:cNvSpPr/>
          <p:nvPr/>
        </p:nvSpPr>
        <p:spPr>
          <a:xfrm>
            <a:off x="1524000" y="3302000"/>
            <a:ext cx="4064000" cy="1397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7" name="chip1t"/>
          <p:cNvSpPr txBox="1"/>
          <p:nvPr/>
        </p:nvSpPr>
        <p:spPr>
          <a:xfrm>
            <a:off x="1778000" y="3454400"/>
            <a:ext cx="3556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① 不停输入 Prompt</a:t>
            </a:r>
            <a:endParaRPr lang="en-US" sz="1900"/>
          </a:p>
          <a:p>
            <a:pPr algn="ctr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每说一句都要敲一大段字</a:t>
            </a:r>
            <a:endParaRPr lang="en-US" sz="1900"/>
          </a:p>
        </p:txBody>
      </p:sp>
      <p:sp>
        <p:nvSpPr>
          <p:cNvPr id="8" name="chip2"/>
          <p:cNvSpPr/>
          <p:nvPr/>
        </p:nvSpPr>
        <p:spPr>
          <a:xfrm>
            <a:off x="6604000" y="3302000"/>
            <a:ext cx="4064000" cy="1397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9" name="chip2t"/>
          <p:cNvSpPr txBox="1"/>
          <p:nvPr/>
        </p:nvSpPr>
        <p:spPr>
          <a:xfrm>
            <a:off x="6858000" y="3454400"/>
            <a:ext cx="3556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② 不停等待 AI</a:t>
            </a:r>
            <a:endParaRPr lang="en-US" sz="1900"/>
          </a:p>
          <a:p>
            <a:pPr algn="ctr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等着等着，思路就断了</a:t>
            </a:r>
            <a:endParaRPr lang="en-US" sz="1900"/>
          </a:p>
        </p:txBody>
      </p:sp>
      <p:sp>
        <p:nvSpPr>
          <p:cNvPr id="10" name="so"/>
          <p:cNvSpPr txBox="1"/>
          <p:nvPr/>
        </p:nvSpPr>
        <p:spPr>
          <a:xfrm>
            <a:off x="762000" y="52070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她想：</a:t>
            </a: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能不能不按键盘，把「说需求」压缩成一个动作？</a:t>
            </a:r>
            <a:endParaRPr lang="en-US" sz="20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两个器件，同一套方法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一主一辅，验证同一套「硬件外扩法」</a:t>
            </a:r>
            <a:endParaRPr lang="en-US" sz="3400"/>
          </a:p>
        </p:txBody>
      </p:sp>
      <p:pic>
        <p:nvPicPr>
          <p:cNvPr id="5" name="img1"/>
          <p:cNvPicPr/>
          <p:nvPr/>
        </p:nvPicPr>
        <p:blipFill>
          <a:blip r:embed="rIdImage4"/>
          <a:srcRect l="-12500" r="-12500"/>
          <a:stretch>
            <a:fillRect/>
          </a:stretch>
        </p:blipFill>
        <p:spPr>
          <a:xfrm>
            <a:off x="762000" y="1651000"/>
            <a:ext cx="5080000" cy="3048000"/>
          </a:xfrm>
          <a:prstGeom prst="rect">
            <a:avLst/>
          </a:prstGeom>
          <a:ln>
            <a:noFill/>
          </a:ln>
        </p:spPr>
      </p:pic>
      <p:sp>
        <p:nvSpPr>
          <p:cNvPr id="6" name="cap1"/>
          <p:cNvSpPr txBox="1"/>
          <p:nvPr/>
        </p:nvSpPr>
        <p:spPr>
          <a:xfrm>
            <a:off x="762000" y="4800600"/>
            <a:ext cx="508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5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主案例 · 语音键盘</a:t>
            </a:r>
            <a:endParaRPr lang="en-US" sz="1700"/>
          </a:p>
          <a:p>
            <a:pPr algn="ctr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把声音接入电脑：从单键，到四键、USB、语音识别与外壳</a:t>
            </a:r>
            <a:endParaRPr lang="en-US" sz="1700"/>
          </a:p>
        </p:txBody>
      </p:sp>
      <p:pic>
        <p:nvPicPr>
          <p:cNvPr id="7" name="img2"/>
          <p:cNvPicPr/>
          <p:nvPr/>
        </p:nvPicPr>
        <p:blipFill>
          <a:blip r:embed="rIdImage5"/>
          <a:srcRect l="-12500" r="-12500"/>
          <a:stretch>
            <a:fillRect/>
          </a:stretch>
        </p:blipFill>
        <p:spPr>
          <a:xfrm>
            <a:off x="6350000" y="1651000"/>
            <a:ext cx="5080000" cy="3048000"/>
          </a:xfrm>
          <a:prstGeom prst="rect">
            <a:avLst/>
          </a:prstGeom>
          <a:ln>
            <a:noFill/>
          </a:ln>
        </p:spPr>
      </p:pic>
      <p:sp>
        <p:nvSpPr>
          <p:cNvPr id="8" name="cap2"/>
          <p:cNvSpPr txBox="1"/>
          <p:nvPr/>
        </p:nvSpPr>
        <p:spPr>
          <a:xfrm>
            <a:off x="6350000" y="4800600"/>
            <a:ext cx="5080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5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迁移案例 · 电子沙漏</a:t>
            </a:r>
            <a:endParaRPr lang="en-US" sz="1700"/>
          </a:p>
          <a:p>
            <a:pPr algn="ctr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把姿态变成动画：传感器、坐标、粒子算法与双矩阵排错</a:t>
            </a:r>
            <a:endParaRPr lang="en-US" sz="17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从哪步开始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做个真硬件，过去要会多少东西？</a:t>
            </a:r>
            <a:endParaRPr lang="en-US" sz="3400"/>
          </a:p>
        </p:txBody>
      </p:sp>
      <p:sp>
        <p:nvSpPr>
          <p:cNvPr id="5" name="wall"/>
          <p:cNvSpPr txBox="1"/>
          <p:nvPr/>
        </p:nvSpPr>
        <p:spPr>
          <a:xfrm>
            <a:off x="762000" y="1651000"/>
            <a:ext cx="10668000" cy="279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9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代码 ｜ 固件 ｜ API ｜ PCB ｜ 原理图 ｜ 布线 ｜ 3D ｜ 外壳 ｜ 结构 ｜ UI ｜ 交互 ｜ 动画 ｜ 网页 ｜ 服务 ｜ 控制台</a:t>
            </a:r>
            <a:endParaRPr lang="en-US" sz="2000"/>
          </a:p>
        </p:txBody>
      </p:sp>
      <p:sp>
        <p:nvSpPr>
          <p:cNvPr id="6" name="pastline"/>
          <p:cNvSpPr txBox="1"/>
          <p:nvPr/>
        </p:nvSpPr>
        <p:spPr>
          <a:xfrm>
            <a:off x="762000" y="45212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过去：跨团队、跨工具、跨知识域，缺一环就做不出来</a:t>
            </a:r>
            <a:endParaRPr lang="en-US" sz="1700"/>
          </a:p>
        </p:txBody>
      </p:sp>
      <p:sp>
        <p:nvSpPr>
          <p:cNvPr id="7" name="bottombar"/>
          <p:cNvSpPr/>
          <p:nvPr/>
        </p:nvSpPr>
        <p:spPr>
          <a:xfrm>
            <a:off x="762000" y="5334000"/>
            <a:ext cx="10668000" cy="762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8" name="bottombart"/>
          <p:cNvSpPr txBox="1"/>
          <p:nvPr/>
        </p:nvSpPr>
        <p:spPr>
          <a:xfrm>
            <a:off x="1066800" y="5334000"/>
            <a:ext cx="10058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现在：先做出一个能工作的版本，再逐步变好</a:t>
            </a:r>
            <a:endParaRPr lang="en-US" sz="20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方法概览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从模糊想法到真实硬件：四样工具</a:t>
            </a:r>
            <a:endParaRPr lang="en-US" sz="3400"/>
          </a:p>
        </p:txBody>
      </p:sp>
      <p:sp>
        <p:nvSpPr>
          <p:cNvPr id="5" name="t1"/>
          <p:cNvSpPr/>
          <p:nvPr/>
        </p:nvSpPr>
        <p:spPr>
          <a:xfrm>
            <a:off x="762000" y="1905000"/>
            <a:ext cx="5080000" cy="1778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6" name="t1t"/>
          <p:cNvSpPr txBox="1"/>
          <p:nvPr/>
        </p:nvSpPr>
        <p:spPr>
          <a:xfrm>
            <a:off x="1092200" y="2108200"/>
            <a:ext cx="44196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SOP</a:t>
            </a:r>
            <a:endParaRPr lang="en-US" sz="1900"/>
          </a:p>
          <a:p>
            <a:pPr algn="l">
              <a:lnSpc>
                <a:spcPct val="15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先做什么、后做什么，写清楚</a:t>
            </a:r>
            <a:endParaRPr lang="en-US" sz="1900"/>
          </a:p>
        </p:txBody>
      </p:sp>
      <p:sp>
        <p:nvSpPr>
          <p:cNvPr id="7" name="t2"/>
          <p:cNvSpPr/>
          <p:nvPr/>
        </p:nvSpPr>
        <p:spPr>
          <a:xfrm>
            <a:off x="6350000" y="1905000"/>
            <a:ext cx="5080000" cy="1778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8" name="t2t"/>
          <p:cNvSpPr txBox="1"/>
          <p:nvPr/>
        </p:nvSpPr>
        <p:spPr>
          <a:xfrm>
            <a:off x="6680200" y="2108200"/>
            <a:ext cx="44196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思维导图</a:t>
            </a:r>
            <a:endParaRPr lang="en-US" sz="1900"/>
          </a:p>
          <a:p>
            <a:pPr algn="l">
              <a:lnSpc>
                <a:spcPct val="15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把 AI 输出的一大堆话，理出结构</a:t>
            </a:r>
            <a:endParaRPr lang="en-US" sz="1900"/>
          </a:p>
        </p:txBody>
      </p:sp>
      <p:sp>
        <p:nvSpPr>
          <p:cNvPr id="9" name="t3"/>
          <p:cNvSpPr/>
          <p:nvPr/>
        </p:nvSpPr>
        <p:spPr>
          <a:xfrm>
            <a:off x="762000" y="4064000"/>
            <a:ext cx="5080000" cy="1778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0" name="t3t"/>
          <p:cNvSpPr txBox="1"/>
          <p:nvPr/>
        </p:nvSpPr>
        <p:spPr>
          <a:xfrm>
            <a:off x="1092200" y="4267200"/>
            <a:ext cx="44196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图片标注</a:t>
            </a:r>
            <a:endParaRPr lang="en-US" sz="1900"/>
          </a:p>
          <a:p>
            <a:pPr algn="l">
              <a:lnSpc>
                <a:spcPct val="15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画个圈、连条线，精准告诉 AI 问题在哪</a:t>
            </a:r>
            <a:endParaRPr lang="en-US" sz="1900"/>
          </a:p>
        </p:txBody>
      </p:sp>
      <p:sp>
        <p:nvSpPr>
          <p:cNvPr id="11" name="t4"/>
          <p:cNvSpPr/>
          <p:nvPr/>
        </p:nvSpPr>
        <p:spPr>
          <a:xfrm>
            <a:off x="6350000" y="4064000"/>
            <a:ext cx="5080000" cy="1778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2" name="t4t"/>
          <p:cNvSpPr txBox="1"/>
          <p:nvPr/>
        </p:nvSpPr>
        <p:spPr>
          <a:xfrm>
            <a:off x="6680200" y="4267200"/>
            <a:ext cx="44196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可验证原型</a:t>
            </a:r>
            <a:endParaRPr lang="en-US" sz="1900"/>
          </a:p>
          <a:p>
            <a:pPr algn="l">
              <a:lnSpc>
                <a:spcPct val="15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每一步都有东西能验，不靠感觉</a:t>
            </a:r>
            <a:endParaRPr lang="en-US" sz="1900"/>
          </a:p>
        </p:txBody>
      </p:sp>
      <p:sp>
        <p:nvSpPr>
          <p:cNvPr id="13" name="bottom"/>
          <p:cNvSpPr txBox="1"/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注意：这四样，没有一样是写代码</a:t>
            </a:r>
            <a:endParaRPr lang="en-US" sz="16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现场小练习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「帮我做一个可以控制 AI 的按钮」——还缺什么？</a:t>
            </a:r>
            <a:endParaRPr lang="en-US" sz="3400"/>
          </a:p>
        </p:txBody>
      </p:sp>
      <p:sp>
        <p:nvSpPr>
          <p:cNvPr id="5" name="promptbg"/>
          <p:cNvSpPr/>
          <p:nvPr/>
        </p:nvSpPr>
        <p:spPr>
          <a:xfrm>
            <a:off x="762000" y="1651000"/>
            <a:ext cx="10668000" cy="889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" name="promptt"/>
          <p:cNvSpPr txBox="1"/>
          <p:nvPr/>
        </p:nvSpPr>
        <p:spPr>
          <a:xfrm>
            <a:off x="1066800" y="1651000"/>
            <a:ext cx="10058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「帮我做一个可以控制 AI 的按钮」</a:t>
            </a:r>
            <a:endParaRPr lang="en-US" sz="2000"/>
          </a:p>
        </p:txBody>
      </p:sp>
      <p:sp>
        <p:nvSpPr>
          <p:cNvPr id="7" name="g1"/>
          <p:cNvSpPr txBox="1"/>
          <p:nvPr/>
        </p:nvSpPr>
        <p:spPr>
          <a:xfrm>
            <a:off x="762000" y="3048000"/>
            <a:ext cx="3302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① 开发板？</a:t>
            </a:r>
            <a:endParaRPr lang="en-US" sz="1800"/>
          </a:p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用哪块板</a:t>
            </a:r>
            <a:endParaRPr lang="en-US" sz="1800"/>
          </a:p>
        </p:txBody>
      </p:sp>
      <p:sp>
        <p:nvSpPr>
          <p:cNvPr id="8" name="g2"/>
          <p:cNvSpPr txBox="1"/>
          <p:nvPr/>
        </p:nvSpPr>
        <p:spPr>
          <a:xfrm>
            <a:off x="4445000" y="3048000"/>
            <a:ext cx="3302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② 按键数量？</a:t>
            </a:r>
            <a:endParaRPr lang="en-US" sz="1800"/>
          </a:p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几个键</a:t>
            </a:r>
            <a:endParaRPr lang="en-US" sz="1800"/>
          </a:p>
        </p:txBody>
      </p:sp>
      <p:sp>
        <p:nvSpPr>
          <p:cNvPr id="9" name="g3"/>
          <p:cNvSpPr txBox="1"/>
          <p:nvPr/>
        </p:nvSpPr>
        <p:spPr>
          <a:xfrm>
            <a:off x="8128000" y="3048000"/>
            <a:ext cx="3302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③ 输入动作？</a:t>
            </a:r>
            <a:endParaRPr lang="en-US" sz="1800"/>
          </a:p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怎么按</a:t>
            </a:r>
            <a:endParaRPr lang="en-US" sz="1800"/>
          </a:p>
        </p:txBody>
      </p:sp>
      <p:sp>
        <p:nvSpPr>
          <p:cNvPr id="10" name="g4"/>
          <p:cNvSpPr txBox="1"/>
          <p:nvPr/>
        </p:nvSpPr>
        <p:spPr>
          <a:xfrm>
            <a:off x="762000" y="4572000"/>
            <a:ext cx="3302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④ 输出动作？</a:t>
            </a:r>
            <a:endParaRPr lang="en-US" sz="1800"/>
          </a:p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看到什么</a:t>
            </a:r>
            <a:endParaRPr lang="en-US" sz="1800"/>
          </a:p>
        </p:txBody>
      </p:sp>
      <p:sp>
        <p:nvSpPr>
          <p:cNvPr id="11" name="g5"/>
          <p:cNvSpPr txBox="1"/>
          <p:nvPr/>
        </p:nvSpPr>
        <p:spPr>
          <a:xfrm>
            <a:off x="4445000" y="4572000"/>
            <a:ext cx="3302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⑤ 连接方式？</a:t>
            </a:r>
            <a:endParaRPr lang="en-US" sz="1800"/>
          </a:p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怎么连电脑</a:t>
            </a:r>
            <a:endParaRPr lang="en-US" sz="1800"/>
          </a:p>
        </p:txBody>
      </p:sp>
      <p:sp>
        <p:nvSpPr>
          <p:cNvPr id="12" name="g6"/>
          <p:cNvSpPr/>
          <p:nvPr/>
        </p:nvSpPr>
        <p:spPr>
          <a:xfrm>
            <a:off x="8128000" y="4572000"/>
            <a:ext cx="3302000" cy="1270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3" name="g6t"/>
          <p:cNvSpPr txBox="1"/>
          <p:nvPr/>
        </p:nvSpPr>
        <p:spPr>
          <a:xfrm>
            <a:off x="8331200" y="4648200"/>
            <a:ext cx="28956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⑥ 成功标准？</a:t>
            </a:r>
            <a:endParaRPr lang="en-US" sz="1800"/>
          </a:p>
          <a:p>
            <a:pPr algn="l">
              <a:lnSpc>
                <a:spcPct val="150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什么现象算成了</a:t>
            </a:r>
            <a:endParaRPr lang="en-US" sz="18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主案例：语音键盘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不是「给键盘加麦克风」</a:t>
            </a:r>
            <a:endParaRPr lang="en-US" sz="3400"/>
          </a:p>
        </p:txBody>
      </p:sp>
      <p:sp>
        <p:nvSpPr>
          <p:cNvPr id="5" name="key"/>
          <p:cNvSpPr txBox="1"/>
          <p:nvPr/>
        </p:nvSpPr>
        <p:spPr>
          <a:xfrm>
            <a:off x="762000" y="1651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而是把 Prompt 输入，</a:t>
            </a: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压缩成一个动作</a:t>
            </a:r>
            <a:endParaRPr lang="en-US" sz="2600"/>
          </a:p>
        </p:txBody>
      </p:sp>
      <p:sp>
        <p:nvSpPr>
          <p:cNvPr id="6" name="act1"/>
          <p:cNvSpPr/>
          <p:nvPr/>
        </p:nvSpPr>
        <p:spPr>
          <a:xfrm>
            <a:off x="762000" y="2743200"/>
            <a:ext cx="3048000" cy="1016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7" name="act1t"/>
          <p:cNvSpPr txBox="1"/>
          <p:nvPr/>
        </p:nvSpPr>
        <p:spPr>
          <a:xfrm>
            <a:off x="965200" y="2844800"/>
            <a:ext cx="26416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按住</a:t>
            </a:r>
            <a:endParaRPr lang="en-US" sz="1700"/>
          </a:p>
          <a:p>
            <a:pPr algn="ctr">
              <a:lnSpc>
                <a:spcPct val="14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开始录音</a:t>
            </a:r>
            <a:endParaRPr lang="en-US" sz="1700"/>
          </a:p>
        </p:txBody>
      </p:sp>
      <p:sp>
        <p:nvSpPr>
          <p:cNvPr id="8" name="act2"/>
          <p:cNvSpPr/>
          <p:nvPr/>
        </p:nvSpPr>
        <p:spPr>
          <a:xfrm>
            <a:off x="4572000" y="2743200"/>
            <a:ext cx="3048000" cy="1016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9" name="act2t"/>
          <p:cNvSpPr txBox="1"/>
          <p:nvPr/>
        </p:nvSpPr>
        <p:spPr>
          <a:xfrm>
            <a:off x="4775200" y="2844800"/>
            <a:ext cx="26416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灯亮</a:t>
            </a:r>
            <a:endParaRPr lang="en-US" sz="1700"/>
          </a:p>
          <a:p>
            <a:pPr algn="ctr">
              <a:lnSpc>
                <a:spcPct val="14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确定它听见了</a:t>
            </a:r>
            <a:endParaRPr lang="en-US" sz="1700"/>
          </a:p>
        </p:txBody>
      </p:sp>
      <p:sp>
        <p:nvSpPr>
          <p:cNvPr id="10" name="act3"/>
          <p:cNvSpPr/>
          <p:nvPr/>
        </p:nvSpPr>
        <p:spPr>
          <a:xfrm>
            <a:off x="8382000" y="2743200"/>
            <a:ext cx="3048000" cy="1016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1" name="act3t"/>
          <p:cNvSpPr txBox="1"/>
          <p:nvPr/>
        </p:nvSpPr>
        <p:spPr>
          <a:xfrm>
            <a:off x="8585200" y="2844800"/>
            <a:ext cx="26416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松开</a:t>
            </a:r>
            <a:endParaRPr lang="en-US" sz="1700"/>
          </a:p>
          <a:p>
            <a:pPr algn="ctr">
              <a:lnSpc>
                <a:spcPct val="14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识别文字，发送 Prompt</a:t>
            </a:r>
            <a:endParaRPr lang="en-US" sz="1700"/>
          </a:p>
        </p:txBody>
      </p:sp>
      <p:pic>
        <p:nvPicPr>
          <p:cNvPr id="12" name="photo"/>
          <p:cNvPicPr/>
          <p:nvPr/>
        </p:nvPicPr>
        <p:blipFill>
          <a:blip r:embed="rIdImage6"/>
          <a:srcRect l="-89406" r="-89406"/>
          <a:stretch>
            <a:fillRect/>
          </a:stretch>
        </p:blipFill>
        <p:spPr>
          <a:xfrm>
            <a:off x="762000" y="4191000"/>
            <a:ext cx="5842000" cy="2286000"/>
          </a:xfrm>
          <a:prstGeom prst="rect">
            <a:avLst/>
          </a:prstGeom>
          <a:ln>
            <a:noFill/>
          </a:ln>
        </p:spPr>
      </p:pic>
      <p:sp>
        <p:nvSpPr>
          <p:cNvPr id="13" name="photocap"/>
          <p:cNvSpPr txBox="1"/>
          <p:nvPr/>
        </p:nvSpPr>
        <p:spPr>
          <a:xfrm>
            <a:off x="6858000" y="4191000"/>
            <a:ext cx="45720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第一个原型，长这样</a:t>
            </a: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👈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一块开发板，一个键，几根线。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不好看，但它回答了最重要的问题：</a:t>
            </a: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这条链路，通不通？</a:t>
            </a:r>
            <a:endParaRPr lang="en-US" sz="17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语音键盘 · 梳理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思维导图：AI 编程的好伙伴</a:t>
            </a:r>
            <a:endParaRPr lang="en-US" sz="3400"/>
          </a:p>
        </p:txBody>
      </p:sp>
      <p:pic>
        <p:nvPicPr>
          <p:cNvPr id="5" name="photo"/>
          <p:cNvPicPr/>
          <p:nvPr/>
        </p:nvPicPr>
        <p:blipFill>
          <a:blip r:embed="rIdImage7"/>
          <a:srcRect l="-45550" r="-45550"/>
          <a:stretch>
            <a:fillRect/>
          </a:stretch>
        </p:blipFill>
        <p:spPr>
          <a:xfrm>
            <a:off x="762000" y="1651000"/>
            <a:ext cx="6604000" cy="4572000"/>
          </a:xfrm>
          <a:prstGeom prst="rect">
            <a:avLst/>
          </a:prstGeom>
          <a:ln>
            <a:noFill/>
          </a:ln>
        </p:spPr>
      </p:pic>
      <p:sp>
        <p:nvSpPr>
          <p:cNvPr id="6" name="side"/>
          <p:cNvSpPr txBox="1"/>
          <p:nvPr/>
        </p:nvSpPr>
        <p:spPr>
          <a:xfrm>
            <a:off x="7874000" y="1778000"/>
            <a:ext cx="3556000" cy="431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6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一头是效果</a:t>
            </a: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——最终要的样子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一头是输入输出</a:t>
            </a: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——一步步的拆解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AI 话多，导图帮你看清：</a:t>
            </a: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SOP 走到哪一步了</a:t>
            </a:r>
            <a:endParaRPr lang="en-US" sz="18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动手之前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第一步：先写「输入 / 输出契约」</a:t>
            </a:r>
            <a:endParaRPr lang="en-US" sz="3400"/>
          </a:p>
        </p:txBody>
      </p:sp>
      <p:sp>
        <p:nvSpPr>
          <p:cNvPr id="5" name="row1label"/>
          <p:cNvSpPr/>
          <p:nvPr/>
        </p:nvSpPr>
        <p:spPr>
          <a:xfrm>
            <a:off x="762000" y="1651000"/>
            <a:ext cx="1651000" cy="96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6" name="row1labelt"/>
          <p:cNvSpPr txBox="1"/>
          <p:nvPr/>
        </p:nvSpPr>
        <p:spPr>
          <a:xfrm>
            <a:off x="762000" y="1651000"/>
            <a:ext cx="1651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</a:rPr>
              <a:t>输入</a:t>
            </a:r>
            <a:endParaRPr lang="en-US" sz="1800"/>
          </a:p>
        </p:txBody>
      </p:sp>
      <p:sp>
        <p:nvSpPr>
          <p:cNvPr id="7" name="row1"/>
          <p:cNvSpPr txBox="1"/>
          <p:nvPr/>
        </p:nvSpPr>
        <p:spPr>
          <a:xfrm>
            <a:off x="2717800" y="1651000"/>
            <a:ext cx="8712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按下、松开、长按、人的声音</a:t>
            </a:r>
            <a:endParaRPr lang="en-US" sz="1800"/>
          </a:p>
        </p:txBody>
      </p:sp>
      <p:sp>
        <p:nvSpPr>
          <p:cNvPr id="8" name="row2label"/>
          <p:cNvSpPr/>
          <p:nvPr/>
        </p:nvSpPr>
        <p:spPr>
          <a:xfrm>
            <a:off x="762000" y="2819400"/>
            <a:ext cx="1651000" cy="96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9" name="row2labelt"/>
          <p:cNvSpPr txBox="1"/>
          <p:nvPr/>
        </p:nvSpPr>
        <p:spPr>
          <a:xfrm>
            <a:off x="762000" y="2819400"/>
            <a:ext cx="1651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</a:rPr>
              <a:t>约束</a:t>
            </a:r>
            <a:endParaRPr lang="en-US" sz="1800"/>
          </a:p>
        </p:txBody>
      </p:sp>
      <p:sp>
        <p:nvSpPr>
          <p:cNvPr id="10" name="row2"/>
          <p:cNvSpPr txBox="1"/>
          <p:nvPr/>
        </p:nvSpPr>
        <p:spPr>
          <a:xfrm>
            <a:off x="2717800" y="2819400"/>
            <a:ext cx="8712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USB 连接 ｜ 桌面使用 ｜ 不能持续监听</a:t>
            </a:r>
            <a:endParaRPr lang="en-US" sz="1800"/>
          </a:p>
        </p:txBody>
      </p:sp>
      <p:sp>
        <p:nvSpPr>
          <p:cNvPr id="11" name="row3label"/>
          <p:cNvSpPr/>
          <p:nvPr/>
        </p:nvSpPr>
        <p:spPr>
          <a:xfrm>
            <a:off x="762000" y="3987800"/>
            <a:ext cx="1651000" cy="96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row3labelt"/>
          <p:cNvSpPr txBox="1"/>
          <p:nvPr/>
        </p:nvSpPr>
        <p:spPr>
          <a:xfrm>
            <a:off x="762000" y="3987800"/>
            <a:ext cx="1651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</a:rPr>
              <a:t>输出</a:t>
            </a:r>
            <a:endParaRPr lang="en-US" sz="1800"/>
          </a:p>
        </p:txBody>
      </p:sp>
      <p:sp>
        <p:nvSpPr>
          <p:cNvPr id="13" name="row3"/>
          <p:cNvSpPr txBox="1"/>
          <p:nvPr/>
        </p:nvSpPr>
        <p:spPr>
          <a:xfrm>
            <a:off x="2717800" y="3987800"/>
            <a:ext cx="8712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灯光反馈、录音、识别文字、发送 Prompt</a:t>
            </a:r>
            <a:endParaRPr lang="en-US" sz="1800"/>
          </a:p>
        </p:txBody>
      </p:sp>
      <p:sp>
        <p:nvSpPr>
          <p:cNvPr id="14" name="row4label"/>
          <p:cNvSpPr/>
          <p:nvPr/>
        </p:nvSpPr>
        <p:spPr>
          <a:xfrm>
            <a:off x="762000" y="5156200"/>
            <a:ext cx="1651000" cy="965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5" name="row4labelt"/>
          <p:cNvSpPr txBox="1"/>
          <p:nvPr/>
        </p:nvSpPr>
        <p:spPr>
          <a:xfrm>
            <a:off x="762000" y="5156200"/>
            <a:ext cx="1651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成功标准</a:t>
            </a:r>
            <a:endParaRPr lang="en-US" sz="1800"/>
          </a:p>
        </p:txBody>
      </p:sp>
      <p:sp>
        <p:nvSpPr>
          <p:cNvPr id="16" name="row4"/>
          <p:cNvSpPr txBox="1"/>
          <p:nvPr/>
        </p:nvSpPr>
        <p:spPr>
          <a:xfrm>
            <a:off x="2717800" y="5156200"/>
            <a:ext cx="8712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一次按压，完成一次语音输入——不切窗口</a:t>
            </a:r>
            <a:endParaRPr lang="en-US" sz="19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第一圈，和之后的每一圈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第一圈只做单键：先证明最小链路稳定</a:t>
            </a:r>
            <a:endParaRPr lang="en-US" sz="3400"/>
          </a:p>
        </p:txBody>
      </p:sp>
      <p:sp>
        <p:nvSpPr>
          <p:cNvPr id="5" name="leftcard"/>
          <p:cNvSpPr/>
          <p:nvPr/>
        </p:nvSpPr>
        <p:spPr>
          <a:xfrm>
            <a:off x="762000" y="1651000"/>
            <a:ext cx="5207000" cy="3556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6" name="leftt"/>
          <p:cNvSpPr txBox="1"/>
          <p:nvPr/>
        </p:nvSpPr>
        <p:spPr>
          <a:xfrm>
            <a:off x="1092200" y="1879600"/>
            <a:ext cx="4546600" cy="309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6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第一圈（她明确只做了这些）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① 接一个机械键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② 串口打印「按下 / 松开」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③ 连续按 20 次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成功标准：20 次无漏触发、无重复触发</a:t>
            </a:r>
            <a:endParaRPr lang="en-US" sz="1800"/>
          </a:p>
        </p:txBody>
      </p:sp>
      <p:sp>
        <p:nvSpPr>
          <p:cNvPr id="7" name="notdo"/>
          <p:cNvSpPr txBox="1"/>
          <p:nvPr/>
        </p:nvSpPr>
        <p:spPr>
          <a:xfrm>
            <a:off x="1092200" y="5334000"/>
            <a:ext cx="4546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这一轮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明确不做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：四键、录音、外壳</a:t>
            </a:r>
            <a:endParaRPr lang="en-US" sz="1500"/>
          </a:p>
        </p:txBody>
      </p:sp>
      <p:sp>
        <p:nvSpPr>
          <p:cNvPr id="8" name="rightcard"/>
          <p:cNvSpPr/>
          <p:nvPr/>
        </p:nvSpPr>
        <p:spPr>
          <a:xfrm>
            <a:off x="6477000" y="1651000"/>
            <a:ext cx="4953000" cy="3556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9" name="rightt"/>
          <p:cNvSpPr txBox="1"/>
          <p:nvPr/>
        </p:nvSpPr>
        <p:spPr>
          <a:xfrm>
            <a:off x="6807200" y="1879600"/>
            <a:ext cx="4292600" cy="309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6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过了关，才一圈一圈长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第二圈：四个键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第三圈：USB 连接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第四圈：语音识别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第五圈：外壳</a:t>
            </a:r>
            <a:endParaRPr lang="en-US" sz="1800"/>
          </a:p>
        </p:txBody>
      </p:sp>
      <p:sp>
        <p:nvSpPr>
          <p:cNvPr id="10" name="rightcap"/>
          <p:cNvSpPr txBox="1"/>
          <p:nvPr/>
        </p:nvSpPr>
        <p:spPr>
          <a:xfrm>
            <a:off x="6807200" y="5334000"/>
            <a:ext cx="42926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功能不少——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但没有一样，是第一圈就上的</a:t>
            </a:r>
            <a:endParaRPr lang="en-US" sz="1500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语音键盘 · 最终交互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最终交互：按住表达，松开发送，灯光确认</a:t>
            </a:r>
            <a:endParaRPr lang="en-US" sz="3400"/>
          </a:p>
        </p:txBody>
      </p:sp>
      <p:pic>
        <p:nvPicPr>
          <p:cNvPr id="5" name="photo"/>
          <p:cNvPicPr/>
          <p:nvPr/>
        </p:nvPicPr>
        <p:blipFill>
          <a:blip r:embed="rIdImage8"/>
          <a:srcRect t="-11891" b="-11891"/>
          <a:stretch>
            <a:fillRect/>
          </a:stretch>
        </p:blipFill>
        <p:spPr>
          <a:xfrm>
            <a:off x="762000" y="1651000"/>
            <a:ext cx="5842000" cy="4064000"/>
          </a:xfrm>
          <a:prstGeom prst="rect">
            <a:avLst/>
          </a:prstGeom>
          <a:ln>
            <a:noFill/>
          </a:ln>
        </p:spPr>
      </p:pic>
      <p:sp>
        <p:nvSpPr>
          <p:cNvPr id="6" name="s1"/>
          <p:cNvSpPr/>
          <p:nvPr/>
        </p:nvSpPr>
        <p:spPr>
          <a:xfrm>
            <a:off x="7112000" y="1778000"/>
            <a:ext cx="4318000" cy="1143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7" name="s1t"/>
          <p:cNvSpPr txBox="1"/>
          <p:nvPr/>
        </p:nvSpPr>
        <p:spPr>
          <a:xfrm>
            <a:off x="7416800" y="1905000"/>
            <a:ext cx="3708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01 按下：开始录音</a:t>
            </a:r>
            <a:endParaRPr lang="en-US" sz="1800"/>
          </a:p>
        </p:txBody>
      </p:sp>
      <p:sp>
        <p:nvSpPr>
          <p:cNvPr id="8" name="s2"/>
          <p:cNvSpPr/>
          <p:nvPr/>
        </p:nvSpPr>
        <p:spPr>
          <a:xfrm>
            <a:off x="7112000" y="3175000"/>
            <a:ext cx="4318000" cy="1143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9" name="s2t"/>
          <p:cNvSpPr txBox="1"/>
          <p:nvPr/>
        </p:nvSpPr>
        <p:spPr>
          <a:xfrm>
            <a:off x="7416800" y="3302000"/>
            <a:ext cx="3708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02 灯亮：确定的反馈</a:t>
            </a:r>
            <a:endParaRPr lang="en-US" sz="1800"/>
          </a:p>
        </p:txBody>
      </p:sp>
      <p:sp>
        <p:nvSpPr>
          <p:cNvPr id="10" name="s3"/>
          <p:cNvSpPr/>
          <p:nvPr/>
        </p:nvSpPr>
        <p:spPr>
          <a:xfrm>
            <a:off x="7112000" y="4572000"/>
            <a:ext cx="4318000" cy="1143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1" name="s3t"/>
          <p:cNvSpPr txBox="1"/>
          <p:nvPr/>
        </p:nvSpPr>
        <p:spPr>
          <a:xfrm>
            <a:off x="7416800" y="4699000"/>
            <a:ext cx="3708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03 松开：结束并发送</a:t>
            </a:r>
            <a:endParaRPr lang="en-US" sz="1800"/>
          </a:p>
        </p:txBody>
      </p:sp>
      <p:sp>
        <p:nvSpPr>
          <p:cNvPr id="12" name="cap"/>
          <p:cNvSpPr txBox="1"/>
          <p:nvPr/>
        </p:nvSpPr>
        <p:spPr>
          <a:xfrm>
            <a:off x="762000" y="5918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好作品给用户「确定的反馈」——不用猜它收到没有</a:t>
            </a:r>
            <a:endParaRPr lang="en-US" sz="16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她也踩了坑：外壳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AI 出的外壳「像产品」，未必能被手使用</a:t>
            </a:r>
            <a:endParaRPr lang="en-US" sz="3400"/>
          </a:p>
        </p:txBody>
      </p:sp>
      <p:pic>
        <p:nvPicPr>
          <p:cNvPr id="5" name="imgL"/>
          <p:cNvPicPr/>
          <p:nvPr/>
        </p:nvPicPr>
        <p:blipFill>
          <a:blip r:embed="rIdImage9"/>
          <a:srcRect l="-46068" r="-46068"/>
          <a:stretch>
            <a:fillRect/>
          </a:stretch>
        </p:blipFill>
        <p:spPr>
          <a:xfrm>
            <a:off x="762000" y="1651000"/>
            <a:ext cx="5080000" cy="3302000"/>
          </a:xfrm>
          <a:prstGeom prst="rect">
            <a:avLst/>
          </a:prstGeom>
          <a:ln>
            <a:noFill/>
          </a:ln>
        </p:spPr>
      </p:pic>
      <p:sp>
        <p:nvSpPr>
          <p:cNvPr id="6" name="capL"/>
          <p:cNvSpPr txBox="1"/>
          <p:nvPr/>
        </p:nvSpPr>
        <p:spPr>
          <a:xfrm>
            <a:off x="762000" y="50546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AI 概念图：很酷，但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方向错误</a:t>
            </a:r>
            <a:endParaRPr lang="en-US" sz="1500"/>
          </a:p>
        </p:txBody>
      </p:sp>
      <p:pic>
        <p:nvPicPr>
          <p:cNvPr id="7" name="imgR"/>
          <p:cNvPicPr/>
          <p:nvPr/>
        </p:nvPicPr>
        <p:blipFill>
          <a:blip r:embed="rIdImage10"/>
          <a:srcRect l="-3768" r="-3768"/>
          <a:stretch>
            <a:fillRect/>
          </a:stretch>
        </p:blipFill>
        <p:spPr>
          <a:xfrm>
            <a:off x="6350000" y="1651000"/>
            <a:ext cx="5080000" cy="3302000"/>
          </a:xfrm>
          <a:prstGeom prst="rect">
            <a:avLst/>
          </a:prstGeom>
          <a:ln>
            <a:noFill/>
          </a:ln>
        </p:spPr>
      </p:pic>
      <p:sp>
        <p:nvSpPr>
          <p:cNvPr id="8" name="capR"/>
          <p:cNvSpPr txBox="1"/>
          <p:nvPr/>
        </p:nvSpPr>
        <p:spPr>
          <a:xfrm>
            <a:off x="6350000" y="50546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实物：按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使用的姿势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重新排布</a:t>
            </a:r>
            <a:endParaRPr lang="en-US" sz="1500"/>
          </a:p>
        </p:txBody>
      </p:sp>
      <p:sp>
        <p:nvSpPr>
          <p:cNvPr id="9" name="bottombar"/>
          <p:cNvSpPr/>
          <p:nvPr/>
        </p:nvSpPr>
        <p:spPr>
          <a:xfrm>
            <a:off x="762000" y="5867400"/>
            <a:ext cx="10668000" cy="584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bottombart"/>
          <p:cNvSpPr txBox="1"/>
          <p:nvPr/>
        </p:nvSpPr>
        <p:spPr>
          <a:xfrm>
            <a:off x="1066800" y="58674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尺寸来自真实元件，开孔来自使用动作——顺不顺手，只有实物能验证</a:t>
            </a:r>
            <a:endParaRPr lang="en-US" sz="1700"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语音键盘 · 外壳怎么做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从手绘尺寸到 3D 外壳：AI 加速，我约束</a:t>
            </a:r>
            <a:endParaRPr lang="en-US" sz="3400"/>
          </a:p>
        </p:txBody>
      </p:sp>
      <p:pic>
        <p:nvPicPr>
          <p:cNvPr id="5" name="img1"/>
          <p:cNvPicPr/>
          <p:nvPr/>
        </p:nvPicPr>
        <p:blipFill>
          <a:blip r:embed="rIdImage11"/>
          <a:srcRect l="-43000" r="-43000"/>
          <a:stretch>
            <a:fillRect/>
          </a:stretch>
        </p:blipFill>
        <p:spPr>
          <a:xfrm>
            <a:off x="762000" y="1651000"/>
            <a:ext cx="5080000" cy="3302000"/>
          </a:xfrm>
          <a:prstGeom prst="rect">
            <a:avLst/>
          </a:prstGeom>
          <a:ln>
            <a:noFill/>
          </a:ln>
        </p:spPr>
      </p:pic>
      <p:sp>
        <p:nvSpPr>
          <p:cNvPr id="6" name="cap1"/>
          <p:cNvSpPr txBox="1"/>
          <p:nvPr/>
        </p:nvSpPr>
        <p:spPr>
          <a:xfrm>
            <a:off x="762000" y="50546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手绘草图：尺寸来自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真实元件</a:t>
            </a:r>
            <a:endParaRPr lang="en-US" sz="1500"/>
          </a:p>
        </p:txBody>
      </p:sp>
      <p:pic>
        <p:nvPicPr>
          <p:cNvPr id="7" name="img2"/>
          <p:cNvPicPr/>
          <p:nvPr/>
        </p:nvPicPr>
        <p:blipFill>
          <a:blip r:embed="rIdImage12"/>
          <a:srcRect t="-4439" b="-4439"/>
          <a:stretch>
            <a:fillRect/>
          </a:stretch>
        </p:blipFill>
        <p:spPr>
          <a:xfrm>
            <a:off x="6350000" y="1651000"/>
            <a:ext cx="5080000" cy="3302000"/>
          </a:xfrm>
          <a:prstGeom prst="rect">
            <a:avLst/>
          </a:prstGeom>
          <a:ln>
            <a:noFill/>
          </a:ln>
        </p:spPr>
      </p:pic>
      <p:sp>
        <p:nvSpPr>
          <p:cNvPr id="8" name="cap2"/>
          <p:cNvSpPr txBox="1"/>
          <p:nvPr/>
        </p:nvSpPr>
        <p:spPr>
          <a:xfrm>
            <a:off x="6350000" y="5054600"/>
            <a:ext cx="5080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t"/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AI 建模：开孔来自</a:t>
            </a: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使用动作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，快速打印验证</a:t>
            </a:r>
            <a:endParaRPr lang="en-US" sz="1500"/>
          </a:p>
        </p:txBody>
      </p:sp>
      <p:sp>
        <p:nvSpPr>
          <p:cNvPr id="9" name="bottombar"/>
          <p:cNvSpPr/>
          <p:nvPr/>
        </p:nvSpPr>
        <p:spPr>
          <a:xfrm>
            <a:off x="762000" y="5867400"/>
            <a:ext cx="10668000" cy="584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bottombart"/>
          <p:cNvSpPr txBox="1"/>
          <p:nvPr/>
        </p:nvSpPr>
        <p:spPr>
          <a:xfrm>
            <a:off x="1066800" y="58674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AI 负责加速，我负责约束——「对不对」由人说了算</a:t>
            </a:r>
            <a:endParaRPr lang="en-US" sz="1800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演示之前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现场 Demo 不靠运气：一张检查表</a:t>
            </a:r>
            <a:endParaRPr lang="en-US" sz="3400"/>
          </a:p>
        </p:txBody>
      </p:sp>
      <p:sp>
        <p:nvSpPr>
          <p:cNvPr id="5" name="c1"/>
          <p:cNvSpPr/>
          <p:nvPr/>
        </p:nvSpPr>
        <p:spPr>
          <a:xfrm>
            <a:off x="762000" y="1778000"/>
            <a:ext cx="5080000" cy="127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6" name="c1t"/>
          <p:cNvSpPr txBox="1"/>
          <p:nvPr/>
        </p:nvSpPr>
        <p:spPr>
          <a:xfrm>
            <a:off x="1066800" y="1905000"/>
            <a:ext cx="4470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01 灯，立即亮吗？</a:t>
            </a:r>
            <a:endParaRPr lang="en-US" sz="19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按下去就有确定反馈</a:t>
            </a:r>
            <a:endParaRPr lang="en-US" sz="1900"/>
          </a:p>
        </p:txBody>
      </p:sp>
      <p:sp>
        <p:nvSpPr>
          <p:cNvPr id="7" name="c2"/>
          <p:cNvSpPr/>
          <p:nvPr/>
        </p:nvSpPr>
        <p:spPr>
          <a:xfrm>
            <a:off x="6350000" y="1778000"/>
            <a:ext cx="5080000" cy="127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8" name="c2t"/>
          <p:cNvSpPr txBox="1"/>
          <p:nvPr/>
        </p:nvSpPr>
        <p:spPr>
          <a:xfrm>
            <a:off x="6654800" y="1905000"/>
            <a:ext cx="4470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02 录音，正常结束吗？</a:t>
            </a:r>
            <a:endParaRPr lang="en-US" sz="19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松开就停，不多录不少录</a:t>
            </a:r>
            <a:endParaRPr lang="en-US" sz="1900"/>
          </a:p>
        </p:txBody>
      </p:sp>
      <p:sp>
        <p:nvSpPr>
          <p:cNvPr id="9" name="c3"/>
          <p:cNvSpPr/>
          <p:nvPr/>
        </p:nvSpPr>
        <p:spPr>
          <a:xfrm>
            <a:off x="762000" y="3302000"/>
            <a:ext cx="5080000" cy="127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10" name="c3t"/>
          <p:cNvSpPr txBox="1"/>
          <p:nvPr/>
        </p:nvSpPr>
        <p:spPr>
          <a:xfrm>
            <a:off x="1066800" y="3429000"/>
            <a:ext cx="4470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03 识别的文字，完整吗？</a:t>
            </a:r>
            <a:endParaRPr lang="en-US" sz="19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说一段长一点的试试</a:t>
            </a:r>
            <a:endParaRPr lang="en-US" sz="1900"/>
          </a:p>
        </p:txBody>
      </p:sp>
      <p:sp>
        <p:nvSpPr>
          <p:cNvPr id="11" name="c4"/>
          <p:cNvSpPr/>
          <p:nvPr/>
        </p:nvSpPr>
        <p:spPr>
          <a:xfrm>
            <a:off x="6350000" y="3302000"/>
            <a:ext cx="5080000" cy="1270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12" name="c4t"/>
          <p:cNvSpPr txBox="1"/>
          <p:nvPr/>
        </p:nvSpPr>
        <p:spPr>
          <a:xfrm>
            <a:off x="6654800" y="3429000"/>
            <a:ext cx="44704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45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04 Prompt，进对窗口吗？</a:t>
            </a:r>
            <a:endParaRPr lang="en-US" sz="1900"/>
          </a:p>
          <a:p>
            <a:pPr algn="l">
              <a:lnSpc>
                <a:spcPct val="14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别发错地方</a:t>
            </a:r>
            <a:endParaRPr lang="en-US" sz="1900"/>
          </a:p>
        </p:txBody>
      </p:sp>
      <p:sp>
        <p:nvSpPr>
          <p:cNvPr id="13" name="planb"/>
          <p:cNvSpPr/>
          <p:nvPr/>
        </p:nvSpPr>
        <p:spPr>
          <a:xfrm>
            <a:off x="762000" y="5029200"/>
            <a:ext cx="10668000" cy="1143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4" name="planbt"/>
          <p:cNvSpPr txBox="1"/>
          <p:nvPr/>
        </p:nvSpPr>
        <p:spPr>
          <a:xfrm>
            <a:off x="1066800" y="5156200"/>
            <a:ext cx="10058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还留了降级方案</a:t>
            </a: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：万一现场失败——串口日志、录屏、成品视频都备着，</a:t>
            </a:r>
            <a:endParaRPr lang="en-US" sz="1700"/>
          </a:p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照样能把链路讲清楚、把问题定位出来。</a:t>
            </a:r>
            <a:endParaRPr lang="en-US" sz="1700"/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迁移案例：电子沙漏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不是「做一个会亮的灯」</a:t>
            </a:r>
            <a:endParaRPr lang="en-US" sz="3400"/>
          </a:p>
        </p:txBody>
      </p:sp>
      <p:sp>
        <p:nvSpPr>
          <p:cNvPr id="5" name="key"/>
          <p:cNvSpPr txBox="1"/>
          <p:nvPr/>
        </p:nvSpPr>
        <p:spPr>
          <a:xfrm>
            <a:off x="762000" y="1574800"/>
            <a:ext cx="7620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而是把等待，变成可感知的物理运动</a:t>
            </a:r>
            <a:endParaRPr lang="en-US" sz="2400"/>
          </a:p>
        </p:txBody>
      </p:sp>
      <p:pic>
        <p:nvPicPr>
          <p:cNvPr id="6" name="photo"/>
          <p:cNvPicPr/>
          <p:nvPr/>
        </p:nvPicPr>
        <p:blipFill>
          <a:blip r:embed="rIdImage5"/>
          <a:srcRect l="-14286" r="-14286"/>
          <a:stretch>
            <a:fillRect/>
          </a:stretch>
        </p:blipFill>
        <p:spPr>
          <a:xfrm>
            <a:off x="762000" y="2489200"/>
            <a:ext cx="6096000" cy="3556000"/>
          </a:xfrm>
          <a:prstGeom prst="rect">
            <a:avLst/>
          </a:prstGeom>
          <a:ln>
            <a:noFill/>
          </a:ln>
        </p:spPr>
      </p:pic>
      <p:sp>
        <p:nvSpPr>
          <p:cNvPr id="7" name="side"/>
          <p:cNvSpPr txBox="1"/>
          <p:nvPr/>
        </p:nvSpPr>
        <p:spPr>
          <a:xfrm>
            <a:off x="7366000" y="2540000"/>
            <a:ext cx="4064000" cy="342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65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等 AI 的几分钟，不用干着急——</a:t>
            </a:r>
            <a:endParaRPr lang="en-US" sz="1800"/>
          </a:p>
          <a:p>
            <a:pPr algn="l">
              <a:lnSpc>
                <a:spcPct val="165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沙子在桌面上流</a:t>
            </a: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，流完了，结果也差不多好了</a:t>
            </a:r>
            <a:endParaRPr lang="en-US" sz="1800"/>
          </a:p>
          <a:p>
            <a:pPr algn="l">
              <a:lnSpc>
                <a:spcPct val="165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翻过来，再流回去</a:t>
            </a:r>
            <a:endParaRPr lang="en-US" sz="1800"/>
          </a:p>
          <a:p>
            <a:pPr algn="l">
              <a:lnSpc>
                <a:spcPct val="165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目标不是更精确地催促人，而是让等待从后台焦虑，变成桌面上的节奏</a:t>
            </a:r>
            <a:endParaRPr lang="en-US" sz="1800"/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电子沙漏 · 动手之前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接线图回答「怎么连」，SOP 回答「先做什么」</a:t>
            </a:r>
            <a:endParaRPr lang="en-US" sz="3400"/>
          </a:p>
        </p:txBody>
      </p:sp>
      <p:pic>
        <p:nvPicPr>
          <p:cNvPr id="5" name="img"/>
          <p:cNvPicPr/>
          <p:nvPr/>
        </p:nvPicPr>
        <p:blipFill>
          <a:blip r:embed="rIdImage13"/>
          <a:srcRect l="-10846" r="-10846"/>
          <a:stretch>
            <a:fillRect/>
          </a:stretch>
        </p:blipFill>
        <p:spPr>
          <a:xfrm>
            <a:off x="762000" y="1651000"/>
            <a:ext cx="6350000" cy="4318000"/>
          </a:xfrm>
          <a:prstGeom prst="rect">
            <a:avLst/>
          </a:prstGeom>
          <a:ln>
            <a:noFill/>
          </a:ln>
        </p:spPr>
      </p:pic>
      <p:sp>
        <p:nvSpPr>
          <p:cNvPr id="6" name="s1"/>
          <p:cNvSpPr/>
          <p:nvPr/>
        </p:nvSpPr>
        <p:spPr>
          <a:xfrm>
            <a:off x="7620000" y="1905000"/>
            <a:ext cx="3810000" cy="1651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7" name="s1t"/>
          <p:cNvSpPr txBox="1"/>
          <p:nvPr/>
        </p:nvSpPr>
        <p:spPr>
          <a:xfrm>
            <a:off x="7899400" y="2082800"/>
            <a:ext cx="3251200" cy="129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接线图</a:t>
            </a:r>
            <a:endParaRPr lang="en-US" sz="1800"/>
          </a:p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哪根线进哪个口，照着插</a:t>
            </a:r>
            <a:endParaRPr lang="en-US" sz="1800"/>
          </a:p>
        </p:txBody>
      </p:sp>
      <p:sp>
        <p:nvSpPr>
          <p:cNvPr id="8" name="s2"/>
          <p:cNvSpPr/>
          <p:nvPr/>
        </p:nvSpPr>
        <p:spPr>
          <a:xfrm>
            <a:off x="7620000" y="3937000"/>
            <a:ext cx="3810000" cy="1651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9" name="s2t"/>
          <p:cNvSpPr txBox="1"/>
          <p:nvPr/>
        </p:nvSpPr>
        <p:spPr>
          <a:xfrm>
            <a:off x="7899400" y="4114800"/>
            <a:ext cx="3251200" cy="1295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SOP</a:t>
            </a:r>
            <a:endParaRPr lang="en-US" sz="1800"/>
          </a:p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先做什么、后做什么，写清楚再开工</a:t>
            </a:r>
            <a:endParaRPr lang="en-US" sz="1800"/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电子沙漏 · 把感觉拆开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「像沙子」——AI 听不懂感觉，拆给它听</a:t>
            </a:r>
            <a:endParaRPr lang="en-US" sz="3400"/>
          </a:p>
        </p:txBody>
      </p:sp>
      <p:sp>
        <p:nvSpPr>
          <p:cNvPr id="5" name="row1label"/>
          <p:cNvSpPr/>
          <p:nvPr/>
        </p:nvSpPr>
        <p:spPr>
          <a:xfrm>
            <a:off x="762000" y="1778000"/>
            <a:ext cx="1905000" cy="96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6" name="row1labelt"/>
          <p:cNvSpPr txBox="1"/>
          <p:nvPr/>
        </p:nvSpPr>
        <p:spPr>
          <a:xfrm>
            <a:off x="762000" y="1778000"/>
            <a:ext cx="1905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</a:rPr>
              <a:t>输入</a:t>
            </a:r>
            <a:endParaRPr lang="en-US" sz="1800"/>
          </a:p>
        </p:txBody>
      </p:sp>
      <p:sp>
        <p:nvSpPr>
          <p:cNvPr id="7" name="row1"/>
          <p:cNvSpPr txBox="1"/>
          <p:nvPr/>
        </p:nvSpPr>
        <p:spPr>
          <a:xfrm>
            <a:off x="2971800" y="1778000"/>
            <a:ext cx="8458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设备姿态、时间</a:t>
            </a:r>
            <a:endParaRPr lang="en-US" sz="1800"/>
          </a:p>
        </p:txBody>
      </p:sp>
      <p:sp>
        <p:nvSpPr>
          <p:cNvPr id="8" name="row2label"/>
          <p:cNvSpPr/>
          <p:nvPr/>
        </p:nvSpPr>
        <p:spPr>
          <a:xfrm>
            <a:off x="762000" y="2997200"/>
            <a:ext cx="1905000" cy="96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9" name="row2labelt"/>
          <p:cNvSpPr txBox="1"/>
          <p:nvPr/>
        </p:nvSpPr>
        <p:spPr>
          <a:xfrm>
            <a:off x="762000" y="2997200"/>
            <a:ext cx="1905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</a:rPr>
              <a:t>中间状态</a:t>
            </a:r>
            <a:endParaRPr lang="en-US" sz="1800"/>
          </a:p>
        </p:txBody>
      </p:sp>
      <p:sp>
        <p:nvSpPr>
          <p:cNvPr id="10" name="row2"/>
          <p:cNvSpPr txBox="1"/>
          <p:nvPr/>
        </p:nvSpPr>
        <p:spPr>
          <a:xfrm>
            <a:off x="2971800" y="2997200"/>
            <a:ext cx="8458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重力方向、粒子位置、像素缓冲</a:t>
            </a:r>
            <a:endParaRPr lang="en-US" sz="1800"/>
          </a:p>
        </p:txBody>
      </p:sp>
      <p:sp>
        <p:nvSpPr>
          <p:cNvPr id="11" name="row3label"/>
          <p:cNvSpPr/>
          <p:nvPr/>
        </p:nvSpPr>
        <p:spPr>
          <a:xfrm>
            <a:off x="762000" y="4216400"/>
            <a:ext cx="1905000" cy="96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row3labelt"/>
          <p:cNvSpPr txBox="1"/>
          <p:nvPr/>
        </p:nvSpPr>
        <p:spPr>
          <a:xfrm>
            <a:off x="762000" y="4216400"/>
            <a:ext cx="1905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FFFFFF"/>
                </a:solidFill>
                <a:latin typeface="MiSans"/>
                <a:ea typeface="MiSans"/>
              </a:rPr>
              <a:t>输出</a:t>
            </a:r>
            <a:endParaRPr lang="en-US" sz="1800"/>
          </a:p>
        </p:txBody>
      </p:sp>
      <p:sp>
        <p:nvSpPr>
          <p:cNvPr id="13" name="row3"/>
          <p:cNvSpPr txBox="1"/>
          <p:nvPr/>
        </p:nvSpPr>
        <p:spPr>
          <a:xfrm>
            <a:off x="2971800" y="4216400"/>
            <a:ext cx="8458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两个 LED 矩阵中的粒子运动</a:t>
            </a:r>
            <a:endParaRPr lang="en-US" sz="1800"/>
          </a:p>
        </p:txBody>
      </p:sp>
      <p:sp>
        <p:nvSpPr>
          <p:cNvPr id="14" name="row4label"/>
          <p:cNvSpPr/>
          <p:nvPr/>
        </p:nvSpPr>
        <p:spPr>
          <a:xfrm>
            <a:off x="762000" y="5435600"/>
            <a:ext cx="1905000" cy="965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5" name="row4labelt"/>
          <p:cNvSpPr txBox="1"/>
          <p:nvPr/>
        </p:nvSpPr>
        <p:spPr>
          <a:xfrm>
            <a:off x="762000" y="5435600"/>
            <a:ext cx="1905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成功标准</a:t>
            </a:r>
            <a:endParaRPr lang="en-US" sz="1800"/>
          </a:p>
        </p:txBody>
      </p:sp>
      <p:sp>
        <p:nvSpPr>
          <p:cNvPr id="16" name="row4"/>
          <p:cNvSpPr txBox="1"/>
          <p:nvPr/>
        </p:nvSpPr>
        <p:spPr>
          <a:xfrm>
            <a:off x="2971800" y="5435600"/>
            <a:ext cx="84582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翻转后方向正确、转移连续、刷新稳定</a:t>
            </a:r>
            <a:endParaRPr lang="en-US" sz="1900"/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电子沙漏 · 排错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最有价值的照片，是「逻辑不对」那一张</a:t>
            </a:r>
            <a:endParaRPr lang="en-US" sz="3400"/>
          </a:p>
        </p:txBody>
      </p:sp>
      <p:pic>
        <p:nvPicPr>
          <p:cNvPr id="5" name="img1"/>
          <p:cNvPicPr/>
          <p:nvPr/>
        </p:nvPicPr>
        <p:blipFill>
          <a:blip r:embed="rIdImage14"/>
          <a:srcRect l="-27333" r="-27333"/>
          <a:stretch>
            <a:fillRect/>
          </a:stretch>
        </p:blipFill>
        <p:spPr>
          <a:xfrm>
            <a:off x="762000" y="1651000"/>
            <a:ext cx="3683000" cy="3175000"/>
          </a:xfrm>
          <a:prstGeom prst="rect">
            <a:avLst/>
          </a:prstGeom>
          <a:ln>
            <a:noFill/>
          </a:ln>
        </p:spPr>
      </p:pic>
      <p:pic>
        <p:nvPicPr>
          <p:cNvPr id="6" name="img2"/>
          <p:cNvPicPr/>
          <p:nvPr/>
        </p:nvPicPr>
        <p:blipFill>
          <a:blip r:embed="rIdImage15"/>
          <a:srcRect l="-27333" r="-27333"/>
          <a:stretch>
            <a:fillRect/>
          </a:stretch>
        </p:blipFill>
        <p:spPr>
          <a:xfrm>
            <a:off x="4699000" y="1651000"/>
            <a:ext cx="3683000" cy="3175000"/>
          </a:xfrm>
          <a:prstGeom prst="rect">
            <a:avLst/>
          </a:prstGeom>
          <a:ln>
            <a:noFill/>
          </a:ln>
        </p:spPr>
      </p:pic>
      <p:sp>
        <p:nvSpPr>
          <p:cNvPr id="7" name="cap"/>
          <p:cNvSpPr txBox="1"/>
          <p:nvPr/>
        </p:nvSpPr>
        <p:spPr>
          <a:xfrm>
            <a:off x="762000" y="49276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现象：上下矩阵的粒子转移，与重力方向不一致</a:t>
            </a:r>
            <a:endParaRPr lang="en-US" sz="1500"/>
          </a:p>
        </p:txBody>
      </p:sp>
      <p:sp>
        <p:nvSpPr>
          <p:cNvPr id="8" name="fix"/>
          <p:cNvSpPr txBox="1"/>
          <p:nvPr/>
        </p:nvSpPr>
        <p:spPr>
          <a:xfrm>
            <a:off x="8890000" y="1651000"/>
            <a:ext cx="2794000" cy="368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55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定位拆三处</a:t>
            </a:r>
            <a:endParaRPr lang="en-US" sz="1600"/>
          </a:p>
          <a:p>
            <a:pPr algn="l">
              <a:lnSpc>
                <a:spcPct val="15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坐标映射</a:t>
            </a:r>
            <a:endParaRPr lang="en-US" sz="1600"/>
          </a:p>
          <a:p>
            <a:pPr algn="l">
              <a:lnSpc>
                <a:spcPct val="15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边界检查</a:t>
            </a:r>
            <a:endParaRPr lang="en-US" sz="1600"/>
          </a:p>
          <a:p>
            <a:pPr algn="l">
              <a:lnSpc>
                <a:spcPct val="15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缓冲区更新顺序</a:t>
            </a:r>
            <a:endParaRPr lang="en-US" sz="1600"/>
          </a:p>
          <a:p>
            <a:pPr algn="l">
              <a:lnSpc>
                <a:spcPct val="155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一次只改一条规则</a:t>
            </a: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，实物姿态复测</a:t>
            </a:r>
            <a:endParaRPr lang="en-US" sz="1600"/>
          </a:p>
        </p:txBody>
      </p:sp>
      <p:sp>
        <p:nvSpPr>
          <p:cNvPr id="9" name="bottombar"/>
          <p:cNvSpPr/>
          <p:nvPr/>
        </p:nvSpPr>
        <p:spPr>
          <a:xfrm>
            <a:off x="762000" y="5689600"/>
            <a:ext cx="10668000" cy="584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bottombart"/>
          <p:cNvSpPr txBox="1"/>
          <p:nvPr/>
        </p:nvSpPr>
        <p:spPr>
          <a:xfrm>
            <a:off x="1066800" y="5689600"/>
            <a:ext cx="100584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「出问题」不是失败——它把问题钉死给你看</a:t>
            </a:r>
            <a:endParaRPr lang="en-US" sz="1700"/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她的总结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Vibe Coding 两大关键：都是「翻译」</a:t>
            </a:r>
            <a:endParaRPr lang="en-US" sz="3400"/>
          </a:p>
        </p:txBody>
      </p:sp>
      <p:sp>
        <p:nvSpPr>
          <p:cNvPr id="5" name="c1"/>
          <p:cNvSpPr/>
          <p:nvPr/>
        </p:nvSpPr>
        <p:spPr>
          <a:xfrm>
            <a:off x="762000" y="1778000"/>
            <a:ext cx="5080000" cy="3810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6" name="c1t"/>
          <p:cNvSpPr txBox="1"/>
          <p:nvPr/>
        </p:nvSpPr>
        <p:spPr>
          <a:xfrm>
            <a:off x="1117600" y="2057400"/>
            <a:ext cx="4368800" cy="325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6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想法 → 机器能懂的语言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画图、连线图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截取代码片段，用圆框、方框标注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精准告诉 AI 哪里有问题——别光打字说「不对」</a:t>
            </a:r>
            <a:endParaRPr lang="en-US" sz="1800"/>
          </a:p>
        </p:txBody>
      </p:sp>
      <p:sp>
        <p:nvSpPr>
          <p:cNvPr id="7" name="c2"/>
          <p:cNvSpPr/>
          <p:nvPr/>
        </p:nvSpPr>
        <p:spPr>
          <a:xfrm>
            <a:off x="6350000" y="1778000"/>
            <a:ext cx="5080000" cy="3810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8" name="c2t"/>
          <p:cNvSpPr txBox="1"/>
          <p:nvPr/>
        </p:nvSpPr>
        <p:spPr>
          <a:xfrm>
            <a:off x="6705600" y="2057400"/>
            <a:ext cx="4368800" cy="325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6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机器输出 → 你能懂的语言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AI 可能输出一大堆信息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用思维导图梳理清楚</a:t>
            </a:r>
            <a:endParaRPr lang="en-US" sz="1800"/>
          </a:p>
          <a:p>
            <a:pPr algn="l">
              <a:lnSpc>
                <a:spcPct val="16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明确它说到了 SOP 的哪一步</a:t>
            </a:r>
            <a:endParaRPr lang="en-US" sz="1800"/>
          </a:p>
        </p:txBody>
      </p:sp>
      <p:sp>
        <p:nvSpPr>
          <p:cNvPr id="9" name="bottom"/>
          <p:cNvSpPr txBox="1"/>
          <p:nvPr/>
        </p:nvSpPr>
        <p:spPr>
          <a:xfrm>
            <a:off x="762000" y="586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会这两手「翻译」，你就驾驭得了 AI</a:t>
            </a:r>
            <a:endParaRPr lang="en-US" sz="1900"/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可直接复制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一段可直接复制的硬件 Prompt</a:t>
            </a:r>
            <a:endParaRPr lang="en-US" sz="3400"/>
          </a:p>
        </p:txBody>
      </p:sp>
      <p:sp>
        <p:nvSpPr>
          <p:cNvPr id="5" name="codebg"/>
          <p:cNvSpPr/>
          <p:nvPr/>
        </p:nvSpPr>
        <p:spPr>
          <a:xfrm>
            <a:off x="762000" y="1651000"/>
            <a:ext cx="10668000" cy="4572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" name="codet"/>
          <p:cNvSpPr txBox="1"/>
          <p:nvPr/>
        </p:nvSpPr>
        <p:spPr>
          <a:xfrm>
            <a:off x="1219200" y="2006600"/>
            <a:ext cx="9753600" cy="393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l">
              <a:lnSpc>
                <a:spcPct val="175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我要用【开发板】和【器件】实现【目标】。</a:t>
            </a:r>
            <a:endParaRPr lang="en-US" sz="1900"/>
          </a:p>
          <a:p>
            <a:pPr algn="l">
              <a:lnSpc>
                <a:spcPct val="175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输入是【动作 / 数据】，输出是【可观察结果】。</a:t>
            </a:r>
            <a:endParaRPr lang="en-US" sz="1900"/>
          </a:p>
          <a:p>
            <a:pPr algn="l">
              <a:lnSpc>
                <a:spcPct val="175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先只做【最小验证】，暂不做【后续功能】。</a:t>
            </a:r>
            <a:endParaRPr lang="en-US" sz="1900"/>
          </a:p>
          <a:p>
            <a:pPr algn="l">
              <a:lnSpc>
                <a:spcPct val="175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请按顺序给出：</a:t>
            </a:r>
            <a:endParaRPr lang="en-US" sz="1900"/>
          </a:p>
          <a:p>
            <a:pPr algn="l">
              <a:lnSpc>
                <a:spcPct val="175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① 模块与连接关系　② 接线表　③ 最小测试代码</a:t>
            </a:r>
            <a:endParaRPr lang="en-US" sz="1900"/>
          </a:p>
          <a:p>
            <a:pPr algn="l">
              <a:lnSpc>
                <a:spcPct val="175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④ 验证步骤与成功标准　⑤ 常见错误及排查顺序</a:t>
            </a:r>
            <a:endParaRPr lang="en-US" sz="1900"/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她的收尾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五步循环，把成功回写进 SOP</a:t>
            </a:r>
            <a:endParaRPr lang="en-US" sz="3400"/>
          </a:p>
        </p:txBody>
      </p:sp>
      <p:sp>
        <p:nvSpPr>
          <p:cNvPr id="5" name="s1"/>
          <p:cNvSpPr/>
          <p:nvPr/>
        </p:nvSpPr>
        <p:spPr>
          <a:xfrm>
            <a:off x="762000" y="1905000"/>
            <a:ext cx="1930400" cy="1524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6" name="s1t"/>
          <p:cNvSpPr txBox="1"/>
          <p:nvPr/>
        </p:nvSpPr>
        <p:spPr>
          <a:xfrm>
            <a:off x="889000" y="2006600"/>
            <a:ext cx="16764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5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01</a:t>
            </a:r>
            <a:endParaRPr lang="en-US" sz="1600"/>
          </a:p>
          <a:p>
            <a:pPr algn="ctr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先定义输入输出</a:t>
            </a:r>
            <a:endParaRPr lang="en-US" sz="1600"/>
          </a:p>
        </p:txBody>
      </p:sp>
      <p:sp>
        <p:nvSpPr>
          <p:cNvPr id="7" name="s2"/>
          <p:cNvSpPr/>
          <p:nvPr/>
        </p:nvSpPr>
        <p:spPr>
          <a:xfrm>
            <a:off x="2946400" y="1905000"/>
            <a:ext cx="1930400" cy="1524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8" name="s2t"/>
          <p:cNvSpPr txBox="1"/>
          <p:nvPr/>
        </p:nvSpPr>
        <p:spPr>
          <a:xfrm>
            <a:off x="3073400" y="2006600"/>
            <a:ext cx="16764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5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02</a:t>
            </a:r>
            <a:endParaRPr lang="en-US" sz="1600"/>
          </a:p>
          <a:p>
            <a:pPr algn="ctr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再画连接与边界</a:t>
            </a:r>
            <a:endParaRPr lang="en-US" sz="1600"/>
          </a:p>
        </p:txBody>
      </p:sp>
      <p:sp>
        <p:nvSpPr>
          <p:cNvPr id="9" name="s3"/>
          <p:cNvSpPr/>
          <p:nvPr/>
        </p:nvSpPr>
        <p:spPr>
          <a:xfrm>
            <a:off x="5130800" y="1905000"/>
            <a:ext cx="1930400" cy="1524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0" name="s3t"/>
          <p:cNvSpPr txBox="1"/>
          <p:nvPr/>
        </p:nvSpPr>
        <p:spPr>
          <a:xfrm>
            <a:off x="5257800" y="2006600"/>
            <a:ext cx="16764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5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03</a:t>
            </a:r>
            <a:endParaRPr lang="en-US" sz="1600"/>
          </a:p>
          <a:p>
            <a:pPr algn="ctr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切成最小验证</a:t>
            </a:r>
            <a:endParaRPr lang="en-US" sz="1600"/>
          </a:p>
        </p:txBody>
      </p:sp>
      <p:sp>
        <p:nvSpPr>
          <p:cNvPr id="11" name="s4"/>
          <p:cNvSpPr/>
          <p:nvPr/>
        </p:nvSpPr>
        <p:spPr>
          <a:xfrm>
            <a:off x="7315200" y="1905000"/>
            <a:ext cx="1930400" cy="1524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2" name="s4t"/>
          <p:cNvSpPr txBox="1"/>
          <p:nvPr/>
        </p:nvSpPr>
        <p:spPr>
          <a:xfrm>
            <a:off x="7442200" y="2006600"/>
            <a:ext cx="16764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5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04</a:t>
            </a:r>
            <a:endParaRPr lang="en-US" sz="1600"/>
          </a:p>
          <a:p>
            <a:pPr algn="ctr">
              <a:lnSpc>
                <a:spcPct val="145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用证据反馈 AI</a:t>
            </a:r>
            <a:endParaRPr lang="en-US" sz="1600"/>
          </a:p>
        </p:txBody>
      </p:sp>
      <p:sp>
        <p:nvSpPr>
          <p:cNvPr id="13" name="s5"/>
          <p:cNvSpPr/>
          <p:nvPr/>
        </p:nvSpPr>
        <p:spPr>
          <a:xfrm>
            <a:off x="9499600" y="1905000"/>
            <a:ext cx="1930400" cy="1524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4" name="s5t"/>
          <p:cNvSpPr txBox="1"/>
          <p:nvPr/>
        </p:nvSpPr>
        <p:spPr>
          <a:xfrm>
            <a:off x="9626600" y="2006600"/>
            <a:ext cx="16764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45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05</a:t>
            </a:r>
            <a:endParaRPr lang="en-US" sz="1600"/>
          </a:p>
          <a:p>
            <a:pPr algn="ctr">
              <a:lnSpc>
                <a:spcPct val="145000"/>
              </a:lnSpc>
            </a:pPr>
            <a:r>
              <a:rPr lang="en-US" sz="1600" b="1">
                <a:solidFill>
                  <a:srgbClr val="000000"/>
                </a:solidFill>
                <a:latin typeface="MiSans"/>
                <a:ea typeface="MiSans"/>
              </a:rPr>
              <a:t>把成功回写 SOP</a:t>
            </a:r>
            <a:endParaRPr lang="en-US" sz="1600"/>
          </a:p>
        </p:txBody>
      </p:sp>
      <p:sp>
        <p:nvSpPr>
          <p:cNvPr id="15" name="quote"/>
          <p:cNvSpPr txBox="1"/>
          <p:nvPr/>
        </p:nvSpPr>
        <p:spPr>
          <a:xfrm>
            <a:off x="1143000" y="4064000"/>
            <a:ext cx="9906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6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未来的开发者，不会只买工具——</a:t>
            </a:r>
            <a:endParaRPr lang="en-US" sz="2200"/>
          </a:p>
          <a:p>
            <a:pPr algn="ctr">
              <a:lnSpc>
                <a:spcPct val="16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用 AI 把软件能力外扩到真实世界，做出最适合自己的工具</a:t>
            </a:r>
            <a:endParaRPr lang="en-US" sz="2200"/>
          </a:p>
        </p:txBody>
      </p:sp>
      <p:sp>
        <p:nvSpPr>
          <p:cNvPr id="16" name="bottom"/>
          <p:cNvSpPr txBox="1"/>
          <p:nvPr/>
        </p:nvSpPr>
        <p:spPr>
          <a:xfrm>
            <a:off x="762000" y="5842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你们的作品，就是这句话的开始</a:t>
            </a:r>
            <a:endParaRPr lang="en-US" sz="1600"/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m="http://schemas.openxmlformats.org/officeDocument/2006/math" xmlns:pptd="https://kimi.design/pptd/202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508000" y="558800"/>
            <a:ext cx="76200" cy="5588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58800"/>
            <a:ext cx="711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■ 附录 · 收束：这套方法你已经在用</a:t>
            </a:r>
            <a:endParaRPr lang="en-US" sz="1400"/>
          </a:p>
        </p:txBody>
      </p:sp>
      <p:sp>
        <p:nvSpPr>
          <p:cNvPr id="4" name="title"/>
          <p:cNvSpPr txBox="1"/>
          <p:nvPr/>
        </p:nvSpPr>
        <p:spPr>
          <a:xfrm>
            <a:off x="736600" y="787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她的方法，四行规格</a:t>
            </a:r>
            <a:endParaRPr lang="en-US" sz="3400"/>
          </a:p>
        </p:txBody>
      </p:sp>
      <p:sp>
        <p:nvSpPr>
          <p:cNvPr id="5" name="q1"/>
          <p:cNvSpPr/>
          <p:nvPr/>
        </p:nvSpPr>
        <p:spPr>
          <a:xfrm>
            <a:off x="762000" y="1651000"/>
            <a:ext cx="5080000" cy="1143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6" name="q1t"/>
          <p:cNvSpPr txBox="1"/>
          <p:nvPr/>
        </p:nvSpPr>
        <p:spPr>
          <a:xfrm>
            <a:off x="1066800" y="1778000"/>
            <a:ext cx="4470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1 ｜ 输入是什么？</a:t>
            </a:r>
            <a:endParaRPr lang="en-US" sz="2000"/>
          </a:p>
        </p:txBody>
      </p:sp>
      <p:sp>
        <p:nvSpPr>
          <p:cNvPr id="7" name="q2"/>
          <p:cNvSpPr/>
          <p:nvPr/>
        </p:nvSpPr>
        <p:spPr>
          <a:xfrm>
            <a:off x="6350000" y="1651000"/>
            <a:ext cx="5080000" cy="1143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8" name="q2t"/>
          <p:cNvSpPr txBox="1"/>
          <p:nvPr/>
        </p:nvSpPr>
        <p:spPr>
          <a:xfrm>
            <a:off x="6654800" y="1778000"/>
            <a:ext cx="4470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2 ｜ 输出是什么？</a:t>
            </a:r>
            <a:endParaRPr lang="en-US" sz="2000"/>
          </a:p>
        </p:txBody>
      </p:sp>
      <p:sp>
        <p:nvSpPr>
          <p:cNvPr id="9" name="q3"/>
          <p:cNvSpPr/>
          <p:nvPr/>
        </p:nvSpPr>
        <p:spPr>
          <a:xfrm>
            <a:off x="762000" y="3048000"/>
            <a:ext cx="5080000" cy="1143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0" name="q3t"/>
          <p:cNvSpPr txBox="1"/>
          <p:nvPr/>
        </p:nvSpPr>
        <p:spPr>
          <a:xfrm>
            <a:off x="1066800" y="3175000"/>
            <a:ext cx="4470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3 ｜ 最小可验证版本是什么？</a:t>
            </a:r>
            <a:endParaRPr lang="en-US" sz="2000"/>
          </a:p>
        </p:txBody>
      </p:sp>
      <p:sp>
        <p:nvSpPr>
          <p:cNvPr id="11" name="q4"/>
          <p:cNvSpPr/>
          <p:nvPr/>
        </p:nvSpPr>
        <p:spPr>
          <a:xfrm>
            <a:off x="6350000" y="3048000"/>
            <a:ext cx="5080000" cy="1143000"/>
          </a:xfrm>
          <a:prstGeom prst="rect">
            <a:avLst/>
          </a:prstGeom>
          <a:solidFill>
            <a:srgbClr val="F3D230">
              <a:alpha val="14902"/>
            </a:srgbClr>
          </a:solidFill>
          <a:ln>
            <a:noFill/>
          </a:ln>
        </p:spPr>
      </p:sp>
      <p:sp>
        <p:nvSpPr>
          <p:cNvPr id="12" name="q4t"/>
          <p:cNvSpPr txBox="1"/>
          <p:nvPr/>
        </p:nvSpPr>
        <p:spPr>
          <a:xfrm>
            <a:off x="6654800" y="3175000"/>
            <a:ext cx="44704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4 ｜ 什么现象代表成功？</a:t>
            </a:r>
            <a:endParaRPr lang="en-US" sz="2000"/>
          </a:p>
        </p:txBody>
      </p:sp>
      <p:sp>
        <p:nvSpPr>
          <p:cNvPr id="13" name="mapbg"/>
          <p:cNvSpPr/>
          <p:nvPr/>
        </p:nvSpPr>
        <p:spPr>
          <a:xfrm>
            <a:off x="762000" y="4572000"/>
            <a:ext cx="10668000" cy="1143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4" name="mapt"/>
          <p:cNvSpPr txBox="1"/>
          <p:nvPr/>
        </p:nvSpPr>
        <p:spPr>
          <a:xfrm>
            <a:off x="1066800" y="4673600"/>
            <a:ext cx="100584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square" anchor="ctr"/>
          <a:lstStyle/>
          <a:p>
            <a:pPr algn="ctr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这四行，你今天全用过了：需求单＝1+2 ｜ MVP＝3 ｜ 「按 20 次不漏」＝4</a:t>
            </a:r>
            <a:endParaRPr lang="en-US" sz="1800"/>
          </a:p>
          <a:p>
            <a:pPr algn="ctr">
              <a:lnSpc>
                <a:spcPct val="15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不是工程师的专利——是你已经在跑的方法</a:t>
            </a:r>
            <a:endParaRPr lang="en-US" sz="1800"/>
          </a:p>
        </p:txBody>
      </p:sp>
      <p:sp>
        <p:nvSpPr>
          <p:cNvPr id="15" name="next"/>
          <p:cNvSpPr txBox="1"/>
          <p:nvPr/>
        </p:nvSpPr>
        <p:spPr>
          <a:xfrm>
            <a:off x="762000" y="5918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rtlCol="0" wrap="none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下一棒请外援、接新模块，还按这四行来</a:t>
            </a:r>
            <a:endParaRPr 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Neo Design</Application>
  <Slides>42</Slides>
</Properties>
</file>

<file path=docProps/core.xml><?xml version="1.0" encoding="utf-8"?>
<cp:coreProperties xmlns:cp="http://schemas.openxmlformats.org/package/2006/metadata/core-properties" xmlns:dc="http://purl.org/dc/elements/1.1/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/>
  </property>
</Properties>
</file>