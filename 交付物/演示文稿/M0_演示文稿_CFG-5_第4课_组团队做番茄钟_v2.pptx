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notesMasterIdLst>
    <p:notesMasterId r:id="rId23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「欢迎来到第四课。上节课你们的作品有了脸、有了手——今天更进一步：给 AI 组一个团队，从头到尾做一个完整项目。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找个位置坐好，我们马上开始。」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[IMG-01-01 已替换：用户提供实拍——Wio 运行 Pomodoro，屏幕显示 RUNNING / 00:54 / Focus Session / Preset: 1 min / A Pause · B Reset · C ---（全英文，符合上屏口径）。]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「上课前先把上节课的成果收齐：用 md 文档记的，把链接发给我；手书写的，拍照发我——没收齐的记一笔，今天下课前补。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指着选题墙）看，选题墙还在——每个人的宣言都在上面。上节课你们认识了新装备，作品有了脸、有了手；界面怎么说才清楚，还记得那三样东西吗？（引导答出：位置、大小、颜色）对——今天全用得上。把选题宣言和三格构思单放在手边，今天它要派大用场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[收成果 5 分钟硬计时，不逐个点评；没收齐的名单交助教登记，不纠缠。]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[待替换：左侧占位卡换选题墙照片（沿用 L3 同一张，IMG-02-01）。]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「先聊一个事。你们已经会让 AI 一句话帮你做东西了——小项目这么干，够用。但我问三个问题，有过的举手：第一，代码越来越长，想加个新功能，不知道让 AI 改哪里？第二，做到一半发现，一开始根本没想清楚？第三，想换个配色，不知道颜色藏在哪？（停顿，看举手）</a:t>
            </a:r>
          </a:p>
          <a:p>
            <a:r>
              <a:rPr lang="en-US" sz="1200"/>
              <a:t/>
            </a:r>
          </a:p>
          <a:p>
            <a:r>
              <a:rPr lang="en-US" sz="1200"/>
              <a:t>——这些不是你们的问题，是'一句话全包'这种做法的天花板。（指对比页）方式 A，直接让 AI 写：能跑，但仅此而已。方式 B，先规划再写：界面是设计过的，结构是清楚的，加东西知道往哪加。这不是多了几步麻烦事——是让 AI 分几步帮你想清楚。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专业世界早就有现成的做法，叫 BMAD——一套开源的方法，全世界的开发者都在用，核心一句话：让 AI 扮演不同角色，分步帮你想清楚再动手。就像做产品设计：用户研究→草图→建模→打样——你不会拿到材料就直接切。BMAD，就是让 AI 也按这个流程来。」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[三个举手问题都来自学员前几次课的真实处境，举手率越高，后面的五角色越好讲——有人举手就追问一句"你当时卡在哪"，30 秒共鸣比讲解值钱。本页是静态对比页，不做现场翻车演示（现在的 AI 很可能一遍就过，不赌）。BMAD 只讲三句：开源方法、全世界都在用、分角色分步想清楚——不展开框架细节，不装任何东西。]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「这个做法有个正式名字，叫 BMAD——AI 驱动敏捷开发方法。关于它，你们只要记住三件事。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第一，开源免费。它的全部文档和代码都在 GitHub 上公开，谁都能用，不花一分钱。第二，全世界开发者都在用——不是我编的，是专业团队总结好、还在持续更新的方法，里面有十几个专业角色、三十多个现成工作流。第三，核心就一招：不让 AI 一句话全包，让它扮演不同角色，分步帮你想清楚再动手。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地址在这里（指屏幕）：github.com/bmad-code-org/BMAD-METHOD——开源项目，我说的每一句话你们都能自己去查证。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注意：BMAD 不是要装的软件，是一套方法。方法不用装——学会就是你的。今天你们只学它最核心的一招。」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[三句话讲完就走，不展开框架细节。学员问"真的免费吗"——"开源项目的意思就是代码公开、永久免费，GitHub 上写着。"]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「那 BMAD 怎么用？两种用法，今天只用第一种。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第一种，就在今天课堂上：什么都不用装。等下你们拿到的五轮句式，就是 BMAD 的核心用法——PM、设计师、架构师、开发、测试，在一个对话里接力。方法在你脑子里，这是最值钱的部分。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第二种，课后自愿：以后你在自己电脑上做项目，想配上完整的 AI 团队——不用背命令，让 AI 帮你装。你就跟它说："帮我阅读 https://github.com/bmad-code-org/BMAD-METHOD 的文档，在我的项目里配置好 BMAD 工作流。"AI 会自己访问 GitHub 仓库、自己跑安装命令，把整套角色和工作流装进你的项目。这个需要 Node.js 环境，今天不弄，想试的课后来找我或助教。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今天的目标只有一个：让这个方法在你脑子里跑通一遍。工具随时能装，脑子里的方法跟你一辈子。」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[不现场演示安装——本课不做任何装软件环节。学员追问就记名字，课后单独带。]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（指着白板角色名，逐个一句话）「BMAD 的团队就是五个人。PM，产品经理——管'解决什么问题、给谁用'；设计师——管'长什么样、怎么操作'；架构师——管'分几块、有什么状态'；开发——管'写出来'；测试——管'挑毛病'。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（指着八步地图）看，选题和找用户——PM 管；做原型——设计师和架构师管；写代码——开发管；取舍和验证——架构师和测试管。原来你一个人乱干的事，现在是五个专家分工。而你，是这个团队的老板。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别紧张——团队不是真的五个人，是同一段对话里的五轮接力。每一轮里，还是那五条规矩：一次一件事、说清输入输出、给它举个例子、不对就补充、看不懂就问它。变的是：每一轮有了明确的分工——换角色不用换窗口，直呼名字派任务就行。他们都有名字：PM 叫 John，设计师叫 Sally，架构师叫 Winston，开发叫 Amelia，测试叫 Quinn——等下你们像给同事派活一样，直呼名字派任务。这五个角色也不是我编的——是专业开发者总结好、开源共享的，今天你们一段对话五轮接力，把专业团队照样用起来。」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[白板连线边讲边画，画完拍照（学员日志素材）；角色名第一次出现就用"管什么"落地，不解释缩写、不讲来历。]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「番茄钟：专心 25 分钟，休息 5 分钟，再来一轮。就这么简单。今天每个人都做一个——用这个团队，在你手里的 Wio 上做。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但有一条规矩——你的番茄钟，必须有一处和所有人不一样。这一处不能是'我的是蓝色的'这种，它必须从你的生活里长出来：你写作业老走神？你练琴要计时？你想做一个给妹妹用的？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告诉大家一个秘密：AI 给所有人的默认答案都一样。你的生活细节，是它给不了的那部分——那就是你的钟值钱的地方。」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[有学员喊"我要做和游戏机一样的"："好，那今天先让它的'计时'部分跑起来，游戏部分进'以后再做'清单。"有学员上次缺课：助教 5 分钟带过开关口诀＋发一条 HELLO 热身即归队。]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开工前两条规矩。第一，今天每一轮开场，都要先说'基于上一轮的结论'，把上一段对话的结果交给新角色——这是接力赛，棒不能掉。第二，五轮都在同一个对话里进行，别中途开新对话——一开新对话，前面的结论就全丢了。换角色不换窗口，就在这个对话里直呼名字派活：'Sally，基于上一轮的结论……'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「第一轮，PM 上场。产品经理不急着做，先问清楚——今天问的对象是你自己：我真实的专注难题是什么？翻开你的学员文档（或笔记本），找到 PM 开场白，投屏也在。第一轮没有上一轮，就从你的难题说起。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他给的 3 件事里，必须有你的'不一样'。没有？追问他：'我还没说我的特别要求——'」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[差异点空泛是本课成败线主战场：追问到行为层——"你走神的那一刻，钟该干什么？"清单贪多：教他一句"太复杂了，只保留 P0——第一版必须有的"。学员对话期间本页常亮 10 分钟。]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「第二轮，换设计师上场。开场第一句照旧——基于上一轮的结论。上节课我们练过'界面怎么说才清楚'：位置、大小、颜色。今天脚手架撤了，你们自己组织语言——句式收在学员文档里，忘了看一眼再说。」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[学员描述卡壳：指句式"上节课的三样东西"，只指不代说。AI 漏了差异点："追问它：我的特别要求在哪个画面里？"屏幕上的字一律英文/数字/图形。学员对话期间本页常亮 12 分钟。]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「都停一下，看白板。这 8 分钟是今天唯一一次我讲课。红绿灯见过吧？红的、绿的，一次只亮一个。是什么让它变？时间到了就变。——你的番茄钟也是这种东西：它有几种'样子'，一次只在一种样子里，有个动作让它变样子。这个东西有个名字，叫'状态'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现在，每个人在纸上画你的钟的状态圈：最少两个圈——专注、休息，箭头写上'什么让它变'。画不出三个圈没关系，两个圈就是完整的番茄钟。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（约 4 分钟后）画好了？第三轮，换架构师上场。 Winston 照着前面的需求和设计出技术方案——方案细节你看不懂没关系，它不是给你看的，是给下一步写代码的 Amelia 看的。」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[状态圈画不出是本课头号坑位：先给抄双状态起步版；抄完还卡→跳过架构直接开发，挂第 8 次课补。学员问"为什么要画圈"："等你到第 8 次课，会发现代码里就住着这几个圈。"——只此一句，不展开。]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[待替换：右侧状态圈示例可换讲师预演手绘拍照（纸面手写感保留，IMG-09-01）；未备时本页图形版照常成立。]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「第四轮，换开发上场。前面三轮，PM 的需求、Sally 的设计、Winston 的方案都在这段对话里——Amelia 照着它们，一次把整个番茄钟做出来。做出来，上传，跑通。报错了？把错误原样发回去，它写的代码它自己会修。跑通之后，再提一个你自己的改动——比如换个背景色、加个过渡动画——这就是迭代。」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[开发过半，全场对照："谁的钟跑起来了？"35 分钟未跑通：助教发救生句（原文在讲师版第六节，一字不改：WORK/BREAK 英文版）。学员抱怨难："对，这是你第一个真项目。以前是学招式，今天是第一次下场。"本页学员开发期间常亮 35 分钟。]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「最后一轮接力，换测试上场。测试工程师的工作只有一个：把它玩坏。让 AI 给你开一整张玩坏清单：快速连按、计时到一半乱按、一直按着不松手……然后你逐条亲手试。」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[本段 15 分钟铁律，任何情况不提前结束、不被挤占。一条都玩不坏（少见）："和同桌换着玩——别人的钟你下得去手。"]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「玩坏清单试完，再请一位特别的考官出场——挑剔用户。第 2 次课你们用过它：让 AI 扮演你构思单上那个真实的人，只挑一个刺。今天用它验收你的钟。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每试一条、每听一刺，做一个决定：这毛病接受还是拒绝？拒绝的，让 AI 修；接受的，写进'我知道它有这个小毛病'——这也是专业决定。修 bug 修到停不下来的：修最重要的那一个，剩下的进'以后再做'清单。」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「停。接下来 15 分钟，做三件比彩蛋重要的事。第一，归档。把今天五轮接力，每轮截一张图，五张图放进一个文件夹，写上你的名字和日期。这个文件夹是你的宝贝——这是你人生中第一个完整项目的全程记录。哪一轮忘了存，课后补截，文件夹里贴张纸条写'这轮后补'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[记录缺轮当场标记，课后补截＋纸条标注（完整率目标 ≥90%）。]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[待替换：右侧占位卡换归档示例截图（讲师预演的五轮接力截图文件夹，含命名示范，IMG-13-01）。未备时降级：讲师现场打开自己的文件夹投屏示范。]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「第二，问一个大问题：这套方法，只能用来做硬件吗？（停两秒）我先抛一个：这门课的教案，就是我用这五个人写的——PM 帮我定每节课解决什么问题，测试帮我挑教案里的坑。轮到你们：写研究性学习报告呢？PM 是谁？架构师呢？测试呢？每桌说一个能用到的地方。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第三，一句话收束：BMAD——就是这五个角色的英文队名——BMAD 这五个角色，不是做硬件的方法，是做任何事的方法——今天先拿硬件练手。再看一眼你们走过的这条路——10 年前，'让 LED 亮'就算入门；5 年前，'连上 WiFi'是高阶；今天，零基础的你们，一节课就带着五个角色做完了一个完整项目。第 1、2 次课，你们让硬件感知世界；第 3 次课，作品有了脸和手；今天，你们拿到了方法。」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冷场再自曝"我策划家里旅行都用它"；有学员说"直接做不就行了"——指对比页问："一句话全包是省事了，但做出来的东西和别人撞款、想改不知道改哪——缺的是手速还是想法？"助教记好案例，下次课开场分享"谁真的用了"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「最后写今天的日志，四句照旧——今天必须写清一句：我的钟哪里不一样。写完发给 AI：'帮我整理成日志，只许整理我说过的，不许加我没说的。'它整理完你必须看一眼——AI 会一本正经地编，校对是你的事，谁也替不了。」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「接下来 25 分钟这样用：番茄钟主体还没跑通的，继续做完，这是今天必须过的线；过了线的，【按当天安排宣布：挑一个彩蛋／对照八步地图写文档／帮同桌】。彩蛋规矩两条：一，先想清楚'做还是不做'，两分钟决定，不纠结；二，彩蛋做不出来，不影响今天的过关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[彩蛋以预演跑通为准，没跑通的别放出去；主体没通的学员不做彩蛋。本页常亮 25 分钟。彩蛋成功画面（IMG-16-01，预演备份）跑通后才加进页内。]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 20 分钟，不做东西。做一件更重要的事：看清你今天走过的路。白板这张地图有八个框，是做一个项目的完整地图。今天你们已经亲手走过了前六个——我们一轮一轮贴上去：想明白给谁做、解决什么（PM 干的，第一二步）→ 说清楚要什么、长什么样（设计师，第三步）→ 拆成小块、排好顺序（架构师）→ 跟 AI 一起实现（开发，第四步）→ 做出来试试、挑毛病（测试，第五步）→ 修还是忍、砍还是留（你们刚才接受还是拒绝、彩蛋做还是不做，第六步）。七八两步今天只起了个头：做出来给谁看——你们等下互看；做完回头看——就是现在。」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[学员翻五段对话记录，对着地图在文档里逐框写"我在这步做了什么"；然后便签写"我卡在哪一步"，签名上墙。]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「看墙。哪一步的便签最多？（数一数，点名一两位）说说你当时卡成什么样，后来怎么过的。记住这面墙。今天你已经完整卡住过、也完整走出来过——以后再卡住，不慌。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桌内最后互相看一眼：他的钟，哪一点和你不一样？（30 秒互看）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下次课，教硬件学会'看'——它能认出你的脸、你的手。今天的番茄钟收好，它是你的第一个完整作品，不是最后一个。设备放进箱子。你的五张截图文件夹、状态圈纸、学员文档——带走或拍照带回家。下课！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[便签全挤在"开发"一步属正常："最难的是把东西做出来——所以前面几步要想清楚。"课后收成果记一笔。]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png"/><Relationship Id="rIdImage2" Type="http://schemas.openxmlformats.org/officeDocument/2006/relationships/image" Target="../media/image2.png"/><Relationship Id="rIdImage3" Type="http://schemas.openxmlformats.org/officeDocument/2006/relationships/image" Target="../media/image3.jpg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4" Type="http://schemas.openxmlformats.org/officeDocument/2006/relationships/image" Target="../media/image4.png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7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8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9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4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5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6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7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8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9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0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seeed"/>
          <p:cNvPicPr/>
          <p:nvPr/>
        </p:nvPicPr>
        <p:blipFill>
          <a:blip r:embed="rIdImage1"/>
          <a:srcRect t="-8" b="-8"/>
          <a:stretch>
            <a:fillRect/>
          </a:stretch>
        </p:blipFill>
        <p:spPr>
          <a:xfrm>
            <a:off x="1016000" y="660400"/>
            <a:ext cx="2209800" cy="482600"/>
          </a:xfrm>
          <a:prstGeom prst="rect">
            <a:avLst/>
          </a:prstGeom>
          <a:ln>
            <a:noFill/>
          </a:ln>
        </p:spPr>
      </p:pic>
      <p:pic>
        <p:nvPicPr>
          <p:cNvPr id="3" name="logo-chaihuo"/>
          <p:cNvPicPr/>
          <p:nvPr/>
        </p:nvPicPr>
        <p:blipFill>
          <a:blip r:embed="rIdImage2"/>
          <a:srcRect l="-74" r="-74"/>
          <a:stretch>
            <a:fillRect/>
          </a:stretch>
        </p:blipFill>
        <p:spPr>
          <a:xfrm>
            <a:off x="3505200" y="584200"/>
            <a:ext cx="1219200" cy="685800"/>
          </a:xfrm>
          <a:prstGeom prst="rect">
            <a:avLst/>
          </a:prstGeom>
          <a:ln>
            <a:noFill/>
          </a:ln>
        </p:spPr>
      </p:pic>
      <p:sp>
        <p:nvSpPr>
          <p:cNvPr id="4" name="main-title"/>
          <p:cNvSpPr txBox="1"/>
          <p:nvPr/>
        </p:nvSpPr>
        <p:spPr>
          <a:xfrm>
            <a:off x="1016000" y="21336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000000"/>
                </a:solidFill>
                <a:latin typeface="MiSans"/>
                <a:ea typeface="MiSans"/>
              </a:rPr>
              <a:t>组团队，做番茄钟</a:t>
            </a:r>
            <a:endParaRPr lang="en-US" sz="4400"/>
          </a:p>
        </p:txBody>
      </p:sp>
      <p:sp>
        <p:nvSpPr>
          <p:cNvPr id="5" name="deco-line"/>
          <p:cNvSpPr/>
          <p:nvPr/>
        </p:nvSpPr>
        <p:spPr>
          <a:xfrm>
            <a:off x="1016000" y="3200400"/>
            <a:ext cx="70612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sub-title"/>
          <p:cNvSpPr txBox="1"/>
          <p:nvPr/>
        </p:nvSpPr>
        <p:spPr>
          <a:xfrm>
            <a:off x="1016000" y="3454400"/>
            <a:ext cx="706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BMAD 五角色 · 你的第一个完整项目</a:t>
            </a:r>
            <a:endParaRPr lang="en-US" sz="2000"/>
          </a:p>
        </p:txBody>
      </p:sp>
      <p:sp>
        <p:nvSpPr>
          <p:cNvPr id="7" name="course-tag"/>
          <p:cNvSpPr txBox="1"/>
          <p:nvPr/>
        </p:nvSpPr>
        <p:spPr>
          <a:xfrm>
            <a:off x="1016000" y="4038600"/>
            <a:ext cx="7061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柴火创客学园 M0 · 零基础智能硬件入门 · 第 4 课</a:t>
            </a:r>
            <a:endParaRPr lang="en-US" sz="1600"/>
          </a:p>
        </p:txBody>
      </p:sp>
      <p:sp>
        <p:nvSpPr>
          <p:cNvPr id="8" name="org"/>
          <p:cNvSpPr txBox="1"/>
          <p:nvPr/>
        </p:nvSpPr>
        <p:spPr>
          <a:xfrm>
            <a:off x="1016000" y="5943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柴火创客学园 ｜ 2026</a:t>
            </a:r>
            <a:endParaRPr lang="en-US" sz="1400"/>
          </a:p>
        </p:txBody>
      </p:sp>
      <p:pic>
        <p:nvPicPr>
          <p:cNvPr id="9" name="board"/>
          <p:cNvPicPr/>
          <p:nvPr/>
        </p:nvPicPr>
        <p:blipFill>
          <a:blip r:embed="rIdImage3"/>
          <a:srcRect l="11963" r="11963"/>
          <a:stretch>
            <a:fillRect/>
          </a:stretch>
        </p:blipFill>
        <p:spPr>
          <a:xfrm>
            <a:off x="8128000" y="1651000"/>
            <a:ext cx="3683000" cy="3683000"/>
          </a:xfrm>
          <a:prstGeom prst="rect">
            <a:avLst/>
          </a:prstGeom>
          <a:ln>
            <a:noFill/>
          </a:ln>
        </p:spPr>
      </p:pic>
      <p:sp>
        <p:nvSpPr>
          <p:cNvPr id="10" name="board-border"/>
          <p:cNvSpPr/>
          <p:nvPr/>
        </p:nvSpPr>
        <p:spPr>
          <a:xfrm>
            <a:off x="8128000" y="1651000"/>
            <a:ext cx="3683000" cy="368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组团队开工 · 开场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先把上节课的成果收齐</a:t>
            </a:r>
            <a:endParaRPr lang="en-US" sz="2800"/>
          </a:p>
        </p:txBody>
      </p:sp>
      <p:sp>
        <p:nvSpPr>
          <p:cNvPr id="5" name="wall-card"/>
          <p:cNvSpPr/>
          <p:nvPr/>
        </p:nvSpPr>
        <p:spPr>
          <a:xfrm>
            <a:off x="762000" y="1803400"/>
            <a:ext cx="4826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wall-icon"/>
          <p:cNvSpPr/>
          <p:nvPr>
            <p:extLst>
              <p:ext uri="{F5677B7D-0D2A-4D9B-9A5C-6D8D7D0E5A5D}">
                <pptd:icon encoding="base64url">eyJpY29uTmFtZSI6ImZhczppbWFnZSJ9</pptd:icon>
              </p:ext>
            </p:extLst>
          </p:nvPr>
        </p:nvSpPr>
        <p:spPr>
          <a:xfrm>
            <a:off x="2997200" y="3098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" name="wall-lab"/>
          <p:cNvSpPr txBox="1"/>
          <p:nvPr/>
        </p:nvSpPr>
        <p:spPr>
          <a:xfrm>
            <a:off x="889000" y="3556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000000"/>
                </a:solidFill>
                <a:latin typeface="MiSans"/>
                <a:ea typeface="MiSans"/>
              </a:rPr>
              <a:t>待替换：选题墙照片</a:t>
            </a:r>
            <a:endParaRPr lang="en-US" sz="1200"/>
          </a:p>
        </p:txBody>
      </p:sp>
      <p:sp>
        <p:nvSpPr>
          <p:cNvPr id="8" name="wall-sub"/>
          <p:cNvSpPr txBox="1"/>
          <p:nvPr/>
        </p:nvSpPr>
        <p:spPr>
          <a:xfrm>
            <a:off x="889000" y="38608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000000"/>
                </a:solidFill>
                <a:latin typeface="MiSans"/>
                <a:ea typeface="MiSans"/>
              </a:rPr>
              <a:t>沿用第 2–3 课同一张，拍墙不拍人（IMG-02-01）</a:t>
            </a:r>
            <a:endParaRPr lang="en-US" sz="1000"/>
          </a:p>
        </p:txBody>
      </p:sp>
      <p:sp>
        <p:nvSpPr>
          <p:cNvPr id="9" name="act-card0"/>
          <p:cNvSpPr/>
          <p:nvPr/>
        </p:nvSpPr>
        <p:spPr>
          <a:xfrm>
            <a:off x="5969000" y="18034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act0-dot"/>
          <p:cNvSpPr/>
          <p:nvPr/>
        </p:nvSpPr>
        <p:spPr>
          <a:xfrm>
            <a:off x="6223000" y="20320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act0-num"/>
          <p:cNvSpPr txBox="1"/>
          <p:nvPr/>
        </p:nvSpPr>
        <p:spPr>
          <a:xfrm>
            <a:off x="6223000" y="2032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12" name="act-h0"/>
          <p:cNvSpPr txBox="1"/>
          <p:nvPr/>
        </p:nvSpPr>
        <p:spPr>
          <a:xfrm>
            <a:off x="6781800" y="20320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交成果</a:t>
            </a:r>
            <a:endParaRPr lang="en-US" sz="1700"/>
          </a:p>
        </p:txBody>
      </p:sp>
      <p:sp>
        <p:nvSpPr>
          <p:cNvPr id="13" name="act-t0"/>
          <p:cNvSpPr txBox="1"/>
          <p:nvPr/>
        </p:nvSpPr>
        <p:spPr>
          <a:xfrm>
            <a:off x="6223000" y="25146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md 文档的发链接；手书的拍照发老师。没收齐的记一笔，今天下课前补。</a:t>
            </a:r>
            <a:endParaRPr lang="en-US" sz="1300"/>
          </a:p>
        </p:txBody>
      </p:sp>
      <p:sp>
        <p:nvSpPr>
          <p:cNvPr id="14" name="act-card1"/>
          <p:cNvSpPr/>
          <p:nvPr/>
        </p:nvSpPr>
        <p:spPr>
          <a:xfrm>
            <a:off x="5969000" y="3708400"/>
            <a:ext cx="546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act1-dot"/>
          <p:cNvSpPr/>
          <p:nvPr/>
        </p:nvSpPr>
        <p:spPr>
          <a:xfrm>
            <a:off x="6223000" y="39370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6" name="act1-num"/>
          <p:cNvSpPr txBox="1"/>
          <p:nvPr/>
        </p:nvSpPr>
        <p:spPr>
          <a:xfrm>
            <a:off x="6223000" y="3937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7" name="act-h1"/>
          <p:cNvSpPr txBox="1"/>
          <p:nvPr/>
        </p:nvSpPr>
        <p:spPr>
          <a:xfrm>
            <a:off x="6781800" y="39370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看选题墙＋三格构思单</a:t>
            </a:r>
            <a:endParaRPr lang="en-US" sz="1700"/>
          </a:p>
        </p:txBody>
      </p:sp>
      <p:sp>
        <p:nvSpPr>
          <p:cNvPr id="18" name="act-t1"/>
          <p:cNvSpPr txBox="1"/>
          <p:nvPr/>
        </p:nvSpPr>
        <p:spPr>
          <a:xfrm>
            <a:off x="6223000" y="44196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放在手边，今天它要派大用场。今天的产出继续写在你自己的文档（md 或手书）。</a:t>
            </a:r>
            <a:endParaRPr lang="en-US" sz="1300"/>
          </a:p>
        </p:txBody>
      </p:sp>
      <p:sp>
        <p:nvSpPr>
          <p:cNvPr id="19" name="anchor-bg"/>
          <p:cNvSpPr/>
          <p:nvPr/>
        </p:nvSpPr>
        <p:spPr>
          <a:xfrm>
            <a:off x="762000" y="5588000"/>
            <a:ext cx="10668000" cy="635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20" name="anchor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90600" y="579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anchor-txt"/>
          <p:cNvSpPr txBox="1"/>
          <p:nvPr/>
        </p:nvSpPr>
        <p:spPr>
          <a:xfrm>
            <a:off x="1346200" y="5588000"/>
            <a:ext cx="990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上节课说界面的三样东西——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位置、大小、颜色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，今天全用得上。</a:t>
            </a:r>
            <a:endParaRPr lang="en-US" sz="1500"/>
          </a:p>
        </p:txBody>
      </p:sp>
      <p:sp>
        <p:nvSpPr>
          <p:cNvPr id="22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02 / 20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组团队开工 · 为什么需要 BMAD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同一句话，两种做法</a:t>
            </a:r>
            <a:endParaRPr lang="en-US" sz="2800"/>
          </a:p>
        </p:txBody>
      </p:sp>
      <p:sp>
        <p:nvSpPr>
          <p:cNvPr id="5" name="three-q"/>
          <p:cNvSpPr txBox="1"/>
          <p:nvPr/>
        </p:nvSpPr>
        <p:spPr>
          <a:xfrm>
            <a:off x="762000" y="17526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有过的举手：加功能不知道改哪？ ／ 一开始没想清楚？ ／ 改配色不知道改哪？</a:t>
            </a:r>
            <a:endParaRPr lang="en-US" sz="1400"/>
          </a:p>
        </p:txBody>
      </p:sp>
      <p:sp>
        <p:nvSpPr>
          <p:cNvPr id="6" name="a-card"/>
          <p:cNvSpPr/>
          <p:nvPr/>
        </p:nvSpPr>
        <p:spPr>
          <a:xfrm>
            <a:off x="762000" y="2260600"/>
            <a:ext cx="5080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7" name="a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1066800" y="2514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" name="a-h"/>
          <p:cNvSpPr txBox="1"/>
          <p:nvPr/>
        </p:nvSpPr>
        <p:spPr>
          <a:xfrm>
            <a:off x="1549400" y="24892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方式 A：直接让 AI 写</a:t>
            </a:r>
            <a:endParaRPr lang="en-US" sz="1700"/>
          </a:p>
        </p:txBody>
      </p:sp>
      <p:sp>
        <p:nvSpPr>
          <p:cNvPr id="9" name="a-lead"/>
          <p:cNvSpPr txBox="1"/>
          <p:nvPr/>
        </p:nvSpPr>
        <p:spPr>
          <a:xfrm>
            <a:off x="1066800" y="3022600"/>
            <a:ext cx="4470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能跑，但仅此而已——</a:t>
            </a:r>
            <a:endParaRPr lang="en-US" sz="1400"/>
          </a:p>
        </p:txBody>
      </p:sp>
      <p:sp>
        <p:nvSpPr>
          <p:cNvPr id="10" name="a-sq0"/>
          <p:cNvSpPr/>
          <p:nvPr/>
        </p:nvSpPr>
        <p:spPr>
          <a:xfrm>
            <a:off x="1117600" y="3492500"/>
            <a:ext cx="127000" cy="12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a-t0"/>
          <p:cNvSpPr txBox="1"/>
          <p:nvPr/>
        </p:nvSpPr>
        <p:spPr>
          <a:xfrm>
            <a:off x="1397000" y="34036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界面布局随缘</a:t>
            </a:r>
            <a:endParaRPr lang="en-US" sz="1400"/>
          </a:p>
        </p:txBody>
      </p:sp>
      <p:sp>
        <p:nvSpPr>
          <p:cNvPr id="12" name="a-sq1"/>
          <p:cNvSpPr/>
          <p:nvPr/>
        </p:nvSpPr>
        <p:spPr>
          <a:xfrm>
            <a:off x="1117600" y="3898900"/>
            <a:ext cx="127000" cy="12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a-t1"/>
          <p:cNvSpPr txBox="1"/>
          <p:nvPr/>
        </p:nvSpPr>
        <p:spPr>
          <a:xfrm>
            <a:off x="1397000" y="38100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加功能容易乱</a:t>
            </a:r>
            <a:endParaRPr lang="en-US" sz="1400"/>
          </a:p>
        </p:txBody>
      </p:sp>
      <p:sp>
        <p:nvSpPr>
          <p:cNvPr id="14" name="a-sq2"/>
          <p:cNvSpPr/>
          <p:nvPr/>
        </p:nvSpPr>
        <p:spPr>
          <a:xfrm>
            <a:off x="1117600" y="4305300"/>
            <a:ext cx="127000" cy="12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" name="a-t2"/>
          <p:cNvSpPr txBox="1"/>
          <p:nvPr/>
        </p:nvSpPr>
        <p:spPr>
          <a:xfrm>
            <a:off x="1397000" y="42164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改配色不知道改哪</a:t>
            </a:r>
            <a:endParaRPr lang="en-US" sz="1400"/>
          </a:p>
        </p:txBody>
      </p:sp>
      <p:sp>
        <p:nvSpPr>
          <p:cNvPr id="16" name="b-card"/>
          <p:cNvSpPr/>
          <p:nvPr/>
        </p:nvSpPr>
        <p:spPr>
          <a:xfrm>
            <a:off x="6350000" y="2260600"/>
            <a:ext cx="5080000" cy="24130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17" name="b-icon"/>
          <p:cNvSpPr/>
          <p:nvPr>
            <p:extLst>
              <p:ext uri="{F5677B7D-0D2A-4D9B-9A5C-6D8D7D0E5A5D}">
                <pptd:icon encoding="base64url">eyJpY29uTmFtZSI6ImZhczpsaXN0LWNoZWNrIn0</pptd:icon>
              </p:ext>
            </p:extLst>
          </p:nvPr>
        </p:nvSpPr>
        <p:spPr>
          <a:xfrm>
            <a:off x="6654800" y="2514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b-h"/>
          <p:cNvSpPr txBox="1"/>
          <p:nvPr/>
        </p:nvSpPr>
        <p:spPr>
          <a:xfrm>
            <a:off x="7137400" y="24892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方式 B：先规划再写</a:t>
            </a:r>
            <a:endParaRPr lang="en-US" sz="1700"/>
          </a:p>
        </p:txBody>
      </p:sp>
      <p:sp>
        <p:nvSpPr>
          <p:cNvPr id="19" name="b-lead"/>
          <p:cNvSpPr txBox="1"/>
          <p:nvPr/>
        </p:nvSpPr>
        <p:spPr>
          <a:xfrm>
            <a:off x="6654800" y="3022600"/>
            <a:ext cx="4470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先想清楚，再动手——</a:t>
            </a:r>
            <a:endParaRPr lang="en-US" sz="1400"/>
          </a:p>
        </p:txBody>
      </p:sp>
      <p:sp>
        <p:nvSpPr>
          <p:cNvPr id="20" name="b-sq0"/>
          <p:cNvSpPr/>
          <p:nvPr/>
        </p:nvSpPr>
        <p:spPr>
          <a:xfrm>
            <a:off x="6705600" y="3492500"/>
            <a:ext cx="127000" cy="127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1" name="b-t0"/>
          <p:cNvSpPr txBox="1"/>
          <p:nvPr/>
        </p:nvSpPr>
        <p:spPr>
          <a:xfrm>
            <a:off x="6985000" y="34036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界面是设计过的</a:t>
            </a:r>
            <a:endParaRPr lang="en-US" sz="1400"/>
          </a:p>
        </p:txBody>
      </p:sp>
      <p:sp>
        <p:nvSpPr>
          <p:cNvPr id="22" name="b-sq1"/>
          <p:cNvSpPr/>
          <p:nvPr/>
        </p:nvSpPr>
        <p:spPr>
          <a:xfrm>
            <a:off x="6705600" y="3898900"/>
            <a:ext cx="127000" cy="127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3" name="b-t1"/>
          <p:cNvSpPr txBox="1"/>
          <p:nvPr/>
        </p:nvSpPr>
        <p:spPr>
          <a:xfrm>
            <a:off x="6985000" y="38100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结构是清楚的</a:t>
            </a:r>
            <a:endParaRPr lang="en-US" sz="1400"/>
          </a:p>
        </p:txBody>
      </p:sp>
      <p:sp>
        <p:nvSpPr>
          <p:cNvPr id="24" name="b-sq2"/>
          <p:cNvSpPr/>
          <p:nvPr/>
        </p:nvSpPr>
        <p:spPr>
          <a:xfrm>
            <a:off x="6705600" y="4305300"/>
            <a:ext cx="127000" cy="127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5" name="b-t2"/>
          <p:cNvSpPr txBox="1"/>
          <p:nvPr/>
        </p:nvSpPr>
        <p:spPr>
          <a:xfrm>
            <a:off x="6985000" y="42164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加东西知道往哪加</a:t>
            </a:r>
            <a:endParaRPr lang="en-US" sz="1400"/>
          </a:p>
        </p:txBody>
      </p:sp>
      <p:sp>
        <p:nvSpPr>
          <p:cNvPr id="26" name="def-card"/>
          <p:cNvSpPr/>
          <p:nvPr/>
        </p:nvSpPr>
        <p:spPr>
          <a:xfrm>
            <a:off x="762000" y="4978400"/>
            <a:ext cx="10668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7" name="def-bar"/>
          <p:cNvSpPr/>
          <p:nvPr/>
        </p:nvSpPr>
        <p:spPr>
          <a:xfrm>
            <a:off x="762000" y="4978400"/>
            <a:ext cx="76200" cy="812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8" name="def-txt"/>
          <p:cNvSpPr txBox="1"/>
          <p:nvPr/>
        </p:nvSpPr>
        <p:spPr>
          <a:xfrm>
            <a:off x="1016000" y="4978400"/>
            <a:ext cx="10236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BMAD——开源方法，全世界开发者都在用：让 AI 扮演不同角色，分步帮你想清楚再动手。</a:t>
            </a:r>
            <a:endParaRPr lang="en-US" sz="1700"/>
          </a:p>
        </p:txBody>
      </p:sp>
      <p:sp>
        <p:nvSpPr>
          <p:cNvPr id="29" name="analogy"/>
          <p:cNvSpPr txBox="1"/>
          <p:nvPr/>
        </p:nvSpPr>
        <p:spPr>
          <a:xfrm>
            <a:off x="762000" y="5943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就像做产品设计：用户研究→草图→建模→打样——你不会拿到材料就直接切。</a:t>
            </a:r>
            <a:endParaRPr lang="en-US" sz="1300"/>
          </a:p>
        </p:txBody>
      </p:sp>
      <p:sp>
        <p:nvSpPr>
          <p:cNvPr id="30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03 / 20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组团队开工 · 认识 BMAD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BMAD 是什么？开源、免费、专业的现成做法</a:t>
            </a:r>
            <a:endParaRPr lang="en-US" sz="2600"/>
          </a:p>
        </p:txBody>
      </p:sp>
      <p:sp>
        <p:nvSpPr>
          <p:cNvPr id="5" name="fullname"/>
          <p:cNvSpPr txBox="1"/>
          <p:nvPr/>
        </p:nvSpPr>
        <p:spPr>
          <a:xfrm>
            <a:off x="762000" y="16446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Breakthrough Method for Agile AI-Driven Development（AI 驱动敏捷开发方法）</a:t>
            </a:r>
            <a:endParaRPr lang="en-US" sz="1300"/>
          </a:p>
        </p:txBody>
      </p:sp>
      <p:pic>
        <p:nvPicPr>
          <p:cNvPr id="6" name="banner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3933190" y="2006600"/>
            <a:ext cx="4094480" cy="651510"/>
          </a:xfrm>
          <a:prstGeom prst="rect">
            <a:avLst/>
          </a:prstGeom>
          <a:ln>
            <a:noFill/>
          </a:ln>
        </p:spPr>
      </p:pic>
      <p:sp>
        <p:nvSpPr>
          <p:cNvPr id="7" name="bm-card0"/>
          <p:cNvSpPr/>
          <p:nvPr/>
        </p:nvSpPr>
        <p:spPr>
          <a:xfrm>
            <a:off x="838200" y="2848610"/>
            <a:ext cx="34671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bm0-dot"/>
          <p:cNvSpPr/>
          <p:nvPr/>
        </p:nvSpPr>
        <p:spPr>
          <a:xfrm>
            <a:off x="1092200" y="307594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9" name="bm0-num"/>
          <p:cNvSpPr txBox="1"/>
          <p:nvPr/>
        </p:nvSpPr>
        <p:spPr>
          <a:xfrm>
            <a:off x="1092200" y="307594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10" name="bm-h0"/>
          <p:cNvSpPr txBox="1"/>
          <p:nvPr/>
        </p:nvSpPr>
        <p:spPr>
          <a:xfrm>
            <a:off x="1625600" y="307594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开源免费</a:t>
            </a:r>
            <a:endParaRPr lang="en-US" sz="1700"/>
          </a:p>
        </p:txBody>
      </p:sp>
      <p:sp>
        <p:nvSpPr>
          <p:cNvPr id="11" name="bm-t0"/>
          <p:cNvSpPr txBox="1"/>
          <p:nvPr/>
        </p:nvSpPr>
        <p:spPr>
          <a:xfrm>
            <a:off x="1092200" y="3636010"/>
            <a:ext cx="29591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GitHub 上完全公开，谁都能用，不花一分钱——代码和文档都在阳光下</a:t>
            </a:r>
            <a:endParaRPr lang="en-US" sz="1300"/>
          </a:p>
        </p:txBody>
      </p:sp>
      <p:sp>
        <p:nvSpPr>
          <p:cNvPr id="12" name="bm-card1"/>
          <p:cNvSpPr/>
          <p:nvPr/>
        </p:nvSpPr>
        <p:spPr>
          <a:xfrm>
            <a:off x="4559300" y="2848610"/>
            <a:ext cx="34671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3" name="bm1-dot"/>
          <p:cNvSpPr/>
          <p:nvPr/>
        </p:nvSpPr>
        <p:spPr>
          <a:xfrm>
            <a:off x="4813300" y="307594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bm1-num"/>
          <p:cNvSpPr txBox="1"/>
          <p:nvPr/>
        </p:nvSpPr>
        <p:spPr>
          <a:xfrm>
            <a:off x="4813300" y="307594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5" name="bm-h1"/>
          <p:cNvSpPr txBox="1"/>
          <p:nvPr/>
        </p:nvSpPr>
        <p:spPr>
          <a:xfrm>
            <a:off x="5346700" y="307594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全世界开发者都在用</a:t>
            </a:r>
            <a:endParaRPr lang="en-US" sz="1700"/>
          </a:p>
        </p:txBody>
      </p:sp>
      <p:sp>
        <p:nvSpPr>
          <p:cNvPr id="16" name="bm-t1"/>
          <p:cNvSpPr txBox="1"/>
          <p:nvPr/>
        </p:nvSpPr>
        <p:spPr>
          <a:xfrm>
            <a:off x="4813300" y="3636010"/>
            <a:ext cx="29591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专业团队总结好的方法：12+ 个专业角色、34+ 个现成工作流，持续更新</a:t>
            </a:r>
            <a:endParaRPr lang="en-US" sz="1300"/>
          </a:p>
        </p:txBody>
      </p:sp>
      <p:sp>
        <p:nvSpPr>
          <p:cNvPr id="17" name="bm-card2"/>
          <p:cNvSpPr/>
          <p:nvPr/>
        </p:nvSpPr>
        <p:spPr>
          <a:xfrm>
            <a:off x="8280400" y="2848610"/>
            <a:ext cx="34671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8" name="bm2-dot"/>
          <p:cNvSpPr/>
          <p:nvPr/>
        </p:nvSpPr>
        <p:spPr>
          <a:xfrm>
            <a:off x="8534400" y="307594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9" name="bm2-num"/>
          <p:cNvSpPr txBox="1"/>
          <p:nvPr/>
        </p:nvSpPr>
        <p:spPr>
          <a:xfrm>
            <a:off x="8534400" y="307594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500"/>
          </a:p>
        </p:txBody>
      </p:sp>
      <p:sp>
        <p:nvSpPr>
          <p:cNvPr id="20" name="bm-h2"/>
          <p:cNvSpPr txBox="1"/>
          <p:nvPr/>
        </p:nvSpPr>
        <p:spPr>
          <a:xfrm>
            <a:off x="9067800" y="307594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让 AI 分角色分步</a:t>
            </a:r>
            <a:endParaRPr lang="en-US" sz="1700"/>
          </a:p>
        </p:txBody>
      </p:sp>
      <p:sp>
        <p:nvSpPr>
          <p:cNvPr id="21" name="bm-t2"/>
          <p:cNvSpPr txBox="1"/>
          <p:nvPr/>
        </p:nvSpPr>
        <p:spPr>
          <a:xfrm>
            <a:off x="8534400" y="3636010"/>
            <a:ext cx="29591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不是让 AI 一句话全包——是让它扮演不同角色，分步帮你想清楚再动手</a:t>
            </a:r>
            <a:endParaRPr lang="en-US" sz="1300"/>
          </a:p>
        </p:txBody>
      </p:sp>
      <p:sp>
        <p:nvSpPr>
          <p:cNvPr id="22" name="gh-card"/>
          <p:cNvSpPr/>
          <p:nvPr/>
        </p:nvSpPr>
        <p:spPr>
          <a:xfrm>
            <a:off x="838200" y="5312410"/>
            <a:ext cx="10668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3" name="gh-bar"/>
          <p:cNvSpPr/>
          <p:nvPr/>
        </p:nvSpPr>
        <p:spPr>
          <a:xfrm>
            <a:off x="838200" y="5312410"/>
            <a:ext cx="76200" cy="660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4" name="gh-txt"/>
          <p:cNvSpPr txBox="1"/>
          <p:nvPr/>
        </p:nvSpPr>
        <p:spPr>
          <a:xfrm>
            <a:off x="1092200" y="5312410"/>
            <a:ext cx="10236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GitHub 地址：github.com/bmad-code-org/BMAD-METHOD——开源项目，随时可查可验证。</a:t>
            </a:r>
            <a:endParaRPr lang="en-US" sz="1500"/>
          </a:p>
        </p:txBody>
      </p:sp>
      <p:sp>
        <p:nvSpPr>
          <p:cNvPr id="25" name="notsw"/>
          <p:cNvSpPr txBox="1"/>
          <p:nvPr/>
        </p:nvSpPr>
        <p:spPr>
          <a:xfrm>
            <a:off x="838200" y="617601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它不是要装的软件，是一套方法——方法不用装，学会就是你的。今天你只学最核心的一招：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让 AI 分角色、分步做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400"/>
          </a:p>
        </p:txBody>
      </p:sp>
      <p:sp>
        <p:nvSpPr>
          <p:cNvPr id="26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04 / 20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组团队开工 · 怎么用 BMAD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两种用法，今天用第一种</a:t>
            </a:r>
            <a:endParaRPr lang="en-US" sz="2800"/>
          </a:p>
        </p:txBody>
      </p:sp>
      <p:sp>
        <p:nvSpPr>
          <p:cNvPr id="5" name="u1-card"/>
          <p:cNvSpPr/>
          <p:nvPr/>
        </p:nvSpPr>
        <p:spPr>
          <a:xfrm>
            <a:off x="762000" y="1981200"/>
            <a:ext cx="5080000" cy="27432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6" name="u1-icon"/>
          <p:cNvSpPr/>
          <p:nvPr>
            <p:extLst>
              <p:ext uri="{F5677B7D-0D2A-4D9B-9A5C-6D8D7D0E5A5D}">
                <pptd:icon encoding="base64url">eyJpY29uTmFtZSI6ImZhczpjaGFsa2JvYXJkLXVzZXIifQ</pptd:icon>
              </p:ext>
            </p:extLst>
          </p:nvPr>
        </p:nvSpPr>
        <p:spPr>
          <a:xfrm>
            <a:off x="1066800" y="2235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92" y="384"/>
                </a:moveTo>
                <a:cubicBezTo>
                  <a:pt x="245" y="384"/>
                  <a:pt x="288" y="427"/>
                  <a:pt x="288" y="480"/>
                </a:cubicBezTo>
                <a:cubicBezTo>
                  <a:pt x="288" y="498"/>
                  <a:pt x="274" y="512"/>
                  <a:pt x="256" y="512"/>
                </a:cubicBezTo>
                <a:lnTo>
                  <a:pt x="32" y="512"/>
                </a:lnTo>
                <a:cubicBezTo>
                  <a:pt x="14" y="512"/>
                  <a:pt x="0" y="498"/>
                  <a:pt x="0" y="480"/>
                </a:cubicBezTo>
                <a:cubicBezTo>
                  <a:pt x="0" y="427"/>
                  <a:pt x="43" y="384"/>
                  <a:pt x="96" y="384"/>
                </a:cubicBezTo>
                <a:lnTo>
                  <a:pt x="192" y="384"/>
                </a:lnTo>
                <a:close/>
                <a:moveTo>
                  <a:pt x="544" y="32"/>
                </a:moveTo>
                <a:cubicBezTo>
                  <a:pt x="579" y="32"/>
                  <a:pt x="608" y="61"/>
                  <a:pt x="608" y="96"/>
                </a:cubicBezTo>
                <a:lnTo>
                  <a:pt x="608" y="384"/>
                </a:lnTo>
                <a:cubicBezTo>
                  <a:pt x="608" y="417"/>
                  <a:pt x="583" y="444"/>
                  <a:pt x="551" y="448"/>
                </a:cubicBezTo>
                <a:lnTo>
                  <a:pt x="544" y="448"/>
                </a:lnTo>
                <a:lnTo>
                  <a:pt x="333" y="448"/>
                </a:lnTo>
                <a:cubicBezTo>
                  <a:pt x="328" y="424"/>
                  <a:pt x="317" y="402"/>
                  <a:pt x="301" y="384"/>
                </a:cubicBezTo>
                <a:lnTo>
                  <a:pt x="352" y="384"/>
                </a:lnTo>
                <a:lnTo>
                  <a:pt x="352" y="352"/>
                </a:lnTo>
                <a:cubicBezTo>
                  <a:pt x="352" y="334"/>
                  <a:pt x="366" y="320"/>
                  <a:pt x="384" y="320"/>
                </a:cubicBezTo>
                <a:lnTo>
                  <a:pt x="480" y="320"/>
                </a:lnTo>
                <a:cubicBezTo>
                  <a:pt x="498" y="320"/>
                  <a:pt x="512" y="334"/>
                  <a:pt x="512" y="352"/>
                </a:cubicBezTo>
                <a:lnTo>
                  <a:pt x="512" y="384"/>
                </a:lnTo>
                <a:lnTo>
                  <a:pt x="544" y="384"/>
                </a:lnTo>
                <a:lnTo>
                  <a:pt x="544" y="96"/>
                </a:lnTo>
                <a:lnTo>
                  <a:pt x="192" y="96"/>
                </a:lnTo>
                <a:lnTo>
                  <a:pt x="192" y="153"/>
                </a:lnTo>
                <a:cubicBezTo>
                  <a:pt x="177" y="147"/>
                  <a:pt x="161" y="144"/>
                  <a:pt x="144" y="144"/>
                </a:cubicBezTo>
                <a:cubicBezTo>
                  <a:pt x="139" y="144"/>
                  <a:pt x="133" y="144"/>
                  <a:pt x="128" y="145"/>
                </a:cubicBezTo>
                <a:lnTo>
                  <a:pt x="128" y="96"/>
                </a:lnTo>
                <a:cubicBezTo>
                  <a:pt x="128" y="61"/>
                  <a:pt x="157" y="32"/>
                  <a:pt x="192" y="32"/>
                </a:cubicBezTo>
                <a:lnTo>
                  <a:pt x="544" y="32"/>
                </a:lnTo>
                <a:close/>
                <a:moveTo>
                  <a:pt x="144" y="352"/>
                </a:moveTo>
                <a:cubicBezTo>
                  <a:pt x="100" y="352"/>
                  <a:pt x="64" y="316"/>
                  <a:pt x="64" y="272"/>
                </a:cubicBezTo>
                <a:cubicBezTo>
                  <a:pt x="64" y="228"/>
                  <a:pt x="100" y="192"/>
                  <a:pt x="144" y="192"/>
                </a:cubicBezTo>
                <a:cubicBezTo>
                  <a:pt x="188" y="192"/>
                  <a:pt x="224" y="228"/>
                  <a:pt x="224" y="272"/>
                </a:cubicBezTo>
                <a:cubicBezTo>
                  <a:pt x="224" y="316"/>
                  <a:pt x="188" y="352"/>
                  <a:pt x="144" y="35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7" name="u1-h"/>
          <p:cNvSpPr txBox="1"/>
          <p:nvPr/>
        </p:nvSpPr>
        <p:spPr>
          <a:xfrm>
            <a:off x="1549400" y="22098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用法一：今天课堂上</a:t>
            </a:r>
            <a:endParaRPr lang="en-US" sz="1700"/>
          </a:p>
        </p:txBody>
      </p:sp>
      <p:sp>
        <p:nvSpPr>
          <p:cNvPr id="8" name="u1-t0"/>
          <p:cNvSpPr txBox="1"/>
          <p:nvPr/>
        </p:nvSpPr>
        <p:spPr>
          <a:xfrm>
            <a:off x="1066800" y="2743200"/>
            <a:ext cx="4470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什么都不用装——</a:t>
            </a:r>
            <a:endParaRPr lang="en-US" sz="1400"/>
          </a:p>
        </p:txBody>
      </p:sp>
      <p:sp>
        <p:nvSpPr>
          <p:cNvPr id="9" name="u1-t1"/>
          <p:cNvSpPr txBox="1"/>
          <p:nvPr/>
        </p:nvSpPr>
        <p:spPr>
          <a:xfrm>
            <a:off x="1066800" y="3124200"/>
            <a:ext cx="4470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五轮句式就是 BMAD 的核心用法：PM→设计师→架构师→开发→测试，在一个对话里接力。方法已经在你脑子里——这是最值钱的部分。</a:t>
            </a:r>
            <a:endParaRPr lang="en-US" sz="1300"/>
          </a:p>
        </p:txBody>
      </p:sp>
      <p:sp>
        <p:nvSpPr>
          <p:cNvPr id="10" name="u2-card"/>
          <p:cNvSpPr/>
          <p:nvPr/>
        </p:nvSpPr>
        <p:spPr>
          <a:xfrm>
            <a:off x="6350000" y="1981200"/>
            <a:ext cx="5080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u2-icon"/>
          <p:cNvSpPr/>
          <p:nvPr>
            <p:extLst>
              <p:ext uri="{F5677B7D-0D2A-4D9B-9A5C-6D8D7D0E5A5D}">
                <pptd:icon encoding="base64url">eyJpY29uTmFtZSI6ImZhczpsYXB0b3AtY29kZSJ9</pptd:icon>
              </p:ext>
            </p:extLst>
          </p:nvPr>
        </p:nvSpPr>
        <p:spPr>
          <a:xfrm>
            <a:off x="6654800" y="2235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64" y="96"/>
                </a:moveTo>
                <a:cubicBezTo>
                  <a:pt x="64" y="61"/>
                  <a:pt x="93" y="32"/>
                  <a:pt x="128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576" y="336"/>
                </a:lnTo>
                <a:lnTo>
                  <a:pt x="512" y="336"/>
                </a:lnTo>
                <a:lnTo>
                  <a:pt x="512" y="96"/>
                </a:lnTo>
                <a:lnTo>
                  <a:pt x="128" y="96"/>
                </a:lnTo>
                <a:lnTo>
                  <a:pt x="128" y="336"/>
                </a:lnTo>
                <a:lnTo>
                  <a:pt x="64" y="336"/>
                </a:lnTo>
                <a:lnTo>
                  <a:pt x="64" y="96"/>
                </a:lnTo>
                <a:close/>
                <a:moveTo>
                  <a:pt x="281" y="209"/>
                </a:moveTo>
                <a:lnTo>
                  <a:pt x="250" y="240"/>
                </a:lnTo>
                <a:lnTo>
                  <a:pt x="281" y="271"/>
                </a:lnTo>
                <a:cubicBezTo>
                  <a:pt x="290" y="280"/>
                  <a:pt x="290" y="296"/>
                  <a:pt x="281" y="305"/>
                </a:cubicBezTo>
                <a:cubicBezTo>
                  <a:pt x="272" y="314"/>
                  <a:pt x="256" y="314"/>
                  <a:pt x="247" y="305"/>
                </a:cubicBezTo>
                <a:lnTo>
                  <a:pt x="199" y="257"/>
                </a:lnTo>
                <a:cubicBezTo>
                  <a:pt x="190" y="247"/>
                  <a:pt x="190" y="232"/>
                  <a:pt x="199" y="223"/>
                </a:cubicBezTo>
                <a:lnTo>
                  <a:pt x="247" y="175"/>
                </a:lnTo>
                <a:cubicBezTo>
                  <a:pt x="257" y="166"/>
                  <a:pt x="272" y="166"/>
                  <a:pt x="281" y="175"/>
                </a:cubicBezTo>
                <a:cubicBezTo>
                  <a:pt x="290" y="184"/>
                  <a:pt x="290" y="200"/>
                  <a:pt x="281" y="209"/>
                </a:cubicBezTo>
                <a:close/>
                <a:moveTo>
                  <a:pt x="393" y="175"/>
                </a:moveTo>
                <a:lnTo>
                  <a:pt x="441" y="223"/>
                </a:lnTo>
                <a:cubicBezTo>
                  <a:pt x="450" y="232"/>
                  <a:pt x="450" y="248"/>
                  <a:pt x="441" y="257"/>
                </a:cubicBezTo>
                <a:lnTo>
                  <a:pt x="393" y="305"/>
                </a:lnTo>
                <a:cubicBezTo>
                  <a:pt x="384" y="314"/>
                  <a:pt x="368" y="314"/>
                  <a:pt x="359" y="305"/>
                </a:cubicBezTo>
                <a:cubicBezTo>
                  <a:pt x="350" y="296"/>
                  <a:pt x="350" y="280"/>
                  <a:pt x="359" y="271"/>
                </a:cubicBezTo>
                <a:lnTo>
                  <a:pt x="390" y="240"/>
                </a:lnTo>
                <a:lnTo>
                  <a:pt x="359" y="209"/>
                </a:lnTo>
                <a:cubicBezTo>
                  <a:pt x="350" y="200"/>
                  <a:pt x="350" y="184"/>
                  <a:pt x="359" y="175"/>
                </a:cubicBezTo>
                <a:cubicBezTo>
                  <a:pt x="369" y="166"/>
                  <a:pt x="384" y="166"/>
                  <a:pt x="393" y="175"/>
                </a:cubicBezTo>
                <a:close/>
                <a:moveTo>
                  <a:pt x="0" y="403"/>
                </a:moveTo>
                <a:cubicBezTo>
                  <a:pt x="0" y="393"/>
                  <a:pt x="9" y="384"/>
                  <a:pt x="19" y="384"/>
                </a:cubicBezTo>
                <a:lnTo>
                  <a:pt x="621" y="384"/>
                </a:lnTo>
                <a:cubicBezTo>
                  <a:pt x="631" y="384"/>
                  <a:pt x="640" y="393"/>
                  <a:pt x="640" y="403"/>
                </a:cubicBezTo>
                <a:cubicBezTo>
                  <a:pt x="640" y="446"/>
                  <a:pt x="606" y="480"/>
                  <a:pt x="563" y="480"/>
                </a:cubicBezTo>
                <a:lnTo>
                  <a:pt x="77" y="480"/>
                </a:lnTo>
                <a:cubicBezTo>
                  <a:pt x="34" y="480"/>
                  <a:pt x="0" y="446"/>
                  <a:pt x="0" y="40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2" name="u2-h"/>
          <p:cNvSpPr txBox="1"/>
          <p:nvPr/>
        </p:nvSpPr>
        <p:spPr>
          <a:xfrm>
            <a:off x="7137400" y="22098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用法二：课后自己项目（自愿）</a:t>
            </a:r>
            <a:endParaRPr lang="en-US" sz="1700"/>
          </a:p>
        </p:txBody>
      </p:sp>
      <p:sp>
        <p:nvSpPr>
          <p:cNvPr id="13" name="u2-t0"/>
          <p:cNvSpPr txBox="1"/>
          <p:nvPr/>
        </p:nvSpPr>
        <p:spPr>
          <a:xfrm>
            <a:off x="6654800" y="2717800"/>
            <a:ext cx="4470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不用背命令——让 AI 帮你装：</a:t>
            </a:r>
            <a:endParaRPr lang="en-US" sz="1400"/>
          </a:p>
        </p:txBody>
      </p:sp>
      <p:sp>
        <p:nvSpPr>
          <p:cNvPr id="14" name="u2-codebg"/>
          <p:cNvSpPr/>
          <p:nvPr/>
        </p:nvSpPr>
        <p:spPr>
          <a:xfrm>
            <a:off x="6654800" y="3124200"/>
            <a:ext cx="4470400" cy="711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15" name="u2-code"/>
          <p:cNvSpPr txBox="1"/>
          <p:nvPr/>
        </p:nvSpPr>
        <p:spPr>
          <a:xfrm>
            <a:off x="6807200" y="3124200"/>
            <a:ext cx="419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帮我阅读 https://github.com/bmad-code-org/BMAD-METHOD 的文档，在我的项目里配置好 BMAD 工作流。</a:t>
            </a:r>
            <a:endParaRPr lang="en-US" sz="1200"/>
          </a:p>
        </p:txBody>
      </p:sp>
      <p:sp>
        <p:nvSpPr>
          <p:cNvPr id="16" name="u2-t1"/>
          <p:cNvSpPr txBox="1"/>
          <p:nvPr/>
        </p:nvSpPr>
        <p:spPr>
          <a:xfrm>
            <a:off x="6654800" y="3937000"/>
            <a:ext cx="4470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AI 会自己访问 GitHub 仓库、跑安装命令，把整套角色和工作流装进你的项目（需 Node.js 环境）。</a:t>
            </a:r>
            <a:endParaRPr lang="en-US" sz="1300"/>
          </a:p>
        </p:txBody>
      </p:sp>
      <p:sp>
        <p:nvSpPr>
          <p:cNvPr id="17" name="u2-note"/>
          <p:cNvSpPr txBox="1"/>
          <p:nvPr/>
        </p:nvSpPr>
        <p:spPr>
          <a:xfrm>
            <a:off x="762000" y="4978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需要 Node.js 环境，课后自愿尝试，不影响今天过关——想试的同学找老师或助教。</a:t>
            </a:r>
            <a:endParaRPr lang="en-US" sz="1300"/>
          </a:p>
        </p:txBody>
      </p:sp>
      <p:sp>
        <p:nvSpPr>
          <p:cNvPr id="18" name="core-card"/>
          <p:cNvSpPr/>
          <p:nvPr/>
        </p:nvSpPr>
        <p:spPr>
          <a:xfrm>
            <a:off x="762000" y="5689600"/>
            <a:ext cx="10668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9" name="core-bar"/>
          <p:cNvSpPr/>
          <p:nvPr/>
        </p:nvSpPr>
        <p:spPr>
          <a:xfrm>
            <a:off x="762000" y="5689600"/>
            <a:ext cx="76200" cy="635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0" name="core-txt"/>
          <p:cNvSpPr txBox="1"/>
          <p:nvPr/>
        </p:nvSpPr>
        <p:spPr>
          <a:xfrm>
            <a:off x="1016000" y="5689600"/>
            <a:ext cx="10236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今天的目标只有一个：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方法在你脑子里跑通一遍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——工具随时能装，脑子里的方法跟你一辈子。</a:t>
            </a:r>
            <a:endParaRPr lang="en-US" sz="1500"/>
          </a:p>
        </p:txBody>
      </p:sp>
      <p:sp>
        <p:nvSpPr>
          <p:cNvPr id="21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05 / 20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组团队开工 · 五角色地图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原来你一个人乱干的事，现在是五个专家分工</a:t>
            </a:r>
            <a:endParaRPr lang="en-US" sz="2400"/>
          </a:p>
        </p:txBody>
      </p:sp>
      <p:sp>
        <p:nvSpPr>
          <p:cNvPr id="5" name="boss"/>
          <p:cNvSpPr txBox="1"/>
          <p:nvPr/>
        </p:nvSpPr>
        <p:spPr>
          <a:xfrm>
            <a:off x="762000" y="1701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你，是这个团队的老板。</a:t>
            </a:r>
            <a:endParaRPr lang="en-US" sz="1800"/>
          </a:p>
        </p:txBody>
      </p:sp>
      <p:sp>
        <p:nvSpPr>
          <p:cNvPr id="6" name="r-card0"/>
          <p:cNvSpPr/>
          <p:nvPr/>
        </p:nvSpPr>
        <p:spPr>
          <a:xfrm>
            <a:off x="762000" y="2260600"/>
            <a:ext cx="1905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7" name="r0-dot"/>
          <p:cNvSpPr/>
          <p:nvPr/>
        </p:nvSpPr>
        <p:spPr>
          <a:xfrm>
            <a:off x="914400" y="2413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r0-num"/>
          <p:cNvSpPr txBox="1"/>
          <p:nvPr/>
        </p:nvSpPr>
        <p:spPr>
          <a:xfrm>
            <a:off x="914400" y="2413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9" name="r-ic0"/>
          <p:cNvSpPr/>
          <p:nvPr>
            <p:extLst>
              <p:ext uri="{F5677B7D-0D2A-4D9B-9A5C-6D8D7D0E5A5D}">
                <pptd:icon encoding="base64url">eyJpY29uTmFtZSI6ImZhczpjbGlwYm9hcmQtbGlzdCJ9</pptd:icon>
              </p:ext>
            </p:extLst>
          </p:nvPr>
        </p:nvSpPr>
        <p:spPr>
          <a:xfrm>
            <a:off x="1485900" y="287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311" y="32"/>
                </a:move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ubicBezTo>
                  <a:pt x="280" y="0"/>
                  <a:pt x="300" y="13"/>
                  <a:pt x="311" y="32"/>
                </a:cubicBezTo>
                <a:close/>
                <a:moveTo>
                  <a:pt x="248" y="112"/>
                </a:move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lose/>
                <a:moveTo>
                  <a:pt x="128" y="256"/>
                </a:moveTo>
                <a:cubicBezTo>
                  <a:pt x="128" y="238"/>
                  <a:pt x="114" y="224"/>
                  <a:pt x="96" y="224"/>
                </a:cubicBezTo>
                <a:cubicBezTo>
                  <a:pt x="78" y="224"/>
                  <a:pt x="64" y="238"/>
                  <a:pt x="64" y="256"/>
                </a:cubicBezTo>
                <a:cubicBezTo>
                  <a:pt x="64" y="274"/>
                  <a:pt x="78" y="288"/>
                  <a:pt x="96" y="288"/>
                </a:cubicBezTo>
                <a:cubicBezTo>
                  <a:pt x="114" y="288"/>
                  <a:pt x="128" y="274"/>
                  <a:pt x="128" y="256"/>
                </a:cubicBezTo>
                <a:close/>
                <a:moveTo>
                  <a:pt x="160" y="256"/>
                </a:moveTo>
                <a:cubicBezTo>
                  <a:pt x="160" y="269"/>
                  <a:pt x="171" y="280"/>
                  <a:pt x="184" y="280"/>
                </a:cubicBezTo>
                <a:lnTo>
                  <a:pt x="296" y="280"/>
                </a:lnTo>
                <a:cubicBezTo>
                  <a:pt x="309" y="280"/>
                  <a:pt x="320" y="269"/>
                  <a:pt x="320" y="256"/>
                </a:cubicBezTo>
                <a:cubicBezTo>
                  <a:pt x="320" y="243"/>
                  <a:pt x="309" y="232"/>
                  <a:pt x="296" y="232"/>
                </a:cubicBezTo>
                <a:lnTo>
                  <a:pt x="184" y="232"/>
                </a:lnTo>
                <a:cubicBezTo>
                  <a:pt x="171" y="232"/>
                  <a:pt x="160" y="243"/>
                  <a:pt x="160" y="256"/>
                </a:cubicBezTo>
                <a:close/>
                <a:moveTo>
                  <a:pt x="160" y="384"/>
                </a:moveTo>
                <a:cubicBezTo>
                  <a:pt x="160" y="397"/>
                  <a:pt x="171" y="408"/>
                  <a:pt x="184" y="408"/>
                </a:cubicBezTo>
                <a:lnTo>
                  <a:pt x="296" y="408"/>
                </a:lnTo>
                <a:cubicBezTo>
                  <a:pt x="309" y="408"/>
                  <a:pt x="320" y="397"/>
                  <a:pt x="320" y="384"/>
                </a:cubicBezTo>
                <a:cubicBezTo>
                  <a:pt x="320" y="371"/>
                  <a:pt x="309" y="360"/>
                  <a:pt x="296" y="360"/>
                </a:cubicBezTo>
                <a:lnTo>
                  <a:pt x="184" y="360"/>
                </a:lnTo>
                <a:cubicBezTo>
                  <a:pt x="171" y="360"/>
                  <a:pt x="160" y="371"/>
                  <a:pt x="160" y="384"/>
                </a:cubicBezTo>
                <a:close/>
                <a:moveTo>
                  <a:pt x="96" y="416"/>
                </a:moveTo>
                <a:cubicBezTo>
                  <a:pt x="114" y="416"/>
                  <a:pt x="128" y="402"/>
                  <a:pt x="128" y="384"/>
                </a:cubicBezTo>
                <a:cubicBezTo>
                  <a:pt x="128" y="366"/>
                  <a:pt x="114" y="352"/>
                  <a:pt x="96" y="352"/>
                </a:cubicBezTo>
                <a:cubicBezTo>
                  <a:pt x="78" y="352"/>
                  <a:pt x="64" y="366"/>
                  <a:pt x="64" y="384"/>
                </a:cubicBezTo>
                <a:cubicBezTo>
                  <a:pt x="64" y="402"/>
                  <a:pt x="78" y="416"/>
                  <a:pt x="96" y="41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0" name="r-n0"/>
          <p:cNvSpPr txBox="1"/>
          <p:nvPr/>
        </p:nvSpPr>
        <p:spPr>
          <a:xfrm>
            <a:off x="812800" y="34290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PM · John</a:t>
            </a:r>
            <a:endParaRPr lang="en-US" sz="1400"/>
          </a:p>
        </p:txBody>
      </p:sp>
      <p:sp>
        <p:nvSpPr>
          <p:cNvPr id="11" name="r-d0"/>
          <p:cNvSpPr txBox="1"/>
          <p:nvPr/>
        </p:nvSpPr>
        <p:spPr>
          <a:xfrm>
            <a:off x="889000" y="38608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管"解决什么问题、给谁用"</a:t>
            </a:r>
            <a:endParaRPr lang="en-US" sz="1200"/>
          </a:p>
        </p:txBody>
      </p:sp>
      <p:sp>
        <p:nvSpPr>
          <p:cNvPr id="12" name="r-ar0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2692400" y="3327400"/>
            <a:ext cx="228600" cy="2794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3" name="r-card1"/>
          <p:cNvSpPr/>
          <p:nvPr/>
        </p:nvSpPr>
        <p:spPr>
          <a:xfrm>
            <a:off x="2946400" y="2260600"/>
            <a:ext cx="1905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4" name="r1-dot"/>
          <p:cNvSpPr/>
          <p:nvPr/>
        </p:nvSpPr>
        <p:spPr>
          <a:xfrm>
            <a:off x="3098800" y="2413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r1-num"/>
          <p:cNvSpPr txBox="1"/>
          <p:nvPr/>
        </p:nvSpPr>
        <p:spPr>
          <a:xfrm>
            <a:off x="3098800" y="2413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6" name="r-ic1"/>
          <p:cNvSpPr/>
          <p:nvPr>
            <p:extLst>
              <p:ext uri="{F5677B7D-0D2A-4D9B-9A5C-6D8D7D0E5A5D}">
                <pptd:icon encoding="base64url">eyJpY29uTmFtZSI6ImZhczpwZW4tcnVsZXIifQ</pptd:icon>
              </p:ext>
            </p:extLst>
          </p:nvPr>
        </p:nvSpPr>
        <p:spPr>
          <a:xfrm>
            <a:off x="3670300" y="287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04" y="0"/>
                </a:moveTo>
                <a:cubicBezTo>
                  <a:pt x="423" y="0"/>
                  <a:pt x="442" y="8"/>
                  <a:pt x="455" y="21"/>
                </a:cubicBezTo>
                <a:lnTo>
                  <a:pt x="491" y="57"/>
                </a:lnTo>
                <a:cubicBezTo>
                  <a:pt x="504" y="70"/>
                  <a:pt x="512" y="89"/>
                  <a:pt x="512" y="108"/>
                </a:cubicBezTo>
                <a:cubicBezTo>
                  <a:pt x="512" y="127"/>
                  <a:pt x="504" y="146"/>
                  <a:pt x="491" y="159"/>
                </a:cubicBezTo>
                <a:lnTo>
                  <a:pt x="446" y="204"/>
                </a:lnTo>
                <a:lnTo>
                  <a:pt x="308" y="66"/>
                </a:lnTo>
                <a:lnTo>
                  <a:pt x="353" y="21"/>
                </a:lnTo>
                <a:cubicBezTo>
                  <a:pt x="366" y="8"/>
                  <a:pt x="385" y="0"/>
                  <a:pt x="404" y="0"/>
                </a:cubicBezTo>
                <a:close/>
                <a:moveTo>
                  <a:pt x="59" y="315"/>
                </a:moveTo>
                <a:lnTo>
                  <a:pt x="274" y="100"/>
                </a:lnTo>
                <a:lnTo>
                  <a:pt x="412" y="238"/>
                </a:lnTo>
                <a:lnTo>
                  <a:pt x="197" y="453"/>
                </a:lnTo>
                <a:cubicBezTo>
                  <a:pt x="186" y="464"/>
                  <a:pt x="173" y="472"/>
                  <a:pt x="158" y="476"/>
                </a:cubicBezTo>
                <a:lnTo>
                  <a:pt x="30" y="511"/>
                </a:lnTo>
                <a:cubicBezTo>
                  <a:pt x="22" y="513"/>
                  <a:pt x="13" y="511"/>
                  <a:pt x="7" y="505"/>
                </a:cubicBezTo>
                <a:cubicBezTo>
                  <a:pt x="1" y="499"/>
                  <a:pt x="-1" y="490"/>
                  <a:pt x="1" y="482"/>
                </a:cubicBezTo>
                <a:lnTo>
                  <a:pt x="36" y="354"/>
                </a:lnTo>
                <a:cubicBezTo>
                  <a:pt x="41" y="339"/>
                  <a:pt x="48" y="326"/>
                  <a:pt x="59" y="315"/>
                </a:cubicBezTo>
                <a:close/>
                <a:moveTo>
                  <a:pt x="225" y="81"/>
                </a:moveTo>
                <a:lnTo>
                  <a:pt x="81" y="225"/>
                </a:lnTo>
                <a:lnTo>
                  <a:pt x="12" y="156"/>
                </a:lnTo>
                <a:cubicBezTo>
                  <a:pt x="-4" y="141"/>
                  <a:pt x="-4" y="115"/>
                  <a:pt x="12" y="100"/>
                </a:cubicBezTo>
                <a:lnTo>
                  <a:pt x="100" y="12"/>
                </a:lnTo>
                <a:cubicBezTo>
                  <a:pt x="115" y="-4"/>
                  <a:pt x="141" y="-4"/>
                  <a:pt x="156" y="12"/>
                </a:cubicBezTo>
                <a:lnTo>
                  <a:pt x="162" y="18"/>
                </a:lnTo>
                <a:lnTo>
                  <a:pt x="106" y="74"/>
                </a:lnTo>
                <a:cubicBezTo>
                  <a:pt x="98" y="82"/>
                  <a:pt x="98" y="94"/>
                  <a:pt x="106" y="102"/>
                </a:cubicBezTo>
                <a:cubicBezTo>
                  <a:pt x="114" y="110"/>
                  <a:pt x="126" y="110"/>
                  <a:pt x="134" y="102"/>
                </a:cubicBezTo>
                <a:lnTo>
                  <a:pt x="191" y="46"/>
                </a:lnTo>
                <a:lnTo>
                  <a:pt x="225" y="81"/>
                </a:lnTo>
                <a:close/>
                <a:moveTo>
                  <a:pt x="431" y="287"/>
                </a:moveTo>
                <a:lnTo>
                  <a:pt x="466" y="322"/>
                </a:lnTo>
                <a:lnTo>
                  <a:pt x="410" y="378"/>
                </a:lnTo>
                <a:cubicBezTo>
                  <a:pt x="402" y="386"/>
                  <a:pt x="402" y="398"/>
                  <a:pt x="410" y="406"/>
                </a:cubicBezTo>
                <a:cubicBezTo>
                  <a:pt x="418" y="414"/>
                  <a:pt x="430" y="414"/>
                  <a:pt x="438" y="406"/>
                </a:cubicBezTo>
                <a:lnTo>
                  <a:pt x="494" y="350"/>
                </a:lnTo>
                <a:lnTo>
                  <a:pt x="500" y="356"/>
                </a:lnTo>
                <a:cubicBezTo>
                  <a:pt x="516" y="371"/>
                  <a:pt x="516" y="397"/>
                  <a:pt x="500" y="412"/>
                </a:cubicBezTo>
                <a:lnTo>
                  <a:pt x="412" y="500"/>
                </a:lnTo>
                <a:cubicBezTo>
                  <a:pt x="397" y="516"/>
                  <a:pt x="371" y="516"/>
                  <a:pt x="356" y="500"/>
                </a:cubicBezTo>
                <a:lnTo>
                  <a:pt x="287" y="431"/>
                </a:lnTo>
                <a:lnTo>
                  <a:pt x="431" y="28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7" name="r-n1"/>
          <p:cNvSpPr txBox="1"/>
          <p:nvPr/>
        </p:nvSpPr>
        <p:spPr>
          <a:xfrm>
            <a:off x="2997200" y="34290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设计师 · Sally</a:t>
            </a:r>
            <a:endParaRPr lang="en-US" sz="1400"/>
          </a:p>
        </p:txBody>
      </p:sp>
      <p:sp>
        <p:nvSpPr>
          <p:cNvPr id="18" name="r-d1"/>
          <p:cNvSpPr txBox="1"/>
          <p:nvPr/>
        </p:nvSpPr>
        <p:spPr>
          <a:xfrm>
            <a:off x="3073400" y="38608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管"长什么样、怎么操作"</a:t>
            </a:r>
            <a:endParaRPr lang="en-US" sz="1200"/>
          </a:p>
        </p:txBody>
      </p:sp>
      <p:sp>
        <p:nvSpPr>
          <p:cNvPr id="19" name="r-ar1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4876800" y="3327400"/>
            <a:ext cx="228600" cy="2794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20" name="r-card2"/>
          <p:cNvSpPr/>
          <p:nvPr/>
        </p:nvSpPr>
        <p:spPr>
          <a:xfrm>
            <a:off x="5130800" y="2260600"/>
            <a:ext cx="1905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1" name="r2-dot"/>
          <p:cNvSpPr/>
          <p:nvPr/>
        </p:nvSpPr>
        <p:spPr>
          <a:xfrm>
            <a:off x="5283200" y="2413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2" name="r2-num"/>
          <p:cNvSpPr txBox="1"/>
          <p:nvPr/>
        </p:nvSpPr>
        <p:spPr>
          <a:xfrm>
            <a:off x="5283200" y="2413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500"/>
          </a:p>
        </p:txBody>
      </p:sp>
      <p:sp>
        <p:nvSpPr>
          <p:cNvPr id="23" name="r-ic2"/>
          <p:cNvSpPr/>
          <p:nvPr>
            <p:extLst>
              <p:ext uri="{F5677B7D-0D2A-4D9B-9A5C-6D8D7D0E5A5D}">
                <pptd:icon encoding="base64url">eyJpY29uTmFtZSI6ImZhczpzaXRlbWFwIn0</pptd:icon>
              </p:ext>
            </p:extLst>
          </p:nvPr>
        </p:nvSpPr>
        <p:spPr>
          <a:xfrm>
            <a:off x="5854700" y="287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2" y="64"/>
                </a:moveTo>
                <a:cubicBezTo>
                  <a:pt x="192" y="46"/>
                  <a:pt x="206" y="32"/>
                  <a:pt x="224" y="32"/>
                </a:cubicBezTo>
                <a:lnTo>
                  <a:pt x="288" y="32"/>
                </a:lnTo>
                <a:cubicBezTo>
                  <a:pt x="306" y="32"/>
                  <a:pt x="320" y="46"/>
                  <a:pt x="320" y="64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280" y="160"/>
                </a:lnTo>
                <a:lnTo>
                  <a:pt x="280" y="224"/>
                </a:lnTo>
                <a:lnTo>
                  <a:pt x="400" y="224"/>
                </a:lnTo>
                <a:cubicBezTo>
                  <a:pt x="440" y="224"/>
                  <a:pt x="472" y="256"/>
                  <a:pt x="472" y="296"/>
                </a:cubicBezTo>
                <a:lnTo>
                  <a:pt x="472" y="352"/>
                </a:lnTo>
                <a:lnTo>
                  <a:pt x="480" y="352"/>
                </a:lnTo>
                <a:cubicBezTo>
                  <a:pt x="498" y="352"/>
                  <a:pt x="512" y="366"/>
                  <a:pt x="512" y="384"/>
                </a:cubicBezTo>
                <a:lnTo>
                  <a:pt x="512" y="448"/>
                </a:lnTo>
                <a:cubicBezTo>
                  <a:pt x="512" y="466"/>
                  <a:pt x="498" y="480"/>
                  <a:pt x="480" y="480"/>
                </a:cubicBezTo>
                <a:lnTo>
                  <a:pt x="416" y="480"/>
                </a:lnTo>
                <a:cubicBezTo>
                  <a:pt x="398" y="480"/>
                  <a:pt x="384" y="466"/>
                  <a:pt x="384" y="448"/>
                </a:cubicBezTo>
                <a:lnTo>
                  <a:pt x="384" y="384"/>
                </a:lnTo>
                <a:cubicBezTo>
                  <a:pt x="384" y="366"/>
                  <a:pt x="398" y="352"/>
                  <a:pt x="416" y="352"/>
                </a:cubicBezTo>
                <a:lnTo>
                  <a:pt x="424" y="352"/>
                </a:lnTo>
                <a:lnTo>
                  <a:pt x="424" y="296"/>
                </a:lnTo>
                <a:cubicBezTo>
                  <a:pt x="424" y="283"/>
                  <a:pt x="413" y="272"/>
                  <a:pt x="400" y="272"/>
                </a:cubicBezTo>
                <a:lnTo>
                  <a:pt x="280" y="272"/>
                </a:lnTo>
                <a:lnTo>
                  <a:pt x="280" y="352"/>
                </a:lnTo>
                <a:lnTo>
                  <a:pt x="288" y="352"/>
                </a:lnTo>
                <a:cubicBezTo>
                  <a:pt x="306" y="352"/>
                  <a:pt x="320" y="366"/>
                  <a:pt x="320" y="384"/>
                </a:cubicBezTo>
                <a:lnTo>
                  <a:pt x="320" y="448"/>
                </a:lnTo>
                <a:cubicBezTo>
                  <a:pt x="320" y="466"/>
                  <a:pt x="306" y="480"/>
                  <a:pt x="288" y="480"/>
                </a:cubicBezTo>
                <a:lnTo>
                  <a:pt x="224" y="480"/>
                </a:lnTo>
                <a:cubicBezTo>
                  <a:pt x="206" y="480"/>
                  <a:pt x="192" y="466"/>
                  <a:pt x="192" y="448"/>
                </a:cubicBezTo>
                <a:lnTo>
                  <a:pt x="192" y="384"/>
                </a:lnTo>
                <a:cubicBezTo>
                  <a:pt x="192" y="366"/>
                  <a:pt x="206" y="352"/>
                  <a:pt x="224" y="352"/>
                </a:cubicBezTo>
                <a:lnTo>
                  <a:pt x="232" y="352"/>
                </a:lnTo>
                <a:lnTo>
                  <a:pt x="232" y="272"/>
                </a:lnTo>
                <a:lnTo>
                  <a:pt x="112" y="272"/>
                </a:lnTo>
                <a:cubicBezTo>
                  <a:pt x="99" y="272"/>
                  <a:pt x="88" y="283"/>
                  <a:pt x="88" y="296"/>
                </a:cubicBezTo>
                <a:lnTo>
                  <a:pt x="88" y="352"/>
                </a:lnTo>
                <a:lnTo>
                  <a:pt x="96" y="352"/>
                </a:lnTo>
                <a:cubicBezTo>
                  <a:pt x="114" y="352"/>
                  <a:pt x="128" y="366"/>
                  <a:pt x="128" y="384"/>
                </a:cubicBezTo>
                <a:lnTo>
                  <a:pt x="128" y="448"/>
                </a:lnTo>
                <a:cubicBezTo>
                  <a:pt x="128" y="466"/>
                  <a:pt x="114" y="480"/>
                  <a:pt x="96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384"/>
                </a:lnTo>
                <a:cubicBezTo>
                  <a:pt x="0" y="366"/>
                  <a:pt x="14" y="352"/>
                  <a:pt x="32" y="352"/>
                </a:cubicBezTo>
                <a:lnTo>
                  <a:pt x="40" y="352"/>
                </a:lnTo>
                <a:lnTo>
                  <a:pt x="40" y="296"/>
                </a:lnTo>
                <a:cubicBezTo>
                  <a:pt x="40" y="256"/>
                  <a:pt x="72" y="224"/>
                  <a:pt x="112" y="224"/>
                </a:cubicBezTo>
                <a:lnTo>
                  <a:pt x="232" y="224"/>
                </a:lnTo>
                <a:lnTo>
                  <a:pt x="232" y="160"/>
                </a:lnTo>
                <a:lnTo>
                  <a:pt x="224" y="160"/>
                </a:lnTo>
                <a:cubicBezTo>
                  <a:pt x="206" y="160"/>
                  <a:pt x="192" y="146"/>
                  <a:pt x="192" y="128"/>
                </a:cubicBezTo>
                <a:lnTo>
                  <a:pt x="192" y="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4" name="r-n2"/>
          <p:cNvSpPr txBox="1"/>
          <p:nvPr/>
        </p:nvSpPr>
        <p:spPr>
          <a:xfrm>
            <a:off x="5181600" y="34290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架构师 · Winston</a:t>
            </a:r>
            <a:endParaRPr lang="en-US" sz="1400"/>
          </a:p>
        </p:txBody>
      </p:sp>
      <p:sp>
        <p:nvSpPr>
          <p:cNvPr id="25" name="r-d2"/>
          <p:cNvSpPr txBox="1"/>
          <p:nvPr/>
        </p:nvSpPr>
        <p:spPr>
          <a:xfrm>
            <a:off x="5257800" y="38608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管"分几块、有什么状态"</a:t>
            </a:r>
            <a:endParaRPr lang="en-US" sz="1200"/>
          </a:p>
        </p:txBody>
      </p:sp>
      <p:sp>
        <p:nvSpPr>
          <p:cNvPr id="26" name="r-ar2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7061200" y="3327400"/>
            <a:ext cx="228600" cy="2794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27" name="r-card3"/>
          <p:cNvSpPr/>
          <p:nvPr/>
        </p:nvSpPr>
        <p:spPr>
          <a:xfrm>
            <a:off x="7315200" y="2260600"/>
            <a:ext cx="1905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8" name="r3-dot"/>
          <p:cNvSpPr/>
          <p:nvPr/>
        </p:nvSpPr>
        <p:spPr>
          <a:xfrm>
            <a:off x="7467600" y="2413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9" name="r3-num"/>
          <p:cNvSpPr txBox="1"/>
          <p:nvPr/>
        </p:nvSpPr>
        <p:spPr>
          <a:xfrm>
            <a:off x="7467600" y="2413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endParaRPr lang="en-US" sz="1500"/>
          </a:p>
        </p:txBody>
      </p:sp>
      <p:sp>
        <p:nvSpPr>
          <p:cNvPr id="30" name="r-ic3"/>
          <p:cNvSpPr/>
          <p:nvPr>
            <p:extLst>
              <p:ext uri="{F5677B7D-0D2A-4D9B-9A5C-6D8D7D0E5A5D}">
                <pptd:icon encoding="base64url">eyJpY29uTmFtZSI6ImZhczpjb2RlIn0</pptd:icon>
              </p:ext>
            </p:extLst>
          </p:nvPr>
        </p:nvSpPr>
        <p:spPr>
          <a:xfrm>
            <a:off x="8039100" y="287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1" name="r-n3"/>
          <p:cNvSpPr txBox="1"/>
          <p:nvPr/>
        </p:nvSpPr>
        <p:spPr>
          <a:xfrm>
            <a:off x="7366000" y="34290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开发 · Amelia</a:t>
            </a:r>
            <a:endParaRPr lang="en-US" sz="1400"/>
          </a:p>
        </p:txBody>
      </p:sp>
      <p:sp>
        <p:nvSpPr>
          <p:cNvPr id="32" name="r-d3"/>
          <p:cNvSpPr txBox="1"/>
          <p:nvPr/>
        </p:nvSpPr>
        <p:spPr>
          <a:xfrm>
            <a:off x="7442200" y="38608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管"写出来"</a:t>
            </a:r>
            <a:endParaRPr lang="en-US" sz="1200"/>
          </a:p>
        </p:txBody>
      </p:sp>
      <p:sp>
        <p:nvSpPr>
          <p:cNvPr id="33" name="r-ar3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9245600" y="3327400"/>
            <a:ext cx="228600" cy="2794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34" name="r-card4"/>
          <p:cNvSpPr/>
          <p:nvPr/>
        </p:nvSpPr>
        <p:spPr>
          <a:xfrm>
            <a:off x="9499600" y="2260600"/>
            <a:ext cx="1905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35" name="r4-dot"/>
          <p:cNvSpPr/>
          <p:nvPr/>
        </p:nvSpPr>
        <p:spPr>
          <a:xfrm>
            <a:off x="9652000" y="2413000"/>
            <a:ext cx="330200" cy="330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6" name="r4-num"/>
          <p:cNvSpPr txBox="1"/>
          <p:nvPr/>
        </p:nvSpPr>
        <p:spPr>
          <a:xfrm>
            <a:off x="9652000" y="24130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5</a:t>
            </a:r>
            <a:endParaRPr lang="en-US" sz="1500"/>
          </a:p>
        </p:txBody>
      </p:sp>
      <p:sp>
        <p:nvSpPr>
          <p:cNvPr id="37" name="r-ic4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10223500" y="287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r-n4"/>
          <p:cNvSpPr txBox="1"/>
          <p:nvPr/>
        </p:nvSpPr>
        <p:spPr>
          <a:xfrm>
            <a:off x="9550400" y="34290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测试 · Quinn</a:t>
            </a:r>
            <a:endParaRPr lang="en-US" sz="1400"/>
          </a:p>
        </p:txBody>
      </p:sp>
      <p:sp>
        <p:nvSpPr>
          <p:cNvPr id="39" name="r-d4"/>
          <p:cNvSpPr txBox="1"/>
          <p:nvPr/>
        </p:nvSpPr>
        <p:spPr>
          <a:xfrm>
            <a:off x="9626600" y="38608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管"挑毛病"</a:t>
            </a:r>
            <a:endParaRPr lang="en-US" sz="1200"/>
          </a:p>
        </p:txBody>
      </p:sp>
      <p:sp>
        <p:nvSpPr>
          <p:cNvPr id="40" name="win-card"/>
          <p:cNvSpPr/>
          <p:nvPr/>
        </p:nvSpPr>
        <p:spPr>
          <a:xfrm>
            <a:off x="762000" y="4978400"/>
            <a:ext cx="1066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41" name="win-bar"/>
          <p:cNvSpPr/>
          <p:nvPr/>
        </p:nvSpPr>
        <p:spPr>
          <a:xfrm>
            <a:off x="762000" y="4978400"/>
            <a:ext cx="76200" cy="685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42" name="win-txt"/>
          <p:cNvSpPr txBox="1"/>
          <p:nvPr/>
        </p:nvSpPr>
        <p:spPr>
          <a:xfrm>
            <a:off x="1016000" y="4978400"/>
            <a:ext cx="102362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五个角色＝同一个对话里的五轮接力。每轮还是那五条规矩——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换角色，就直呼名字派活。</a:t>
            </a:r>
            <a:endParaRPr lang="en-US" sz="1600"/>
          </a:p>
        </p:txBody>
      </p:sp>
      <p:sp>
        <p:nvSpPr>
          <p:cNvPr id="43" name="tip"/>
          <p:cNvSpPr txBox="1"/>
          <p:nvPr/>
        </p:nvSpPr>
        <p:spPr>
          <a:xfrm>
            <a:off x="762000" y="5842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五个角色都有名字——像给同事派活一样，直呼名字派任务。</a:t>
            </a:r>
            <a:endParaRPr lang="en-US" sz="1200"/>
          </a:p>
        </p:txBody>
      </p:sp>
      <p:sp>
        <p:nvSpPr>
          <p:cNvPr id="4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06 / 20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组团队开工 · 开题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番茄钟：专心 25 分钟，休息 5 分钟，再来一轮</a:t>
            </a:r>
            <a:endParaRPr lang="en-US" sz="2400"/>
          </a:p>
        </p:txBody>
      </p:sp>
      <p:sp>
        <p:nvSpPr>
          <p:cNvPr id="5" name="rule"/>
          <p:cNvSpPr txBox="1"/>
          <p:nvPr/>
        </p:nvSpPr>
        <p:spPr>
          <a:xfrm>
            <a:off x="762000" y="185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D84144"/>
                </a:solidFill>
                <a:latin typeface="MiSans"/>
                <a:ea typeface="MiSans"/>
              </a:rPr>
              <a:t>你的番茄钟，必须有一处和所有人不一样。</a:t>
            </a:r>
            <a:endParaRPr lang="en-US" sz="2400"/>
          </a:p>
        </p:txBody>
      </p:sp>
      <p:sp>
        <p:nvSpPr>
          <p:cNvPr id="6" name="rule-sub"/>
          <p:cNvSpPr txBox="1"/>
          <p:nvPr/>
        </p:nvSpPr>
        <p:spPr>
          <a:xfrm>
            <a:off x="762000" y="2413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这一处不能是"我的是蓝色的"这种——它必须从你的生活里长出来</a:t>
            </a:r>
            <a:endParaRPr lang="en-US" sz="1500"/>
          </a:p>
        </p:txBody>
      </p:sp>
      <p:sp>
        <p:nvSpPr>
          <p:cNvPr id="7" name="dir-card0"/>
          <p:cNvSpPr/>
          <p:nvPr/>
        </p:nvSpPr>
        <p:spPr>
          <a:xfrm>
            <a:off x="1397000" y="2997200"/>
            <a:ext cx="279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dir-t0"/>
          <p:cNvSpPr txBox="1"/>
          <p:nvPr/>
        </p:nvSpPr>
        <p:spPr>
          <a:xfrm>
            <a:off x="1524000" y="2997200"/>
            <a:ext cx="254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你写作业老走神？</a:t>
            </a:r>
            <a:endParaRPr lang="en-US" sz="1600"/>
          </a:p>
        </p:txBody>
      </p:sp>
      <p:sp>
        <p:nvSpPr>
          <p:cNvPr id="9" name="dir-card1"/>
          <p:cNvSpPr/>
          <p:nvPr/>
        </p:nvSpPr>
        <p:spPr>
          <a:xfrm>
            <a:off x="4699000" y="2997200"/>
            <a:ext cx="279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dir-t1"/>
          <p:cNvSpPr txBox="1"/>
          <p:nvPr/>
        </p:nvSpPr>
        <p:spPr>
          <a:xfrm>
            <a:off x="4826000" y="2997200"/>
            <a:ext cx="254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你练琴要计时？</a:t>
            </a:r>
            <a:endParaRPr lang="en-US" sz="1600"/>
          </a:p>
        </p:txBody>
      </p:sp>
      <p:sp>
        <p:nvSpPr>
          <p:cNvPr id="11" name="dir-card2"/>
          <p:cNvSpPr/>
          <p:nvPr/>
        </p:nvSpPr>
        <p:spPr>
          <a:xfrm>
            <a:off x="8001000" y="2997200"/>
            <a:ext cx="279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dir-t2"/>
          <p:cNvSpPr txBox="1"/>
          <p:nvPr/>
        </p:nvSpPr>
        <p:spPr>
          <a:xfrm>
            <a:off x="8128000" y="2997200"/>
            <a:ext cx="254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给妹妹用的？</a:t>
            </a:r>
            <a:endParaRPr lang="en-US" sz="1600"/>
          </a:p>
        </p:txBody>
      </p:sp>
      <p:sp>
        <p:nvSpPr>
          <p:cNvPr id="13" name="quote-card"/>
          <p:cNvSpPr/>
          <p:nvPr/>
        </p:nvSpPr>
        <p:spPr>
          <a:xfrm>
            <a:off x="762000" y="4318000"/>
            <a:ext cx="10668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4" name="quote-bar"/>
          <p:cNvSpPr/>
          <p:nvPr/>
        </p:nvSpPr>
        <p:spPr>
          <a:xfrm>
            <a:off x="762000" y="4318000"/>
            <a:ext cx="76200" cy="812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quote-txt"/>
          <p:cNvSpPr txBox="1"/>
          <p:nvPr/>
        </p:nvSpPr>
        <p:spPr>
          <a:xfrm>
            <a:off x="1016000" y="4318000"/>
            <a:ext cx="10236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AI 给所有人的默认答案都一样——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你的生活细节，就是它给不了的那部分。</a:t>
            </a:r>
            <a:endParaRPr lang="en-US" sz="1700"/>
          </a:p>
        </p:txBody>
      </p:sp>
      <p:sp>
        <p:nvSpPr>
          <p:cNvPr id="16" name="tip"/>
          <p:cNvSpPr txBox="1"/>
          <p:nvPr/>
        </p:nvSpPr>
        <p:spPr>
          <a:xfrm>
            <a:off x="762000" y="5435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今天每个人都做一个——用 BMAD 这个团队，在你手里的 Wio 上做。</a:t>
            </a:r>
            <a:endParaRPr lang="en-US" sz="1400"/>
          </a:p>
        </p:txBody>
      </p:sp>
      <p:sp>
        <p:nvSpPr>
          <p:cNvPr id="17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07 / 20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五轮接力 · 规矩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接力赛，棒不能掉</a:t>
            </a:r>
            <a:endParaRPr lang="en-US" sz="2800"/>
          </a:p>
        </p:txBody>
      </p:sp>
      <p:sp>
        <p:nvSpPr>
          <p:cNvPr id="5" name="ru-card0"/>
          <p:cNvSpPr/>
          <p:nvPr/>
        </p:nvSpPr>
        <p:spPr>
          <a:xfrm>
            <a:off x="1270000" y="1930400"/>
            <a:ext cx="965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ru0-dot"/>
          <p:cNvSpPr/>
          <p:nvPr/>
        </p:nvSpPr>
        <p:spPr>
          <a:xfrm>
            <a:off x="1574800" y="2336800"/>
            <a:ext cx="457200" cy="457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ru0-num"/>
          <p:cNvSpPr txBox="1"/>
          <p:nvPr/>
        </p:nvSpPr>
        <p:spPr>
          <a:xfrm>
            <a:off x="1574800" y="2336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8" name="ru-h0"/>
          <p:cNvSpPr txBox="1"/>
          <p:nvPr/>
        </p:nvSpPr>
        <p:spPr>
          <a:xfrm>
            <a:off x="2286000" y="2159000"/>
            <a:ext cx="812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每轮开场第一句</a:t>
            </a:r>
            <a:endParaRPr lang="en-US" sz="2000"/>
          </a:p>
        </p:txBody>
      </p:sp>
      <p:sp>
        <p:nvSpPr>
          <p:cNvPr id="9" name="ru-t0"/>
          <p:cNvSpPr txBox="1"/>
          <p:nvPr/>
        </p:nvSpPr>
        <p:spPr>
          <a:xfrm>
            <a:off x="2286000" y="2616200"/>
            <a:ext cx="812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"基于上一轮的结论"——把上一段的结果交给新角色</a:t>
            </a:r>
            <a:endParaRPr lang="en-US" sz="1500"/>
          </a:p>
        </p:txBody>
      </p:sp>
      <p:sp>
        <p:nvSpPr>
          <p:cNvPr id="10" name="ru-card1"/>
          <p:cNvSpPr/>
          <p:nvPr/>
        </p:nvSpPr>
        <p:spPr>
          <a:xfrm>
            <a:off x="1270000" y="3454400"/>
            <a:ext cx="965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ru1-dot"/>
          <p:cNvSpPr/>
          <p:nvPr/>
        </p:nvSpPr>
        <p:spPr>
          <a:xfrm>
            <a:off x="1574800" y="3860800"/>
            <a:ext cx="457200" cy="4572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ru1-num"/>
          <p:cNvSpPr txBox="1"/>
          <p:nvPr/>
        </p:nvSpPr>
        <p:spPr>
          <a:xfrm>
            <a:off x="1574800" y="3860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3" name="ru-h1"/>
          <p:cNvSpPr txBox="1"/>
          <p:nvPr/>
        </p:nvSpPr>
        <p:spPr>
          <a:xfrm>
            <a:off x="2286000" y="3683000"/>
            <a:ext cx="812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五轮在同一个对话里</a:t>
            </a:r>
            <a:endParaRPr lang="en-US" sz="2000"/>
          </a:p>
        </p:txBody>
      </p:sp>
      <p:sp>
        <p:nvSpPr>
          <p:cNvPr id="14" name="ru-t1"/>
          <p:cNvSpPr txBox="1"/>
          <p:nvPr/>
        </p:nvSpPr>
        <p:spPr>
          <a:xfrm>
            <a:off x="2286000" y="4140200"/>
            <a:ext cx="812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换角色就直呼名字派活——开新对话会丢上下文</a:t>
            </a:r>
            <a:endParaRPr lang="en-US" sz="1500"/>
          </a:p>
        </p:txBody>
      </p:sp>
      <p:sp>
        <p:nvSpPr>
          <p:cNvPr id="15" name="doc-tip"/>
          <p:cNvSpPr txBox="1"/>
          <p:nvPr/>
        </p:nvSpPr>
        <p:spPr>
          <a:xfrm>
            <a:off x="762000" y="5334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五轮句式都收在你的学员文档里——投屏跟着老师走。</a:t>
            </a:r>
            <a:endParaRPr lang="en-US" sz="1400"/>
          </a:p>
        </p:txBody>
      </p:sp>
      <p:sp>
        <p:nvSpPr>
          <p:cNvPr id="16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08 / 20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五轮接力 · 1/5　PM</a:t>
            </a:r>
            <a:endParaRPr lang="en-US" sz="1400"/>
          </a:p>
        </p:txBody>
      </p:sp>
      <p:sp>
        <p:nvSpPr>
          <p:cNvPr id="4" name="role-bg"/>
          <p:cNvSpPr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5" name="role-txt"/>
          <p:cNvSpPr txBox="1"/>
          <p:nvPr/>
        </p:nvSpPr>
        <p:spPr>
          <a:xfrm>
            <a:off x="1016000" y="1168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PM 产品经理 · John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　管"解决什么问题、给谁用"</a:t>
            </a:r>
            <a:endParaRPr lang="en-US" sz="1700"/>
          </a:p>
        </p:txBody>
      </p:sp>
      <p:sp>
        <p:nvSpPr>
          <p:cNvPr id="6" name="pm-card"/>
          <p:cNvSpPr/>
          <p:nvPr/>
        </p:nvSpPr>
        <p:spPr>
          <a:xfrm>
            <a:off x="762000" y="1905000"/>
            <a:ext cx="10668000" cy="2235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7" name="pm-txt"/>
          <p:cNvSpPr txBox="1"/>
          <p:nvPr/>
        </p:nvSpPr>
        <p:spPr>
          <a:xfrm>
            <a:off x="1066800" y="1905000"/>
            <a:ext cx="100584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JetBrains Mono"/>
                <a:ea typeface="JetBrains Mono"/>
              </a:rPr>
              <a:t>John，我要做一个番茄钟，解决这个难题：（一句你生活里真实的事，比如：我写作业不到 10 分钟就想玩手机）。先问我 5 个问题，搞懂我要什么，再帮我写下：这个钟必须做到的 3 件事。先别写代码。</a:t>
            </a:r>
            <a:endParaRPr lang="en-US" sz="1500"/>
          </a:p>
        </p:txBody>
      </p:sp>
      <p:sp>
        <p:nvSpPr>
          <p:cNvPr id="8" name="tip-card"/>
          <p:cNvSpPr/>
          <p:nvPr/>
        </p:nvSpPr>
        <p:spPr>
          <a:xfrm>
            <a:off x="762000" y="4368800"/>
            <a:ext cx="10668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tip-bar"/>
          <p:cNvSpPr/>
          <p:nvPr/>
        </p:nvSpPr>
        <p:spPr>
          <a:xfrm>
            <a:off x="762000" y="4368800"/>
            <a:ext cx="76200" cy="660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tip-txt"/>
          <p:cNvSpPr txBox="1"/>
          <p:nvPr/>
        </p:nvSpPr>
        <p:spPr>
          <a:xfrm>
            <a:off x="1016000" y="4368800"/>
            <a:ext cx="10236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3 件事里必须有你的"不一样"——没有就追问："我还没说我的特别要求——"</a:t>
            </a:r>
            <a:endParaRPr lang="en-US" sz="1500"/>
          </a:p>
        </p:txBody>
      </p:sp>
      <p:sp>
        <p:nvSpPr>
          <p:cNvPr id="11" name="anchor-bg"/>
          <p:cNvSpPr/>
          <p:nvPr/>
        </p:nvSpPr>
        <p:spPr>
          <a:xfrm>
            <a:off x="762000" y="5232400"/>
            <a:ext cx="10668000" cy="660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2" name="anchor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90600" y="544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3" name="anchor-txt"/>
          <p:cNvSpPr txBox="1"/>
          <p:nvPr/>
        </p:nvSpPr>
        <p:spPr>
          <a:xfrm>
            <a:off x="1346200" y="5232400"/>
            <a:ext cx="990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写进学员文档——"我的钟必须做到的 3 件事"，其中一条标星：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那是我的差异点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09 / 20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五轮接力 · 2/5　设计师</a:t>
            </a:r>
            <a:endParaRPr lang="en-US" sz="1400"/>
          </a:p>
        </p:txBody>
      </p:sp>
      <p:sp>
        <p:nvSpPr>
          <p:cNvPr id="4" name="role-bg"/>
          <p:cNvSpPr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5" name="role-txt"/>
          <p:cNvSpPr txBox="1"/>
          <p:nvPr/>
        </p:nvSpPr>
        <p:spPr>
          <a:xfrm>
            <a:off x="1016000" y="1168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设计师 · Sally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　管"长什么样、怎么操作"</a:t>
            </a:r>
            <a:endParaRPr lang="en-US" sz="1700"/>
          </a:p>
        </p:txBody>
      </p:sp>
      <p:sp>
        <p:nvSpPr>
          <p:cNvPr id="6" name="ux-card"/>
          <p:cNvSpPr/>
          <p:nvPr/>
        </p:nvSpPr>
        <p:spPr>
          <a:xfrm>
            <a:off x="762000" y="1905000"/>
            <a:ext cx="10668000" cy="2463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7" name="ux-txt"/>
          <p:cNvSpPr txBox="1"/>
          <p:nvPr/>
        </p:nvSpPr>
        <p:spPr>
          <a:xfrm>
            <a:off x="1066800" y="1905000"/>
            <a:ext cx="10058400" cy="246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JetBrains Mono"/>
                <a:ea typeface="JetBrains Mono"/>
              </a:rPr>
              <a:t>Sally，基于上一轮的结论：我的钟必须做到这 3 件事：（抄上）。帮我设计：1. 计时中画面长什么样；2. 休息中画面长什么样；3. A、B、C 三个键各干什么。我的特别要求：（你的差异点），画面上要体现。先别写代码。</a:t>
            </a:r>
            <a:endParaRPr lang="en-US" sz="1500"/>
          </a:p>
        </p:txBody>
      </p:sp>
      <p:sp>
        <p:nvSpPr>
          <p:cNvPr id="8" name="tip-card"/>
          <p:cNvSpPr/>
          <p:nvPr/>
        </p:nvSpPr>
        <p:spPr>
          <a:xfrm>
            <a:off x="762000" y="45974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tip-bar"/>
          <p:cNvSpPr/>
          <p:nvPr/>
        </p:nvSpPr>
        <p:spPr>
          <a:xfrm>
            <a:off x="762000" y="45974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tip-txt"/>
          <p:cNvSpPr txBox="1"/>
          <p:nvPr/>
        </p:nvSpPr>
        <p:spPr>
          <a:xfrm>
            <a:off x="1016000" y="45974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说界面，说清三样东西——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位置、大小、颜色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（上节课练过的本事）。</a:t>
            </a:r>
            <a:endParaRPr lang="en-US" sz="1500"/>
          </a:p>
        </p:txBody>
      </p:sp>
      <p:sp>
        <p:nvSpPr>
          <p:cNvPr id="11" name="anchor-bg"/>
          <p:cNvSpPr/>
          <p:nvPr/>
        </p:nvSpPr>
        <p:spPr>
          <a:xfrm>
            <a:off x="762000" y="5384800"/>
            <a:ext cx="10668000" cy="6096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2" name="anchor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90600" y="557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3" name="anchor-txt"/>
          <p:cNvSpPr txBox="1"/>
          <p:nvPr/>
        </p:nvSpPr>
        <p:spPr>
          <a:xfrm>
            <a:off x="1346200" y="538480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写进学员文档——计时中画面＿＿＿ ／ 休息中画面＿＿＿ ／ A 键＿＿ B 键＿＿ C 键＿＿。</a:t>
            </a:r>
            <a:endParaRPr lang="en-US" sz="15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10 / 20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五轮接力 · 3/5　架构师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300" b="1">
                <a:solidFill>
                  <a:srgbClr val="000000"/>
                </a:solidFill>
                <a:latin typeface="MiSans"/>
                <a:ea typeface="MiSans"/>
              </a:rPr>
              <a:t>你的钟有几种"样子"？什么让它变样子？</a:t>
            </a:r>
            <a:endParaRPr lang="en-US" sz="2300"/>
          </a:p>
        </p:txBody>
      </p:sp>
      <p:sp>
        <p:nvSpPr>
          <p:cNvPr id="5" name="tl-card"/>
          <p:cNvSpPr/>
          <p:nvPr/>
        </p:nvSpPr>
        <p:spPr>
          <a:xfrm>
            <a:off x="762000" y="1854200"/>
            <a:ext cx="3175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tl-red"/>
          <p:cNvSpPr/>
          <p:nvPr/>
        </p:nvSpPr>
        <p:spPr>
          <a:xfrm>
            <a:off x="1270000" y="2108200"/>
            <a:ext cx="558800" cy="558800"/>
          </a:xfrm>
          <a:prstGeom prst="ellipse">
            <a:avLst/>
          </a:prstGeom>
          <a:solidFill>
            <a:srgbClr val="D84144"/>
          </a:solidFill>
          <a:ln>
            <a:noFill/>
          </a:ln>
        </p:spPr>
      </p:sp>
      <p:sp>
        <p:nvSpPr>
          <p:cNvPr id="7" name="tl-green"/>
          <p:cNvSpPr/>
          <p:nvPr/>
        </p:nvSpPr>
        <p:spPr>
          <a:xfrm>
            <a:off x="2159000" y="2108200"/>
            <a:ext cx="558800" cy="558800"/>
          </a:xfrm>
          <a:prstGeom prst="ellipse">
            <a:avLst/>
          </a:prstGeom>
          <a:solidFill>
            <a:srgbClr val="7FB069"/>
          </a:solidFill>
          <a:ln>
            <a:noFill/>
          </a:ln>
        </p:spPr>
      </p:sp>
      <p:sp>
        <p:nvSpPr>
          <p:cNvPr id="8" name="tl-t"/>
          <p:cNvSpPr txBox="1"/>
          <p:nvPr/>
        </p:nvSpPr>
        <p:spPr>
          <a:xfrm>
            <a:off x="939800" y="2819400"/>
            <a:ext cx="2819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红的、绿的，</a:t>
            </a: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一次只亮一个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——时间到了就变</a:t>
            </a:r>
            <a:endParaRPr lang="en-US" sz="1300"/>
          </a:p>
        </p:txBody>
      </p:sp>
      <p:sp>
        <p:nvSpPr>
          <p:cNvPr id="9" name="st-card"/>
          <p:cNvSpPr/>
          <p:nvPr/>
        </p:nvSpPr>
        <p:spPr>
          <a:xfrm>
            <a:off x="4318000" y="1854200"/>
            <a:ext cx="7112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st-b1"/>
          <p:cNvSpPr/>
          <p:nvPr/>
        </p:nvSpPr>
        <p:spPr>
          <a:xfrm>
            <a:off x="4826000" y="2235200"/>
            <a:ext cx="1651000" cy="711200"/>
          </a:xfrm>
          <a:prstGeom prst="roundRect">
            <a:avLst/>
          </a:prstGeom>
          <a:solidFill>
            <a:srgbClr val="F3D230">
              <a:alpha val="14902"/>
            </a:srgbClr>
          </a:solidFill>
          <a:ln w="25400">
            <a:solidFill>
              <a:srgbClr val="000000"/>
            </a:solidFill>
          </a:ln>
        </p:spPr>
      </p:sp>
      <p:sp>
        <p:nvSpPr>
          <p:cNvPr id="11" name="st-t1"/>
          <p:cNvSpPr txBox="1"/>
          <p:nvPr/>
        </p:nvSpPr>
        <p:spPr>
          <a:xfrm>
            <a:off x="4826000" y="22352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专注</a:t>
            </a:r>
            <a:endParaRPr lang="en-US" sz="1800"/>
          </a:p>
        </p:txBody>
      </p:sp>
      <p:sp>
        <p:nvSpPr>
          <p:cNvPr id="12" name="st-ar1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654800" y="2438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3" name="st-b2"/>
          <p:cNvSpPr/>
          <p:nvPr/>
        </p:nvSpPr>
        <p:spPr>
          <a:xfrm>
            <a:off x="7213600" y="2235200"/>
            <a:ext cx="1651000" cy="711200"/>
          </a:xfrm>
          <a:prstGeom prst="roundRect">
            <a:avLst/>
          </a:prstGeom>
          <a:solidFill>
            <a:srgbClr val="F3D230">
              <a:alpha val="14902"/>
            </a:srgbClr>
          </a:solidFill>
          <a:ln w="25400">
            <a:solidFill>
              <a:srgbClr val="000000"/>
            </a:solidFill>
          </a:ln>
        </p:spPr>
      </p:sp>
      <p:sp>
        <p:nvSpPr>
          <p:cNvPr id="14" name="st-t2"/>
          <p:cNvSpPr txBox="1"/>
          <p:nvPr/>
        </p:nvSpPr>
        <p:spPr>
          <a:xfrm>
            <a:off x="7213600" y="22352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休息</a:t>
            </a:r>
            <a:endParaRPr lang="en-US" sz="1800"/>
          </a:p>
        </p:txBody>
      </p:sp>
      <p:sp>
        <p:nvSpPr>
          <p:cNvPr id="15" name="st-ar2"/>
          <p:cNvSpPr/>
          <p:nvPr>
            <p:extLst>
              <p:ext uri="{F5677B7D-0D2A-4D9B-9A5C-6D8D7D0E5A5D}">
                <pptd:icon encoding="base64url">eyJpY29uTmFtZSI6ImZhczphcnJvdy1sZWZ0In0</pptd:icon>
              </p:ext>
            </p:extLst>
          </p:nvPr>
        </p:nvSpPr>
        <p:spPr>
          <a:xfrm>
            <a:off x="9042400" y="2438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" y="233"/>
                </a:moveTo>
                <a:cubicBezTo>
                  <a:pt x="-3" y="246"/>
                  <a:pt x="-3" y="266"/>
                  <a:pt x="9" y="279"/>
                </a:cubicBezTo>
                <a:lnTo>
                  <a:pt x="169" y="439"/>
                </a:lnTo>
                <a:cubicBezTo>
                  <a:pt x="182" y="451"/>
                  <a:pt x="202" y="451"/>
                  <a:pt x="215" y="439"/>
                </a:cubicBezTo>
                <a:cubicBezTo>
                  <a:pt x="227" y="426"/>
                  <a:pt x="227" y="406"/>
                  <a:pt x="215" y="393"/>
                </a:cubicBezTo>
                <a:lnTo>
                  <a:pt x="109" y="288"/>
                </a:lnTo>
                <a:lnTo>
                  <a:pt x="480" y="288"/>
                </a:lnTo>
                <a:cubicBezTo>
                  <a:pt x="498" y="288"/>
                  <a:pt x="512" y="274"/>
                  <a:pt x="512" y="256"/>
                </a:cubicBezTo>
                <a:cubicBezTo>
                  <a:pt x="512" y="238"/>
                  <a:pt x="498" y="224"/>
                  <a:pt x="480" y="224"/>
                </a:cubicBezTo>
                <a:lnTo>
                  <a:pt x="109" y="224"/>
                </a:lnTo>
                <a:lnTo>
                  <a:pt x="215" y="119"/>
                </a:lnTo>
                <a:cubicBezTo>
                  <a:pt x="227" y="106"/>
                  <a:pt x="227" y="86"/>
                  <a:pt x="215" y="73"/>
                </a:cubicBezTo>
                <a:cubicBezTo>
                  <a:pt x="202" y="61"/>
                  <a:pt x="182" y="61"/>
                  <a:pt x="169" y="73"/>
                </a:cubicBezTo>
                <a:lnTo>
                  <a:pt x="9" y="2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6" name="st-cap"/>
          <p:cNvSpPr txBox="1"/>
          <p:nvPr/>
        </p:nvSpPr>
        <p:spPr>
          <a:xfrm>
            <a:off x="4495800" y="3048000"/>
            <a:ext cx="680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5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箭头写上"什么让它变"：按 A 键 ／ 时间到了。两个圈就是完整的番茄钟，"暂停"是最常见的第三个圈。</a:t>
            </a:r>
            <a:endParaRPr lang="en-US" sz="1200"/>
          </a:p>
        </p:txBody>
      </p:sp>
      <p:sp>
        <p:nvSpPr>
          <p:cNvPr id="17" name="arch-card"/>
          <p:cNvSpPr/>
          <p:nvPr/>
        </p:nvSpPr>
        <p:spPr>
          <a:xfrm>
            <a:off x="762000" y="3937000"/>
            <a:ext cx="10668000" cy="1905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18" name="arch-txt"/>
          <p:cNvSpPr txBox="1"/>
          <p:nvPr/>
        </p:nvSpPr>
        <p:spPr>
          <a:xfrm>
            <a:off x="1066800" y="3937000"/>
            <a:ext cx="10058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JetBrains Mono"/>
                <a:ea typeface="JetBrains Mono"/>
              </a:rPr>
              <a:t>Winston，该你了。照上面的需求和设计，给番茄钟做个技术方案，保持简单——后面 Amelia 照着它写代码。</a:t>
            </a:r>
            <a:endParaRPr lang="en-US" sz="1300"/>
          </a:p>
        </p:txBody>
      </p:sp>
      <p:sp>
        <p:nvSpPr>
          <p:cNvPr id="19" name="anchor-bg"/>
          <p:cNvSpPr/>
          <p:nvPr/>
        </p:nvSpPr>
        <p:spPr>
          <a:xfrm>
            <a:off x="762000" y="5943600"/>
            <a:ext cx="10668000" cy="508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20" name="anchor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90600" y="608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anchor-txt"/>
          <p:cNvSpPr txBox="1"/>
          <p:nvPr/>
        </p:nvSpPr>
        <p:spPr>
          <a:xfrm>
            <a:off x="1346200" y="59436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状态圈画在纸上（或文档里两行：我的状态＿＿→＿＿，什么让它变＿＿）。</a:t>
            </a:r>
            <a:endParaRPr lang="en-US" sz="1500"/>
          </a:p>
        </p:txBody>
      </p:sp>
      <p:sp>
        <p:nvSpPr>
          <p:cNvPr id="22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11 / 20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五轮接力 · 4/5　开发</a:t>
            </a:r>
            <a:endParaRPr lang="en-US" sz="1400"/>
          </a:p>
        </p:txBody>
      </p:sp>
      <p:sp>
        <p:nvSpPr>
          <p:cNvPr id="4" name="role-bg"/>
          <p:cNvSpPr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5" name="role-txt"/>
          <p:cNvSpPr txBox="1"/>
          <p:nvPr/>
        </p:nvSpPr>
        <p:spPr>
          <a:xfrm>
            <a:off x="1016000" y="1168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开发 · Amelia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　管"写出来"</a:t>
            </a:r>
            <a:endParaRPr lang="en-US" sz="1700"/>
          </a:p>
        </p:txBody>
      </p:sp>
      <p:sp>
        <p:nvSpPr>
          <p:cNvPr id="6" name="sp-card0"/>
          <p:cNvSpPr/>
          <p:nvPr/>
        </p:nvSpPr>
        <p:spPr>
          <a:xfrm>
            <a:off x="762000" y="18796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7" name="sp-t0"/>
          <p:cNvSpPr txBox="1"/>
          <p:nvPr/>
        </p:nvSpPr>
        <p:spPr>
          <a:xfrm>
            <a:off x="762000" y="18796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① 生成完整代码</a:t>
            </a:r>
            <a:endParaRPr lang="en-US" sz="1500"/>
          </a:p>
        </p:txBody>
      </p:sp>
      <p:sp>
        <p:nvSpPr>
          <p:cNvPr id="8" name="sp-ar0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3200400" y="200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9" name="sp-card1"/>
          <p:cNvSpPr/>
          <p:nvPr/>
        </p:nvSpPr>
        <p:spPr>
          <a:xfrm>
            <a:off x="3505200" y="18796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sp-t1"/>
          <p:cNvSpPr txBox="1"/>
          <p:nvPr/>
        </p:nvSpPr>
        <p:spPr>
          <a:xfrm>
            <a:off x="3505200" y="18796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② 上传到 Wio</a:t>
            </a:r>
            <a:endParaRPr lang="en-US" sz="1500"/>
          </a:p>
        </p:txBody>
      </p:sp>
      <p:sp>
        <p:nvSpPr>
          <p:cNvPr id="11" name="sp-ar1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5943600" y="200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2" name="sp-card2"/>
          <p:cNvSpPr/>
          <p:nvPr/>
        </p:nvSpPr>
        <p:spPr>
          <a:xfrm>
            <a:off x="6248400" y="18796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3" name="sp-t2"/>
          <p:cNvSpPr txBox="1"/>
          <p:nvPr/>
        </p:nvSpPr>
        <p:spPr>
          <a:xfrm>
            <a:off x="6248400" y="18796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③ 跑通它</a:t>
            </a:r>
            <a:endParaRPr lang="en-US" sz="1500"/>
          </a:p>
        </p:txBody>
      </p:sp>
      <p:sp>
        <p:nvSpPr>
          <p:cNvPr id="14" name="sp-ar2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8686800" y="200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F3D230"/>
          </a:solidFill>
          <a:ln>
            <a:noFill/>
          </a:ln>
        </p:spPr>
      </p:sp>
      <p:sp>
        <p:nvSpPr>
          <p:cNvPr id="15" name="sp-card3"/>
          <p:cNvSpPr/>
          <p:nvPr/>
        </p:nvSpPr>
        <p:spPr>
          <a:xfrm>
            <a:off x="8991600" y="18796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6" name="sp-t3"/>
          <p:cNvSpPr txBox="1"/>
          <p:nvPr/>
        </p:nvSpPr>
        <p:spPr>
          <a:xfrm>
            <a:off x="8991600" y="18796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④ 迭代差异点</a:t>
            </a:r>
            <a:endParaRPr lang="en-US" sz="1500"/>
          </a:p>
        </p:txBody>
      </p:sp>
      <p:sp>
        <p:nvSpPr>
          <p:cNvPr id="17" name="sp-cap"/>
          <p:cNvSpPr txBox="1"/>
          <p:nvPr/>
        </p:nvSpPr>
        <p:spPr>
          <a:xfrm>
            <a:off x="762000" y="2463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前面三轮的文档都在对话里——Amelia 照着它们，一次做完整。</a:t>
            </a:r>
            <a:endParaRPr lang="en-US" sz="1300"/>
          </a:p>
        </p:txBody>
      </p:sp>
      <p:sp>
        <p:nvSpPr>
          <p:cNvPr id="18" name="dev-card"/>
          <p:cNvSpPr/>
          <p:nvPr/>
        </p:nvSpPr>
        <p:spPr>
          <a:xfrm>
            <a:off x="762000" y="2870200"/>
            <a:ext cx="10668000" cy="177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19" name="dev-txt"/>
          <p:cNvSpPr txBox="1"/>
          <p:nvPr/>
        </p:nvSpPr>
        <p:spPr>
          <a:xfrm>
            <a:off x="1066800" y="2870200"/>
            <a:ext cx="100584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JetBrains Mono"/>
                <a:ea typeface="JetBrains Mono"/>
              </a:rPr>
              <a:t>Amelia，基于前面的需求、设计和技术方案，把这个番茄钟完整做出来，给我能直接用的代码。为了方便测试，工作时间先设 1 分钟，休息 30 秒。</a:t>
            </a:r>
            <a:endParaRPr lang="en-US" sz="1500"/>
          </a:p>
        </p:txBody>
      </p:sp>
      <p:sp>
        <p:nvSpPr>
          <p:cNvPr id="20" name="ban-card"/>
          <p:cNvSpPr/>
          <p:nvPr/>
        </p:nvSpPr>
        <p:spPr>
          <a:xfrm>
            <a:off x="762000" y="4902200"/>
            <a:ext cx="10668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1" name="ban-bar"/>
          <p:cNvSpPr/>
          <p:nvPr/>
        </p:nvSpPr>
        <p:spPr>
          <a:xfrm>
            <a:off x="762000" y="4902200"/>
            <a:ext cx="76200" cy="762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2" name="ban-txt"/>
          <p:cNvSpPr txBox="1"/>
          <p:nvPr/>
        </p:nvSpPr>
        <p:spPr>
          <a:xfrm>
            <a:off x="1016000" y="4902200"/>
            <a:ext cx="10236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报错了？把错误信息原样发回给 Amelia——它写的代码，它自己会修。</a:t>
            </a:r>
            <a:endParaRPr lang="en-US" sz="1500"/>
          </a:p>
        </p:txBody>
      </p:sp>
      <p:sp>
        <p:nvSpPr>
          <p:cNvPr id="23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12 / 20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五轮接力 · 5/5　测试</a:t>
            </a:r>
            <a:endParaRPr lang="en-US" sz="1400"/>
          </a:p>
        </p:txBody>
      </p:sp>
      <p:sp>
        <p:nvSpPr>
          <p:cNvPr id="4" name="role-bg"/>
          <p:cNvSpPr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5" name="role-txt"/>
          <p:cNvSpPr txBox="1"/>
          <p:nvPr/>
        </p:nvSpPr>
        <p:spPr>
          <a:xfrm>
            <a:off x="1016000" y="1168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测试 · Quinn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　管"挑毛病"</a:t>
            </a:r>
            <a:endParaRPr lang="en-US" sz="1700"/>
          </a:p>
        </p:txBody>
      </p:sp>
      <p:sp>
        <p:nvSpPr>
          <p:cNvPr id="6" name="test-card"/>
          <p:cNvSpPr/>
          <p:nvPr/>
        </p:nvSpPr>
        <p:spPr>
          <a:xfrm>
            <a:off x="762000" y="1905000"/>
            <a:ext cx="10668000" cy="2006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7" name="test-txt"/>
          <p:cNvSpPr txBox="1"/>
          <p:nvPr/>
        </p:nvSpPr>
        <p:spPr>
          <a:xfrm>
            <a:off x="1066800" y="1905000"/>
            <a:ext cx="100584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JetBrains Mono"/>
                <a:ea typeface="JetBrains Mono"/>
              </a:rPr>
              <a:t>Quinn，我的番茄钟做好了。帮我挑毛病：给我 5 个"把它玩坏"的测试方法，比如快速连按、计时到一半乱按键。我逐个亲手试。</a:t>
            </a:r>
            <a:endParaRPr lang="en-US" sz="1500"/>
          </a:p>
        </p:txBody>
      </p:sp>
      <p:sp>
        <p:nvSpPr>
          <p:cNvPr id="8" name="bad-card0"/>
          <p:cNvSpPr/>
          <p:nvPr/>
        </p:nvSpPr>
        <p:spPr>
          <a:xfrm>
            <a:off x="1397000" y="4114800"/>
            <a:ext cx="2794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bad-t0"/>
          <p:cNvSpPr txBox="1"/>
          <p:nvPr/>
        </p:nvSpPr>
        <p:spPr>
          <a:xfrm>
            <a:off x="1524000" y="41148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快速连按</a:t>
            </a:r>
            <a:endParaRPr lang="en-US" sz="1400"/>
          </a:p>
        </p:txBody>
      </p:sp>
      <p:sp>
        <p:nvSpPr>
          <p:cNvPr id="10" name="bad-card1"/>
          <p:cNvSpPr/>
          <p:nvPr/>
        </p:nvSpPr>
        <p:spPr>
          <a:xfrm>
            <a:off x="4699000" y="4114800"/>
            <a:ext cx="2794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bad-t1"/>
          <p:cNvSpPr txBox="1"/>
          <p:nvPr/>
        </p:nvSpPr>
        <p:spPr>
          <a:xfrm>
            <a:off x="4826000" y="41148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计时到一半乱按</a:t>
            </a:r>
            <a:endParaRPr lang="en-US" sz="1400"/>
          </a:p>
        </p:txBody>
      </p:sp>
      <p:sp>
        <p:nvSpPr>
          <p:cNvPr id="12" name="bad-card2"/>
          <p:cNvSpPr/>
          <p:nvPr/>
        </p:nvSpPr>
        <p:spPr>
          <a:xfrm>
            <a:off x="8001000" y="4114800"/>
            <a:ext cx="2794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3" name="bad-t2"/>
          <p:cNvSpPr txBox="1"/>
          <p:nvPr/>
        </p:nvSpPr>
        <p:spPr>
          <a:xfrm>
            <a:off x="8128000" y="41148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一直按着不松手</a:t>
            </a:r>
            <a:endParaRPr lang="en-US" sz="1400"/>
          </a:p>
        </p:txBody>
      </p:sp>
      <p:sp>
        <p:nvSpPr>
          <p:cNvPr id="14" name="tip-card"/>
          <p:cNvSpPr/>
          <p:nvPr/>
        </p:nvSpPr>
        <p:spPr>
          <a:xfrm>
            <a:off x="762000" y="4978400"/>
            <a:ext cx="10668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tip-bar"/>
          <p:cNvSpPr/>
          <p:nvPr/>
        </p:nvSpPr>
        <p:spPr>
          <a:xfrm>
            <a:off x="762000" y="4978400"/>
            <a:ext cx="76200" cy="660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6" name="tip-txt"/>
          <p:cNvSpPr txBox="1"/>
          <p:nvPr/>
        </p:nvSpPr>
        <p:spPr>
          <a:xfrm>
            <a:off x="1016000" y="4978400"/>
            <a:ext cx="10236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逐条亲手试——每试一条，做一个决定：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接受，还是拒绝。</a:t>
            </a:r>
            <a:endParaRPr lang="en-US" sz="1600"/>
          </a:p>
        </p:txBody>
      </p:sp>
      <p:sp>
        <p:nvSpPr>
          <p:cNvPr id="17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13 / 20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五轮接力 · 验收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再请一位特别的考官——挑剔用户</a:t>
            </a:r>
            <a:endParaRPr lang="en-US" sz="2600"/>
          </a:p>
        </p:txBody>
      </p:sp>
      <p:sp>
        <p:nvSpPr>
          <p:cNvPr id="5" name="pick-card"/>
          <p:cNvSpPr/>
          <p:nvPr/>
        </p:nvSpPr>
        <p:spPr>
          <a:xfrm>
            <a:off x="762000" y="1854200"/>
            <a:ext cx="10668000" cy="121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pick-txt"/>
          <p:cNvSpPr txBox="1"/>
          <p:nvPr/>
        </p:nvSpPr>
        <p:spPr>
          <a:xfrm>
            <a:off x="1066800" y="1854200"/>
            <a:ext cx="10058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JetBrains Mono"/>
                <a:ea typeface="JetBrains Mono"/>
              </a:rPr>
              <a:t>请扮演＿＿＿（构思单上的真实人名），用一用我的番茄钟，给它挑 1 个刺，只挑 1 个。</a:t>
            </a:r>
            <a:endParaRPr lang="en-US" sz="1600"/>
          </a:p>
        </p:txBody>
      </p:sp>
      <p:sp>
        <p:nvSpPr>
          <p:cNvPr id="7" name="dec-card0"/>
          <p:cNvSpPr/>
          <p:nvPr/>
        </p:nvSpPr>
        <p:spPr>
          <a:xfrm>
            <a:off x="1397000" y="3327400"/>
            <a:ext cx="43180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dec-h0"/>
          <p:cNvSpPr txBox="1"/>
          <p:nvPr/>
        </p:nvSpPr>
        <p:spPr>
          <a:xfrm>
            <a:off x="1651000" y="3327400"/>
            <a:ext cx="1016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拒绝</a:t>
            </a:r>
            <a:endParaRPr lang="en-US" sz="2000"/>
          </a:p>
        </p:txBody>
      </p:sp>
      <p:sp>
        <p:nvSpPr>
          <p:cNvPr id="9" name="dec-t0"/>
          <p:cNvSpPr txBox="1"/>
          <p:nvPr/>
        </p:nvSpPr>
        <p:spPr>
          <a:xfrm>
            <a:off x="2667000" y="3327400"/>
            <a:ext cx="2870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让 AI 修——修最重要的那一个</a:t>
            </a:r>
            <a:endParaRPr lang="en-US" sz="1300"/>
          </a:p>
        </p:txBody>
      </p:sp>
      <p:sp>
        <p:nvSpPr>
          <p:cNvPr id="10" name="dec-card1"/>
          <p:cNvSpPr/>
          <p:nvPr/>
        </p:nvSpPr>
        <p:spPr>
          <a:xfrm>
            <a:off x="6223000" y="3327400"/>
            <a:ext cx="43180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dec-h1"/>
          <p:cNvSpPr txBox="1"/>
          <p:nvPr/>
        </p:nvSpPr>
        <p:spPr>
          <a:xfrm>
            <a:off x="6477000" y="3327400"/>
            <a:ext cx="1016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接受</a:t>
            </a:r>
            <a:endParaRPr lang="en-US" sz="2000"/>
          </a:p>
        </p:txBody>
      </p:sp>
      <p:sp>
        <p:nvSpPr>
          <p:cNvPr id="12" name="dec-t1"/>
          <p:cNvSpPr txBox="1"/>
          <p:nvPr/>
        </p:nvSpPr>
        <p:spPr>
          <a:xfrm>
            <a:off x="7493000" y="3327400"/>
            <a:ext cx="2870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写进"我知道它有这个小毛病"——这也是专业决定</a:t>
            </a:r>
            <a:endParaRPr lang="en-US" sz="1300"/>
          </a:p>
        </p:txBody>
      </p:sp>
      <p:sp>
        <p:nvSpPr>
          <p:cNvPr id="13" name="anchor-bg"/>
          <p:cNvSpPr/>
          <p:nvPr/>
        </p:nvSpPr>
        <p:spPr>
          <a:xfrm>
            <a:off x="762000" y="4572000"/>
            <a:ext cx="10668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4" name="anchor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90600" y="481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" name="anchor-txt"/>
          <p:cNvSpPr txBox="1"/>
          <p:nvPr/>
        </p:nvSpPr>
        <p:spPr>
          <a:xfrm>
            <a:off x="1346200" y="4572000"/>
            <a:ext cx="990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写进学员文档——玩坏清单 5 条逐条标"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接受／拒绝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"＋一句理由；挑剔用户的那一刺单独记一句。</a:t>
            </a:r>
            <a:endParaRPr lang="en-US" sz="1500"/>
          </a:p>
        </p:txBody>
      </p:sp>
      <p:sp>
        <p:nvSpPr>
          <p:cNvPr id="16" name="quote-card"/>
          <p:cNvSpPr/>
          <p:nvPr/>
        </p:nvSpPr>
        <p:spPr>
          <a:xfrm>
            <a:off x="762000" y="54356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7" name="quote-bar"/>
          <p:cNvSpPr/>
          <p:nvPr/>
        </p:nvSpPr>
        <p:spPr>
          <a:xfrm>
            <a:off x="762000" y="54356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8" name="quote-txt"/>
          <p:cNvSpPr txBox="1"/>
          <p:nvPr/>
        </p:nvSpPr>
        <p:spPr>
          <a:xfrm>
            <a:off x="1016000" y="54356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第 2 次课我们做过一次接受：多按几下还是能停——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接受。</a:t>
            </a:r>
            <a:endParaRPr lang="en-US" sz="1500"/>
          </a:p>
        </p:txBody>
      </p:sp>
      <p:sp>
        <p:nvSpPr>
          <p:cNvPr id="19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14 / 20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收束 · 归档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000000"/>
                </a:solidFill>
                <a:latin typeface="MiSans"/>
                <a:ea typeface="MiSans"/>
              </a:rPr>
              <a:t>你人生中第一个完整项目的全程记录</a:t>
            </a:r>
            <a:endParaRPr lang="en-US" sz="2500"/>
          </a:p>
        </p:txBody>
      </p:sp>
      <p:sp>
        <p:nvSpPr>
          <p:cNvPr id="5" name="ar-card0"/>
          <p:cNvSpPr/>
          <p:nvPr/>
        </p:nvSpPr>
        <p:spPr>
          <a:xfrm>
            <a:off x="762000" y="1854200"/>
            <a:ext cx="609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ar0-dot"/>
          <p:cNvSpPr/>
          <p:nvPr/>
        </p:nvSpPr>
        <p:spPr>
          <a:xfrm>
            <a:off x="990600" y="2159000"/>
            <a:ext cx="406400" cy="406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ar0-num"/>
          <p:cNvSpPr txBox="1"/>
          <p:nvPr/>
        </p:nvSpPr>
        <p:spPr>
          <a:xfrm>
            <a:off x="990600" y="21590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500"/>
          </a:p>
        </p:txBody>
      </p:sp>
      <p:sp>
        <p:nvSpPr>
          <p:cNvPr id="8" name="ar-h0"/>
          <p:cNvSpPr txBox="1"/>
          <p:nvPr/>
        </p:nvSpPr>
        <p:spPr>
          <a:xfrm>
            <a:off x="1600200" y="2006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五轮接力，每轮截一张图</a:t>
            </a:r>
            <a:endParaRPr lang="en-US" sz="1600"/>
          </a:p>
        </p:txBody>
      </p:sp>
      <p:sp>
        <p:nvSpPr>
          <p:cNvPr id="9" name="ar-t0"/>
          <p:cNvSpPr txBox="1"/>
          <p:nvPr/>
        </p:nvSpPr>
        <p:spPr>
          <a:xfrm>
            <a:off x="1600200" y="2387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PM／设计师／架构师／开发／测试，各一张</a:t>
            </a:r>
            <a:endParaRPr lang="en-US" sz="1300"/>
          </a:p>
        </p:txBody>
      </p:sp>
      <p:sp>
        <p:nvSpPr>
          <p:cNvPr id="10" name="ar-card1"/>
          <p:cNvSpPr/>
          <p:nvPr/>
        </p:nvSpPr>
        <p:spPr>
          <a:xfrm>
            <a:off x="762000" y="3022600"/>
            <a:ext cx="609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ar1-dot"/>
          <p:cNvSpPr/>
          <p:nvPr/>
        </p:nvSpPr>
        <p:spPr>
          <a:xfrm>
            <a:off x="990600" y="3327400"/>
            <a:ext cx="406400" cy="406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ar1-num"/>
          <p:cNvSpPr txBox="1"/>
          <p:nvPr/>
        </p:nvSpPr>
        <p:spPr>
          <a:xfrm>
            <a:off x="990600" y="33274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500"/>
          </a:p>
        </p:txBody>
      </p:sp>
      <p:sp>
        <p:nvSpPr>
          <p:cNvPr id="13" name="ar-h1"/>
          <p:cNvSpPr txBox="1"/>
          <p:nvPr/>
        </p:nvSpPr>
        <p:spPr>
          <a:xfrm>
            <a:off x="1600200" y="3175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五张图放进一个文件夹</a:t>
            </a:r>
            <a:endParaRPr lang="en-US" sz="1600"/>
          </a:p>
        </p:txBody>
      </p:sp>
      <p:sp>
        <p:nvSpPr>
          <p:cNvPr id="14" name="ar-t1"/>
          <p:cNvSpPr txBox="1"/>
          <p:nvPr/>
        </p:nvSpPr>
        <p:spPr>
          <a:xfrm>
            <a:off x="1600200" y="3556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写上你的名字和日期</a:t>
            </a:r>
            <a:endParaRPr lang="en-US" sz="1300"/>
          </a:p>
        </p:txBody>
      </p:sp>
      <p:sp>
        <p:nvSpPr>
          <p:cNvPr id="15" name="ar-card2"/>
          <p:cNvSpPr/>
          <p:nvPr/>
        </p:nvSpPr>
        <p:spPr>
          <a:xfrm>
            <a:off x="762000" y="4191000"/>
            <a:ext cx="609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6" name="ar2-dot"/>
          <p:cNvSpPr/>
          <p:nvPr/>
        </p:nvSpPr>
        <p:spPr>
          <a:xfrm>
            <a:off x="990600" y="4495800"/>
            <a:ext cx="406400" cy="406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7" name="ar2-num"/>
          <p:cNvSpPr txBox="1"/>
          <p:nvPr/>
        </p:nvSpPr>
        <p:spPr>
          <a:xfrm>
            <a:off x="990600" y="44958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500"/>
          </a:p>
        </p:txBody>
      </p:sp>
      <p:sp>
        <p:nvSpPr>
          <p:cNvPr id="18" name="ar-h2"/>
          <p:cNvSpPr txBox="1"/>
          <p:nvPr/>
        </p:nvSpPr>
        <p:spPr>
          <a:xfrm>
            <a:off x="1600200" y="43434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缺轮的课后补截</a:t>
            </a:r>
            <a:endParaRPr lang="en-US" sz="1600"/>
          </a:p>
        </p:txBody>
      </p:sp>
      <p:sp>
        <p:nvSpPr>
          <p:cNvPr id="19" name="ar-t2"/>
          <p:cNvSpPr txBox="1"/>
          <p:nvPr/>
        </p:nvSpPr>
        <p:spPr>
          <a:xfrm>
            <a:off x="1600200" y="4724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文件夹里贴张纸条写"这轮后补"</a:t>
            </a:r>
            <a:endParaRPr lang="en-US" sz="1300"/>
          </a:p>
        </p:txBody>
      </p:sp>
      <p:sp>
        <p:nvSpPr>
          <p:cNvPr id="20" name="example-card"/>
          <p:cNvSpPr/>
          <p:nvPr/>
        </p:nvSpPr>
        <p:spPr>
          <a:xfrm>
            <a:off x="7366000" y="1854200"/>
            <a:ext cx="4064000" cy="335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1" name="example-icon"/>
          <p:cNvSpPr/>
          <p:nvPr>
            <p:extLst>
              <p:ext uri="{F5677B7D-0D2A-4D9B-9A5C-6D8D7D0E5A5D}">
                <pptd:icon encoding="base64url">eyJpY29uTmFtZSI6ImZhczppbWFnZSJ9</pptd:icon>
              </p:ext>
            </p:extLst>
          </p:nvPr>
        </p:nvSpPr>
        <p:spPr>
          <a:xfrm>
            <a:off x="92202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example-lab"/>
          <p:cNvSpPr txBox="1"/>
          <p:nvPr/>
        </p:nvSpPr>
        <p:spPr>
          <a:xfrm>
            <a:off x="7493000" y="3505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000000"/>
                </a:solidFill>
                <a:latin typeface="MiSans"/>
                <a:ea typeface="MiSans"/>
              </a:rPr>
              <a:t>待替换：归档示例截图</a:t>
            </a:r>
            <a:endParaRPr lang="en-US" sz="1200"/>
          </a:p>
        </p:txBody>
      </p:sp>
      <p:sp>
        <p:nvSpPr>
          <p:cNvPr id="23" name="example-sub"/>
          <p:cNvSpPr txBox="1"/>
          <p:nvPr/>
        </p:nvSpPr>
        <p:spPr>
          <a:xfrm>
            <a:off x="7493000" y="3810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000000"/>
                </a:solidFill>
                <a:latin typeface="MiSans"/>
                <a:ea typeface="MiSans"/>
              </a:rPr>
              <a:t>讲师预演的五轮接力文件夹（IMG-13-01）</a:t>
            </a:r>
            <a:endParaRPr lang="en-US" sz="1000"/>
          </a:p>
        </p:txBody>
      </p:sp>
      <p:sp>
        <p:nvSpPr>
          <p:cNvPr id="24" name="quote-card"/>
          <p:cNvSpPr/>
          <p:nvPr/>
        </p:nvSpPr>
        <p:spPr>
          <a:xfrm>
            <a:off x="762000" y="5435600"/>
            <a:ext cx="10668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5" name="quote-bar"/>
          <p:cNvSpPr/>
          <p:nvPr/>
        </p:nvSpPr>
        <p:spPr>
          <a:xfrm>
            <a:off x="762000" y="5435600"/>
            <a:ext cx="76200" cy="635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6" name="quote-txt"/>
          <p:cNvSpPr txBox="1"/>
          <p:nvPr/>
        </p:nvSpPr>
        <p:spPr>
          <a:xfrm>
            <a:off x="1016000" y="5435600"/>
            <a:ext cx="10236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以后你想知道"一个完整项目长什么样"，看的就是它。</a:t>
            </a:r>
            <a:endParaRPr lang="en-US" sz="1600"/>
          </a:p>
        </p:txBody>
      </p:sp>
      <p:sp>
        <p:nvSpPr>
          <p:cNvPr id="27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15 / 20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收束 · 迁移</a:t>
            </a:r>
            <a:endParaRPr lang="en-US" sz="1400"/>
          </a:p>
        </p:txBody>
      </p:sp>
      <p:sp>
        <p:nvSpPr>
          <p:cNvPr id="4" name="motto-bg"/>
          <p:cNvSpPr/>
          <p:nvPr/>
        </p:nvSpPr>
        <p:spPr>
          <a:xfrm>
            <a:off x="762000" y="1219200"/>
            <a:ext cx="10668000" cy="1397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5" name="motto"/>
          <p:cNvSpPr txBox="1"/>
          <p:nvPr/>
        </p:nvSpPr>
        <p:spPr>
          <a:xfrm>
            <a:off x="1016000" y="1219200"/>
            <a:ext cx="1016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3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BMAD 这五个角色，不是做硬件的方法，是做任何事的方法——今天先拿硬件练手。</a:t>
            </a:r>
            <a:endParaRPr lang="en-US" sz="2200"/>
          </a:p>
        </p:txBody>
      </p:sp>
      <p:sp>
        <p:nvSpPr>
          <p:cNvPr id="6" name="migrate"/>
          <p:cNvSpPr txBox="1"/>
          <p:nvPr/>
        </p:nvSpPr>
        <p:spPr>
          <a:xfrm>
            <a:off x="762000" y="27686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这套方法你还能用在哪？那里的 PM 是谁？——每桌说一个。</a:t>
            </a:r>
            <a:endParaRPr lang="en-US" sz="1500"/>
          </a:p>
        </p:txBody>
      </p:sp>
      <p:sp>
        <p:nvSpPr>
          <p:cNvPr id="7" name="tl-card0"/>
          <p:cNvSpPr/>
          <p:nvPr/>
        </p:nvSpPr>
        <p:spPr>
          <a:xfrm>
            <a:off x="762000" y="3276600"/>
            <a:ext cx="34544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tl-h0"/>
          <p:cNvSpPr txBox="1"/>
          <p:nvPr/>
        </p:nvSpPr>
        <p:spPr>
          <a:xfrm>
            <a:off x="965200" y="3429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10 年前</a:t>
            </a:r>
            <a:endParaRPr lang="en-US" sz="1700"/>
          </a:p>
        </p:txBody>
      </p:sp>
      <p:sp>
        <p:nvSpPr>
          <p:cNvPr id="9" name="tl-line0"/>
          <p:cNvSpPr/>
          <p:nvPr/>
        </p:nvSpPr>
        <p:spPr>
          <a:xfrm>
            <a:off x="965200" y="38608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tl-t0"/>
          <p:cNvSpPr txBox="1"/>
          <p:nvPr/>
        </p:nvSpPr>
        <p:spPr>
          <a:xfrm>
            <a:off x="965200" y="4013200"/>
            <a:ext cx="304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"让 LED 亮"就算入门</a:t>
            </a:r>
            <a:endParaRPr lang="en-US" sz="1300"/>
          </a:p>
        </p:txBody>
      </p:sp>
      <p:sp>
        <p:nvSpPr>
          <p:cNvPr id="11" name="tl-card1"/>
          <p:cNvSpPr/>
          <p:nvPr/>
        </p:nvSpPr>
        <p:spPr>
          <a:xfrm>
            <a:off x="4521200" y="3276600"/>
            <a:ext cx="34544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tl-h1"/>
          <p:cNvSpPr txBox="1"/>
          <p:nvPr/>
        </p:nvSpPr>
        <p:spPr>
          <a:xfrm>
            <a:off x="4724400" y="3429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5 年前</a:t>
            </a:r>
            <a:endParaRPr lang="en-US" sz="1700"/>
          </a:p>
        </p:txBody>
      </p:sp>
      <p:sp>
        <p:nvSpPr>
          <p:cNvPr id="13" name="tl-line1"/>
          <p:cNvSpPr/>
          <p:nvPr/>
        </p:nvSpPr>
        <p:spPr>
          <a:xfrm>
            <a:off x="4724400" y="38608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tl-t1"/>
          <p:cNvSpPr txBox="1"/>
          <p:nvPr/>
        </p:nvSpPr>
        <p:spPr>
          <a:xfrm>
            <a:off x="4724400" y="4013200"/>
            <a:ext cx="304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"连上 WiFi"是高阶</a:t>
            </a:r>
            <a:endParaRPr lang="en-US" sz="1300"/>
          </a:p>
        </p:txBody>
      </p:sp>
      <p:sp>
        <p:nvSpPr>
          <p:cNvPr id="15" name="tl-card2"/>
          <p:cNvSpPr/>
          <p:nvPr/>
        </p:nvSpPr>
        <p:spPr>
          <a:xfrm>
            <a:off x="8280400" y="3276600"/>
            <a:ext cx="34544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6" name="tl-h2"/>
          <p:cNvSpPr txBox="1"/>
          <p:nvPr/>
        </p:nvSpPr>
        <p:spPr>
          <a:xfrm>
            <a:off x="8483600" y="3429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今天</a:t>
            </a:r>
            <a:endParaRPr lang="en-US" sz="1700"/>
          </a:p>
        </p:txBody>
      </p:sp>
      <p:sp>
        <p:nvSpPr>
          <p:cNvPr id="17" name="tl-line2"/>
          <p:cNvSpPr/>
          <p:nvPr/>
        </p:nvSpPr>
        <p:spPr>
          <a:xfrm>
            <a:off x="8483600" y="38608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8" name="tl-t2"/>
          <p:cNvSpPr txBox="1"/>
          <p:nvPr/>
        </p:nvSpPr>
        <p:spPr>
          <a:xfrm>
            <a:off x="8483600" y="4013200"/>
            <a:ext cx="304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零基础的你，一节课带着五个角色做完一个完整项目</a:t>
            </a:r>
            <a:endParaRPr lang="en-US" sz="1300"/>
          </a:p>
        </p:txBody>
      </p:sp>
      <p:sp>
        <p:nvSpPr>
          <p:cNvPr id="19" name="scale"/>
          <p:cNvSpPr txBox="1"/>
          <p:nvPr/>
        </p:nvSpPr>
        <p:spPr>
          <a:xfrm>
            <a:off x="762000" y="5105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项目多大，团队多大。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——小作品合并着用就行。</a:t>
            </a:r>
            <a:endParaRPr lang="en-US" sz="1500"/>
          </a:p>
        </p:txBody>
      </p:sp>
      <p:sp>
        <p:nvSpPr>
          <p:cNvPr id="20" name="path"/>
          <p:cNvSpPr txBox="1"/>
          <p:nvPr/>
        </p:nvSpPr>
        <p:spPr>
          <a:xfrm>
            <a:off x="7620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第 1、2 次课，你们让硬件感知世界；第 3 次课，作品有了脸和手；今天，你们拿到了方法。</a:t>
            </a:r>
            <a:endParaRPr lang="en-US" sz="1300"/>
          </a:p>
        </p:txBody>
      </p:sp>
      <p:sp>
        <p:nvSpPr>
          <p:cNvPr id="21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16 / 20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收束 · 日志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今天的日志，四句照旧</a:t>
            </a:r>
            <a:endParaRPr lang="en-US" sz="2800"/>
          </a:p>
        </p:txBody>
      </p:sp>
      <p:sp>
        <p:nvSpPr>
          <p:cNvPr id="5" name="log-card"/>
          <p:cNvSpPr/>
          <p:nvPr/>
        </p:nvSpPr>
        <p:spPr>
          <a:xfrm>
            <a:off x="762000" y="1854200"/>
            <a:ext cx="5080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log-t"/>
          <p:cNvSpPr txBox="1"/>
          <p:nvPr/>
        </p:nvSpPr>
        <p:spPr>
          <a:xfrm>
            <a:off x="1066800" y="2006600"/>
            <a:ext cx="4470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做了＿＿ ／ 卡在＿＿ ／ 后来＿＿ ／ 下次想＿＿</a:t>
            </a:r>
            <a:endParaRPr lang="en-US" sz="1500"/>
          </a:p>
        </p:txBody>
      </p:sp>
      <p:sp>
        <p:nvSpPr>
          <p:cNvPr id="7" name="log-must"/>
          <p:cNvSpPr txBox="1"/>
          <p:nvPr/>
        </p:nvSpPr>
        <p:spPr>
          <a:xfrm>
            <a:off x="1066800" y="2768600"/>
            <a:ext cx="4470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今天必须写清一句：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我的钟哪里不一样。</a:t>
            </a:r>
            <a:endParaRPr lang="en-US" sz="1500"/>
          </a:p>
        </p:txBody>
      </p:sp>
      <p:sp>
        <p:nvSpPr>
          <p:cNvPr id="8" name="ai-card"/>
          <p:cNvSpPr/>
          <p:nvPr/>
        </p:nvSpPr>
        <p:spPr>
          <a:xfrm>
            <a:off x="6350000" y="1854200"/>
            <a:ext cx="5080000" cy="1066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9" name="ai-txt"/>
          <p:cNvSpPr txBox="1"/>
          <p:nvPr/>
        </p:nvSpPr>
        <p:spPr>
          <a:xfrm>
            <a:off x="6553200" y="1854200"/>
            <a:ext cx="46736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</a:rPr>
              <a:t>「帮我整理成日志，只许整理我说过的，不许加我没说的。」</a:t>
            </a:r>
            <a:endParaRPr lang="en-US" sz="1400"/>
          </a:p>
        </p:txBody>
      </p:sp>
      <p:sp>
        <p:nvSpPr>
          <p:cNvPr id="10" name="warn-card"/>
          <p:cNvSpPr/>
          <p:nvPr/>
        </p:nvSpPr>
        <p:spPr>
          <a:xfrm>
            <a:off x="6350000" y="3098800"/>
            <a:ext cx="5080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warn-bar"/>
          <p:cNvSpPr/>
          <p:nvPr/>
        </p:nvSpPr>
        <p:spPr>
          <a:xfrm>
            <a:off x="6350000" y="3098800"/>
            <a:ext cx="76200" cy="736600"/>
          </a:xfrm>
          <a:prstGeom prst="rect">
            <a:avLst/>
          </a:prstGeom>
          <a:solidFill>
            <a:srgbClr val="D84144"/>
          </a:solidFill>
          <a:ln>
            <a:noFill/>
          </a:ln>
        </p:spPr>
      </p:sp>
      <p:sp>
        <p:nvSpPr>
          <p:cNvPr id="12" name="warn-txt"/>
          <p:cNvSpPr txBox="1"/>
          <p:nvPr/>
        </p:nvSpPr>
        <p:spPr>
          <a:xfrm>
            <a:off x="6604000" y="3098800"/>
            <a:ext cx="4648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注意：AI 会一本正经地编——校对是你的事。</a:t>
            </a:r>
            <a:endParaRPr lang="en-US" sz="1400"/>
          </a:p>
        </p:txBody>
      </p:sp>
      <p:sp>
        <p:nvSpPr>
          <p:cNvPr id="13" name="anchor-bg"/>
          <p:cNvSpPr/>
          <p:nvPr/>
        </p:nvSpPr>
        <p:spPr>
          <a:xfrm>
            <a:off x="762000" y="4191000"/>
            <a:ext cx="10668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4" name="anchor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90600" y="4432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5" name="anchor-txt"/>
          <p:cNvSpPr txBox="1"/>
          <p:nvPr/>
        </p:nvSpPr>
        <p:spPr>
          <a:xfrm>
            <a:off x="1346200" y="4191000"/>
            <a:ext cx="990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写进学员文档——日志写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校对后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的版本；"这套方法我还能用在＿＿，那里的 PM 是＿＿"写一句。</a:t>
            </a:r>
            <a:endParaRPr lang="en-US" sz="1500"/>
          </a:p>
        </p:txBody>
      </p:sp>
      <p:sp>
        <p:nvSpPr>
          <p:cNvPr id="16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17 / 20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缓冲 · 机动</a:t>
            </a:r>
            <a:endParaRPr lang="en-US" sz="1400"/>
          </a:p>
        </p:txBody>
      </p:sp>
      <p:sp>
        <p:nvSpPr>
          <p:cNvPr id="4" name="big25"/>
          <p:cNvSpPr txBox="1"/>
          <p:nvPr/>
        </p:nvSpPr>
        <p:spPr>
          <a:xfrm>
            <a:off x="4191000" y="9652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0" b="1">
                <a:solidFill>
                  <a:srgbClr val="000000"/>
                </a:solidFill>
                <a:latin typeface="MiSans"/>
                <a:ea typeface="MiSans"/>
              </a:rPr>
              <a:t>25</a:t>
            </a:r>
            <a:endParaRPr lang="en-US" sz="12000"/>
          </a:p>
        </p:txBody>
      </p:sp>
      <p:sp>
        <p:nvSpPr>
          <p:cNvPr id="5" name="min"/>
          <p:cNvSpPr txBox="1"/>
          <p:nvPr/>
        </p:nvSpPr>
        <p:spPr>
          <a:xfrm>
            <a:off x="7112000" y="16256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分钟</a:t>
            </a:r>
            <a:endParaRPr lang="en-US" sz="2600"/>
          </a:p>
        </p:txBody>
      </p:sp>
      <p:sp>
        <p:nvSpPr>
          <p:cNvPr id="6" name="ex-card0"/>
          <p:cNvSpPr/>
          <p:nvPr/>
        </p:nvSpPr>
        <p:spPr>
          <a:xfrm>
            <a:off x="762000" y="2844800"/>
            <a:ext cx="345440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7" name="ex-h0"/>
          <p:cNvSpPr txBox="1"/>
          <p:nvPr/>
        </p:nvSpPr>
        <p:spPr>
          <a:xfrm>
            <a:off x="965200" y="30226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出口一 · 补达标</a:t>
            </a:r>
            <a:endParaRPr lang="en-US" sz="1500"/>
          </a:p>
        </p:txBody>
      </p:sp>
      <p:sp>
        <p:nvSpPr>
          <p:cNvPr id="8" name="ex-line0"/>
          <p:cNvSpPr/>
          <p:nvPr/>
        </p:nvSpPr>
        <p:spPr>
          <a:xfrm>
            <a:off x="965200" y="34036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9" name="ex-t0"/>
          <p:cNvSpPr txBox="1"/>
          <p:nvPr/>
        </p:nvSpPr>
        <p:spPr>
          <a:xfrm>
            <a:off x="965200" y="355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两种状态＋计时＋提醒跑通——人人必须过线；缺轮的对话记录补截</a:t>
            </a:r>
            <a:endParaRPr lang="en-US" sz="1200"/>
          </a:p>
        </p:txBody>
      </p:sp>
      <p:sp>
        <p:nvSpPr>
          <p:cNvPr id="10" name="ex-card1"/>
          <p:cNvSpPr/>
          <p:nvPr/>
        </p:nvSpPr>
        <p:spPr>
          <a:xfrm>
            <a:off x="4521200" y="2844800"/>
            <a:ext cx="3454400" cy="21336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11" name="ex-h1"/>
          <p:cNvSpPr txBox="1"/>
          <p:nvPr/>
        </p:nvSpPr>
        <p:spPr>
          <a:xfrm>
            <a:off x="4724400" y="30226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出口二 · 彩蛋挑战</a:t>
            </a:r>
            <a:endParaRPr lang="en-US" sz="1500"/>
          </a:p>
        </p:txBody>
      </p:sp>
      <p:sp>
        <p:nvSpPr>
          <p:cNvPr id="12" name="ex-line1"/>
          <p:cNvSpPr/>
          <p:nvPr/>
        </p:nvSpPr>
        <p:spPr>
          <a:xfrm>
            <a:off x="4724400" y="34036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ex-t1"/>
          <p:cNvSpPr txBox="1"/>
          <p:nvPr/>
        </p:nvSpPr>
        <p:spPr>
          <a:xfrm>
            <a:off x="4724400" y="355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反扣计时（板子翻过来就开始）／胜利音乐／休息冷笑话（英文）——先想清楚"做还是不做"，两分钟决定；做不出不影响过关</a:t>
            </a:r>
            <a:endParaRPr lang="en-US" sz="1200"/>
          </a:p>
        </p:txBody>
      </p:sp>
      <p:sp>
        <p:nvSpPr>
          <p:cNvPr id="14" name="ex-card2"/>
          <p:cNvSpPr/>
          <p:nvPr/>
        </p:nvSpPr>
        <p:spPr>
          <a:xfrm>
            <a:off x="8280400" y="2844800"/>
            <a:ext cx="345440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ex-h2"/>
          <p:cNvSpPr txBox="1"/>
          <p:nvPr/>
        </p:nvSpPr>
        <p:spPr>
          <a:xfrm>
            <a:off x="8483600" y="30226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出口三 · 八步地图对照</a:t>
            </a:r>
            <a:endParaRPr lang="en-US" sz="1500"/>
          </a:p>
        </p:txBody>
      </p:sp>
      <p:sp>
        <p:nvSpPr>
          <p:cNvPr id="16" name="ex-line2"/>
          <p:cNvSpPr/>
          <p:nvPr/>
        </p:nvSpPr>
        <p:spPr>
          <a:xfrm>
            <a:off x="8483600" y="3403600"/>
            <a:ext cx="762000" cy="50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7" name="ex-t2"/>
          <p:cNvSpPr txBox="1"/>
          <p:nvPr/>
        </p:nvSpPr>
        <p:spPr>
          <a:xfrm>
            <a:off x="8483600" y="355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翻五轮记录，对着白板八步地图，在文档里逐框写"我在这步做了什么"</a:t>
            </a:r>
            <a:endParaRPr lang="en-US" sz="1200"/>
          </a:p>
        </p:txBody>
      </p:sp>
      <p:sp>
        <p:nvSpPr>
          <p:cNvPr id="18" name="rule-card"/>
          <p:cNvSpPr/>
          <p:nvPr/>
        </p:nvSpPr>
        <p:spPr>
          <a:xfrm>
            <a:off x="762000" y="5181600"/>
            <a:ext cx="10668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9" name="rule-bar"/>
          <p:cNvSpPr/>
          <p:nvPr/>
        </p:nvSpPr>
        <p:spPr>
          <a:xfrm>
            <a:off x="762000" y="51816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0" name="rule-txt"/>
          <p:cNvSpPr txBox="1"/>
          <p:nvPr/>
        </p:nvSpPr>
        <p:spPr>
          <a:xfrm>
            <a:off x="1016000" y="5181600"/>
            <a:ext cx="10236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先保人人达标，再放飞快手。——缓冲是课的一部分，不是提前放学。</a:t>
            </a:r>
            <a:endParaRPr lang="en-US" sz="1500"/>
          </a:p>
        </p:txBody>
      </p:sp>
      <p:sp>
        <p:nvSpPr>
          <p:cNvPr id="21" name="doc-tip"/>
          <p:cNvSpPr txBox="1"/>
          <p:nvPr/>
        </p:nvSpPr>
        <p:spPr>
          <a:xfrm>
            <a:off x="762000" y="5892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做彩蛋的同学，写进学员文档——"我给钟加的彩蛋是＿＿，做成了／进'以后再做'清单了。"</a:t>
            </a:r>
            <a:endParaRPr lang="en-US" sz="1100"/>
          </a:p>
        </p:txBody>
      </p:sp>
      <p:sp>
        <p:nvSpPr>
          <p:cNvPr id="22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18 / 20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收尾 · 对照复盘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685800" y="1092200"/>
            <a:ext cx="1092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今天你们已经亲手走过了前六个</a:t>
            </a:r>
            <a:endParaRPr lang="en-US" sz="2600"/>
          </a:p>
        </p:txBody>
      </p:sp>
      <p:sp>
        <p:nvSpPr>
          <p:cNvPr id="5" name="m-card0"/>
          <p:cNvSpPr/>
          <p:nvPr/>
        </p:nvSpPr>
        <p:spPr>
          <a:xfrm>
            <a:off x="762000" y="1854200"/>
            <a:ext cx="2540000" cy="13462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6" name="m-n0"/>
          <p:cNvSpPr txBox="1"/>
          <p:nvPr/>
        </p:nvSpPr>
        <p:spPr>
          <a:xfrm>
            <a:off x="939800" y="1981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①</a:t>
            </a:r>
            <a:endParaRPr lang="en-US" sz="1800"/>
          </a:p>
        </p:txBody>
      </p:sp>
      <p:sp>
        <p:nvSpPr>
          <p:cNvPr id="7" name="m-h0"/>
          <p:cNvSpPr txBox="1"/>
          <p:nvPr/>
        </p:nvSpPr>
        <p:spPr>
          <a:xfrm>
            <a:off x="939800" y="2336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想明白给谁做、解决什么</a:t>
            </a:r>
            <a:endParaRPr lang="en-US" sz="1300"/>
          </a:p>
        </p:txBody>
      </p:sp>
      <p:sp>
        <p:nvSpPr>
          <p:cNvPr id="8" name="m-t0"/>
          <p:cNvSpPr txBox="1"/>
          <p:nvPr/>
        </p:nvSpPr>
        <p:spPr>
          <a:xfrm>
            <a:off x="939800" y="2844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PM 干的</a:t>
            </a:r>
            <a:endParaRPr lang="en-US" sz="1100"/>
          </a:p>
        </p:txBody>
      </p:sp>
      <p:sp>
        <p:nvSpPr>
          <p:cNvPr id="9" name="m-card1"/>
          <p:cNvSpPr/>
          <p:nvPr/>
        </p:nvSpPr>
        <p:spPr>
          <a:xfrm>
            <a:off x="3581400" y="1854200"/>
            <a:ext cx="2540000" cy="13462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10" name="m-n1"/>
          <p:cNvSpPr txBox="1"/>
          <p:nvPr/>
        </p:nvSpPr>
        <p:spPr>
          <a:xfrm>
            <a:off x="3759200" y="1981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②</a:t>
            </a:r>
            <a:endParaRPr lang="en-US" sz="1800"/>
          </a:p>
        </p:txBody>
      </p:sp>
      <p:sp>
        <p:nvSpPr>
          <p:cNvPr id="11" name="m-h1"/>
          <p:cNvSpPr txBox="1"/>
          <p:nvPr/>
        </p:nvSpPr>
        <p:spPr>
          <a:xfrm>
            <a:off x="3759200" y="2336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想清楚要什么</a:t>
            </a:r>
            <a:endParaRPr lang="en-US" sz="1300"/>
          </a:p>
        </p:txBody>
      </p:sp>
      <p:sp>
        <p:nvSpPr>
          <p:cNvPr id="12" name="m-t1"/>
          <p:cNvSpPr txBox="1"/>
          <p:nvPr/>
        </p:nvSpPr>
        <p:spPr>
          <a:xfrm>
            <a:off x="3759200" y="2844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PM 干的</a:t>
            </a:r>
            <a:endParaRPr lang="en-US" sz="1100"/>
          </a:p>
        </p:txBody>
      </p:sp>
      <p:sp>
        <p:nvSpPr>
          <p:cNvPr id="13" name="m-card2"/>
          <p:cNvSpPr/>
          <p:nvPr/>
        </p:nvSpPr>
        <p:spPr>
          <a:xfrm>
            <a:off x="6400800" y="1854200"/>
            <a:ext cx="2540000" cy="13462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14" name="m-n2"/>
          <p:cNvSpPr txBox="1"/>
          <p:nvPr/>
        </p:nvSpPr>
        <p:spPr>
          <a:xfrm>
            <a:off x="6578600" y="1981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③</a:t>
            </a:r>
            <a:endParaRPr lang="en-US" sz="1800"/>
          </a:p>
        </p:txBody>
      </p:sp>
      <p:sp>
        <p:nvSpPr>
          <p:cNvPr id="15" name="m-h2"/>
          <p:cNvSpPr txBox="1"/>
          <p:nvPr/>
        </p:nvSpPr>
        <p:spPr>
          <a:xfrm>
            <a:off x="6578600" y="2336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说清楚要什么、长什么样</a:t>
            </a:r>
            <a:endParaRPr lang="en-US" sz="1300"/>
          </a:p>
        </p:txBody>
      </p:sp>
      <p:sp>
        <p:nvSpPr>
          <p:cNvPr id="16" name="m-t2"/>
          <p:cNvSpPr txBox="1"/>
          <p:nvPr/>
        </p:nvSpPr>
        <p:spPr>
          <a:xfrm>
            <a:off x="6578600" y="2844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设计师＋架构师</a:t>
            </a:r>
            <a:endParaRPr lang="en-US" sz="1100"/>
          </a:p>
        </p:txBody>
      </p:sp>
      <p:sp>
        <p:nvSpPr>
          <p:cNvPr id="17" name="m-card3"/>
          <p:cNvSpPr/>
          <p:nvPr/>
        </p:nvSpPr>
        <p:spPr>
          <a:xfrm>
            <a:off x="9220200" y="1854200"/>
            <a:ext cx="2540000" cy="13462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18" name="m-n3"/>
          <p:cNvSpPr txBox="1"/>
          <p:nvPr/>
        </p:nvSpPr>
        <p:spPr>
          <a:xfrm>
            <a:off x="9398000" y="1981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④</a:t>
            </a:r>
            <a:endParaRPr lang="en-US" sz="1800"/>
          </a:p>
        </p:txBody>
      </p:sp>
      <p:sp>
        <p:nvSpPr>
          <p:cNvPr id="19" name="m-h3"/>
          <p:cNvSpPr txBox="1"/>
          <p:nvPr/>
        </p:nvSpPr>
        <p:spPr>
          <a:xfrm>
            <a:off x="9398000" y="2336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跟 AI 一起实现</a:t>
            </a:r>
            <a:endParaRPr lang="en-US" sz="1300"/>
          </a:p>
        </p:txBody>
      </p:sp>
      <p:sp>
        <p:nvSpPr>
          <p:cNvPr id="20" name="m-t3"/>
          <p:cNvSpPr txBox="1"/>
          <p:nvPr/>
        </p:nvSpPr>
        <p:spPr>
          <a:xfrm>
            <a:off x="9398000" y="2844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开发</a:t>
            </a:r>
            <a:endParaRPr lang="en-US" sz="1100"/>
          </a:p>
        </p:txBody>
      </p:sp>
      <p:sp>
        <p:nvSpPr>
          <p:cNvPr id="21" name="m-card4"/>
          <p:cNvSpPr/>
          <p:nvPr/>
        </p:nvSpPr>
        <p:spPr>
          <a:xfrm>
            <a:off x="762000" y="3378200"/>
            <a:ext cx="2540000" cy="13462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22" name="m-n4"/>
          <p:cNvSpPr txBox="1"/>
          <p:nvPr/>
        </p:nvSpPr>
        <p:spPr>
          <a:xfrm>
            <a:off x="939800" y="3505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⑤</a:t>
            </a:r>
            <a:endParaRPr lang="en-US" sz="1800"/>
          </a:p>
        </p:txBody>
      </p:sp>
      <p:sp>
        <p:nvSpPr>
          <p:cNvPr id="23" name="m-h4"/>
          <p:cNvSpPr txBox="1"/>
          <p:nvPr/>
        </p:nvSpPr>
        <p:spPr>
          <a:xfrm>
            <a:off x="939800" y="3860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做出来试试、挑毛病</a:t>
            </a:r>
            <a:endParaRPr lang="en-US" sz="1300"/>
          </a:p>
        </p:txBody>
      </p:sp>
      <p:sp>
        <p:nvSpPr>
          <p:cNvPr id="24" name="m-t4"/>
          <p:cNvSpPr txBox="1"/>
          <p:nvPr/>
        </p:nvSpPr>
        <p:spPr>
          <a:xfrm>
            <a:off x="939800" y="4368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测试</a:t>
            </a:r>
            <a:endParaRPr lang="en-US" sz="1100"/>
          </a:p>
        </p:txBody>
      </p:sp>
      <p:sp>
        <p:nvSpPr>
          <p:cNvPr id="25" name="m-card5"/>
          <p:cNvSpPr/>
          <p:nvPr/>
        </p:nvSpPr>
        <p:spPr>
          <a:xfrm>
            <a:off x="3581400" y="3378200"/>
            <a:ext cx="2540000" cy="1346200"/>
          </a:xfrm>
          <a:prstGeom prst="rect">
            <a:avLst/>
          </a:prstGeom>
          <a:solidFill>
            <a:srgbClr val="F3D230">
              <a:alpha val="14902"/>
            </a:srgbClr>
          </a:solidFill>
          <a:ln w="12700">
            <a:solidFill>
              <a:srgbClr val="000000"/>
            </a:solidFill>
          </a:ln>
        </p:spPr>
      </p:sp>
      <p:sp>
        <p:nvSpPr>
          <p:cNvPr id="26" name="m-n5"/>
          <p:cNvSpPr txBox="1"/>
          <p:nvPr/>
        </p:nvSpPr>
        <p:spPr>
          <a:xfrm>
            <a:off x="3759200" y="3505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⑥</a:t>
            </a:r>
            <a:endParaRPr lang="en-US" sz="1800"/>
          </a:p>
        </p:txBody>
      </p:sp>
      <p:sp>
        <p:nvSpPr>
          <p:cNvPr id="27" name="m-h5"/>
          <p:cNvSpPr txBox="1"/>
          <p:nvPr/>
        </p:nvSpPr>
        <p:spPr>
          <a:xfrm>
            <a:off x="3759200" y="3860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修还是忍、砍还是留</a:t>
            </a:r>
            <a:endParaRPr lang="en-US" sz="1300"/>
          </a:p>
        </p:txBody>
      </p:sp>
      <p:sp>
        <p:nvSpPr>
          <p:cNvPr id="28" name="m-t5"/>
          <p:cNvSpPr txBox="1"/>
          <p:nvPr/>
        </p:nvSpPr>
        <p:spPr>
          <a:xfrm>
            <a:off x="3759200" y="4368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接受／拒绝、彩蛋做不做</a:t>
            </a:r>
            <a:endParaRPr lang="en-US" sz="1100"/>
          </a:p>
        </p:txBody>
      </p:sp>
      <p:sp>
        <p:nvSpPr>
          <p:cNvPr id="29" name="m-card6"/>
          <p:cNvSpPr/>
          <p:nvPr/>
        </p:nvSpPr>
        <p:spPr>
          <a:xfrm>
            <a:off x="6400800" y="3378200"/>
            <a:ext cx="2540000" cy="134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30" name="m-n6"/>
          <p:cNvSpPr txBox="1"/>
          <p:nvPr/>
        </p:nvSpPr>
        <p:spPr>
          <a:xfrm>
            <a:off x="6578600" y="3505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⑦</a:t>
            </a:r>
            <a:endParaRPr lang="en-US" sz="1800"/>
          </a:p>
        </p:txBody>
      </p:sp>
      <p:sp>
        <p:nvSpPr>
          <p:cNvPr id="31" name="m-h6"/>
          <p:cNvSpPr txBox="1"/>
          <p:nvPr/>
        </p:nvSpPr>
        <p:spPr>
          <a:xfrm>
            <a:off x="6578600" y="3860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做出来给谁看</a:t>
            </a:r>
            <a:endParaRPr lang="en-US" sz="1300"/>
          </a:p>
        </p:txBody>
      </p:sp>
      <p:sp>
        <p:nvSpPr>
          <p:cNvPr id="32" name="m-t6"/>
          <p:cNvSpPr txBox="1"/>
          <p:nvPr/>
        </p:nvSpPr>
        <p:spPr>
          <a:xfrm>
            <a:off x="6578600" y="4368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等下互看</a:t>
            </a:r>
            <a:endParaRPr lang="en-US" sz="1100"/>
          </a:p>
        </p:txBody>
      </p:sp>
      <p:sp>
        <p:nvSpPr>
          <p:cNvPr id="33" name="m-card7"/>
          <p:cNvSpPr/>
          <p:nvPr/>
        </p:nvSpPr>
        <p:spPr>
          <a:xfrm>
            <a:off x="9220200" y="3378200"/>
            <a:ext cx="2540000" cy="134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34" name="m-n7"/>
          <p:cNvSpPr txBox="1"/>
          <p:nvPr/>
        </p:nvSpPr>
        <p:spPr>
          <a:xfrm>
            <a:off x="9398000" y="3505200"/>
            <a:ext cx="50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⑧</a:t>
            </a:r>
            <a:endParaRPr lang="en-US" sz="1800"/>
          </a:p>
        </p:txBody>
      </p:sp>
      <p:sp>
        <p:nvSpPr>
          <p:cNvPr id="35" name="m-h7"/>
          <p:cNvSpPr txBox="1"/>
          <p:nvPr/>
        </p:nvSpPr>
        <p:spPr>
          <a:xfrm>
            <a:off x="9398000" y="3860800"/>
            <a:ext cx="2184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做完回头看</a:t>
            </a:r>
            <a:endParaRPr lang="en-US" sz="1300"/>
          </a:p>
        </p:txBody>
      </p:sp>
      <p:sp>
        <p:nvSpPr>
          <p:cNvPr id="36" name="m-t7"/>
          <p:cNvSpPr txBox="1"/>
          <p:nvPr/>
        </p:nvSpPr>
        <p:spPr>
          <a:xfrm>
            <a:off x="9398000" y="4368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就是现在</a:t>
            </a:r>
            <a:endParaRPr lang="en-US" sz="1100"/>
          </a:p>
        </p:txBody>
      </p:sp>
      <p:sp>
        <p:nvSpPr>
          <p:cNvPr id="37" name="anchor-bg"/>
          <p:cNvSpPr/>
          <p:nvPr/>
        </p:nvSpPr>
        <p:spPr>
          <a:xfrm>
            <a:off x="762000" y="5080000"/>
            <a:ext cx="10668000" cy="7366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38" name="anchor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90600" y="533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9" name="anchor-txt"/>
          <p:cNvSpPr txBox="1"/>
          <p:nvPr/>
        </p:nvSpPr>
        <p:spPr>
          <a:xfrm>
            <a:off x="1346200" y="5080000"/>
            <a:ext cx="9906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对着这张地图，在文档里逐框写"我在这步做了什么"（没走过的写"还没"）；然后拿便签写"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我卡在哪一步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"，签名，上墙。</a:t>
            </a:r>
            <a:endParaRPr lang="en-US" sz="1500"/>
          </a:p>
        </p:txBody>
      </p:sp>
      <p:sp>
        <p:nvSpPr>
          <p:cNvPr id="40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19 / 20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-label"/>
          <p:cNvSpPr txBox="1"/>
          <p:nvPr/>
        </p:nvSpPr>
        <p:spPr>
          <a:xfrm>
            <a:off x="6858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收尾 · 看墙＋预告</a:t>
            </a:r>
            <a:endParaRPr lang="en-US" sz="1400"/>
          </a:p>
        </p:txBody>
      </p:sp>
      <p:sp>
        <p:nvSpPr>
          <p:cNvPr id="4" name="rule-card"/>
          <p:cNvSpPr/>
          <p:nvPr/>
        </p:nvSpPr>
        <p:spPr>
          <a:xfrm>
            <a:off x="762000" y="1168400"/>
            <a:ext cx="10668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5" name="rule-bar"/>
          <p:cNvSpPr/>
          <p:nvPr/>
        </p:nvSpPr>
        <p:spPr>
          <a:xfrm>
            <a:off x="762000" y="1168400"/>
            <a:ext cx="76200" cy="635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rule-txt"/>
          <p:cNvSpPr txBox="1"/>
          <p:nvPr/>
        </p:nvSpPr>
        <p:spPr>
          <a:xfrm>
            <a:off x="1016000" y="1168400"/>
            <a:ext cx="10236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看墙——哪一步的便签最多？卡住不慌：今天你已经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完整卡住过、也完整走出来过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7" name="show-card"/>
          <p:cNvSpPr/>
          <p:nvPr/>
        </p:nvSpPr>
        <p:spPr>
          <a:xfrm>
            <a:off x="762000" y="1955800"/>
            <a:ext cx="1066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show-bar"/>
          <p:cNvSpPr/>
          <p:nvPr/>
        </p:nvSpPr>
        <p:spPr>
          <a:xfrm>
            <a:off x="762000" y="1955800"/>
            <a:ext cx="76200" cy="609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9" name="show-txt"/>
          <p:cNvSpPr txBox="1"/>
          <p:nvPr/>
        </p:nvSpPr>
        <p:spPr>
          <a:xfrm>
            <a:off x="1016000" y="19558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桌内互相看一眼——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他的钟，哪一点和你不一样？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（30 秒）</a:t>
            </a:r>
            <a:endParaRPr lang="en-US" sz="1500"/>
          </a:p>
        </p:txBody>
      </p:sp>
      <p:sp>
        <p:nvSpPr>
          <p:cNvPr id="10" name="next-line"/>
          <p:cNvSpPr/>
          <p:nvPr/>
        </p:nvSpPr>
        <p:spPr>
          <a:xfrm>
            <a:off x="762000" y="2946400"/>
            <a:ext cx="1524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next-title"/>
          <p:cNvSpPr txBox="1"/>
          <p:nvPr/>
        </p:nvSpPr>
        <p:spPr>
          <a:xfrm>
            <a:off x="762000" y="3200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第 5 课：教硬件学会"看"</a:t>
            </a:r>
            <a:endParaRPr lang="en-US" sz="3000"/>
          </a:p>
        </p:txBody>
      </p:sp>
      <p:sp>
        <p:nvSpPr>
          <p:cNvPr id="12" name="next-sub"/>
          <p:cNvSpPr txBox="1"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它能认出你的脸、你的手</a:t>
            </a:r>
            <a:endParaRPr lang="en-US" sz="1800"/>
          </a:p>
        </p:txBody>
      </p:sp>
      <p:sp>
        <p:nvSpPr>
          <p:cNvPr id="13" name="next-tip"/>
          <p:cNvSpPr txBox="1"/>
          <p:nvPr/>
        </p:nvSpPr>
        <p:spPr>
          <a:xfrm>
            <a:off x="762000" y="45212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番茄钟收好——它是你的第一个完整作品，不是最后一个。五张截图文件夹、状态圈纸、学员文档带走或拍照带回家。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课后收成果：md 的发链接，手书的拍照。</a:t>
            </a:r>
            <a:endParaRPr lang="en-US" sz="1300"/>
          </a:p>
        </p:txBody>
      </p:sp>
      <p:sp>
        <p:nvSpPr>
          <p:cNvPr id="14" name="page-num"/>
          <p:cNvSpPr txBox="1"/>
          <p:nvPr/>
        </p:nvSpPr>
        <p:spPr>
          <a:xfrm>
            <a:off x="109220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20 / 20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20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