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notesMasterIdLst>
    <p:notesMasterId r:id="rId16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（候场页，无讲稿。学员入座时屏幕常亮本页。）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「30 秒回顾：上次课，你请来了外援——代码的外援、外观的外援，你的作品功能封顶了，还第一次有了样子。棒交接单带来了吗？今天开场要读它。今天——最后一课，收官日。三段：最后一棒，只修不加；把作品讲出去；路演与结课仪式。今天只有一件事：让你的作品被听懂。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站会。先读你的棒交接单——'下一棒第一件事'是什么？今天一句话：'我要修好___，让演示稳在___。'记住纪律：只修不加。想加的新功能，'以后再做'清单欢迎它。目标里出现'加一个___'的，当场拦——那是'加'。换成'修'：你最心虚的那一处是什么？修它。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「开跑。只做两件事：一，修掉评审遗留的毛病；二，打磨演示稳定性——路演时它必须在陌生人面前一次就走通。连续演示 5 遍全过，才算稳。外壳还没装的，今天不新开——四招快装 10 分钟能收就收，收不掉就这样上场。第一幕结束全场停手，进发布检查。」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停手。最后一次评审，人设升级：发布检查——不是挑刺，是'能不能见人'。清单到手，逐项打勾。'出错了怎么救'那一项必须有答案——答不出的，用备份：日志里的演示照片/视频顶上。说'肯定没问题不用查'的——工程师的迷信：不查的必坏。」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「你们的清单是 AI 按你的作品出的。再看看专业工程师的通用版——Brandy 做分享前就用这四条查她的语音键盘：灯立即亮吗、录音正常结束吗、识别的文字完整吗、Prompt 进对窗口吗。前两条是『它真的在干活吗』，后两条是『活干得完整吗』。她还留了降级方案：万一现场失败，串口日志、录屏、成品视频备着，照样讲清楚。你们的『出错了怎么救』，就是这个。四条抄进你的发布检查清单，逐项实测一遍。」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「十次课，你写了十篇日志。今天它们合体成 README。老规矩：AI 整理，你校对——注意句式最后一行，不许它编。（生成后）逐句校对：有没有它编的？抓到编的，删。十次课了，这是最后一次现场考试。」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「先立规矩：今天只算两笔——花了多少、值多少。不算利润，不谈生意。第一步列物料清单，AI 帮你核对；第二步定价：可以比成本贵很多——但贵的理由必须是'它解决了什么问题'。喊'一万'的可以——把'凭什么'说圆，说不圆就降。」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「pitch，一页纸——让别人 2 分钟听懂并心动。四格：问题、方案、给谁用、值多少。AI 帮你结构和措辞，但三处硬引用编不了：给谁用是第 2 课名单上的真人；值多少引用你刚才的账；问题是需求单上的原话。三处都真的，这页纸才有骨头。」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「它不懂技术、会打断、只问'所以呢？跟我有什么关系？'——把 pitch 念给它，被问倒就改，改完再念。被问倒不扣分：这里把恐惧用完，等会儿台上就不怕了。」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「规则三条：先演示，再讲——东西真的动，比什么都响；每人 2 分钟，沙漏不豁免任何人（超时被打断也是课）；桌内全员轮讲，每桌推 1 人全场。听众也有任务：3 票投给'最想让它真实存在'的作品——不许投自己。」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「3 票，投给'最想让它真实存在'的作品——不许投自己。（收票后逐一点评一句）记住：得 0 票的作品，点评必须给出一个具体亮点——无人零收获离场。」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（仪式要有分量，停 1 分钟）「第一次课，你点亮了第一盏灯……今天，你把它讲了出去。十次课，全部点亮——你们是把这一整套走完的人。还记得第 1 课吗？你点亮了第一块硬件，屏幕上是你的名字，你说'哇'。十次课过去——你的名字现在在你的作品上、在 README 里、在刚才的掌声里。你不再是那个看魔术的人，你是变魔术的人。最后一次日志：十次课，我做过最骄傲的一件事是___。合影——举作品、举手、背影，老规矩。杀青！」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3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4130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MiSans"/>
                <a:ea typeface="MiSans"/>
              </a:rPr>
              <a:t>我的作品，我来讲</a:t>
            </a:r>
            <a:endParaRPr lang="en-US" sz="3800"/>
          </a:p>
        </p:txBody>
      </p:sp>
      <p:sp>
        <p:nvSpPr>
          <p:cNvPr id="3" name="titleline"/>
          <p:cNvSpPr/>
          <p:nvPr/>
        </p:nvSpPr>
        <p:spPr>
          <a:xfrm>
            <a:off x="762000" y="3365500"/>
            <a:ext cx="2286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subtitle"/>
          <p:cNvSpPr txBox="1"/>
          <p:nvPr/>
        </p:nvSpPr>
        <p:spPr>
          <a:xfrm>
            <a:off x="762000" y="3683000"/>
            <a:ext cx="5969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第 10 课 ｜ 马拉松 · 最后一棒＋路演</a:t>
            </a:r>
            <a:endParaRPr lang="en-US" sz="2000"/>
          </a:p>
          <a:p>
            <a:pPr algn="l">
              <a:lnSpc>
                <a:spcPct val="14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今天，让你的作品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被听懂</a:t>
            </a:r>
            <a:endParaRPr lang="en-US" sz="2000"/>
          </a:p>
        </p:txBody>
      </p:sp>
      <p:pic>
        <p:nvPicPr>
          <p:cNvPr id="5" name="coverimg"/>
          <p:cNvPicPr/>
          <p:nvPr/>
        </p:nvPicPr>
        <p:blipFill>
          <a:blip r:embed="rIdImage1"/>
          <a:srcRect l="-0" r="-0"/>
          <a:stretch>
            <a:fillRect/>
          </a:stretch>
        </p:blipFill>
        <p:spPr>
          <a:xfrm>
            <a:off x="6858000" y="1270000"/>
            <a:ext cx="4826000" cy="4826000"/>
          </a:xfrm>
          <a:prstGeom prst="rect">
            <a:avLst/>
          </a:prstGeom>
          <a:ln>
            <a:noFill/>
          </a:ln>
        </p:spPr>
      </p:pic>
      <p:sp>
        <p:nvSpPr>
          <p:cNvPr id="6" name="footinfo"/>
          <p:cNvSpPr txBox="1"/>
          <p:nvPr/>
        </p:nvSpPr>
        <p:spPr>
          <a:xfrm>
            <a:off x="762000" y="6223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柴火创客学院 M0 · CFG-5 学期班 · 收官课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开场 ｜ 定档</a:t>
            </a:r>
            <a:endParaRPr lang="en-US" sz="1400"/>
          </a:p>
        </p:txBody>
      </p:sp>
      <p:sp>
        <p:nvSpPr>
          <p:cNvPr id="4" name="recall"/>
          <p:cNvSpPr txBox="1"/>
          <p:nvPr/>
        </p:nvSpPr>
        <p:spPr>
          <a:xfrm>
            <a:off x="736600" y="812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30 秒回顾：代码的外援请了、外观的外援请了，作品封顶了——棒交接单带来了吗</a:t>
            </a:r>
            <a:endParaRPr lang="en-US" sz="1500"/>
          </a:p>
        </p:txBody>
      </p:sp>
      <p:sp>
        <p:nvSpPr>
          <p:cNvPr id="5" name="big"/>
          <p:cNvSpPr txBox="1"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最后一课——让你的作品被听懂。</a:t>
            </a:r>
            <a:endParaRPr lang="en-US" sz="3400"/>
          </a:p>
        </p:txBody>
      </p:sp>
      <p:sp>
        <p:nvSpPr>
          <p:cNvPr id="6" name="a1"/>
          <p:cNvSpPr/>
          <p:nvPr/>
        </p:nvSpPr>
        <p:spPr>
          <a:xfrm>
            <a:off x="762000" y="2540000"/>
            <a:ext cx="31750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a1t"/>
          <p:cNvSpPr txBox="1"/>
          <p:nvPr/>
        </p:nvSpPr>
        <p:spPr>
          <a:xfrm>
            <a:off x="965200" y="2692400"/>
            <a:ext cx="27686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最后一棒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只修不加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发布检查</a:t>
            </a:r>
            <a:endParaRPr lang="en-US" sz="1600"/>
          </a:p>
        </p:txBody>
      </p:sp>
      <p:sp>
        <p:nvSpPr>
          <p:cNvPr id="8" name="ar1"/>
          <p:cNvSpPr txBox="1"/>
          <p:nvPr/>
        </p:nvSpPr>
        <p:spPr>
          <a:xfrm>
            <a:off x="3962400" y="2540000"/>
            <a:ext cx="431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3000"/>
          </a:p>
        </p:txBody>
      </p:sp>
      <p:sp>
        <p:nvSpPr>
          <p:cNvPr id="9" name="a2"/>
          <p:cNvSpPr/>
          <p:nvPr/>
        </p:nvSpPr>
        <p:spPr>
          <a:xfrm>
            <a:off x="4419600" y="2540000"/>
            <a:ext cx="31750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a2t"/>
          <p:cNvSpPr txBox="1"/>
          <p:nvPr/>
        </p:nvSpPr>
        <p:spPr>
          <a:xfrm>
            <a:off x="4622800" y="2692400"/>
            <a:ext cx="27686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把作品讲出去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README＋算账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pitch＋陪练</a:t>
            </a:r>
            <a:endParaRPr lang="en-US" sz="1600"/>
          </a:p>
        </p:txBody>
      </p:sp>
      <p:sp>
        <p:nvSpPr>
          <p:cNvPr id="11" name="ar2"/>
          <p:cNvSpPr txBox="1"/>
          <p:nvPr/>
        </p:nvSpPr>
        <p:spPr>
          <a:xfrm>
            <a:off x="7620000" y="2540000"/>
            <a:ext cx="431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→</a:t>
            </a:r>
            <a:endParaRPr lang="en-US" sz="3000"/>
          </a:p>
        </p:txBody>
      </p:sp>
      <p:sp>
        <p:nvSpPr>
          <p:cNvPr id="12" name="a3"/>
          <p:cNvSpPr/>
          <p:nvPr/>
        </p:nvSpPr>
        <p:spPr>
          <a:xfrm>
            <a:off x="8077200" y="2540000"/>
            <a:ext cx="33528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3" name="a3t"/>
          <p:cNvSpPr txBox="1"/>
          <p:nvPr/>
        </p:nvSpPr>
        <p:spPr>
          <a:xfrm>
            <a:off x="8280400" y="2692400"/>
            <a:ext cx="29464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路演与结课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真演示·2 分钟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互投＋仪式</a:t>
            </a:r>
            <a:endParaRPr lang="en-US" sz="1600"/>
          </a:p>
        </p:txBody>
      </p:sp>
      <p:sp>
        <p:nvSpPr>
          <p:cNvPr id="14" name="bottom"/>
          <p:cNvSpPr txBox="1"/>
          <p:nvPr/>
        </p:nvSpPr>
        <p:spPr>
          <a:xfrm>
            <a:off x="762000" y="4953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听懂的人，才配得上你的作品。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最后一棒 ｜ 站会</a:t>
            </a:r>
            <a:endParaRPr lang="en-US" sz="1400"/>
          </a:p>
        </p:txBody>
      </p:sp>
      <p:sp>
        <p:nvSpPr>
          <p:cNvPr id="4" name="step1"/>
          <p:cNvSpPr txBox="1"/>
          <p:nvPr/>
        </p:nvSpPr>
        <p:spPr>
          <a:xfrm>
            <a:off x="762000" y="13970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先读你的棒交接单——"下一棒第一件事"是什么</a:t>
            </a:r>
            <a:endParaRPr lang="en-US" sz="1800"/>
          </a:p>
        </p:txBody>
      </p:sp>
      <p:sp>
        <p:nvSpPr>
          <p:cNvPr id="5" name="bigbg"/>
          <p:cNvSpPr/>
          <p:nvPr/>
        </p:nvSpPr>
        <p:spPr>
          <a:xfrm>
            <a:off x="762000" y="2159000"/>
            <a:ext cx="106680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bigt"/>
          <p:cNvSpPr txBox="1"/>
          <p:nvPr/>
        </p:nvSpPr>
        <p:spPr>
          <a:xfrm>
            <a:off x="1066800" y="2159000"/>
            <a:ext cx="100584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我要修好 ＿＿＿，让演示稳在 ＿＿＿。</a:t>
            </a:r>
            <a:endParaRPr lang="en-US" sz="2800"/>
          </a:p>
        </p:txBody>
      </p:sp>
      <p:sp>
        <p:nvSpPr>
          <p:cNvPr id="7" name="warn"/>
          <p:cNvSpPr txBox="1"/>
          <p:nvPr/>
        </p:nvSpPr>
        <p:spPr>
          <a:xfrm>
            <a:off x="762000" y="4191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想说的是"加一个___"？——那是"加"。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换成"修"：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你最心虚的那一处是什么？修它。</a:t>
            </a:r>
            <a:endParaRPr lang="en-US" sz="1800"/>
          </a:p>
        </p:txBody>
      </p:sp>
      <p:sp>
        <p:nvSpPr>
          <p:cNvPr id="8" name="mode"/>
          <p:cNvSpPr txBox="1"/>
          <p:nvPr/>
        </p:nvSpPr>
        <p:spPr>
          <a:xfrm>
            <a:off x="762000" y="5461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人少：全体起立逐个说 ｜ 人多：两人互说＋写在需求单顶上，抽几人讲给全班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最后一棒 ｜ 常亮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开跑——只做两件事</a:t>
            </a:r>
            <a:endParaRPr lang="en-US" sz="3400"/>
          </a:p>
        </p:txBody>
      </p:sp>
      <p:sp>
        <p:nvSpPr>
          <p:cNvPr id="5" name="rulecard"/>
          <p:cNvSpPr/>
          <p:nvPr/>
        </p:nvSpPr>
        <p:spPr>
          <a:xfrm>
            <a:off x="762000" y="1574800"/>
            <a:ext cx="10668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ruletext"/>
          <p:cNvSpPr txBox="1"/>
          <p:nvPr/>
        </p:nvSpPr>
        <p:spPr>
          <a:xfrm>
            <a:off x="1143000" y="1778000"/>
            <a:ext cx="100584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① 修掉评审遗留的毛病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② 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打磨演示稳定性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——连续演示 5 遍全过，才算"稳"</a:t>
            </a:r>
            <a:endParaRPr lang="en-US" sz="1900"/>
          </a:p>
        </p:txBody>
      </p:sp>
      <p:sp>
        <p:nvSpPr>
          <p:cNvPr id="7" name="lookbg"/>
          <p:cNvSpPr/>
          <p:nvPr/>
        </p:nvSpPr>
        <p:spPr>
          <a:xfrm>
            <a:off x="762000" y="3886200"/>
            <a:ext cx="10668000" cy="762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lookt"/>
          <p:cNvSpPr txBox="1"/>
          <p:nvPr/>
        </p:nvSpPr>
        <p:spPr>
          <a:xfrm>
            <a:off x="1066800" y="38862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外壳没收尾的：第 9 课四招 10 分钟快装能收就收；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收不掉就这样上场——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功能是必答题</a:t>
            </a:r>
            <a:endParaRPr lang="en-US" sz="1600"/>
          </a:p>
        </p:txBody>
      </p:sp>
      <p:sp>
        <p:nvSpPr>
          <p:cNvPr id="9" name="redline"/>
          <p:cNvSpPr txBox="1"/>
          <p:nvPr/>
        </p:nvSpPr>
        <p:spPr>
          <a:xfrm>
            <a:off x="762000" y="50800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rgbClr val="D84144"/>
                </a:solidFill>
                <a:latin typeface="MiSans"/>
                <a:ea typeface="MiSans"/>
              </a:rPr>
              <a:t>只修不加——想加的新功能，"以后再做"清单欢迎它</a:t>
            </a: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最后一棒 ｜ 发布检查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最后一次评审——不挑刺，问"能不能见人"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625600"/>
            <a:ext cx="10668000" cy="241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803400"/>
            <a:ext cx="10058400" cy="205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基于当前状态：我的作品现在能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，还不能</a:t>
            </a:r>
            <a:r>
              <a:rPr lang="en-US" sz="16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你是发布检查员：它 1 小时后要面对一群陌生人演示。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给我一张"发布前最后检查"清单：演示前必须确认的每一项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（电够不够？线插紧吗？演示的第一步是什么？出错了怎么救？）</a:t>
            </a:r>
            <a:endParaRPr lang="en-US" sz="1600"/>
          </a:p>
        </p:txBody>
      </p:sp>
      <p:sp>
        <p:nvSpPr>
          <p:cNvPr id="7" name="bottom"/>
          <p:cNvSpPr txBox="1"/>
          <p:nvPr/>
        </p:nvSpPr>
        <p:spPr>
          <a:xfrm>
            <a:off x="762000" y="44196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逐项打勾——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"出错了怎么救"必须有答案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答不出就用备份：你日志里的演示照片/视频顶上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最后一棒 ｜ 工程师的检查表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专业工程师的 Demo 检查表（Brandy 亲测）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762000" y="1651000"/>
            <a:ext cx="5080000" cy="1168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c1t"/>
          <p:cNvSpPr txBox="1"/>
          <p:nvPr/>
        </p:nvSpPr>
        <p:spPr>
          <a:xfrm>
            <a:off x="1066800" y="1752600"/>
            <a:ext cx="447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01 灯，立即亮吗？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按下去就有确定反馈</a:t>
            </a:r>
            <a:endParaRPr lang="en-US" sz="1800"/>
          </a:p>
        </p:txBody>
      </p:sp>
      <p:sp>
        <p:nvSpPr>
          <p:cNvPr id="7" name="c2"/>
          <p:cNvSpPr/>
          <p:nvPr/>
        </p:nvSpPr>
        <p:spPr>
          <a:xfrm>
            <a:off x="6350000" y="1651000"/>
            <a:ext cx="5080000" cy="1168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c2t"/>
          <p:cNvSpPr txBox="1"/>
          <p:nvPr/>
        </p:nvSpPr>
        <p:spPr>
          <a:xfrm>
            <a:off x="6654800" y="1752600"/>
            <a:ext cx="447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02 录音，正常结束吗？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松开就停，不多录不少录</a:t>
            </a:r>
            <a:endParaRPr lang="en-US" sz="1800"/>
          </a:p>
        </p:txBody>
      </p:sp>
      <p:sp>
        <p:nvSpPr>
          <p:cNvPr id="9" name="c3"/>
          <p:cNvSpPr/>
          <p:nvPr/>
        </p:nvSpPr>
        <p:spPr>
          <a:xfrm>
            <a:off x="762000" y="3022600"/>
            <a:ext cx="5080000" cy="1168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0" name="c3t"/>
          <p:cNvSpPr txBox="1"/>
          <p:nvPr/>
        </p:nvSpPr>
        <p:spPr>
          <a:xfrm>
            <a:off x="1066800" y="3124200"/>
            <a:ext cx="447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03 识别的文字，完整吗？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说一段长一点的试试</a:t>
            </a:r>
            <a:endParaRPr lang="en-US" sz="1800"/>
          </a:p>
        </p:txBody>
      </p:sp>
      <p:sp>
        <p:nvSpPr>
          <p:cNvPr id="11" name="c4"/>
          <p:cNvSpPr/>
          <p:nvPr/>
        </p:nvSpPr>
        <p:spPr>
          <a:xfrm>
            <a:off x="6350000" y="3022600"/>
            <a:ext cx="5080000" cy="1168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2" name="c4t"/>
          <p:cNvSpPr txBox="1"/>
          <p:nvPr/>
        </p:nvSpPr>
        <p:spPr>
          <a:xfrm>
            <a:off x="6654800" y="3124200"/>
            <a:ext cx="4470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04 Prompt，进对窗口吗？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别发错地方</a:t>
            </a:r>
            <a:endParaRPr lang="en-US" sz="1800"/>
          </a:p>
        </p:txBody>
      </p:sp>
      <p:sp>
        <p:nvSpPr>
          <p:cNvPr id="13" name="howto"/>
          <p:cNvSpPr txBox="1"/>
          <p:nvPr/>
        </p:nvSpPr>
        <p:spPr>
          <a:xfrm>
            <a:off x="762000" y="4419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前两条查「它真的在干活吗」，后两条查「活干得完整吗」——</a:t>
            </a:r>
            <a:endParaRPr lang="en-US" sz="1700"/>
          </a:p>
          <a:p>
            <a:pPr algn="ctr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换成你作品的对应动作，抄进你的检查清单</a:t>
            </a:r>
            <a:endParaRPr lang="en-US" sz="1700"/>
          </a:p>
        </p:txBody>
      </p:sp>
      <p:sp>
        <p:nvSpPr>
          <p:cNvPr id="14" name="planb"/>
          <p:cNvSpPr/>
          <p:nvPr/>
        </p:nvSpPr>
        <p:spPr>
          <a:xfrm>
            <a:off x="762000" y="5384800"/>
            <a:ext cx="10668000" cy="838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planbt"/>
          <p:cNvSpPr txBox="1"/>
          <p:nvPr/>
        </p:nvSpPr>
        <p:spPr>
          <a:xfrm>
            <a:off x="1066800" y="5384800"/>
            <a:ext cx="10058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她的降级方案：现场失败也不怕——串口日志、录屏、成品视频备着</a:t>
            </a:r>
            <a:endParaRPr lang="en-US" sz="1700"/>
          </a:p>
          <a:p>
            <a:pPr algn="ctr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你的「出错了怎么救」，就是这个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把作品讲出去 ｜ README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十篇日志，今天合体——README</a:t>
            </a:r>
            <a:endParaRPr lang="en-US" sz="3400"/>
          </a:p>
        </p:txBody>
      </p:sp>
      <p:sp>
        <p:nvSpPr>
          <p:cNvPr id="5" name="def"/>
          <p:cNvSpPr txBox="1"/>
          <p:nvPr/>
        </p:nvSpPr>
        <p:spPr>
          <a:xfrm>
            <a:off x="762000" y="13462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你作品的"自我介绍＋成长史"——别人只看它，也能懂你的作品</a:t>
            </a:r>
            <a:endParaRPr lang="en-US" sz="1600"/>
          </a:p>
        </p:txBody>
      </p:sp>
      <p:sp>
        <p:nvSpPr>
          <p:cNvPr id="6" name="codebox"/>
          <p:cNvSpPr/>
          <p:nvPr/>
        </p:nvSpPr>
        <p:spPr>
          <a:xfrm>
            <a:off x="762000" y="1828800"/>
            <a:ext cx="10668000" cy="241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codetext"/>
          <p:cNvSpPr txBox="1"/>
          <p:nvPr/>
        </p:nvSpPr>
        <p:spPr>
          <a:xfrm>
            <a:off x="1066800" y="1981200"/>
            <a:ext cx="10058400" cy="210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这是我十次课的日志：（贴入全部日志）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请只依据这些日志，整理成一份 README，模板如下：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它叫什么 / 帮谁解决什么问题 / 怎么用（三步以内）/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Source Code Pro"/>
                <a:ea typeface="Source Code Pro"/>
              </a:rPr>
              <a:t>它是怎么长大的（挑 3 个关键时刻）/ 还不完美的地方 / 以后还想加。</a:t>
            </a:r>
            <a:endParaRPr lang="en-US" sz="1400"/>
          </a:p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000000"/>
                </a:solidFill>
                <a:latin typeface="Source Code Pro"/>
                <a:ea typeface="Source Code Pro"/>
              </a:rPr>
              <a:t>不要补充我没说过的内容。</a:t>
            </a:r>
            <a:endParaRPr lang="en-US" sz="1400"/>
          </a:p>
        </p:txBody>
      </p:sp>
      <p:sp>
        <p:nvSpPr>
          <p:cNvPr id="8" name="catchbg"/>
          <p:cNvSpPr/>
          <p:nvPr/>
        </p:nvSpPr>
        <p:spPr>
          <a:xfrm>
            <a:off x="762000" y="4521200"/>
            <a:ext cx="10668000" cy="101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9" name="catcht"/>
          <p:cNvSpPr txBox="1"/>
          <p:nvPr/>
        </p:nvSpPr>
        <p:spPr>
          <a:xfrm>
            <a:off x="1066800" y="4622800"/>
            <a:ext cx="10058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生成后逐句校对：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有没有它编的？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抓到就删——</a:t>
            </a:r>
            <a:endParaRPr lang="en-US" sz="1700"/>
          </a:p>
          <a:p>
            <a:pPr algn="ctr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AI 会一本正经地编，校对是你的事（最后一次现场考试）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把作品讲出去 ｜ 算账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算一笔账——只算两笔</a:t>
            </a:r>
            <a:endParaRPr lang="en-US" sz="3400"/>
          </a:p>
        </p:txBody>
      </p:sp>
      <p:sp>
        <p:nvSpPr>
          <p:cNvPr id="5" name="card1"/>
          <p:cNvSpPr/>
          <p:nvPr/>
        </p:nvSpPr>
        <p:spPr>
          <a:xfrm>
            <a:off x="762000" y="1651000"/>
            <a:ext cx="5080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ard1t"/>
          <p:cNvSpPr txBox="1"/>
          <p:nvPr/>
        </p:nvSpPr>
        <p:spPr>
          <a:xfrm>
            <a:off x="1066800" y="1879600"/>
            <a:ext cx="4470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第一笔：它花了多少</a:t>
            </a:r>
            <a:endParaRPr lang="en-US" sz="1700"/>
          </a:p>
          <a:p>
            <a:pPr algn="ctr">
              <a:lnSpc>
                <a:spcPct val="155000"/>
              </a:lnSpc>
              <a:spcBef>
                <a:spcPts val="8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列物料清单，AI 帮你核对——</a:t>
            </a:r>
            <a:endParaRPr lang="en-US" sz="1700"/>
          </a:p>
          <a:p>
            <a:pPr algn="ctr">
              <a:lnSpc>
                <a:spcPct val="15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外壳材料也算，哪怕它是个外卖盒</a:t>
            </a:r>
            <a:endParaRPr lang="en-US" sz="1700"/>
          </a:p>
        </p:txBody>
      </p:sp>
      <p:sp>
        <p:nvSpPr>
          <p:cNvPr id="7" name="card2"/>
          <p:cNvSpPr/>
          <p:nvPr/>
        </p:nvSpPr>
        <p:spPr>
          <a:xfrm>
            <a:off x="6350000" y="1651000"/>
            <a:ext cx="5080000" cy="228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card2t"/>
          <p:cNvSpPr txBox="1"/>
          <p:nvPr/>
        </p:nvSpPr>
        <p:spPr>
          <a:xfrm>
            <a:off x="6654800" y="1879600"/>
            <a:ext cx="4470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第二笔：它值多少</a:t>
            </a:r>
            <a:endParaRPr lang="en-US" sz="1700"/>
          </a:p>
          <a:p>
            <a:pPr algn="ctr">
              <a:lnSpc>
                <a:spcPct val="155000"/>
              </a:lnSpc>
              <a:spcBef>
                <a:spcPts val="800"/>
              </a:spcBef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我认为它值＿＿＿，</a:t>
            </a:r>
            <a:endParaRPr lang="en-US" sz="1700"/>
          </a:p>
          <a:p>
            <a:pPr algn="ctr">
              <a:lnSpc>
                <a:spcPct val="15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因为＿＿＿</a:t>
            </a:r>
            <a:endParaRPr lang="en-US" sz="1700"/>
          </a:p>
        </p:txBody>
      </p:sp>
      <p:sp>
        <p:nvSpPr>
          <p:cNvPr id="9" name="bottom"/>
          <p:cNvSpPr txBox="1"/>
          <p:nvPr/>
        </p:nvSpPr>
        <p:spPr>
          <a:xfrm>
            <a:off x="762000" y="45212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贵的理由必须是"它解决了什么问题"，不是"我想要"</a:t>
            </a:r>
            <a:endParaRPr lang="en-US" sz="1800"/>
          </a:p>
          <a:p>
            <a:pPr algn="ctr">
              <a:lnSpc>
                <a:spcPct val="15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说不圆？——降到能说圆为止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把作品讲出去 ｜ pitch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一页纸 pitch——2 分钟听懂并心动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498600"/>
            <a:ext cx="10668000" cy="279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651000"/>
            <a:ext cx="10058400" cy="248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 我的一页纸 pitch</a:t>
            </a:r>
            <a:endParaRPr lang="en-US" sz="150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问题（谁遇到了什么麻烦——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需求单上的原话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）：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方案（我的作品怎么解决＋演示动作）：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给谁用（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第 2 课名单上的真人名字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）：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值多少（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引用刚才算的账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：成本＿＿＿，我认为值＿＿＿，因为＿＿＿）</a:t>
            </a:r>
            <a:endParaRPr lang="en-US" sz="1500"/>
          </a:p>
        </p:txBody>
      </p:sp>
      <p:sp>
        <p:nvSpPr>
          <p:cNvPr id="7" name="q1dot"/>
          <p:cNvSpPr/>
          <p:nvPr/>
        </p:nvSpPr>
        <p:spPr>
          <a:xfrm>
            <a:off x="1092200" y="47244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q1t"/>
          <p:cNvSpPr txBox="1"/>
          <p:nvPr/>
        </p:nvSpPr>
        <p:spPr>
          <a:xfrm>
            <a:off x="1397000" y="46228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问题＝需求单原话</a:t>
            </a:r>
            <a:endParaRPr lang="en-US" sz="1700"/>
          </a:p>
        </p:txBody>
      </p:sp>
      <p:sp>
        <p:nvSpPr>
          <p:cNvPr id="9" name="q2dot"/>
          <p:cNvSpPr/>
          <p:nvPr/>
        </p:nvSpPr>
        <p:spPr>
          <a:xfrm>
            <a:off x="4978400" y="47244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q2t"/>
          <p:cNvSpPr txBox="1"/>
          <p:nvPr/>
        </p:nvSpPr>
        <p:spPr>
          <a:xfrm>
            <a:off x="5283200" y="4622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给谁用＝真人</a:t>
            </a:r>
            <a:endParaRPr lang="en-US" sz="1700"/>
          </a:p>
        </p:txBody>
      </p:sp>
      <p:sp>
        <p:nvSpPr>
          <p:cNvPr id="11" name="q3dot"/>
          <p:cNvSpPr/>
          <p:nvPr/>
        </p:nvSpPr>
        <p:spPr>
          <a:xfrm>
            <a:off x="8407400" y="4724400"/>
            <a:ext cx="177800" cy="177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q3t"/>
          <p:cNvSpPr txBox="1"/>
          <p:nvPr/>
        </p:nvSpPr>
        <p:spPr>
          <a:xfrm>
            <a:off x="8712200" y="46228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值多少＝引用你的账</a:t>
            </a:r>
            <a:endParaRPr lang="en-US" sz="1700"/>
          </a:p>
        </p:txBody>
      </p:sp>
      <p:sp>
        <p:nvSpPr>
          <p:cNvPr id="13" name="bottom"/>
          <p:cNvSpPr txBox="1"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三处硬引用，编不了——这页纸才有骨头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把作品讲出去 ｜ 陪练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上台前最后一关——只听得懂人话的投资人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600200"/>
            <a:ext cx="106680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778000"/>
            <a:ext cx="100584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你现在是一个完全不懂技术的投资人。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我念一页 pitch 给你听，你随时可以打断我，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只许问两类问题："所以呢？"和"跟我有什么关系？"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Source Code Pro"/>
                <a:ea typeface="Source Code Pro"/>
              </a:rPr>
              <a:t>如果我答得听不懂，就追问到听懂为止。</a:t>
            </a:r>
            <a:endParaRPr lang="en-US" sz="1600"/>
          </a:p>
        </p:txBody>
      </p:sp>
      <p:sp>
        <p:nvSpPr>
          <p:cNvPr id="7" name="pushbg"/>
          <p:cNvSpPr/>
          <p:nvPr/>
        </p:nvSpPr>
        <p:spPr>
          <a:xfrm>
            <a:off x="762000" y="41910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pusht"/>
          <p:cNvSpPr txBox="1"/>
          <p:nvPr/>
        </p:nvSpPr>
        <p:spPr>
          <a:xfrm>
            <a:off x="1066800" y="41910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AI 开夸了？顶回去——"不许夸，只许问'所以呢'。"</a:t>
            </a:r>
            <a:endParaRPr lang="en-US" sz="1700"/>
          </a:p>
        </p:txBody>
      </p:sp>
      <p:sp>
        <p:nvSpPr>
          <p:cNvPr id="9" name="bottom"/>
          <p:cNvSpPr txBox="1"/>
          <p:nvPr/>
        </p:nvSpPr>
        <p:spPr>
          <a:xfrm>
            <a:off x="762000" y="52578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每个"答不上"都是礼物——改成 pitch 里的一句话，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台上就没人能问倒你。这里把恐惧用完。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路演与结课 ｜ 常亮</a:t>
            </a:r>
            <a:endParaRPr lang="en-US" sz="1400"/>
          </a:p>
        </p:txBody>
      </p:sp>
      <p:sp>
        <p:nvSpPr>
          <p:cNvPr id="4" name="rules"/>
          <p:cNvSpPr txBox="1"/>
          <p:nvPr/>
        </p:nvSpPr>
        <p:spPr>
          <a:xfrm>
            <a:off x="762000" y="1270000"/>
            <a:ext cx="10668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80000"/>
              </a:lnSpc>
            </a:pP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一、</a:t>
            </a: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先演示，再讲</a:t>
            </a: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——东西真的动，比什么都响</a:t>
            </a:r>
            <a:endParaRPr lang="en-US" sz="2400"/>
          </a:p>
          <a:p>
            <a:pPr algn="l">
              <a:lnSpc>
                <a:spcPct val="180000"/>
              </a:lnSpc>
            </a:pP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二、</a:t>
            </a: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每人 2 分钟</a:t>
            </a: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——沙漏不豁免任何人</a:t>
            </a:r>
            <a:endParaRPr lang="en-US" sz="2400"/>
          </a:p>
          <a:p>
            <a:pPr algn="l">
              <a:lnSpc>
                <a:spcPct val="180000"/>
              </a:lnSpc>
            </a:pP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三、</a:t>
            </a: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桌内全员轮讲</a:t>
            </a: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，每桌推 1 人全场</a:t>
            </a:r>
            <a:endParaRPr lang="en-US" sz="2400"/>
          </a:p>
        </p:txBody>
      </p:sp>
      <p:sp>
        <p:nvSpPr>
          <p:cNvPr id="5" name="listenbg"/>
          <p:cNvSpPr/>
          <p:nvPr/>
        </p:nvSpPr>
        <p:spPr>
          <a:xfrm>
            <a:off x="762000" y="46482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listent"/>
          <p:cNvSpPr txBox="1"/>
          <p:nvPr/>
        </p:nvSpPr>
        <p:spPr>
          <a:xfrm>
            <a:off x="1066800" y="46482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听众任务：3 票投给"最想让它真实存在"的作品——不许投自己</a:t>
            </a:r>
            <a:endParaRPr lang="en-US" sz="1800"/>
          </a:p>
        </p:txBody>
      </p:sp>
      <p:sp>
        <p:nvSpPr>
          <p:cNvPr id="7" name="redline"/>
          <p:cNvSpPr txBox="1"/>
          <p:nvPr/>
        </p:nvSpPr>
        <p:spPr>
          <a:xfrm>
            <a:off x="762000" y="56642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D84144"/>
                </a:solidFill>
                <a:latin typeface="MiSans"/>
                <a:ea typeface="MiSans"/>
              </a:rPr>
              <a:t>沙漏不豁免任何人——2 分钟说不完＝还没想清楚，讲完这句收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路演与结课 ｜ 互投</a:t>
            </a:r>
            <a:endParaRPr lang="en-US" sz="1400"/>
          </a:p>
        </p:txBody>
      </p:sp>
      <p:sp>
        <p:nvSpPr>
          <p:cNvPr id="4" name="big"/>
          <p:cNvSpPr txBox="1"/>
          <p:nvPr/>
        </p:nvSpPr>
        <p:spPr>
          <a:xfrm>
            <a:off x="762000" y="1905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最想让它真实存在的，是哪一个？</a:t>
            </a:r>
            <a:endParaRPr lang="en-US" sz="3400"/>
          </a:p>
        </p:txBody>
      </p:sp>
      <p:sp>
        <p:nvSpPr>
          <p:cNvPr id="5" name="rule"/>
          <p:cNvSpPr txBox="1"/>
          <p:nvPr/>
        </p:nvSpPr>
        <p:spPr>
          <a:xfrm>
            <a:off x="762000" y="317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3 票，投给别人——不许投自己</a:t>
            </a:r>
            <a:endParaRPr lang="en-US" sz="2000"/>
          </a:p>
        </p:txBody>
      </p:sp>
      <p:sp>
        <p:nvSpPr>
          <p:cNvPr id="6" name="bottom"/>
          <p:cNvSpPr txBox="1"/>
          <p:nvPr/>
        </p:nvSpPr>
        <p:spPr>
          <a:xfrm>
            <a:off x="762000" y="4318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没得票的作品，老师也会说出它的一个具体亮点——</a:t>
            </a:r>
            <a:endParaRPr lang="en-US" sz="1500"/>
          </a:p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无人零收获离场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路演与结课 ｜ 仪式</a:t>
            </a:r>
            <a:endParaRPr lang="en-US" sz="1400"/>
          </a:p>
        </p:txBody>
      </p:sp>
      <p:sp>
        <p:nvSpPr>
          <p:cNvPr id="4" name="journey"/>
          <p:cNvSpPr txBox="1"/>
          <p:nvPr/>
        </p:nvSpPr>
        <p:spPr>
          <a:xfrm>
            <a:off x="1143000" y="965200"/>
            <a:ext cx="9906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· 点亮第一盏灯 · 找到值得做的题目 · 作品有了屏幕 ·</a:t>
            </a:r>
            <a:endParaRPr lang="en-US" sz="1500"/>
          </a:p>
          <a:p>
            <a:pPr algn="ctr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· 有了 AI 团队 · 教硬件学会看 · 搬回自己的电脑 ·</a:t>
            </a:r>
            <a:endParaRPr lang="en-US" sz="1500"/>
          </a:p>
          <a:p>
            <a:pPr algn="ctr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· 立项 · 跑通第一圈 · 请来了外援 ·</a:t>
            </a:r>
            <a:endParaRPr lang="en-US" sz="1500"/>
          </a:p>
          <a:p>
            <a:pPr algn="ctr">
              <a:lnSpc>
                <a:spcPct val="155000"/>
              </a:lnSpc>
              <a:spcBef>
                <a:spcPts val="1000"/>
              </a:spcBef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· 今天，把它讲了出去 ·</a:t>
            </a:r>
            <a:endParaRPr lang="en-US" sz="1500"/>
          </a:p>
          <a:p>
            <a:pPr algn="ctr">
              <a:lnSpc>
                <a:spcPct val="155000"/>
              </a:lnSpc>
              <a:spcBef>
                <a:spcPts val="600"/>
              </a:spcBef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十次课，全部点亮。</a:t>
            </a:r>
            <a:endParaRPr lang="en-US" sz="1500"/>
          </a:p>
        </p:txBody>
      </p:sp>
      <p:sp>
        <p:nvSpPr>
          <p:cNvPr id="5" name="quotebg"/>
          <p:cNvSpPr/>
          <p:nvPr/>
        </p:nvSpPr>
        <p:spPr>
          <a:xfrm>
            <a:off x="1651000" y="3632200"/>
            <a:ext cx="8890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quotet"/>
          <p:cNvSpPr txBox="1"/>
          <p:nvPr/>
        </p:nvSpPr>
        <p:spPr>
          <a:xfrm>
            <a:off x="1905000" y="3632200"/>
            <a:ext cx="838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你不再是那个看魔术的人——你是变魔术的人。</a:t>
            </a:r>
            <a:endParaRPr lang="en-US" sz="1800"/>
          </a:p>
        </p:txBody>
      </p:sp>
      <p:sp>
        <p:nvSpPr>
          <p:cNvPr id="7" name="logline"/>
          <p:cNvSpPr txBox="1"/>
          <p:nvPr/>
        </p:nvSpPr>
        <p:spPr>
          <a:xfrm>
            <a:off x="762000" y="459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最后一次日志，"做了"写——十次课，我做过最骄傲的一件事是＿＿＿。</a:t>
            </a:r>
            <a:endParaRPr lang="en-US" sz="1700"/>
          </a:p>
        </p:txBody>
      </p:sp>
      <p:sp>
        <p:nvSpPr>
          <p:cNvPr id="8" name="redline1"/>
          <p:cNvSpPr txBox="1"/>
          <p:nvPr/>
        </p:nvSpPr>
        <p:spPr>
          <a:xfrm>
            <a:off x="762000" y="5384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D84144"/>
                </a:solidFill>
                <a:latin typeface="MiSans"/>
                <a:ea typeface="MiSans"/>
              </a:rPr>
              <a:t>下课前 15 分钟必进仪式——任何情况不砍</a:t>
            </a:r>
            <a:endParaRPr lang="en-US" sz="1600"/>
          </a:p>
        </p:txBody>
      </p:sp>
      <p:sp>
        <p:nvSpPr>
          <p:cNvPr id="9" name="redline2"/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D84144"/>
                </a:solidFill>
                <a:latin typeface="MiSans"/>
                <a:ea typeface="MiSans"/>
              </a:rPr>
              <a:t>合影老规矩：举作品、举手、背影——只拍手，不拍脸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