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g" ContentType="image/jpeg"/>
  <Default Extension="jpeg" ContentType="image/jpeg"/>
  <Default Extension="gif" ContentType="image/gif"/>
  <Default Extension="svg" ContentType="image/svg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</p:sldIdLst>
  <p:notesMasterIdLst>
    <p:notesMasterId r:id="rId22"/>
  </p:notesMasterIdLst>
  <p:sldSz cx="12192000" cy="6858000" type="custom"/>
  <p:notesSz cx="12192000" cy="6858000"/>
</p:presentation>
</file>

<file path=ppt/presProps.xml><?xml version="1.0" encoding="utf-8"?>
<p:presentationPr xmlns:p="http://schemas.openxmlformats.org/presentationml/2006/main" xmlns:a="http://schemas.openxmlformats.org/drawingml/2006/main" xmlns:r="http://schemas.openxmlformats.org/officeDocument/2006/relationships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a="http://schemas.openxmlformats.org/drawingml/2006/main" xmlns:r="http://schemas.openxmlformats.org/officeDocument/2006/relationships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otes Placeholder 1"/>
          <p:cNvSpPr/>
          <p:nvPr>
            <p:ph type="body" idx="1"/>
          </p:nvPr>
        </p:nvSpPr>
        <p:spPr/>
        <p:txBody>
          <a:bodyPr/>
          <a:lstStyle/>
          <a:p/>
        </p:txBody>
      </p:sp>
    </p:spTree>
  </p:cSld>
  <p:clrMap bg1="lt1" tx1="dk1" bg2="lt2" tx2="dk2" accent1="accent1" accent2="accent2" accent3="accent3" accent4="accent4" accent5="accent5" accent6="accent6" hlink="hlink" folHlink="folHlink"/>
</p:notesMaster>
</file>

<file path=ppt/notesSlides/_rels/notesSlide1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otes Placeholder 1"/>
          <p:cNvSpPr txBox="1"/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200"/>
              <a:t>（候场页，无讲稿。学员入座时屏幕常亮本页。）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otes Placeholder 1"/>
          <p:cNvSpPr txBox="1"/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200"/>
              <a:t>「30 秒回顾：上次课，你跑通了第一圈——你的作品有了 MVP，能演示、被两位评委挑过刺、你还做了接受还是拒绝的决定。棒交接单带来了吗？放在手边，今天开场要读它。今天两件事：上半场去建材市场请外援；下半场第二棒冲刺，把核心功能做完整。节奏和第一棒一模一样。」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otes Placeholder 1"/>
          <p:cNvSpPr txBox="1"/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200"/>
              <a:t>「看这个复杂传感器。不用外援，让 AI 直接写驱动——上百行，滚三屏。看得懂吗？上几课你能看懂了——但看得懂，不等于该自己写。现在：三行。这上百行，早有人写好、测好、免费送你——这就是开源：全世界工程师互相送工具包。这个工具包，叫库。今天学会去建材市场：你的作品需要什么，世界上大概率已经有人造好了轮子。」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otes Placeholder 1"/>
          <p:cNvSpPr txBox="1"/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200"/>
              <a:t>「第一步搜，第二步看说明页判断靠不靠谱——三看（指投屏逐条念）：① 最近更新是什么时候，三年没动静的，慎请；② 有没有示例，没示例的，等于不给说明书；③ 说明写得完不完整。三看过两看，可以请。这页今天就挂在这儿——装库、圈库、接库，随时可以回头对它。」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otes Placeholder 1"/>
          <p:cNvSpPr txBox="1"/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200"/>
              <a:t>「先全班一起请同一个外援，走一遍完整流程：搜、看、装、跑。（示例跑通、编译飞快时）……停。刚才编译用了几秒？对——请来的外援是编译好的成品，这就是请外援的第二个好处。」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otes Placeholder 1"/>
          <p:cNvSpPr txBox="1"/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200"/>
              <a:t>「看这里——这个项目的工具间，和那个项目的工具间，是两个房间。为什么这样设计？一句话：一个房间着火了，不烧隔壁。你的番茄钟请的外援，和你的作品请的外援，各住各的，互不打架。」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otes Placeholder 1"/>
          <p:cNvSpPr txBox="1"/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200"/>
              <a:t>「建材市场逛起来很爽——但引不引库，是一个取舍决定，不是默认动作。例一：复杂传感器自己写要上百行——该引。例二：让一个灯闪三下，三行就写完，你还去找个'闪灯库'——不该引。区别在哪？三问（指屏幕）：对核心功能有帮助吗？今天搞得定吗？不引会怎样？圈定只许 1 个——圈 3 个的，退回重圈。找不到合适库的，写清'为什么不引'——和引了的同等正确。」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otes Placeholder 1"/>
          <p:cNvSpPr txBox="1"/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200"/>
              <a:t>「对照你的需求单，让 AI 当你的选型顾问——句式照投屏发。它列候选，你圈 1 个，今天就装这 1 个。AI 推荐了搜不到的库？它会编——建材市场里搜得到的才算数。」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otes Placeholder 1"/>
          <p:cNvSpPr txBox="1"/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200"/>
              <a:t>「最后一步最难：示例代码不是你的功能。两步：一，问 AI'这段代码在干嘛'——它是你请来的翻译官，专门翻译'不是为你写的代码'；二，让 AI 按你的需求改造，先只改最小的一处，跑通再要下一处。达标线：装上＋示例跑通。」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otes Placeholder 1"/>
          <p:cNvSpPr txBox="1"/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200"/>
              <a:t>「每人一句：我引了什么库、替我省了什么。不引的同学报：我为什么不引——和引了的同等掌声。外援请进门了。接下来，第二棒站会——开跑。」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otes Placeholder 1"/>
          <p:cNvSpPr txBox="1"/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200"/>
              <a:t>「外援不止代码。看你的作品——功能在跑，但它还是一桌散件加一把线。MVP 有两张脸：能演示（里子），和有个样子（面子）。路演那天，别人先看见面子，才轮到里子。外观不用买、不用打印——垃圾就是外观的建材市场。」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otes Placeholder 1"/>
          <p:cNvSpPr txBox="1"/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200"/>
              <a:t>「四招（投屏逐条）：一，找个壳——它是什么，就先像什么；二，固定它——线不晃，演示才稳；三，标出来——别人不看说明书就敢上手；四，藏起乱——露出来的只有脸。纪律一条：外观服从演示——末 10 分钟快装，陷进去的我会把你拽回来。想 1 分钟：你的作品可以像什么？」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otes Placeholder 1"/>
          <p:cNvSpPr txBox="1"/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200"/>
              <a:t>「看一眼这面材料墙——快递箱、纸杯、胶带、记号笔、橡皮筋、扎带、长尾夹、吸管、胶枪、剪刀。没有一样要花钱买。左边是材料，右边是作品——中间只隔一个动作：动手。找材料 → 搭结构 → 贴外观 → 可用演示。提前三天我会在群里提醒大家带干净废品；没带也有公共池。」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otes Placeholder 1"/>
          <p:cNvSpPr txBox="1"/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200"/>
              <a:t>「站会。先读你的棒交接单——上一棒说'下一棒第一件事'是什么？然后一句话：'今天我要把核心功能做到___。'注意定义：'功能完成'不是你想象的全部，是你需求单上的核心功能——对照它说，说超了的收回来。」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otes Placeholder 1"/>
          <p:cNvSpPr txBox="1"/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200"/>
              <a:t>「开跑。规则沿用第一棒：对照需求单；15 分钟无进展举手；代码问题先问 AI。今天多一句：aily 不熟就翻你的双视图小抄——它就是为今天写的。最后 10 分钟是外观快装：功能跑通了再动剪刀，四招能上几个上几个。评审前 15 分钟逐桌提醒：准备两段话。评审时间一到准时开始，谁都挤不掉。」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otes Placeholder 1"/>
          <p:cNvSpPr txBox="1"/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200"/>
              <a:t>「停手。评审时间——上一棒评委挑'像不像样'，本棒评委查'结不结实'。主力是老熟人 Quinn：5 条结实度清单，逐条实测——本棒升级，不只抽 2 条。还是老规矩：喂当前真实状态，不吹牛；就在你原来的对话窗里接着聊，别新开窗口。」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otes Placeholder 1"/>
          <p:cNvSpPr txBox="1"/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200"/>
              <a:t>「挑剔用户本棒降级：只挑 1 个最致命的刺。AI 开夸了？顶回去——'不许夸。只许挑刺。'5 条全过的，恭喜，它结实了——让同桌用野蛮人方式再试一次。」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otes Placeholder 1"/>
          <p:cNvSpPr txBox="1"/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200"/>
              <a:t>「逐条决定：接受还是拒绝，写理由。提醒：下一棒是冲刺棒，只修不加——今天改不完的，写进交接单'下一棒第一件事'时想清楚：那是你最后一次修它的机会。填棒交接单（第 2 棒），写进你的学员文档。」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otes Placeholder 1"/>
          <p:cNvSpPr txBox="1"/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200"/>
              <a:t>（仪式要有分量，停 1 分钟）「第一次课，你点亮了第一盏灯……今天，你请来了外援。从'敢做'到'看得懂'，到'会请外援'。你的作品，功能封顶了。停一秒，看看它——这就是你九次课的样子。下次课预告：最后一棒＋路演。冲刺纪律只有四个字：只修不加。带上你的棒交接单、你的作品、和你最想给别人看的那一面。」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xmlns:a="http://schemas.openxmlformats.org/drawingml/2006/main" xmlns:r="http://schemas.openxmlformats.org/officeDocument/2006/relationships" type="blank" preserve="1">
  <p:cSld name="Blank"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Image1" Type="http://schemas.openxmlformats.org/officeDocument/2006/relationships/image" Target="../media/image1.png"/><Relationship Id="rIdNotes1" Type="http://schemas.openxmlformats.org/officeDocument/2006/relationships/notesSlide" Target="../notesSlides/notesSlide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Notes2" Type="http://schemas.openxmlformats.org/officeDocument/2006/relationships/notesSlide" Target="../notesSlides/notesSlide2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Notes3" Type="http://schemas.openxmlformats.org/officeDocument/2006/relationships/notesSlide" Target="../notesSlides/notesSlide3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Notes4" Type="http://schemas.openxmlformats.org/officeDocument/2006/relationships/notesSlide" Target="../notesSlides/notesSlide4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Notes5" Type="http://schemas.openxmlformats.org/officeDocument/2006/relationships/notesSlide" Target="../notesSlides/notesSlide5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Notes6" Type="http://schemas.openxmlformats.org/officeDocument/2006/relationships/notesSlide" Target="../notesSlides/notesSlide6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Notes7" Type="http://schemas.openxmlformats.org/officeDocument/2006/relationships/notesSlide" Target="../notesSlides/notesSlide7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Notes8" Type="http://schemas.openxmlformats.org/officeDocument/2006/relationships/notesSlide" Target="../notesSlides/notesSlide8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Notes9" Type="http://schemas.openxmlformats.org/officeDocument/2006/relationships/notesSlide" Target="../notesSlides/notesSlide9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Notes10" Type="http://schemas.openxmlformats.org/officeDocument/2006/relationships/notesSlide" Target="../notesSlides/notesSlide10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Notes11" Type="http://schemas.openxmlformats.org/officeDocument/2006/relationships/notesSlide" Target="../notesSlides/notesSlide11.xml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Notes12" Type="http://schemas.openxmlformats.org/officeDocument/2006/relationships/notesSlide" Target="../notesSlides/notesSlide12.xml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Image2" Type="http://schemas.openxmlformats.org/officeDocument/2006/relationships/image" Target="../media/image2.png"/><Relationship Id="rIdNotes13" Type="http://schemas.openxmlformats.org/officeDocument/2006/relationships/notesSlide" Target="../notesSlides/notesSlide13.xml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Notes14" Type="http://schemas.openxmlformats.org/officeDocument/2006/relationships/notesSlide" Target="../notesSlides/notesSlide14.xml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Notes15" Type="http://schemas.openxmlformats.org/officeDocument/2006/relationships/notesSlide" Target="../notesSlides/notesSlide15.xml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Notes16" Type="http://schemas.openxmlformats.org/officeDocument/2006/relationships/notesSlide" Target="../notesSlides/notesSlide16.xml"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Notes17" Type="http://schemas.openxmlformats.org/officeDocument/2006/relationships/notesSlide" Target="../notesSlides/notesSlide17.xml"/></Relationships>
</file>

<file path=ppt/slides/_rels/slide1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Notes18" Type="http://schemas.openxmlformats.org/officeDocument/2006/relationships/notesSlide" Target="../notesSlides/notesSlide18.xml"/></Relationships>
</file>

<file path=ppt/slides/_rels/slide1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Notes19" Type="http://schemas.openxmlformats.org/officeDocument/2006/relationships/notesSlide" Target="../notesSlides/notesSlide19.xml"/></Relationships>
</file>

<file path=ppt/slides/slide1.xml><?xml version="1.0" encoding="utf-8"?>
<p:sld xmlns:p="http://schemas.openxmlformats.org/presentationml/2006/main" xmlns:a="http://schemas.openxmlformats.org/drawingml/2006/main" xmlns:a14="http://schemas.microsoft.com/office/drawing/2010/main" xmlns:c="http://schemas.openxmlformats.org/drawingml/2006/chart" xmlns:m="http://schemas.openxmlformats.org/officeDocument/2006/math" xmlns:pptd="https://kimi.design/pptd/202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762000" y="2540000"/>
            <a:ext cx="5842000" cy="762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20000"/>
              </a:lnSpc>
            </a:pPr>
            <a:r>
              <a:rPr lang="en-US" sz="4000" b="1">
                <a:solidFill>
                  <a:srgbClr val="000000"/>
                </a:solidFill>
                <a:latin typeface="MiSans"/>
                <a:ea typeface="MiSans"/>
              </a:rPr>
              <a:t>给作品请外援</a:t>
            </a:r>
            <a:endParaRPr lang="en-US" sz="4000"/>
          </a:p>
        </p:txBody>
      </p:sp>
      <p:sp>
        <p:nvSpPr>
          <p:cNvPr id="3" name="titleline"/>
          <p:cNvSpPr/>
          <p:nvPr/>
        </p:nvSpPr>
        <p:spPr>
          <a:xfrm>
            <a:off x="762000" y="3492500"/>
            <a:ext cx="2286000" cy="762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4" name="subtitle"/>
          <p:cNvSpPr txBox="1"/>
          <p:nvPr/>
        </p:nvSpPr>
        <p:spPr>
          <a:xfrm>
            <a:off x="762000" y="3810000"/>
            <a:ext cx="5842000" cy="762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40000"/>
              </a:lnSpc>
            </a:pPr>
            <a:r>
              <a:rPr lang="en-US" sz="2000">
                <a:solidFill>
                  <a:srgbClr val="000000"/>
                </a:solidFill>
                <a:latin typeface="MiSans"/>
                <a:ea typeface="MiSans"/>
              </a:rPr>
              <a:t>第 9 课 ｜ 马拉松 · 第二棒</a:t>
            </a:r>
            <a:endParaRPr lang="en-US" sz="2000"/>
          </a:p>
          <a:p>
            <a:pPr algn="l">
              <a:lnSpc>
                <a:spcPct val="140000"/>
              </a:lnSpc>
            </a:pPr>
            <a:r>
              <a:rPr lang="en-US" sz="1800">
                <a:solidFill>
                  <a:srgbClr val="000000"/>
                </a:solidFill>
                <a:latin typeface="MiSans"/>
                <a:ea typeface="MiSans"/>
              </a:rPr>
              <a:t>今天，让你的 </a:t>
            </a:r>
            <a:r>
              <a:rPr lang="en-US" sz="1800" b="1">
                <a:solidFill>
                  <a:srgbClr val="000000"/>
                </a:solidFill>
                <a:latin typeface="MiSans"/>
                <a:ea typeface="MiSans"/>
              </a:rPr>
              <a:t>MVP</a:t>
            </a:r>
            <a:r>
              <a:rPr lang="en-US" sz="1800">
                <a:solidFill>
                  <a:srgbClr val="000000"/>
                </a:solidFill>
                <a:latin typeface="MiSans"/>
                <a:ea typeface="MiSans"/>
              </a:rPr>
              <a:t> 长出新本事</a:t>
            </a:r>
            <a:endParaRPr lang="en-US" sz="2000"/>
          </a:p>
        </p:txBody>
      </p:sp>
      <p:pic>
        <p:nvPicPr>
          <p:cNvPr id="5" name="coverimg"/>
          <p:cNvPicPr/>
          <p:nvPr/>
        </p:nvPicPr>
        <p:blipFill>
          <a:blip r:embed="rIdImage1"/>
          <a:srcRect l="-0" r="-0"/>
          <a:stretch>
            <a:fillRect/>
          </a:stretch>
        </p:blipFill>
        <p:spPr>
          <a:xfrm>
            <a:off x="6858000" y="1270000"/>
            <a:ext cx="4826000" cy="4826000"/>
          </a:xfrm>
          <a:prstGeom prst="rect">
            <a:avLst/>
          </a:prstGeom>
          <a:ln>
            <a:noFill/>
          </a:ln>
        </p:spPr>
      </p:pic>
      <p:sp>
        <p:nvSpPr>
          <p:cNvPr id="6" name="footinfo"/>
          <p:cNvSpPr txBox="1"/>
          <p:nvPr/>
        </p:nvSpPr>
        <p:spPr>
          <a:xfrm>
            <a:off x="762000" y="6223000"/>
            <a:ext cx="63500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100">
                <a:solidFill>
                  <a:srgbClr val="000000"/>
                </a:solidFill>
                <a:latin typeface="MiSans"/>
                <a:ea typeface="MiSans"/>
              </a:rPr>
              <a:t>柴火创客学院 M0 · CFG-5 学期班</a:t>
            </a:r>
            <a:endParaRPr lang="en-US" sz="1100"/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a14="http://schemas.microsoft.com/office/drawing/2010/main" xmlns:c="http://schemas.openxmlformats.org/drawingml/2006/chart" xmlns:m="http://schemas.openxmlformats.org/officeDocument/2006/math" xmlns:pptd="https://kimi.design/pptd/202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508000" y="558800"/>
            <a:ext cx="76200" cy="5588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3" name="seclabel"/>
          <p:cNvSpPr txBox="1"/>
          <p:nvPr/>
        </p:nvSpPr>
        <p:spPr>
          <a:xfrm>
            <a:off x="736600" y="558800"/>
            <a:ext cx="71120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400">
                <a:solidFill>
                  <a:srgbClr val="000000"/>
                </a:solidFill>
                <a:latin typeface="MiSans"/>
                <a:ea typeface="MiSans"/>
              </a:rPr>
              <a:t>■ 开场 ｜ 定档</a:t>
            </a:r>
            <a:endParaRPr lang="en-US" sz="1400"/>
          </a:p>
        </p:txBody>
      </p:sp>
      <p:sp>
        <p:nvSpPr>
          <p:cNvPr id="4" name="recall"/>
          <p:cNvSpPr txBox="1"/>
          <p:nvPr/>
        </p:nvSpPr>
        <p:spPr>
          <a:xfrm>
            <a:off x="736600" y="812800"/>
            <a:ext cx="10668000" cy="279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40000"/>
              </a:lnSpc>
            </a:pPr>
            <a:r>
              <a:rPr lang="en-US" sz="1500">
                <a:solidFill>
                  <a:srgbClr val="000000"/>
                </a:solidFill>
                <a:latin typeface="MiSans"/>
                <a:ea typeface="MiSans"/>
              </a:rPr>
              <a:t>30 秒回顾：第一圈跑通了——你的 MVP 能演示、被挑过刺、做过决定；棒交接单带来了吗</a:t>
            </a:r>
            <a:endParaRPr lang="en-US" sz="1500"/>
          </a:p>
        </p:txBody>
      </p:sp>
      <p:sp>
        <p:nvSpPr>
          <p:cNvPr id="5" name="big"/>
          <p:cNvSpPr txBox="1"/>
          <p:nvPr/>
        </p:nvSpPr>
        <p:spPr>
          <a:xfrm>
            <a:off x="762000" y="1498600"/>
            <a:ext cx="10668000" cy="812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ctr">
              <a:lnSpc>
                <a:spcPct val="120000"/>
              </a:lnSpc>
            </a:pPr>
            <a:r>
              <a:rPr lang="en-US" sz="4000" b="1">
                <a:solidFill>
                  <a:srgbClr val="000000"/>
                </a:solidFill>
                <a:latin typeface="MiSans"/>
                <a:ea typeface="MiSans"/>
              </a:rPr>
              <a:t>今天，让你的 MVP 长出新本事。</a:t>
            </a:r>
            <a:endParaRPr lang="en-US" sz="4000"/>
          </a:p>
        </p:txBody>
      </p:sp>
      <p:sp>
        <p:nvSpPr>
          <p:cNvPr id="6" name="arrow1"/>
          <p:cNvSpPr/>
          <p:nvPr/>
        </p:nvSpPr>
        <p:spPr>
          <a:xfrm>
            <a:off x="762000" y="2768600"/>
            <a:ext cx="5080000" cy="1524000"/>
          </a:xfrm>
          <a:prstGeom prst="rect">
            <a:avLst/>
          </a:prstGeom>
          <a:solidFill>
            <a:srgbClr val="F3D230">
              <a:alpha val="14902"/>
            </a:srgbClr>
          </a:solidFill>
          <a:ln>
            <a:noFill/>
          </a:ln>
        </p:spPr>
      </p:sp>
      <p:sp>
        <p:nvSpPr>
          <p:cNvPr id="7" name="arrow1t"/>
          <p:cNvSpPr txBox="1"/>
          <p:nvPr/>
        </p:nvSpPr>
        <p:spPr>
          <a:xfrm>
            <a:off x="1066800" y="2946400"/>
            <a:ext cx="4470400" cy="1168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50000"/>
              </a:lnSpc>
            </a:pPr>
            <a:r>
              <a:rPr lang="en-US" sz="1800" b="1">
                <a:solidFill>
                  <a:srgbClr val="000000"/>
                </a:solidFill>
                <a:latin typeface="MiSans"/>
                <a:ea typeface="MiSans"/>
              </a:rPr>
              <a:t>上半场：去建材市场请外援</a:t>
            </a:r>
            <a:endParaRPr lang="en-US" sz="1800"/>
          </a:p>
          <a:p>
            <a:pPr algn="l">
              <a:lnSpc>
                <a:spcPct val="150000"/>
              </a:lnSpc>
            </a:pPr>
            <a:r>
              <a:rPr lang="en-US" sz="1800">
                <a:solidFill>
                  <a:srgbClr val="000000"/>
                </a:solidFill>
                <a:latin typeface="MiSans"/>
                <a:ea typeface="MiSans"/>
              </a:rPr>
              <a:t>库＝别人写好、测好、免费送你的工具包</a:t>
            </a:r>
            <a:endParaRPr lang="en-US" sz="1800"/>
          </a:p>
        </p:txBody>
      </p:sp>
      <p:sp>
        <p:nvSpPr>
          <p:cNvPr id="8" name="arrowicon"/>
          <p:cNvSpPr txBox="1"/>
          <p:nvPr/>
        </p:nvSpPr>
        <p:spPr>
          <a:xfrm>
            <a:off x="5867400" y="2768600"/>
            <a:ext cx="482600" cy="152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ctr">
              <a:lnSpc>
                <a:spcPct val="120000"/>
              </a:lnSpc>
            </a:pPr>
            <a:r>
              <a:rPr lang="en-US" sz="3400" b="1">
                <a:solidFill>
                  <a:srgbClr val="000000"/>
                </a:solidFill>
                <a:latin typeface="MiSans"/>
                <a:ea typeface="MiSans"/>
              </a:rPr>
              <a:t>→</a:t>
            </a:r>
            <a:endParaRPr lang="en-US" sz="3400"/>
          </a:p>
        </p:txBody>
      </p:sp>
      <p:sp>
        <p:nvSpPr>
          <p:cNvPr id="9" name="arrow2"/>
          <p:cNvSpPr/>
          <p:nvPr/>
        </p:nvSpPr>
        <p:spPr>
          <a:xfrm>
            <a:off x="6375400" y="2768600"/>
            <a:ext cx="5054600" cy="1524000"/>
          </a:xfrm>
          <a:prstGeom prst="rect">
            <a:avLst/>
          </a:prstGeom>
          <a:solidFill>
            <a:srgbClr val="F3D230">
              <a:alpha val="14902"/>
            </a:srgbClr>
          </a:solidFill>
          <a:ln>
            <a:noFill/>
          </a:ln>
        </p:spPr>
      </p:sp>
      <p:sp>
        <p:nvSpPr>
          <p:cNvPr id="10" name="arrow2t"/>
          <p:cNvSpPr txBox="1"/>
          <p:nvPr/>
        </p:nvSpPr>
        <p:spPr>
          <a:xfrm>
            <a:off x="6680200" y="2946400"/>
            <a:ext cx="4445000" cy="1168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50000"/>
              </a:lnSpc>
            </a:pPr>
            <a:r>
              <a:rPr lang="en-US" sz="1800" b="1">
                <a:solidFill>
                  <a:srgbClr val="000000"/>
                </a:solidFill>
                <a:latin typeface="MiSans"/>
                <a:ea typeface="MiSans"/>
              </a:rPr>
              <a:t>下半场：把核心功能做完整</a:t>
            </a:r>
            <a:endParaRPr lang="en-US" sz="1800"/>
          </a:p>
          <a:p>
            <a:pPr algn="l">
              <a:lnSpc>
                <a:spcPct val="150000"/>
              </a:lnSpc>
            </a:pPr>
            <a:r>
              <a:rPr lang="en-US" sz="1800">
                <a:solidFill>
                  <a:srgbClr val="000000"/>
                </a:solidFill>
                <a:latin typeface="MiSans"/>
                <a:ea typeface="MiSans"/>
              </a:rPr>
              <a:t>第二棒冲刺，节奏和第一棒一样</a:t>
            </a:r>
            <a:endParaRPr lang="en-US" sz="1800"/>
          </a:p>
        </p:txBody>
      </p:sp>
      <p:sp>
        <p:nvSpPr>
          <p:cNvPr id="11" name="rhythmbg"/>
          <p:cNvSpPr/>
          <p:nvPr/>
        </p:nvSpPr>
        <p:spPr>
          <a:xfrm>
            <a:off x="762000" y="4978400"/>
            <a:ext cx="10668000" cy="762000"/>
          </a:xfrm>
          <a:prstGeom prst="rect">
            <a:avLst/>
          </a:prstGeom>
          <a:solidFill>
            <a:srgbClr val="F3D230">
              <a:alpha val="14902"/>
            </a:srgbClr>
          </a:solidFill>
          <a:ln>
            <a:noFill/>
          </a:ln>
        </p:spPr>
      </p:sp>
      <p:sp>
        <p:nvSpPr>
          <p:cNvPr id="12" name="rhythmt"/>
          <p:cNvSpPr txBox="1"/>
          <p:nvPr/>
        </p:nvSpPr>
        <p:spPr>
          <a:xfrm>
            <a:off x="1066800" y="4978400"/>
            <a:ext cx="10058400" cy="762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ctr">
              <a:lnSpc>
                <a:spcPct val="120000"/>
              </a:lnSpc>
            </a:pPr>
            <a:r>
              <a:rPr lang="en-US" sz="1700">
                <a:solidFill>
                  <a:srgbClr val="000000"/>
                </a:solidFill>
                <a:latin typeface="MiSans"/>
                <a:ea typeface="MiSans"/>
              </a:rPr>
              <a:t>节奏和第一棒一样——站会 → 创作 → AI 评审 → 决定 → 交接</a:t>
            </a:r>
            <a:endParaRPr lang="en-US" sz="1700"/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a14="http://schemas.microsoft.com/office/drawing/2010/main" xmlns:c="http://schemas.openxmlformats.org/drawingml/2006/chart" xmlns:m="http://schemas.openxmlformats.org/officeDocument/2006/math" xmlns:pptd="https://kimi.design/pptd/202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508000" y="558800"/>
            <a:ext cx="76200" cy="5588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3" name="seclabel"/>
          <p:cNvSpPr txBox="1"/>
          <p:nvPr/>
        </p:nvSpPr>
        <p:spPr>
          <a:xfrm>
            <a:off x="736600" y="558800"/>
            <a:ext cx="71120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400">
                <a:solidFill>
                  <a:srgbClr val="000000"/>
                </a:solidFill>
                <a:latin typeface="MiSans"/>
                <a:ea typeface="MiSans"/>
              </a:rPr>
              <a:t>■ 第一幕 · 建材市场 ｜ 为什么</a:t>
            </a:r>
            <a:endParaRPr lang="en-US" sz="1400"/>
          </a:p>
        </p:txBody>
      </p:sp>
      <p:sp>
        <p:nvSpPr>
          <p:cNvPr id="4" name="title"/>
          <p:cNvSpPr txBox="1"/>
          <p:nvPr/>
        </p:nvSpPr>
        <p:spPr>
          <a:xfrm>
            <a:off x="736600" y="787400"/>
            <a:ext cx="10668000" cy="508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3400" b="1">
                <a:solidFill>
                  <a:srgbClr val="000000"/>
                </a:solidFill>
                <a:latin typeface="MiSans"/>
                <a:ea typeface="MiSans"/>
              </a:rPr>
              <a:t>看得懂，不等于该自己写</a:t>
            </a:r>
            <a:endParaRPr lang="en-US" sz="3400"/>
          </a:p>
        </p:txBody>
      </p:sp>
      <p:sp>
        <p:nvSpPr>
          <p:cNvPr id="5" name="leftcard"/>
          <p:cNvSpPr/>
          <p:nvPr/>
        </p:nvSpPr>
        <p:spPr>
          <a:xfrm>
            <a:off x="762000" y="1574800"/>
            <a:ext cx="5080000" cy="3429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</p:sp>
      <p:sp>
        <p:nvSpPr>
          <p:cNvPr id="6" name="lefttext"/>
          <p:cNvSpPr txBox="1"/>
          <p:nvPr/>
        </p:nvSpPr>
        <p:spPr>
          <a:xfrm>
            <a:off x="1066800" y="1778000"/>
            <a:ext cx="4470400" cy="736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40000"/>
              </a:lnSpc>
            </a:pPr>
            <a:r>
              <a:rPr lang="en-US" sz="1800" b="1">
                <a:solidFill>
                  <a:srgbClr val="000000"/>
                </a:solidFill>
                <a:latin typeface="MiSans"/>
                <a:ea typeface="MiSans"/>
              </a:rPr>
              <a:t>不用外援</a:t>
            </a:r>
            <a:endParaRPr lang="en-US" sz="1800"/>
          </a:p>
          <a:p>
            <a:pPr algn="l">
              <a:lnSpc>
                <a:spcPct val="140000"/>
              </a:lnSpc>
            </a:pPr>
            <a:r>
              <a:rPr lang="en-US" sz="1500" b="1">
                <a:solidFill>
                  <a:srgbClr val="000000"/>
                </a:solidFill>
                <a:latin typeface="MiSans"/>
                <a:ea typeface="MiSans"/>
              </a:rPr>
              <a:t>让 AI 直接写驱动</a:t>
            </a:r>
            <a:endParaRPr lang="en-US" sz="1800"/>
          </a:p>
        </p:txBody>
      </p:sp>
      <p:sp>
        <p:nvSpPr>
          <p:cNvPr id="7" name="leftcode"/>
          <p:cNvSpPr/>
          <p:nvPr/>
        </p:nvSpPr>
        <p:spPr>
          <a:xfrm>
            <a:off x="1066800" y="2616200"/>
            <a:ext cx="4470400" cy="1778000"/>
          </a:xfrm>
          <a:prstGeom prst="rect">
            <a:avLst/>
          </a:prstGeom>
          <a:solidFill>
            <a:srgbClr val="F5F5F5"/>
          </a:solidFill>
          <a:ln>
            <a:noFill/>
          </a:ln>
        </p:spPr>
      </p:sp>
      <p:sp>
        <p:nvSpPr>
          <p:cNvPr id="8" name="leftcodet"/>
          <p:cNvSpPr txBox="1"/>
          <p:nvPr/>
        </p:nvSpPr>
        <p:spPr>
          <a:xfrm>
            <a:off x="1219200" y="2717800"/>
            <a:ext cx="4165600" cy="1574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t"/>
          <a:lstStyle/>
          <a:p>
            <a:pPr algn="l">
              <a:lnSpc>
                <a:spcPct val="150000"/>
              </a:lnSpc>
            </a:pPr>
            <a:r>
              <a:rPr lang="en-US" sz="1300">
                <a:solidFill>
                  <a:srgbClr val="000000"/>
                </a:solidFill>
                <a:latin typeface="Source Code Pro"/>
                <a:ea typeface="Source Code Pro"/>
              </a:rPr>
              <a:t>uint8_t reg = 0x1A;</a:t>
            </a:r>
            <a:endParaRPr lang="en-US" sz="1300"/>
          </a:p>
          <a:p>
            <a:pPr algn="l">
              <a:lnSpc>
                <a:spcPct val="150000"/>
              </a:lnSpc>
            </a:pPr>
            <a:r>
              <a:rPr lang="en-US" sz="1300">
                <a:solidFill>
                  <a:srgbClr val="000000"/>
                </a:solidFill>
                <a:latin typeface="Source Code Pro"/>
                <a:ea typeface="Source Code Pro"/>
              </a:rPr>
              <a:t>wire_begin(addr);</a:t>
            </a:r>
            <a:endParaRPr lang="en-US" sz="1300"/>
          </a:p>
          <a:p>
            <a:pPr algn="l">
              <a:lnSpc>
                <a:spcPct val="150000"/>
              </a:lnSpc>
            </a:pPr>
            <a:r>
              <a:rPr lang="en-US" sz="1300">
                <a:solidFill>
                  <a:srgbClr val="000000"/>
                </a:solidFill>
                <a:latin typeface="Source Code Pro"/>
                <a:ea typeface="Source Code Pro"/>
              </a:rPr>
              <a:t>wire_write(reg);</a:t>
            </a:r>
            <a:endParaRPr lang="en-US" sz="1300"/>
          </a:p>
          <a:p>
            <a:pPr algn="l">
              <a:lnSpc>
                <a:spcPct val="150000"/>
              </a:lnSpc>
            </a:pPr>
            <a:r>
              <a:rPr lang="en-US" sz="1300">
                <a:solidFill>
                  <a:srgbClr val="000000"/>
                </a:solidFill>
                <a:latin typeface="Source Code Pro"/>
                <a:ea typeface="Source Code Pro"/>
              </a:rPr>
              <a:t>// ……（再滚两屏）</a:t>
            </a:r>
            <a:endParaRPr lang="en-US" sz="1300"/>
          </a:p>
          <a:p>
            <a:pPr algn="l">
              <a:lnSpc>
                <a:spcPct val="150000"/>
              </a:lnSpc>
            </a:pPr>
            <a:r>
              <a:rPr lang="en-US" sz="1300">
                <a:solidFill>
                  <a:srgbClr val="000000"/>
                </a:solidFill>
                <a:latin typeface="Source Code Pro"/>
                <a:ea typeface="Source Code Pro"/>
              </a:rPr>
              <a:t>// ……</a:t>
            </a:r>
            <a:endParaRPr lang="en-US" sz="1300"/>
          </a:p>
          <a:p>
            <a:pPr algn="l">
              <a:lnSpc>
                <a:spcPct val="150000"/>
              </a:lnSpc>
            </a:pPr>
            <a:r>
              <a:rPr lang="en-US" sz="1300">
                <a:solidFill>
                  <a:srgbClr val="000000"/>
                </a:solidFill>
                <a:latin typeface="Source Code Pro"/>
                <a:ea typeface="Source Code Pro"/>
              </a:rPr>
              <a:t>// ……</a:t>
            </a:r>
            <a:endParaRPr lang="en-US" sz="1300"/>
          </a:p>
        </p:txBody>
      </p:sp>
      <p:sp>
        <p:nvSpPr>
          <p:cNvPr id="9" name="lefttag"/>
          <p:cNvSpPr txBox="1"/>
          <p:nvPr/>
        </p:nvSpPr>
        <p:spPr>
          <a:xfrm>
            <a:off x="1066800" y="4470400"/>
            <a:ext cx="44704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ctr">
              <a:lnSpc>
                <a:spcPct val="120000"/>
              </a:lnSpc>
            </a:pPr>
            <a:r>
              <a:rPr lang="en-US" sz="1700" b="1">
                <a:solidFill>
                  <a:srgbClr val="000000"/>
                </a:solidFill>
                <a:latin typeface="MiSans"/>
                <a:ea typeface="MiSans"/>
              </a:rPr>
              <a:t>上百行，滚三屏</a:t>
            </a:r>
            <a:endParaRPr lang="en-US" sz="1700"/>
          </a:p>
        </p:txBody>
      </p:sp>
      <p:sp>
        <p:nvSpPr>
          <p:cNvPr id="10" name="rightcard"/>
          <p:cNvSpPr/>
          <p:nvPr/>
        </p:nvSpPr>
        <p:spPr>
          <a:xfrm>
            <a:off x="6350000" y="1574800"/>
            <a:ext cx="5080000" cy="3429000"/>
          </a:xfrm>
          <a:prstGeom prst="rect">
            <a:avLst/>
          </a:prstGeom>
          <a:solidFill>
            <a:srgbClr val="F3D230">
              <a:alpha val="14902"/>
            </a:srgbClr>
          </a:solidFill>
          <a:ln>
            <a:noFill/>
          </a:ln>
        </p:spPr>
      </p:sp>
      <p:sp>
        <p:nvSpPr>
          <p:cNvPr id="11" name="righttext"/>
          <p:cNvSpPr txBox="1"/>
          <p:nvPr/>
        </p:nvSpPr>
        <p:spPr>
          <a:xfrm>
            <a:off x="6654800" y="1778000"/>
            <a:ext cx="4470400" cy="736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40000"/>
              </a:lnSpc>
            </a:pPr>
            <a:r>
              <a:rPr lang="en-US" sz="1800" b="1">
                <a:solidFill>
                  <a:srgbClr val="000000"/>
                </a:solidFill>
                <a:latin typeface="MiSans"/>
                <a:ea typeface="MiSans"/>
              </a:rPr>
              <a:t>请了外援</a:t>
            </a:r>
            <a:endParaRPr lang="en-US" sz="1800"/>
          </a:p>
          <a:p>
            <a:pPr algn="l">
              <a:lnSpc>
                <a:spcPct val="140000"/>
              </a:lnSpc>
            </a:pPr>
            <a:r>
              <a:rPr lang="en-US" sz="1500" b="1">
                <a:solidFill>
                  <a:srgbClr val="000000"/>
                </a:solidFill>
                <a:latin typeface="MiSans"/>
                <a:ea typeface="MiSans"/>
              </a:rPr>
              <a:t>三行调用</a:t>
            </a:r>
            <a:endParaRPr lang="en-US" sz="1800"/>
          </a:p>
        </p:txBody>
      </p:sp>
      <p:sp>
        <p:nvSpPr>
          <p:cNvPr id="12" name="rightcode"/>
          <p:cNvSpPr/>
          <p:nvPr/>
        </p:nvSpPr>
        <p:spPr>
          <a:xfrm>
            <a:off x="6654800" y="2616200"/>
            <a:ext cx="4470400" cy="1524000"/>
          </a:xfrm>
          <a:prstGeom prst="rect">
            <a:avLst/>
          </a:prstGeom>
          <a:solidFill>
            <a:srgbClr val="F5F5F5"/>
          </a:solidFill>
          <a:ln>
            <a:noFill/>
          </a:ln>
        </p:spPr>
      </p:sp>
      <p:sp>
        <p:nvSpPr>
          <p:cNvPr id="13" name="rightcodet"/>
          <p:cNvSpPr txBox="1"/>
          <p:nvPr/>
        </p:nvSpPr>
        <p:spPr>
          <a:xfrm>
            <a:off x="6807200" y="2717800"/>
            <a:ext cx="4165600" cy="1320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60000"/>
              </a:lnSpc>
            </a:pPr>
            <a:r>
              <a:rPr lang="en-US" sz="1500">
                <a:solidFill>
                  <a:srgbClr val="000000"/>
                </a:solidFill>
                <a:latin typeface="Source Code Pro"/>
                <a:ea typeface="Source Code Pro"/>
              </a:rPr>
              <a:t>import 外援</a:t>
            </a:r>
            <a:endParaRPr lang="en-US" sz="1500"/>
          </a:p>
          <a:p>
            <a:pPr algn="l">
              <a:lnSpc>
                <a:spcPct val="160000"/>
              </a:lnSpc>
            </a:pPr>
            <a:r>
              <a:rPr lang="en-US" sz="1500">
                <a:solidFill>
                  <a:srgbClr val="000000"/>
                </a:solidFill>
                <a:latin typeface="Source Code Pro"/>
                <a:ea typeface="Source Code Pro"/>
              </a:rPr>
              <a:t>外援.begin()</a:t>
            </a:r>
            <a:endParaRPr lang="en-US" sz="1500"/>
          </a:p>
          <a:p>
            <a:pPr algn="l">
              <a:lnSpc>
                <a:spcPct val="160000"/>
              </a:lnSpc>
            </a:pPr>
            <a:r>
              <a:rPr lang="en-US" sz="1500">
                <a:solidFill>
                  <a:srgbClr val="000000"/>
                </a:solidFill>
                <a:latin typeface="Source Code Pro"/>
                <a:ea typeface="Source Code Pro"/>
              </a:rPr>
              <a:t>外援.read()</a:t>
            </a:r>
            <a:endParaRPr lang="en-US" sz="1500"/>
          </a:p>
        </p:txBody>
      </p:sp>
      <p:sp>
        <p:nvSpPr>
          <p:cNvPr id="14" name="righttag"/>
          <p:cNvSpPr txBox="1"/>
          <p:nvPr/>
        </p:nvSpPr>
        <p:spPr>
          <a:xfrm>
            <a:off x="6654800" y="4470400"/>
            <a:ext cx="44704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ctr">
              <a:lnSpc>
                <a:spcPct val="120000"/>
              </a:lnSpc>
            </a:pPr>
            <a:r>
              <a:rPr lang="en-US" sz="1700" b="1">
                <a:solidFill>
                  <a:srgbClr val="000000"/>
                </a:solidFill>
                <a:latin typeface="MiSans"/>
                <a:ea typeface="MiSans"/>
              </a:rPr>
              <a:t>三行，收工</a:t>
            </a:r>
            <a:endParaRPr lang="en-US" sz="1700"/>
          </a:p>
        </p:txBody>
      </p:sp>
      <p:sp>
        <p:nvSpPr>
          <p:cNvPr id="15" name="bottom"/>
          <p:cNvSpPr txBox="1"/>
          <p:nvPr/>
        </p:nvSpPr>
        <p:spPr>
          <a:xfrm>
            <a:off x="762000" y="5359400"/>
            <a:ext cx="10668000" cy="762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ctr">
              <a:lnSpc>
                <a:spcPct val="150000"/>
              </a:lnSpc>
            </a:pPr>
            <a:r>
              <a:rPr lang="en-US" sz="1900">
                <a:solidFill>
                  <a:srgbClr val="000000"/>
                </a:solidFill>
                <a:latin typeface="MiSans"/>
                <a:ea typeface="MiSans"/>
              </a:rPr>
              <a:t>这上百行，早有人写好、测好、免费送你——这就是</a:t>
            </a:r>
            <a:r>
              <a:rPr lang="en-US" sz="1900" b="1">
                <a:solidFill>
                  <a:srgbClr val="000000"/>
                </a:solidFill>
                <a:latin typeface="MiSans"/>
                <a:ea typeface="MiSans"/>
              </a:rPr>
              <a:t>开源</a:t>
            </a:r>
            <a:r>
              <a:rPr lang="en-US" sz="1900">
                <a:solidFill>
                  <a:srgbClr val="000000"/>
                </a:solidFill>
                <a:latin typeface="MiSans"/>
                <a:ea typeface="MiSans"/>
              </a:rPr>
              <a:t>；</a:t>
            </a:r>
            <a:endParaRPr lang="en-US" sz="1900"/>
          </a:p>
          <a:p>
            <a:pPr algn="ctr">
              <a:lnSpc>
                <a:spcPct val="150000"/>
              </a:lnSpc>
            </a:pPr>
            <a:r>
              <a:rPr lang="en-US" sz="1900">
                <a:solidFill>
                  <a:srgbClr val="000000"/>
                </a:solidFill>
                <a:latin typeface="MiSans"/>
                <a:ea typeface="MiSans"/>
              </a:rPr>
              <a:t>这个工具包，叫</a:t>
            </a:r>
            <a:r>
              <a:rPr lang="en-US" sz="1900" b="1">
                <a:solidFill>
                  <a:srgbClr val="000000"/>
                </a:solidFill>
                <a:latin typeface="MiSans"/>
                <a:ea typeface="MiSans"/>
              </a:rPr>
              <a:t>库</a:t>
            </a:r>
            <a:r>
              <a:rPr lang="en-US" sz="1900">
                <a:solidFill>
                  <a:srgbClr val="000000"/>
                </a:solidFill>
                <a:latin typeface="MiSans"/>
                <a:ea typeface="MiSans"/>
              </a:rPr>
              <a:t>。</a:t>
            </a:r>
            <a:endParaRPr lang="en-US" sz="1900"/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a14="http://schemas.microsoft.com/office/drawing/2010/main" xmlns:c="http://schemas.openxmlformats.org/drawingml/2006/chart" xmlns:m="http://schemas.openxmlformats.org/officeDocument/2006/math" xmlns:pptd="https://kimi.design/pptd/202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508000" y="558800"/>
            <a:ext cx="76200" cy="5588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3" name="seclabel"/>
          <p:cNvSpPr txBox="1"/>
          <p:nvPr/>
        </p:nvSpPr>
        <p:spPr>
          <a:xfrm>
            <a:off x="736600" y="558800"/>
            <a:ext cx="71120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400">
                <a:solidFill>
                  <a:srgbClr val="000000"/>
                </a:solidFill>
                <a:latin typeface="MiSans"/>
                <a:ea typeface="MiSans"/>
              </a:rPr>
              <a:t>■ 第一幕 · 建材市场 ｜ 三看</a:t>
            </a:r>
            <a:endParaRPr lang="en-US" sz="1400"/>
          </a:p>
        </p:txBody>
      </p:sp>
      <p:sp>
        <p:nvSpPr>
          <p:cNvPr id="4" name="title"/>
          <p:cNvSpPr txBox="1"/>
          <p:nvPr/>
        </p:nvSpPr>
        <p:spPr>
          <a:xfrm>
            <a:off x="736600" y="787400"/>
            <a:ext cx="10668000" cy="508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3400" b="1">
                <a:solidFill>
                  <a:srgbClr val="000000"/>
                </a:solidFill>
                <a:latin typeface="MiSans"/>
                <a:ea typeface="MiSans"/>
              </a:rPr>
              <a:t>请外援前，先三看</a:t>
            </a:r>
            <a:endParaRPr lang="en-US" sz="3400"/>
          </a:p>
        </p:txBody>
      </p:sp>
      <p:sp>
        <p:nvSpPr>
          <p:cNvPr id="5" name="codebox"/>
          <p:cNvSpPr/>
          <p:nvPr/>
        </p:nvSpPr>
        <p:spPr>
          <a:xfrm>
            <a:off x="762000" y="1676400"/>
            <a:ext cx="10668000" cy="3302000"/>
          </a:xfrm>
          <a:prstGeom prst="rect">
            <a:avLst/>
          </a:prstGeom>
          <a:solidFill>
            <a:srgbClr val="F5F5F5"/>
          </a:solidFill>
          <a:ln w="12700">
            <a:solidFill>
              <a:srgbClr val="000000"/>
            </a:solidFill>
          </a:ln>
        </p:spPr>
      </p:sp>
      <p:sp>
        <p:nvSpPr>
          <p:cNvPr id="6" name="codetext"/>
          <p:cNvSpPr txBox="1"/>
          <p:nvPr/>
        </p:nvSpPr>
        <p:spPr>
          <a:xfrm>
            <a:off x="1066800" y="1879600"/>
            <a:ext cx="10058400" cy="2895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60000"/>
              </a:lnSpc>
            </a:pPr>
            <a:r>
              <a:rPr lang="en-US" sz="1900" b="1">
                <a:solidFill>
                  <a:srgbClr val="000000"/>
                </a:solidFill>
                <a:latin typeface="Source Code Pro"/>
                <a:ea typeface="Source Code Pro"/>
              </a:rPr>
              <a:t>请外援前三看（过两看，可以请）：</a:t>
            </a:r>
            <a:endParaRPr lang="en-US" sz="1900"/>
          </a:p>
          <a:p>
            <a:pPr algn="l">
              <a:lnSpc>
                <a:spcPct val="160000"/>
              </a:lnSpc>
            </a:pPr>
            <a:r>
              <a:rPr lang="en-US" sz="1900">
                <a:solidFill>
                  <a:srgbClr val="000000"/>
                </a:solidFill>
                <a:latin typeface="Source Code Pro"/>
                <a:ea typeface="Source Code Pro"/>
              </a:rPr>
              <a:t>① 最近更新是什么时候？（三年没动静的，慎请）</a:t>
            </a:r>
            <a:endParaRPr lang="en-US" sz="1900"/>
          </a:p>
          <a:p>
            <a:pPr algn="l">
              <a:lnSpc>
                <a:spcPct val="160000"/>
              </a:lnSpc>
            </a:pPr>
            <a:r>
              <a:rPr lang="en-US" sz="1900">
                <a:solidFill>
                  <a:srgbClr val="000000"/>
                </a:solidFill>
                <a:latin typeface="Source Code Pro"/>
                <a:ea typeface="Source Code Pro"/>
              </a:rPr>
              <a:t>② 有没有示例？（没示例＝不给说明书）</a:t>
            </a:r>
            <a:endParaRPr lang="en-US" sz="1900"/>
          </a:p>
          <a:p>
            <a:pPr algn="l">
              <a:lnSpc>
                <a:spcPct val="160000"/>
              </a:lnSpc>
            </a:pPr>
            <a:r>
              <a:rPr lang="en-US" sz="1900">
                <a:solidFill>
                  <a:srgbClr val="000000"/>
                </a:solidFill>
                <a:latin typeface="Source Code Pro"/>
                <a:ea typeface="Source Code Pro"/>
              </a:rPr>
              <a:t>③ 说明写得完不完整？</a:t>
            </a:r>
            <a:endParaRPr lang="en-US" sz="1900"/>
          </a:p>
          <a:p>
            <a:pPr algn="l">
              <a:lnSpc>
                <a:spcPct val="160000"/>
              </a:lnSpc>
            </a:pPr>
            <a:r>
              <a:rPr lang="en-US" sz="1500">
                <a:solidFill>
                  <a:srgbClr val="000000"/>
                </a:solidFill>
                <a:latin typeface="Source Code Pro"/>
                <a:ea typeface="Source Code Pro"/>
              </a:rPr>
              <a:t>（翻车补课·第四看：支持的硬件列表里有我的板子吗？）</a:t>
            </a:r>
            <a:endParaRPr lang="en-US" sz="1900"/>
          </a:p>
        </p:txBody>
      </p:sp>
      <p:sp>
        <p:nvSpPr>
          <p:cNvPr id="7" name="bottom"/>
          <p:cNvSpPr txBox="1"/>
          <p:nvPr/>
        </p:nvSpPr>
        <p:spPr>
          <a:xfrm>
            <a:off x="762000" y="5308600"/>
            <a:ext cx="10668000" cy="508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ctr">
              <a:lnSpc>
                <a:spcPct val="140000"/>
              </a:lnSpc>
            </a:pPr>
            <a:r>
              <a:rPr lang="en-US" sz="1500">
                <a:solidFill>
                  <a:srgbClr val="000000"/>
                </a:solidFill>
                <a:latin typeface="MiSans"/>
                <a:ea typeface="MiSans"/>
              </a:rPr>
              <a:t>三看过两看，可以请——本页常亮，装库、圈库、接库，随时回头对它</a:t>
            </a:r>
            <a:endParaRPr lang="en-US" sz="1500"/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a14="http://schemas.microsoft.com/office/drawing/2010/main" xmlns:c="http://schemas.openxmlformats.org/drawingml/2006/chart" xmlns:m="http://schemas.openxmlformats.org/officeDocument/2006/math" xmlns:pptd="https://kimi.design/pptd/202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508000" y="558800"/>
            <a:ext cx="76200" cy="5588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3" name="seclabel"/>
          <p:cNvSpPr txBox="1"/>
          <p:nvPr/>
        </p:nvSpPr>
        <p:spPr>
          <a:xfrm>
            <a:off x="736600" y="558800"/>
            <a:ext cx="71120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400">
                <a:solidFill>
                  <a:srgbClr val="000000"/>
                </a:solidFill>
                <a:latin typeface="MiSans"/>
                <a:ea typeface="MiSans"/>
              </a:rPr>
              <a:t>■ 第一幕 · 建材市场 ｜ 同装</a:t>
            </a:r>
            <a:endParaRPr lang="en-US" sz="1400"/>
          </a:p>
        </p:txBody>
      </p:sp>
      <p:sp>
        <p:nvSpPr>
          <p:cNvPr id="4" name="title"/>
          <p:cNvSpPr txBox="1"/>
          <p:nvPr/>
        </p:nvSpPr>
        <p:spPr>
          <a:xfrm>
            <a:off x="736600" y="787400"/>
            <a:ext cx="10668000" cy="508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3400" b="1">
                <a:solidFill>
                  <a:srgbClr val="000000"/>
                </a:solidFill>
                <a:latin typeface="MiSans"/>
                <a:ea typeface="MiSans"/>
              </a:rPr>
              <a:t>全班一起，请同一个外援</a:t>
            </a:r>
            <a:endParaRPr lang="en-US" sz="3400"/>
          </a:p>
        </p:txBody>
      </p:sp>
      <p:sp>
        <p:nvSpPr>
          <p:cNvPr id="5" name="s1dot"/>
          <p:cNvSpPr/>
          <p:nvPr/>
        </p:nvSpPr>
        <p:spPr>
          <a:xfrm>
            <a:off x="1219200" y="1778000"/>
            <a:ext cx="431800" cy="431800"/>
          </a:xfrm>
          <a:prstGeom prst="ellipse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6" name="s1num"/>
          <p:cNvSpPr txBox="1"/>
          <p:nvPr/>
        </p:nvSpPr>
        <p:spPr>
          <a:xfrm>
            <a:off x="1219200" y="1778000"/>
            <a:ext cx="431800" cy="431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ctr">
              <a:lnSpc>
                <a:spcPct val="120000"/>
              </a:lnSpc>
            </a:pPr>
            <a:r>
              <a:rPr lang="en-US" sz="1800" b="1">
                <a:solidFill>
                  <a:srgbClr val="000000"/>
                </a:solidFill>
                <a:latin typeface="MiSans"/>
                <a:ea typeface="MiSans"/>
              </a:rPr>
              <a:t>1</a:t>
            </a:r>
            <a:endParaRPr lang="en-US" sz="1800"/>
          </a:p>
        </p:txBody>
      </p:sp>
      <p:sp>
        <p:nvSpPr>
          <p:cNvPr id="7" name="s1t"/>
          <p:cNvSpPr txBox="1"/>
          <p:nvPr/>
        </p:nvSpPr>
        <p:spPr>
          <a:xfrm>
            <a:off x="762000" y="2387600"/>
            <a:ext cx="2286000" cy="1397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t"/>
          <a:lstStyle/>
          <a:p>
            <a:pPr algn="ctr">
              <a:lnSpc>
                <a:spcPct val="145000"/>
              </a:lnSpc>
            </a:pPr>
            <a:r>
              <a:rPr lang="en-US" sz="1700" b="1">
                <a:solidFill>
                  <a:srgbClr val="000000"/>
                </a:solidFill>
                <a:latin typeface="MiSans"/>
                <a:ea typeface="MiSans"/>
              </a:rPr>
              <a:t>搜</a:t>
            </a:r>
            <a:endParaRPr lang="en-US" sz="1700"/>
          </a:p>
          <a:p>
            <a:pPr algn="ctr">
              <a:lnSpc>
                <a:spcPct val="145000"/>
              </a:lnSpc>
              <a:spcBef>
                <a:spcPts val="600"/>
              </a:spcBef>
            </a:pPr>
            <a:r>
              <a:rPr lang="en-US" sz="1700">
                <a:solidFill>
                  <a:srgbClr val="000000"/>
                </a:solidFill>
                <a:latin typeface="MiSans"/>
                <a:ea typeface="MiSans"/>
              </a:rPr>
              <a:t>建材市场里搜它</a:t>
            </a:r>
            <a:endParaRPr lang="en-US" sz="1700"/>
          </a:p>
        </p:txBody>
      </p:sp>
      <p:sp>
        <p:nvSpPr>
          <p:cNvPr id="8" name="a1"/>
          <p:cNvSpPr txBox="1"/>
          <p:nvPr/>
        </p:nvSpPr>
        <p:spPr>
          <a:xfrm>
            <a:off x="3073400" y="1778000"/>
            <a:ext cx="482600" cy="431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ctr">
              <a:lnSpc>
                <a:spcPct val="120000"/>
              </a:lnSpc>
            </a:pPr>
            <a:r>
              <a:rPr lang="en-US" sz="2400" b="1">
                <a:solidFill>
                  <a:srgbClr val="000000"/>
                </a:solidFill>
                <a:latin typeface="MiSans"/>
                <a:ea typeface="MiSans"/>
              </a:rPr>
              <a:t>→</a:t>
            </a:r>
            <a:endParaRPr lang="en-US" sz="2400"/>
          </a:p>
        </p:txBody>
      </p:sp>
      <p:sp>
        <p:nvSpPr>
          <p:cNvPr id="9" name="s2dot"/>
          <p:cNvSpPr/>
          <p:nvPr/>
        </p:nvSpPr>
        <p:spPr>
          <a:xfrm>
            <a:off x="3784600" y="1778000"/>
            <a:ext cx="431800" cy="431800"/>
          </a:xfrm>
          <a:prstGeom prst="ellipse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10" name="s2num"/>
          <p:cNvSpPr txBox="1"/>
          <p:nvPr/>
        </p:nvSpPr>
        <p:spPr>
          <a:xfrm>
            <a:off x="3784600" y="1778000"/>
            <a:ext cx="431800" cy="431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ctr">
              <a:lnSpc>
                <a:spcPct val="120000"/>
              </a:lnSpc>
            </a:pPr>
            <a:r>
              <a:rPr lang="en-US" sz="1800" b="1">
                <a:solidFill>
                  <a:srgbClr val="000000"/>
                </a:solidFill>
                <a:latin typeface="MiSans"/>
                <a:ea typeface="MiSans"/>
              </a:rPr>
              <a:t>2</a:t>
            </a:r>
            <a:endParaRPr lang="en-US" sz="1800"/>
          </a:p>
        </p:txBody>
      </p:sp>
      <p:sp>
        <p:nvSpPr>
          <p:cNvPr id="11" name="s2t"/>
          <p:cNvSpPr txBox="1"/>
          <p:nvPr/>
        </p:nvSpPr>
        <p:spPr>
          <a:xfrm>
            <a:off x="3327400" y="2387600"/>
            <a:ext cx="2286000" cy="1397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t"/>
          <a:lstStyle/>
          <a:p>
            <a:pPr algn="ctr">
              <a:lnSpc>
                <a:spcPct val="145000"/>
              </a:lnSpc>
            </a:pPr>
            <a:r>
              <a:rPr lang="en-US" sz="1700" b="1">
                <a:solidFill>
                  <a:srgbClr val="000000"/>
                </a:solidFill>
                <a:latin typeface="MiSans"/>
                <a:ea typeface="MiSans"/>
              </a:rPr>
              <a:t>看</a:t>
            </a:r>
            <a:endParaRPr lang="en-US" sz="1700"/>
          </a:p>
          <a:p>
            <a:pPr algn="ctr">
              <a:lnSpc>
                <a:spcPct val="145000"/>
              </a:lnSpc>
              <a:spcBef>
                <a:spcPts val="600"/>
              </a:spcBef>
            </a:pPr>
            <a:r>
              <a:rPr lang="en-US" sz="1700">
                <a:solidFill>
                  <a:srgbClr val="000000"/>
                </a:solidFill>
                <a:latin typeface="MiSans"/>
                <a:ea typeface="MiSans"/>
              </a:rPr>
              <a:t>三看（回上一页）</a:t>
            </a:r>
            <a:endParaRPr lang="en-US" sz="1700"/>
          </a:p>
        </p:txBody>
      </p:sp>
      <p:sp>
        <p:nvSpPr>
          <p:cNvPr id="12" name="a2"/>
          <p:cNvSpPr txBox="1"/>
          <p:nvPr/>
        </p:nvSpPr>
        <p:spPr>
          <a:xfrm>
            <a:off x="5638800" y="1778000"/>
            <a:ext cx="482600" cy="431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ctr">
              <a:lnSpc>
                <a:spcPct val="120000"/>
              </a:lnSpc>
            </a:pPr>
            <a:r>
              <a:rPr lang="en-US" sz="2400" b="1">
                <a:solidFill>
                  <a:srgbClr val="000000"/>
                </a:solidFill>
                <a:latin typeface="MiSans"/>
                <a:ea typeface="MiSans"/>
              </a:rPr>
              <a:t>→</a:t>
            </a:r>
            <a:endParaRPr lang="en-US" sz="2400"/>
          </a:p>
        </p:txBody>
      </p:sp>
      <p:sp>
        <p:nvSpPr>
          <p:cNvPr id="13" name="s3dot"/>
          <p:cNvSpPr/>
          <p:nvPr/>
        </p:nvSpPr>
        <p:spPr>
          <a:xfrm>
            <a:off x="6350000" y="1778000"/>
            <a:ext cx="431800" cy="431800"/>
          </a:xfrm>
          <a:prstGeom prst="ellipse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14" name="s3num"/>
          <p:cNvSpPr txBox="1"/>
          <p:nvPr/>
        </p:nvSpPr>
        <p:spPr>
          <a:xfrm>
            <a:off x="6350000" y="1778000"/>
            <a:ext cx="431800" cy="431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ctr">
              <a:lnSpc>
                <a:spcPct val="120000"/>
              </a:lnSpc>
            </a:pPr>
            <a:r>
              <a:rPr lang="en-US" sz="1800" b="1">
                <a:solidFill>
                  <a:srgbClr val="000000"/>
                </a:solidFill>
                <a:latin typeface="MiSans"/>
                <a:ea typeface="MiSans"/>
              </a:rPr>
              <a:t>3</a:t>
            </a:r>
            <a:endParaRPr lang="en-US" sz="1800"/>
          </a:p>
        </p:txBody>
      </p:sp>
      <p:sp>
        <p:nvSpPr>
          <p:cNvPr id="15" name="s3t"/>
          <p:cNvSpPr txBox="1"/>
          <p:nvPr/>
        </p:nvSpPr>
        <p:spPr>
          <a:xfrm>
            <a:off x="5892800" y="2387600"/>
            <a:ext cx="2286000" cy="1397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t"/>
          <a:lstStyle/>
          <a:p>
            <a:pPr algn="ctr">
              <a:lnSpc>
                <a:spcPct val="145000"/>
              </a:lnSpc>
            </a:pPr>
            <a:r>
              <a:rPr lang="en-US" sz="1700" b="1">
                <a:solidFill>
                  <a:srgbClr val="000000"/>
                </a:solidFill>
                <a:latin typeface="MiSans"/>
                <a:ea typeface="MiSans"/>
              </a:rPr>
              <a:t>装</a:t>
            </a:r>
            <a:endParaRPr lang="en-US" sz="1700"/>
          </a:p>
          <a:p>
            <a:pPr algn="ctr">
              <a:lnSpc>
                <a:spcPct val="145000"/>
              </a:lnSpc>
              <a:spcBef>
                <a:spcPts val="600"/>
              </a:spcBef>
            </a:pPr>
            <a:r>
              <a:rPr lang="en-US" sz="1700">
                <a:solidFill>
                  <a:srgbClr val="000000"/>
                </a:solidFill>
                <a:latin typeface="MiSans"/>
                <a:ea typeface="MiSans"/>
              </a:rPr>
              <a:t>领进你这个项目的工具间</a:t>
            </a:r>
            <a:endParaRPr lang="en-US" sz="1700"/>
          </a:p>
        </p:txBody>
      </p:sp>
      <p:sp>
        <p:nvSpPr>
          <p:cNvPr id="16" name="a3"/>
          <p:cNvSpPr txBox="1"/>
          <p:nvPr/>
        </p:nvSpPr>
        <p:spPr>
          <a:xfrm>
            <a:off x="8204200" y="1778000"/>
            <a:ext cx="482600" cy="431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ctr">
              <a:lnSpc>
                <a:spcPct val="120000"/>
              </a:lnSpc>
            </a:pPr>
            <a:r>
              <a:rPr lang="en-US" sz="2400" b="1">
                <a:solidFill>
                  <a:srgbClr val="000000"/>
                </a:solidFill>
                <a:latin typeface="MiSans"/>
                <a:ea typeface="MiSans"/>
              </a:rPr>
              <a:t>→</a:t>
            </a:r>
            <a:endParaRPr lang="en-US" sz="2400"/>
          </a:p>
        </p:txBody>
      </p:sp>
      <p:sp>
        <p:nvSpPr>
          <p:cNvPr id="17" name="s4dot"/>
          <p:cNvSpPr/>
          <p:nvPr/>
        </p:nvSpPr>
        <p:spPr>
          <a:xfrm>
            <a:off x="8915400" y="1778000"/>
            <a:ext cx="431800" cy="431800"/>
          </a:xfrm>
          <a:prstGeom prst="ellipse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18" name="s4num"/>
          <p:cNvSpPr txBox="1"/>
          <p:nvPr/>
        </p:nvSpPr>
        <p:spPr>
          <a:xfrm>
            <a:off x="8915400" y="1778000"/>
            <a:ext cx="431800" cy="431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ctr">
              <a:lnSpc>
                <a:spcPct val="120000"/>
              </a:lnSpc>
            </a:pPr>
            <a:r>
              <a:rPr lang="en-US" sz="1800" b="1">
                <a:solidFill>
                  <a:srgbClr val="000000"/>
                </a:solidFill>
                <a:latin typeface="MiSans"/>
                <a:ea typeface="MiSans"/>
              </a:rPr>
              <a:t>4</a:t>
            </a:r>
            <a:endParaRPr lang="en-US" sz="1800"/>
          </a:p>
        </p:txBody>
      </p:sp>
      <p:sp>
        <p:nvSpPr>
          <p:cNvPr id="19" name="s4t"/>
          <p:cNvSpPr txBox="1"/>
          <p:nvPr/>
        </p:nvSpPr>
        <p:spPr>
          <a:xfrm>
            <a:off x="8458200" y="2387600"/>
            <a:ext cx="2286000" cy="1397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t"/>
          <a:lstStyle/>
          <a:p>
            <a:pPr algn="ctr">
              <a:lnSpc>
                <a:spcPct val="145000"/>
              </a:lnSpc>
            </a:pPr>
            <a:r>
              <a:rPr lang="en-US" sz="1700" b="1">
                <a:solidFill>
                  <a:srgbClr val="000000"/>
                </a:solidFill>
                <a:latin typeface="MiSans"/>
                <a:ea typeface="MiSans"/>
              </a:rPr>
              <a:t>跑</a:t>
            </a:r>
            <a:endParaRPr lang="en-US" sz="1700"/>
          </a:p>
          <a:p>
            <a:pPr algn="ctr">
              <a:lnSpc>
                <a:spcPct val="145000"/>
              </a:lnSpc>
              <a:spcBef>
                <a:spcPts val="600"/>
              </a:spcBef>
            </a:pPr>
            <a:r>
              <a:rPr lang="en-US" sz="1700">
                <a:solidFill>
                  <a:srgbClr val="000000"/>
                </a:solidFill>
                <a:latin typeface="MiSans"/>
                <a:ea typeface="MiSans"/>
              </a:rPr>
              <a:t>跑它自带的示例</a:t>
            </a:r>
            <a:endParaRPr lang="en-US" sz="1700"/>
          </a:p>
        </p:txBody>
      </p:sp>
      <p:sp>
        <p:nvSpPr>
          <p:cNvPr id="20" name="flashbg"/>
          <p:cNvSpPr/>
          <p:nvPr/>
        </p:nvSpPr>
        <p:spPr>
          <a:xfrm>
            <a:off x="762000" y="4191000"/>
            <a:ext cx="10668000" cy="1397000"/>
          </a:xfrm>
          <a:prstGeom prst="rect">
            <a:avLst/>
          </a:prstGeom>
          <a:solidFill>
            <a:srgbClr val="F3D230">
              <a:alpha val="14902"/>
            </a:srgbClr>
          </a:solidFill>
          <a:ln>
            <a:noFill/>
          </a:ln>
        </p:spPr>
      </p:sp>
      <p:sp>
        <p:nvSpPr>
          <p:cNvPr id="21" name="flasht"/>
          <p:cNvSpPr txBox="1"/>
          <p:nvPr/>
        </p:nvSpPr>
        <p:spPr>
          <a:xfrm>
            <a:off x="1066800" y="4368800"/>
            <a:ext cx="10058400" cy="1041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ctr">
              <a:lnSpc>
                <a:spcPct val="155000"/>
              </a:lnSpc>
            </a:pPr>
            <a:r>
              <a:rPr lang="en-US" sz="1800">
                <a:solidFill>
                  <a:srgbClr val="000000"/>
                </a:solidFill>
                <a:latin typeface="MiSans"/>
                <a:ea typeface="MiSans"/>
              </a:rPr>
              <a:t>示例跑通那一刻，停一秒——刚才编译用了几秒？</a:t>
            </a:r>
            <a:endParaRPr lang="en-US" sz="1800"/>
          </a:p>
          <a:p>
            <a:pPr algn="ctr">
              <a:lnSpc>
                <a:spcPct val="155000"/>
              </a:lnSpc>
            </a:pPr>
            <a:r>
              <a:rPr lang="en-US" sz="1800">
                <a:solidFill>
                  <a:srgbClr val="000000"/>
                </a:solidFill>
                <a:latin typeface="MiSans"/>
                <a:ea typeface="MiSans"/>
              </a:rPr>
              <a:t>请来的外援是</a:t>
            </a:r>
            <a:r>
              <a:rPr lang="en-US" sz="1800" b="1">
                <a:solidFill>
                  <a:srgbClr val="000000"/>
                </a:solidFill>
                <a:latin typeface="MiSans"/>
                <a:ea typeface="MiSans"/>
              </a:rPr>
              <a:t>编译好的成品</a:t>
            </a:r>
            <a:r>
              <a:rPr lang="en-US" sz="1800">
                <a:solidFill>
                  <a:srgbClr val="000000"/>
                </a:solidFill>
                <a:latin typeface="MiSans"/>
                <a:ea typeface="MiSans"/>
              </a:rPr>
              <a:t>，这就是请外援的第二个好处。</a:t>
            </a:r>
            <a:endParaRPr lang="en-US" sz="1800"/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a14="http://schemas.microsoft.com/office/drawing/2010/main" xmlns:c="http://schemas.openxmlformats.org/drawingml/2006/chart" xmlns:m="http://schemas.openxmlformats.org/officeDocument/2006/math" xmlns:pptd="https://kimi.design/pptd/202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508000" y="558800"/>
            <a:ext cx="76200" cy="5588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3" name="seclabel"/>
          <p:cNvSpPr txBox="1"/>
          <p:nvPr/>
        </p:nvSpPr>
        <p:spPr>
          <a:xfrm>
            <a:off x="736600" y="558800"/>
            <a:ext cx="71120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400">
                <a:solidFill>
                  <a:srgbClr val="000000"/>
                </a:solidFill>
                <a:latin typeface="MiSans"/>
                <a:ea typeface="MiSans"/>
              </a:rPr>
              <a:t>■ 第一幕 · 建材市场 ｜ 工具间</a:t>
            </a:r>
            <a:endParaRPr lang="en-US" sz="1400"/>
          </a:p>
        </p:txBody>
      </p:sp>
      <p:sp>
        <p:nvSpPr>
          <p:cNvPr id="4" name="title"/>
          <p:cNvSpPr txBox="1"/>
          <p:nvPr/>
        </p:nvSpPr>
        <p:spPr>
          <a:xfrm>
            <a:off x="736600" y="787400"/>
            <a:ext cx="10668000" cy="508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3400" b="1">
                <a:solidFill>
                  <a:srgbClr val="000000"/>
                </a:solidFill>
                <a:latin typeface="MiSans"/>
                <a:ea typeface="MiSans"/>
              </a:rPr>
              <a:t>每个项目有自己的工具间</a:t>
            </a:r>
            <a:endParaRPr lang="en-US" sz="3400"/>
          </a:p>
        </p:txBody>
      </p:sp>
      <p:sp>
        <p:nvSpPr>
          <p:cNvPr id="5" name="room1"/>
          <p:cNvSpPr/>
          <p:nvPr/>
        </p:nvSpPr>
        <p:spPr>
          <a:xfrm>
            <a:off x="1016000" y="1778000"/>
            <a:ext cx="4064000" cy="279400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</p:spPr>
      </p:sp>
      <p:sp>
        <p:nvSpPr>
          <p:cNvPr id="6" name="room1t"/>
          <p:cNvSpPr txBox="1"/>
          <p:nvPr/>
        </p:nvSpPr>
        <p:spPr>
          <a:xfrm>
            <a:off x="1320800" y="2006600"/>
            <a:ext cx="3454400" cy="2336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ctr">
              <a:lnSpc>
                <a:spcPct val="160000"/>
              </a:lnSpc>
            </a:pPr>
            <a:r>
              <a:rPr lang="en-US" sz="2000" b="1">
                <a:solidFill>
                  <a:srgbClr val="000000"/>
                </a:solidFill>
                <a:latin typeface="MiSans"/>
                <a:ea typeface="MiSans"/>
              </a:rPr>
              <a:t>番茄钟项目</a:t>
            </a:r>
            <a:endParaRPr lang="en-US" sz="1700"/>
          </a:p>
          <a:p>
            <a:pPr algn="ctr">
              <a:lnSpc>
                <a:spcPct val="160000"/>
              </a:lnSpc>
              <a:spcBef>
                <a:spcPts val="1000"/>
              </a:spcBef>
            </a:pPr>
            <a:r>
              <a:rPr lang="en-US" sz="1700">
                <a:solidFill>
                  <a:srgbClr val="000000"/>
                </a:solidFill>
                <a:latin typeface="MiSans"/>
                <a:ea typeface="MiSans"/>
              </a:rPr>
              <a:t>它请的外援</a:t>
            </a:r>
            <a:endParaRPr lang="en-US" sz="1700"/>
          </a:p>
          <a:p>
            <a:pPr algn="ctr">
              <a:lnSpc>
                <a:spcPct val="160000"/>
              </a:lnSpc>
            </a:pPr>
            <a:r>
              <a:rPr lang="en-US" sz="1700">
                <a:solidFill>
                  <a:srgbClr val="000000"/>
                </a:solidFill>
                <a:latin typeface="MiSans"/>
                <a:ea typeface="MiSans"/>
              </a:rPr>
              <a:t>住在这儿</a:t>
            </a:r>
            <a:endParaRPr lang="en-US" sz="1700"/>
          </a:p>
        </p:txBody>
      </p:sp>
      <p:sp>
        <p:nvSpPr>
          <p:cNvPr id="7" name="wall"/>
          <p:cNvSpPr/>
          <p:nvPr/>
        </p:nvSpPr>
        <p:spPr>
          <a:xfrm>
            <a:off x="5892800" y="1651000"/>
            <a:ext cx="406400" cy="304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</p:sp>
      <p:sp>
        <p:nvSpPr>
          <p:cNvPr id="8" name="room2"/>
          <p:cNvSpPr/>
          <p:nvPr/>
        </p:nvSpPr>
        <p:spPr>
          <a:xfrm>
            <a:off x="7112000" y="1778000"/>
            <a:ext cx="4064000" cy="279400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</p:spPr>
      </p:sp>
      <p:sp>
        <p:nvSpPr>
          <p:cNvPr id="9" name="room2t"/>
          <p:cNvSpPr txBox="1"/>
          <p:nvPr/>
        </p:nvSpPr>
        <p:spPr>
          <a:xfrm>
            <a:off x="7416800" y="2006600"/>
            <a:ext cx="3454400" cy="2336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ctr">
              <a:lnSpc>
                <a:spcPct val="160000"/>
              </a:lnSpc>
            </a:pPr>
            <a:r>
              <a:rPr lang="en-US" sz="2000" b="1">
                <a:solidFill>
                  <a:srgbClr val="000000"/>
                </a:solidFill>
                <a:latin typeface="MiSans"/>
                <a:ea typeface="MiSans"/>
              </a:rPr>
              <a:t>我的作品</a:t>
            </a:r>
            <a:endParaRPr lang="en-US" sz="1700"/>
          </a:p>
          <a:p>
            <a:pPr algn="ctr">
              <a:lnSpc>
                <a:spcPct val="160000"/>
              </a:lnSpc>
              <a:spcBef>
                <a:spcPts val="1000"/>
              </a:spcBef>
            </a:pPr>
            <a:r>
              <a:rPr lang="en-US" sz="1700">
                <a:solidFill>
                  <a:srgbClr val="000000"/>
                </a:solidFill>
                <a:latin typeface="MiSans"/>
                <a:ea typeface="MiSans"/>
              </a:rPr>
              <a:t>它请的外援</a:t>
            </a:r>
            <a:endParaRPr lang="en-US" sz="1700"/>
          </a:p>
          <a:p>
            <a:pPr algn="ctr">
              <a:lnSpc>
                <a:spcPct val="160000"/>
              </a:lnSpc>
            </a:pPr>
            <a:r>
              <a:rPr lang="en-US" sz="1700">
                <a:solidFill>
                  <a:srgbClr val="000000"/>
                </a:solidFill>
                <a:latin typeface="MiSans"/>
                <a:ea typeface="MiSans"/>
              </a:rPr>
              <a:t>住在这儿</a:t>
            </a:r>
            <a:endParaRPr lang="en-US" sz="1700"/>
          </a:p>
        </p:txBody>
      </p:sp>
      <p:sp>
        <p:nvSpPr>
          <p:cNvPr id="10" name="bottom"/>
          <p:cNvSpPr txBox="1"/>
          <p:nvPr/>
        </p:nvSpPr>
        <p:spPr>
          <a:xfrm>
            <a:off x="762000" y="5156200"/>
            <a:ext cx="10668000" cy="635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ctr">
              <a:lnSpc>
                <a:spcPct val="120000"/>
              </a:lnSpc>
            </a:pPr>
            <a:r>
              <a:rPr lang="en-US" sz="2000" b="1">
                <a:solidFill>
                  <a:srgbClr val="000000"/>
                </a:solidFill>
                <a:latin typeface="MiSans"/>
                <a:ea typeface="MiSans"/>
              </a:rPr>
              <a:t>一个房间着火了，不烧隔壁——各住各的，互不打架</a:t>
            </a:r>
            <a:endParaRPr lang="en-US" sz="2000"/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a14="http://schemas.microsoft.com/office/drawing/2010/main" xmlns:c="http://schemas.openxmlformats.org/drawingml/2006/chart" xmlns:m="http://schemas.openxmlformats.org/officeDocument/2006/math" xmlns:pptd="https://kimi.design/pptd/202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508000" y="558800"/>
            <a:ext cx="76200" cy="5588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3" name="seclabel"/>
          <p:cNvSpPr txBox="1"/>
          <p:nvPr/>
        </p:nvSpPr>
        <p:spPr>
          <a:xfrm>
            <a:off x="736600" y="558800"/>
            <a:ext cx="71120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400">
                <a:solidFill>
                  <a:srgbClr val="000000"/>
                </a:solidFill>
                <a:latin typeface="MiSans"/>
                <a:ea typeface="MiSans"/>
              </a:rPr>
              <a:t>■ 第一幕 · 建材市场 ｜ 取舍</a:t>
            </a:r>
            <a:endParaRPr lang="en-US" sz="1400"/>
          </a:p>
        </p:txBody>
      </p:sp>
      <p:sp>
        <p:nvSpPr>
          <p:cNvPr id="4" name="title"/>
          <p:cNvSpPr txBox="1"/>
          <p:nvPr/>
        </p:nvSpPr>
        <p:spPr>
          <a:xfrm>
            <a:off x="736600" y="787400"/>
            <a:ext cx="10668000" cy="508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3000" b="1">
                <a:solidFill>
                  <a:srgbClr val="000000"/>
                </a:solidFill>
                <a:latin typeface="MiSans"/>
                <a:ea typeface="MiSans"/>
              </a:rPr>
              <a:t>引不引库，是一个取舍决定——不是默认动作</a:t>
            </a:r>
            <a:endParaRPr lang="en-US" sz="3000"/>
          </a:p>
        </p:txBody>
      </p:sp>
      <p:sp>
        <p:nvSpPr>
          <p:cNvPr id="5" name="ex1"/>
          <p:cNvSpPr/>
          <p:nvPr/>
        </p:nvSpPr>
        <p:spPr>
          <a:xfrm>
            <a:off x="762000" y="1498600"/>
            <a:ext cx="5080000" cy="1524000"/>
          </a:xfrm>
          <a:prstGeom prst="rect">
            <a:avLst/>
          </a:prstGeom>
          <a:solidFill>
            <a:srgbClr val="F3D230">
              <a:alpha val="14902"/>
            </a:srgbClr>
          </a:solidFill>
          <a:ln>
            <a:noFill/>
          </a:ln>
        </p:spPr>
      </p:sp>
      <p:sp>
        <p:nvSpPr>
          <p:cNvPr id="6" name="ex1t"/>
          <p:cNvSpPr txBox="1"/>
          <p:nvPr/>
        </p:nvSpPr>
        <p:spPr>
          <a:xfrm>
            <a:off x="1066800" y="1651000"/>
            <a:ext cx="4470400" cy="1219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50000"/>
              </a:lnSpc>
            </a:pPr>
            <a:r>
              <a:rPr lang="en-US" sz="1700" b="1">
                <a:solidFill>
                  <a:srgbClr val="000000"/>
                </a:solidFill>
                <a:latin typeface="MiSans"/>
                <a:ea typeface="MiSans"/>
              </a:rPr>
              <a:t>例一：该引 ✅</a:t>
            </a:r>
            <a:endParaRPr lang="en-US" sz="1700"/>
          </a:p>
          <a:p>
            <a:pPr algn="l">
              <a:lnSpc>
                <a:spcPct val="150000"/>
              </a:lnSpc>
            </a:pPr>
            <a:r>
              <a:rPr lang="en-US" sz="1700">
                <a:solidFill>
                  <a:srgbClr val="000000"/>
                </a:solidFill>
                <a:latin typeface="MiSans"/>
                <a:ea typeface="MiSans"/>
              </a:rPr>
              <a:t>复杂传感器，自己写上百行——</a:t>
            </a:r>
            <a:endParaRPr lang="en-US" sz="1700"/>
          </a:p>
          <a:p>
            <a:pPr algn="l">
              <a:lnSpc>
                <a:spcPct val="150000"/>
              </a:lnSpc>
            </a:pPr>
            <a:r>
              <a:rPr lang="en-US" sz="1700">
                <a:solidFill>
                  <a:srgbClr val="000000"/>
                </a:solidFill>
                <a:latin typeface="MiSans"/>
                <a:ea typeface="MiSans"/>
              </a:rPr>
              <a:t>早有人造好了轮子</a:t>
            </a:r>
            <a:endParaRPr lang="en-US" sz="1700"/>
          </a:p>
        </p:txBody>
      </p:sp>
      <p:sp>
        <p:nvSpPr>
          <p:cNvPr id="7" name="ex2"/>
          <p:cNvSpPr/>
          <p:nvPr/>
        </p:nvSpPr>
        <p:spPr>
          <a:xfrm>
            <a:off x="6350000" y="1498600"/>
            <a:ext cx="5080000" cy="152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</p:sp>
      <p:sp>
        <p:nvSpPr>
          <p:cNvPr id="8" name="ex2t"/>
          <p:cNvSpPr txBox="1"/>
          <p:nvPr/>
        </p:nvSpPr>
        <p:spPr>
          <a:xfrm>
            <a:off x="6654800" y="1651000"/>
            <a:ext cx="4470400" cy="1219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50000"/>
              </a:lnSpc>
            </a:pPr>
            <a:r>
              <a:rPr lang="en-US" sz="1700" b="1">
                <a:solidFill>
                  <a:srgbClr val="000000"/>
                </a:solidFill>
                <a:latin typeface="MiSans"/>
                <a:ea typeface="MiSans"/>
              </a:rPr>
              <a:t>例二：不该引 ❌</a:t>
            </a:r>
            <a:endParaRPr lang="en-US" sz="1700"/>
          </a:p>
          <a:p>
            <a:pPr algn="l">
              <a:lnSpc>
                <a:spcPct val="150000"/>
              </a:lnSpc>
            </a:pPr>
            <a:r>
              <a:rPr lang="en-US" sz="1700">
                <a:solidFill>
                  <a:srgbClr val="000000"/>
                </a:solidFill>
                <a:latin typeface="MiSans"/>
                <a:ea typeface="MiSans"/>
              </a:rPr>
              <a:t>让灯闪三下，三行写完——</a:t>
            </a:r>
            <a:endParaRPr lang="en-US" sz="1700"/>
          </a:p>
          <a:p>
            <a:pPr algn="l">
              <a:lnSpc>
                <a:spcPct val="150000"/>
              </a:lnSpc>
            </a:pPr>
            <a:r>
              <a:rPr lang="en-US" sz="1700">
                <a:solidFill>
                  <a:srgbClr val="000000"/>
                </a:solidFill>
                <a:latin typeface="MiSans"/>
                <a:ea typeface="MiSans"/>
              </a:rPr>
              <a:t>何必再找个"闪灯库"</a:t>
            </a:r>
            <a:endParaRPr lang="en-US" sz="1700"/>
          </a:p>
        </p:txBody>
      </p:sp>
      <p:sp>
        <p:nvSpPr>
          <p:cNvPr id="9" name="q1dot"/>
          <p:cNvSpPr/>
          <p:nvPr/>
        </p:nvSpPr>
        <p:spPr>
          <a:xfrm>
            <a:off x="1092200" y="3403600"/>
            <a:ext cx="177800" cy="177800"/>
          </a:xfrm>
          <a:prstGeom prst="ellipse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10" name="q1t"/>
          <p:cNvSpPr txBox="1"/>
          <p:nvPr/>
        </p:nvSpPr>
        <p:spPr>
          <a:xfrm>
            <a:off x="1397000" y="3302000"/>
            <a:ext cx="2794000" cy="406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700" b="1">
                <a:solidFill>
                  <a:srgbClr val="000000"/>
                </a:solidFill>
                <a:latin typeface="MiSans"/>
                <a:ea typeface="MiSans"/>
              </a:rPr>
              <a:t>对核心功能有帮助吗</a:t>
            </a:r>
            <a:endParaRPr lang="en-US" sz="1700"/>
          </a:p>
        </p:txBody>
      </p:sp>
      <p:sp>
        <p:nvSpPr>
          <p:cNvPr id="11" name="q2dot"/>
          <p:cNvSpPr/>
          <p:nvPr/>
        </p:nvSpPr>
        <p:spPr>
          <a:xfrm>
            <a:off x="4978400" y="3403600"/>
            <a:ext cx="177800" cy="177800"/>
          </a:xfrm>
          <a:prstGeom prst="ellipse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12" name="q2t"/>
          <p:cNvSpPr txBox="1"/>
          <p:nvPr/>
        </p:nvSpPr>
        <p:spPr>
          <a:xfrm>
            <a:off x="5283200" y="3302000"/>
            <a:ext cx="2286000" cy="406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700" b="1">
                <a:solidFill>
                  <a:srgbClr val="000000"/>
                </a:solidFill>
                <a:latin typeface="MiSans"/>
                <a:ea typeface="MiSans"/>
              </a:rPr>
              <a:t>今天搞得定吗</a:t>
            </a:r>
            <a:endParaRPr lang="en-US" sz="1700"/>
          </a:p>
        </p:txBody>
      </p:sp>
      <p:sp>
        <p:nvSpPr>
          <p:cNvPr id="13" name="q3dot"/>
          <p:cNvSpPr/>
          <p:nvPr/>
        </p:nvSpPr>
        <p:spPr>
          <a:xfrm>
            <a:off x="8407400" y="3403600"/>
            <a:ext cx="177800" cy="177800"/>
          </a:xfrm>
          <a:prstGeom prst="ellipse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14" name="q3t"/>
          <p:cNvSpPr txBox="1"/>
          <p:nvPr/>
        </p:nvSpPr>
        <p:spPr>
          <a:xfrm>
            <a:off x="8712200" y="3302000"/>
            <a:ext cx="2286000" cy="406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700" b="1">
                <a:solidFill>
                  <a:srgbClr val="000000"/>
                </a:solidFill>
                <a:latin typeface="MiSans"/>
                <a:ea typeface="MiSans"/>
              </a:rPr>
              <a:t>不引会怎样</a:t>
            </a:r>
            <a:endParaRPr lang="en-US" sz="1700"/>
          </a:p>
        </p:txBody>
      </p:sp>
      <p:sp>
        <p:nvSpPr>
          <p:cNvPr id="15" name="redline"/>
          <p:cNvSpPr txBox="1"/>
          <p:nvPr/>
        </p:nvSpPr>
        <p:spPr>
          <a:xfrm>
            <a:off x="762000" y="4089400"/>
            <a:ext cx="10668000" cy="914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ctr">
              <a:lnSpc>
                <a:spcPct val="150000"/>
              </a:lnSpc>
            </a:pPr>
            <a:r>
              <a:rPr lang="en-US" sz="1900" b="1">
                <a:solidFill>
                  <a:srgbClr val="D84144"/>
                </a:solidFill>
                <a:latin typeface="MiSans"/>
                <a:ea typeface="MiSans"/>
              </a:rPr>
              <a:t>圈定只许 1 个——贪多是本课高发病，圈 3 个的退回重圈</a:t>
            </a:r>
            <a:endParaRPr lang="en-US" sz="1900"/>
          </a:p>
          <a:p>
            <a:pPr algn="ctr">
              <a:lnSpc>
                <a:spcPct val="150000"/>
              </a:lnSpc>
            </a:pPr>
            <a:r>
              <a:rPr lang="en-US" sz="1900" b="1">
                <a:solidFill>
                  <a:srgbClr val="D84144"/>
                </a:solidFill>
                <a:latin typeface="MiSans"/>
                <a:ea typeface="MiSans"/>
              </a:rPr>
              <a:t>不引库和引库同等正确——验收看理由</a:t>
            </a:r>
            <a:endParaRPr lang="en-US" sz="1900"/>
          </a:p>
        </p:txBody>
      </p:sp>
      <p:sp>
        <p:nvSpPr>
          <p:cNvPr id="16" name="bottom"/>
          <p:cNvSpPr txBox="1"/>
          <p:nvPr/>
        </p:nvSpPr>
        <p:spPr>
          <a:xfrm>
            <a:off x="762000" y="5257800"/>
            <a:ext cx="10668000" cy="457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ctr">
              <a:lnSpc>
                <a:spcPct val="140000"/>
              </a:lnSpc>
            </a:pPr>
            <a:r>
              <a:rPr lang="en-US" sz="1500">
                <a:solidFill>
                  <a:srgbClr val="000000"/>
                </a:solidFill>
                <a:latin typeface="MiSans"/>
                <a:ea typeface="MiSans"/>
              </a:rPr>
              <a:t>找不到合适库的，写清"为什么不引"——照常验收</a:t>
            </a:r>
            <a:endParaRPr lang="en-US" sz="1500"/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a14="http://schemas.microsoft.com/office/drawing/2010/main" xmlns:c="http://schemas.openxmlformats.org/drawingml/2006/chart" xmlns:m="http://schemas.openxmlformats.org/officeDocument/2006/math" xmlns:pptd="https://kimi.design/pptd/202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508000" y="558800"/>
            <a:ext cx="76200" cy="5588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3" name="seclabel"/>
          <p:cNvSpPr txBox="1"/>
          <p:nvPr/>
        </p:nvSpPr>
        <p:spPr>
          <a:xfrm>
            <a:off x="736600" y="558800"/>
            <a:ext cx="71120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400">
                <a:solidFill>
                  <a:srgbClr val="000000"/>
                </a:solidFill>
                <a:latin typeface="MiSans"/>
                <a:ea typeface="MiSans"/>
              </a:rPr>
              <a:t>■ 第一幕 · 建材市场 ｜ 选型</a:t>
            </a:r>
            <a:endParaRPr lang="en-US" sz="1400"/>
          </a:p>
        </p:txBody>
      </p:sp>
      <p:sp>
        <p:nvSpPr>
          <p:cNvPr id="4" name="title"/>
          <p:cNvSpPr txBox="1"/>
          <p:nvPr/>
        </p:nvSpPr>
        <p:spPr>
          <a:xfrm>
            <a:off x="736600" y="787400"/>
            <a:ext cx="10668000" cy="508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3400" b="1">
                <a:solidFill>
                  <a:srgbClr val="000000"/>
                </a:solidFill>
                <a:latin typeface="MiSans"/>
                <a:ea typeface="MiSans"/>
              </a:rPr>
              <a:t>让 AI 当你的选型顾问（原对话窗，别新开）</a:t>
            </a:r>
            <a:endParaRPr lang="en-US" sz="3400"/>
          </a:p>
        </p:txBody>
      </p:sp>
      <p:sp>
        <p:nvSpPr>
          <p:cNvPr id="5" name="codebox"/>
          <p:cNvSpPr/>
          <p:nvPr/>
        </p:nvSpPr>
        <p:spPr>
          <a:xfrm>
            <a:off x="762000" y="1574800"/>
            <a:ext cx="10668000" cy="3048000"/>
          </a:xfrm>
          <a:prstGeom prst="rect">
            <a:avLst/>
          </a:prstGeom>
          <a:solidFill>
            <a:srgbClr val="F5F5F5"/>
          </a:solidFill>
          <a:ln w="12700">
            <a:solidFill>
              <a:srgbClr val="000000"/>
            </a:solidFill>
          </a:ln>
        </p:spPr>
      </p:sp>
      <p:sp>
        <p:nvSpPr>
          <p:cNvPr id="6" name="codetext"/>
          <p:cNvSpPr txBox="1"/>
          <p:nvPr/>
        </p:nvSpPr>
        <p:spPr>
          <a:xfrm>
            <a:off x="1066800" y="1778000"/>
            <a:ext cx="10058400" cy="2641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45000"/>
              </a:lnSpc>
            </a:pPr>
            <a:r>
              <a:rPr lang="en-US" sz="1600">
                <a:solidFill>
                  <a:srgbClr val="000000"/>
                </a:solidFill>
                <a:latin typeface="Source Code Pro"/>
                <a:ea typeface="Source Code Pro"/>
              </a:rPr>
              <a:t>这是我的需求单核心功能：</a:t>
            </a:r>
            <a:r>
              <a:rPr lang="en-US" sz="1600">
                <a:solidFill>
                  <a:srgbClr val="000000"/>
                </a:solidFill>
                <a:highlight>
                  <a:srgbClr val="F3D230"/>
                </a:highlight>
                <a:latin typeface="Source Code Pro"/>
                <a:ea typeface="Source Code Pro"/>
              </a:rPr>
              <a:t>＿＿＿</a:t>
            </a:r>
            <a:r>
              <a:rPr lang="en-US" sz="1600">
                <a:solidFill>
                  <a:srgbClr val="000000"/>
                </a:solidFill>
                <a:latin typeface="Source Code Pro"/>
                <a:ea typeface="Source Code Pro"/>
              </a:rPr>
              <a:t>。</a:t>
            </a:r>
            <a:endParaRPr lang="en-US" sz="1600"/>
          </a:p>
          <a:p>
            <a:pPr algn="l">
              <a:lnSpc>
                <a:spcPct val="145000"/>
              </a:lnSpc>
            </a:pPr>
            <a:r>
              <a:rPr lang="en-US" sz="1600">
                <a:solidFill>
                  <a:srgbClr val="000000"/>
                </a:solidFill>
                <a:latin typeface="Source Code Pro"/>
                <a:ea typeface="Source Code Pro"/>
              </a:rPr>
              <a:t>我要用的板子是：</a:t>
            </a:r>
            <a:r>
              <a:rPr lang="en-US" sz="1600">
                <a:solidFill>
                  <a:srgbClr val="000000"/>
                </a:solidFill>
                <a:highlight>
                  <a:srgbClr val="F3D230"/>
                </a:highlight>
                <a:latin typeface="Source Code Pro"/>
                <a:ea typeface="Source Code Pro"/>
              </a:rPr>
              <a:t>＿＿＿</a:t>
            </a:r>
            <a:r>
              <a:rPr lang="en-US" sz="1600">
                <a:solidFill>
                  <a:srgbClr val="000000"/>
                </a:solidFill>
                <a:latin typeface="Source Code Pro"/>
                <a:ea typeface="Source Code Pro"/>
              </a:rPr>
              <a:t>。</a:t>
            </a:r>
            <a:endParaRPr lang="en-US" sz="1600"/>
          </a:p>
          <a:p>
            <a:pPr algn="l">
              <a:lnSpc>
                <a:spcPct val="145000"/>
              </a:lnSpc>
            </a:pPr>
            <a:r>
              <a:rPr lang="en-US" sz="1600">
                <a:solidFill>
                  <a:srgbClr val="000000"/>
                </a:solidFill>
                <a:latin typeface="Source Code Pro"/>
                <a:ea typeface="Source Code Pro"/>
              </a:rPr>
              <a:t>请当我的选型顾问：推荐 3 个可能有帮助的外部库，</a:t>
            </a:r>
            <a:endParaRPr lang="en-US" sz="1600"/>
          </a:p>
          <a:p>
            <a:pPr algn="l">
              <a:lnSpc>
                <a:spcPct val="145000"/>
              </a:lnSpc>
            </a:pPr>
            <a:r>
              <a:rPr lang="en-US" sz="1600">
                <a:solidFill>
                  <a:srgbClr val="000000"/>
                </a:solidFill>
                <a:latin typeface="Source Code Pro"/>
                <a:ea typeface="Source Code Pro"/>
              </a:rPr>
              <a:t>每个说一句它干嘛、为什么适合我，按合适程度排序。</a:t>
            </a:r>
            <a:endParaRPr lang="en-US" sz="1600"/>
          </a:p>
          <a:p>
            <a:pPr algn="l">
              <a:lnSpc>
                <a:spcPct val="145000"/>
              </a:lnSpc>
            </a:pPr>
            <a:r>
              <a:rPr lang="en-US" sz="1600">
                <a:solidFill>
                  <a:srgbClr val="000000"/>
                </a:solidFill>
                <a:latin typeface="Source Code Pro"/>
                <a:ea typeface="Source Code Pro"/>
              </a:rPr>
              <a:t>提醒：只推荐真实存在、支持我板子的库。</a:t>
            </a:r>
            <a:endParaRPr lang="en-US" sz="1600"/>
          </a:p>
        </p:txBody>
      </p:sp>
      <p:sp>
        <p:nvSpPr>
          <p:cNvPr id="7" name="bottom"/>
          <p:cNvSpPr txBox="1"/>
          <p:nvPr/>
        </p:nvSpPr>
        <p:spPr>
          <a:xfrm>
            <a:off x="762000" y="4953000"/>
            <a:ext cx="10668000" cy="762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ctr">
              <a:lnSpc>
                <a:spcPct val="150000"/>
              </a:lnSpc>
            </a:pPr>
            <a:r>
              <a:rPr lang="en-US" sz="1800">
                <a:solidFill>
                  <a:srgbClr val="000000"/>
                </a:solidFill>
                <a:latin typeface="MiSans"/>
                <a:ea typeface="MiSans"/>
              </a:rPr>
              <a:t>它列候选，</a:t>
            </a:r>
            <a:r>
              <a:rPr lang="en-US" sz="1800" b="1">
                <a:solidFill>
                  <a:srgbClr val="000000"/>
                </a:solidFill>
                <a:latin typeface="MiSans"/>
                <a:ea typeface="MiSans"/>
              </a:rPr>
              <a:t>你圈 1 个</a:t>
            </a:r>
            <a:r>
              <a:rPr lang="en-US" sz="1800">
                <a:solidFill>
                  <a:srgbClr val="000000"/>
                </a:solidFill>
                <a:latin typeface="MiSans"/>
                <a:ea typeface="MiSans"/>
              </a:rPr>
              <a:t>；</a:t>
            </a:r>
            <a:endParaRPr lang="en-US" sz="1800"/>
          </a:p>
          <a:p>
            <a:pPr algn="ctr">
              <a:lnSpc>
                <a:spcPct val="150000"/>
              </a:lnSpc>
            </a:pPr>
            <a:r>
              <a:rPr lang="en-US" sz="1800">
                <a:solidFill>
                  <a:srgbClr val="000000"/>
                </a:solidFill>
                <a:latin typeface="MiSans"/>
                <a:ea typeface="MiSans"/>
              </a:rPr>
              <a:t>AI 会一本正经地编——建材市场里搜得到的才算数</a:t>
            </a:r>
            <a:endParaRPr lang="en-US" sz="1800"/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a14="http://schemas.microsoft.com/office/drawing/2010/main" xmlns:c="http://schemas.openxmlformats.org/drawingml/2006/chart" xmlns:m="http://schemas.openxmlformats.org/officeDocument/2006/math" xmlns:pptd="https://kimi.design/pptd/202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508000" y="558800"/>
            <a:ext cx="76200" cy="5588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3" name="seclabel"/>
          <p:cNvSpPr txBox="1"/>
          <p:nvPr/>
        </p:nvSpPr>
        <p:spPr>
          <a:xfrm>
            <a:off x="736600" y="558800"/>
            <a:ext cx="71120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400">
                <a:solidFill>
                  <a:srgbClr val="000000"/>
                </a:solidFill>
                <a:latin typeface="MiSans"/>
                <a:ea typeface="MiSans"/>
              </a:rPr>
              <a:t>■ 第一幕 · 建材市场 ｜ 接入</a:t>
            </a:r>
            <a:endParaRPr lang="en-US" sz="1400"/>
          </a:p>
        </p:txBody>
      </p:sp>
      <p:sp>
        <p:nvSpPr>
          <p:cNvPr id="4" name="title"/>
          <p:cNvSpPr txBox="1"/>
          <p:nvPr/>
        </p:nvSpPr>
        <p:spPr>
          <a:xfrm>
            <a:off x="736600" y="787400"/>
            <a:ext cx="10668000" cy="508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3400" b="1">
                <a:solidFill>
                  <a:srgbClr val="000000"/>
                </a:solidFill>
                <a:latin typeface="MiSans"/>
                <a:ea typeface="MiSans"/>
              </a:rPr>
              <a:t>示例代码，不是你的功能</a:t>
            </a:r>
            <a:endParaRPr lang="en-US" sz="3400"/>
          </a:p>
        </p:txBody>
      </p:sp>
      <p:sp>
        <p:nvSpPr>
          <p:cNvPr id="5" name="contrast"/>
          <p:cNvSpPr txBox="1"/>
          <p:nvPr/>
        </p:nvSpPr>
        <p:spPr>
          <a:xfrm>
            <a:off x="762000" y="1422400"/>
            <a:ext cx="10668000" cy="431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ctr">
              <a:lnSpc>
                <a:spcPct val="120000"/>
              </a:lnSpc>
            </a:pPr>
            <a:r>
              <a:rPr lang="en-US" sz="1800" b="1">
                <a:solidFill>
                  <a:srgbClr val="000000"/>
                </a:solidFill>
                <a:latin typeface="MiSans"/>
                <a:ea typeface="MiSans"/>
              </a:rPr>
              <a:t>示例＝"演示这个库能干嘛" ｜ 你要的＝"我的核心功能"</a:t>
            </a:r>
            <a:endParaRPr lang="en-US" sz="1800"/>
          </a:p>
        </p:txBody>
      </p:sp>
      <p:sp>
        <p:nvSpPr>
          <p:cNvPr id="6" name="step1dot"/>
          <p:cNvSpPr/>
          <p:nvPr/>
        </p:nvSpPr>
        <p:spPr>
          <a:xfrm>
            <a:off x="838200" y="2057400"/>
            <a:ext cx="330200" cy="330200"/>
          </a:xfrm>
          <a:prstGeom prst="ellipse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7" name="step1num"/>
          <p:cNvSpPr txBox="1"/>
          <p:nvPr/>
        </p:nvSpPr>
        <p:spPr>
          <a:xfrm>
            <a:off x="838200" y="2057400"/>
            <a:ext cx="330200" cy="330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ctr">
              <a:lnSpc>
                <a:spcPct val="120000"/>
              </a:lnSpc>
            </a:pPr>
            <a:r>
              <a:rPr lang="en-US" sz="1500" b="1">
                <a:solidFill>
                  <a:srgbClr val="000000"/>
                </a:solidFill>
                <a:latin typeface="MiSans"/>
                <a:ea typeface="MiSans"/>
              </a:rPr>
              <a:t>1</a:t>
            </a:r>
            <a:endParaRPr lang="en-US" sz="1500"/>
          </a:p>
        </p:txBody>
      </p:sp>
      <p:sp>
        <p:nvSpPr>
          <p:cNvPr id="8" name="step1t"/>
          <p:cNvSpPr txBox="1"/>
          <p:nvPr/>
        </p:nvSpPr>
        <p:spPr>
          <a:xfrm>
            <a:off x="1295400" y="1981200"/>
            <a:ext cx="10160000" cy="508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700">
                <a:solidFill>
                  <a:srgbClr val="000000"/>
                </a:solidFill>
                <a:latin typeface="MiSans"/>
                <a:ea typeface="MiSans"/>
              </a:rPr>
              <a:t>问 AI"这段代码在干嘛"——翻译官，专翻不是为你写的代码</a:t>
            </a:r>
            <a:endParaRPr lang="en-US" sz="1700"/>
          </a:p>
        </p:txBody>
      </p:sp>
      <p:sp>
        <p:nvSpPr>
          <p:cNvPr id="9" name="step2dot"/>
          <p:cNvSpPr/>
          <p:nvPr/>
        </p:nvSpPr>
        <p:spPr>
          <a:xfrm>
            <a:off x="838200" y="2616200"/>
            <a:ext cx="330200" cy="330200"/>
          </a:xfrm>
          <a:prstGeom prst="ellipse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10" name="step2num"/>
          <p:cNvSpPr txBox="1"/>
          <p:nvPr/>
        </p:nvSpPr>
        <p:spPr>
          <a:xfrm>
            <a:off x="838200" y="2616200"/>
            <a:ext cx="330200" cy="330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ctr">
              <a:lnSpc>
                <a:spcPct val="120000"/>
              </a:lnSpc>
            </a:pPr>
            <a:r>
              <a:rPr lang="en-US" sz="1500" b="1">
                <a:solidFill>
                  <a:srgbClr val="000000"/>
                </a:solidFill>
                <a:latin typeface="MiSans"/>
                <a:ea typeface="MiSans"/>
              </a:rPr>
              <a:t>2</a:t>
            </a:r>
            <a:endParaRPr lang="en-US" sz="1500"/>
          </a:p>
        </p:txBody>
      </p:sp>
      <p:sp>
        <p:nvSpPr>
          <p:cNvPr id="11" name="step2t"/>
          <p:cNvSpPr txBox="1"/>
          <p:nvPr/>
        </p:nvSpPr>
        <p:spPr>
          <a:xfrm>
            <a:off x="1295400" y="2540000"/>
            <a:ext cx="10160000" cy="508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700">
                <a:solidFill>
                  <a:srgbClr val="000000"/>
                </a:solidFill>
                <a:latin typeface="MiSans"/>
                <a:ea typeface="MiSans"/>
              </a:rPr>
              <a:t>让 AI 按你的需求改造——先只改最小的一处，跑通再要下一处</a:t>
            </a:r>
            <a:endParaRPr lang="en-US" sz="1700"/>
          </a:p>
        </p:txBody>
      </p:sp>
      <p:sp>
        <p:nvSpPr>
          <p:cNvPr id="12" name="codebox"/>
          <p:cNvSpPr/>
          <p:nvPr/>
        </p:nvSpPr>
        <p:spPr>
          <a:xfrm>
            <a:off x="762000" y="3251200"/>
            <a:ext cx="10668000" cy="2032000"/>
          </a:xfrm>
          <a:prstGeom prst="rect">
            <a:avLst/>
          </a:prstGeom>
          <a:solidFill>
            <a:srgbClr val="F5F5F5"/>
          </a:solidFill>
          <a:ln w="12700">
            <a:solidFill>
              <a:srgbClr val="000000"/>
            </a:solidFill>
          </a:ln>
        </p:spPr>
      </p:sp>
      <p:sp>
        <p:nvSpPr>
          <p:cNvPr id="13" name="codetext"/>
          <p:cNvSpPr txBox="1"/>
          <p:nvPr/>
        </p:nvSpPr>
        <p:spPr>
          <a:xfrm>
            <a:off x="1066800" y="3403600"/>
            <a:ext cx="10058400" cy="1727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45000"/>
              </a:lnSpc>
            </a:pPr>
            <a:r>
              <a:rPr lang="en-US" sz="1500">
                <a:solidFill>
                  <a:srgbClr val="000000"/>
                </a:solidFill>
                <a:latin typeface="Source Code Pro"/>
                <a:ea typeface="Source Code Pro"/>
              </a:rPr>
              <a:t>基于上一轮的结论：我装了库</a:t>
            </a:r>
            <a:r>
              <a:rPr lang="en-US" sz="1500">
                <a:solidFill>
                  <a:srgbClr val="000000"/>
                </a:solidFill>
                <a:highlight>
                  <a:srgbClr val="F3D230"/>
                </a:highlight>
                <a:latin typeface="Source Code Pro"/>
                <a:ea typeface="Source Code Pro"/>
              </a:rPr>
              <a:t>＿＿＿</a:t>
            </a:r>
            <a:r>
              <a:rPr lang="en-US" sz="1500">
                <a:solidFill>
                  <a:srgbClr val="000000"/>
                </a:solidFill>
                <a:latin typeface="Source Code Pro"/>
                <a:ea typeface="Source Code Pro"/>
              </a:rPr>
              <a:t>，它的示例能</a:t>
            </a:r>
            <a:r>
              <a:rPr lang="en-US" sz="1500">
                <a:solidFill>
                  <a:srgbClr val="000000"/>
                </a:solidFill>
                <a:highlight>
                  <a:srgbClr val="F3D230"/>
                </a:highlight>
                <a:latin typeface="Source Code Pro"/>
                <a:ea typeface="Source Code Pro"/>
              </a:rPr>
              <a:t>＿＿＿</a:t>
            </a:r>
            <a:r>
              <a:rPr lang="en-US" sz="1500">
                <a:solidFill>
                  <a:srgbClr val="000000"/>
                </a:solidFill>
                <a:latin typeface="Source Code Pro"/>
                <a:ea typeface="Source Code Pro"/>
              </a:rPr>
              <a:t>（一句话）。</a:t>
            </a:r>
            <a:endParaRPr lang="en-US" sz="1500"/>
          </a:p>
          <a:p>
            <a:pPr algn="l">
              <a:lnSpc>
                <a:spcPct val="145000"/>
              </a:lnSpc>
            </a:pPr>
            <a:r>
              <a:rPr lang="en-US" sz="1500">
                <a:solidFill>
                  <a:srgbClr val="000000"/>
                </a:solidFill>
                <a:latin typeface="Source Code Pro"/>
                <a:ea typeface="Source Code Pro"/>
              </a:rPr>
              <a:t>我的核心功能是：</a:t>
            </a:r>
            <a:r>
              <a:rPr lang="en-US" sz="1500">
                <a:solidFill>
                  <a:srgbClr val="000000"/>
                </a:solidFill>
                <a:highlight>
                  <a:srgbClr val="F3D230"/>
                </a:highlight>
                <a:latin typeface="Source Code Pro"/>
                <a:ea typeface="Source Code Pro"/>
              </a:rPr>
              <a:t>＿＿＿</a:t>
            </a:r>
            <a:r>
              <a:rPr lang="en-US" sz="1500">
                <a:solidFill>
                  <a:srgbClr val="000000"/>
                </a:solidFill>
                <a:latin typeface="Source Code Pro"/>
                <a:ea typeface="Source Code Pro"/>
              </a:rPr>
              <a:t>。</a:t>
            </a:r>
            <a:endParaRPr lang="en-US" sz="1500"/>
          </a:p>
          <a:p>
            <a:pPr algn="l">
              <a:lnSpc>
                <a:spcPct val="145000"/>
              </a:lnSpc>
            </a:pPr>
            <a:r>
              <a:rPr lang="en-US" sz="1500">
                <a:solidFill>
                  <a:srgbClr val="000000"/>
                </a:solidFill>
                <a:latin typeface="Source Code Pro"/>
                <a:ea typeface="Source Code Pro"/>
              </a:rPr>
              <a:t>请把示例改造成我的功能：先只改最小的一处，跑通我再要下一处。</a:t>
            </a:r>
            <a:endParaRPr lang="en-US" sz="1500"/>
          </a:p>
        </p:txBody>
      </p:sp>
      <p:sp>
        <p:nvSpPr>
          <p:cNvPr id="14" name="okbg"/>
          <p:cNvSpPr/>
          <p:nvPr/>
        </p:nvSpPr>
        <p:spPr>
          <a:xfrm>
            <a:off x="762000" y="5537200"/>
            <a:ext cx="10668000" cy="711200"/>
          </a:xfrm>
          <a:prstGeom prst="rect">
            <a:avLst/>
          </a:prstGeom>
          <a:solidFill>
            <a:srgbClr val="F3D230">
              <a:alpha val="14902"/>
            </a:srgbClr>
          </a:solidFill>
          <a:ln>
            <a:noFill/>
          </a:ln>
        </p:spPr>
      </p:sp>
      <p:sp>
        <p:nvSpPr>
          <p:cNvPr id="15" name="okt"/>
          <p:cNvSpPr txBox="1"/>
          <p:nvPr/>
        </p:nvSpPr>
        <p:spPr>
          <a:xfrm>
            <a:off x="1066800" y="5537200"/>
            <a:ext cx="10058400" cy="711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ctr">
              <a:lnSpc>
                <a:spcPct val="120000"/>
              </a:lnSpc>
            </a:pPr>
            <a:r>
              <a:rPr lang="en-US" sz="1700">
                <a:solidFill>
                  <a:srgbClr val="000000"/>
                </a:solidFill>
                <a:latin typeface="MiSans"/>
                <a:ea typeface="MiSans"/>
              </a:rPr>
              <a:t>达标线：装上＋示例跑通——接不完的，转下半场创作段接着做</a:t>
            </a:r>
            <a:endParaRPr lang="en-US" sz="1700"/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a14="http://schemas.microsoft.com/office/drawing/2010/main" xmlns:c="http://schemas.openxmlformats.org/drawingml/2006/chart" xmlns:m="http://schemas.openxmlformats.org/officeDocument/2006/math" xmlns:pptd="https://kimi.design/pptd/202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508000" y="558800"/>
            <a:ext cx="76200" cy="5588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3" name="seclabel"/>
          <p:cNvSpPr txBox="1"/>
          <p:nvPr/>
        </p:nvSpPr>
        <p:spPr>
          <a:xfrm>
            <a:off x="736600" y="558800"/>
            <a:ext cx="71120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400">
                <a:solidFill>
                  <a:srgbClr val="000000"/>
                </a:solidFill>
                <a:latin typeface="MiSans"/>
                <a:ea typeface="MiSans"/>
              </a:rPr>
              <a:t>■ 第一幕 · 建材市场 ｜ 互报</a:t>
            </a:r>
            <a:endParaRPr lang="en-US" sz="1400"/>
          </a:p>
        </p:txBody>
      </p:sp>
      <p:sp>
        <p:nvSpPr>
          <p:cNvPr id="4" name="title"/>
          <p:cNvSpPr txBox="1"/>
          <p:nvPr/>
        </p:nvSpPr>
        <p:spPr>
          <a:xfrm>
            <a:off x="736600" y="787400"/>
            <a:ext cx="10668000" cy="508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3400" b="1">
                <a:solidFill>
                  <a:srgbClr val="000000"/>
                </a:solidFill>
                <a:latin typeface="MiSans"/>
                <a:ea typeface="MiSans"/>
              </a:rPr>
              <a:t>每人一句</a:t>
            </a:r>
            <a:endParaRPr lang="en-US" sz="3400"/>
          </a:p>
        </p:txBody>
      </p:sp>
      <p:sp>
        <p:nvSpPr>
          <p:cNvPr id="5" name="card1"/>
          <p:cNvSpPr/>
          <p:nvPr/>
        </p:nvSpPr>
        <p:spPr>
          <a:xfrm>
            <a:off x="762000" y="1905000"/>
            <a:ext cx="5080000" cy="2286000"/>
          </a:xfrm>
          <a:prstGeom prst="rect">
            <a:avLst/>
          </a:prstGeom>
          <a:solidFill>
            <a:srgbClr val="F3D230">
              <a:alpha val="14902"/>
            </a:srgbClr>
          </a:solidFill>
          <a:ln>
            <a:noFill/>
          </a:ln>
        </p:spPr>
      </p:sp>
      <p:sp>
        <p:nvSpPr>
          <p:cNvPr id="6" name="card1t"/>
          <p:cNvSpPr txBox="1"/>
          <p:nvPr/>
        </p:nvSpPr>
        <p:spPr>
          <a:xfrm>
            <a:off x="1066800" y="2133600"/>
            <a:ext cx="4470400" cy="1828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ctr">
              <a:lnSpc>
                <a:spcPct val="160000"/>
              </a:lnSpc>
            </a:pPr>
            <a:r>
              <a:rPr lang="en-US" sz="1900">
                <a:solidFill>
                  <a:srgbClr val="000000"/>
                </a:solidFill>
                <a:latin typeface="MiSans"/>
                <a:ea typeface="MiSans"/>
              </a:rPr>
              <a:t>我引了什么库、</a:t>
            </a:r>
            <a:endParaRPr lang="en-US" sz="1900"/>
          </a:p>
          <a:p>
            <a:pPr algn="ctr">
              <a:lnSpc>
                <a:spcPct val="160000"/>
              </a:lnSpc>
            </a:pPr>
            <a:r>
              <a:rPr lang="en-US" sz="1900">
                <a:solidFill>
                  <a:srgbClr val="000000"/>
                </a:solidFill>
                <a:latin typeface="MiSans"/>
                <a:ea typeface="MiSans"/>
              </a:rPr>
              <a:t>替我省了什么</a:t>
            </a:r>
            <a:endParaRPr lang="en-US" sz="1900"/>
          </a:p>
        </p:txBody>
      </p:sp>
      <p:sp>
        <p:nvSpPr>
          <p:cNvPr id="7" name="card2"/>
          <p:cNvSpPr/>
          <p:nvPr/>
        </p:nvSpPr>
        <p:spPr>
          <a:xfrm>
            <a:off x="6350000" y="1905000"/>
            <a:ext cx="508000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</p:sp>
      <p:sp>
        <p:nvSpPr>
          <p:cNvPr id="8" name="card2t"/>
          <p:cNvSpPr txBox="1"/>
          <p:nvPr/>
        </p:nvSpPr>
        <p:spPr>
          <a:xfrm>
            <a:off x="6654800" y="2133600"/>
            <a:ext cx="4470400" cy="1828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ctr">
              <a:lnSpc>
                <a:spcPct val="160000"/>
              </a:lnSpc>
            </a:pPr>
            <a:r>
              <a:rPr lang="en-US" sz="1900">
                <a:solidFill>
                  <a:srgbClr val="000000"/>
                </a:solidFill>
                <a:latin typeface="MiSans"/>
                <a:ea typeface="MiSans"/>
              </a:rPr>
              <a:t>我为什么不引——</a:t>
            </a:r>
            <a:endParaRPr lang="en-US" sz="1900"/>
          </a:p>
          <a:p>
            <a:pPr algn="ctr">
              <a:lnSpc>
                <a:spcPct val="160000"/>
              </a:lnSpc>
            </a:pPr>
            <a:r>
              <a:rPr lang="en-US" sz="1900">
                <a:solidFill>
                  <a:srgbClr val="000000"/>
                </a:solidFill>
                <a:latin typeface="MiSans"/>
                <a:ea typeface="MiSans"/>
              </a:rPr>
              <a:t>和引了的，</a:t>
            </a:r>
            <a:r>
              <a:rPr lang="en-US" sz="1900" b="1">
                <a:solidFill>
                  <a:srgbClr val="000000"/>
                </a:solidFill>
                <a:latin typeface="MiSans"/>
                <a:ea typeface="MiSans"/>
              </a:rPr>
              <a:t>同等掌声</a:t>
            </a:r>
            <a:endParaRPr lang="en-US" sz="1900"/>
          </a:p>
        </p:txBody>
      </p:sp>
      <p:sp>
        <p:nvSpPr>
          <p:cNvPr id="9" name="bottom"/>
          <p:cNvSpPr txBox="1"/>
          <p:nvPr/>
        </p:nvSpPr>
        <p:spPr>
          <a:xfrm>
            <a:off x="762000" y="4826000"/>
            <a:ext cx="10668000" cy="508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ctr">
              <a:lnSpc>
                <a:spcPct val="140000"/>
              </a:lnSpc>
            </a:pPr>
            <a:r>
              <a:rPr lang="en-US" sz="1500">
                <a:solidFill>
                  <a:srgbClr val="000000"/>
                </a:solidFill>
                <a:latin typeface="MiSans"/>
                <a:ea typeface="MiSans"/>
              </a:rPr>
              <a:t>人多就同桌互报，老师抽几位讲给全班</a:t>
            </a:r>
            <a:endParaRPr lang="en-US" sz="1500"/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a14="http://schemas.microsoft.com/office/drawing/2010/main" xmlns:c="http://schemas.openxmlformats.org/drawingml/2006/chart" xmlns:m="http://schemas.openxmlformats.org/officeDocument/2006/math" xmlns:pptd="https://kimi.design/pptd/202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508000" y="558800"/>
            <a:ext cx="76200" cy="5588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3" name="seclabel"/>
          <p:cNvSpPr txBox="1"/>
          <p:nvPr/>
        </p:nvSpPr>
        <p:spPr>
          <a:xfrm>
            <a:off x="736600" y="558800"/>
            <a:ext cx="71120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400">
                <a:solidFill>
                  <a:srgbClr val="000000"/>
                </a:solidFill>
                <a:latin typeface="MiSans"/>
                <a:ea typeface="MiSans"/>
              </a:rPr>
              <a:t>■ 第一幕 · 建材市场 ｜ 外观</a:t>
            </a:r>
            <a:endParaRPr lang="en-US" sz="1400"/>
          </a:p>
        </p:txBody>
      </p:sp>
      <p:sp>
        <p:nvSpPr>
          <p:cNvPr id="4" name="title"/>
          <p:cNvSpPr txBox="1"/>
          <p:nvPr/>
        </p:nvSpPr>
        <p:spPr>
          <a:xfrm>
            <a:off x="736600" y="787400"/>
            <a:ext cx="10668000" cy="508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3400" b="1">
                <a:solidFill>
                  <a:srgbClr val="000000"/>
                </a:solidFill>
                <a:latin typeface="MiSans"/>
                <a:ea typeface="MiSans"/>
              </a:rPr>
              <a:t>外援不止代码——MVP 有两张脸</a:t>
            </a:r>
            <a:endParaRPr lang="en-US" sz="3400"/>
          </a:p>
        </p:txBody>
      </p:sp>
      <p:sp>
        <p:nvSpPr>
          <p:cNvPr id="5" name="card1"/>
          <p:cNvSpPr/>
          <p:nvPr/>
        </p:nvSpPr>
        <p:spPr>
          <a:xfrm>
            <a:off x="762000" y="1778000"/>
            <a:ext cx="5080000" cy="254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</p:sp>
      <p:sp>
        <p:nvSpPr>
          <p:cNvPr id="6" name="card1t"/>
          <p:cNvSpPr txBox="1"/>
          <p:nvPr/>
        </p:nvSpPr>
        <p:spPr>
          <a:xfrm>
            <a:off x="1066800" y="2006600"/>
            <a:ext cx="4470400" cy="2082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ctr">
              <a:lnSpc>
                <a:spcPct val="160000"/>
              </a:lnSpc>
            </a:pPr>
            <a:r>
              <a:rPr lang="en-US" sz="2200" b="1">
                <a:solidFill>
                  <a:srgbClr val="000000"/>
                </a:solidFill>
                <a:latin typeface="MiSans"/>
                <a:ea typeface="MiSans"/>
              </a:rPr>
              <a:t>能演示 · 里子</a:t>
            </a:r>
            <a:endParaRPr lang="en-US" sz="1800"/>
          </a:p>
          <a:p>
            <a:pPr algn="ctr">
              <a:lnSpc>
                <a:spcPct val="160000"/>
              </a:lnSpc>
              <a:spcBef>
                <a:spcPts val="1000"/>
              </a:spcBef>
            </a:pPr>
            <a:r>
              <a:rPr lang="en-US" sz="1800">
                <a:solidFill>
                  <a:srgbClr val="000000"/>
                </a:solidFill>
                <a:latin typeface="MiSans"/>
                <a:ea typeface="MiSans"/>
              </a:rPr>
              <a:t>功能在跑</a:t>
            </a:r>
            <a:endParaRPr lang="en-US" sz="1800"/>
          </a:p>
          <a:p>
            <a:pPr algn="ctr">
              <a:lnSpc>
                <a:spcPct val="160000"/>
              </a:lnSpc>
            </a:pPr>
            <a:r>
              <a:rPr lang="en-US" sz="1800">
                <a:solidFill>
                  <a:srgbClr val="000000"/>
                </a:solidFill>
                <a:latin typeface="MiSans"/>
                <a:ea typeface="MiSans"/>
              </a:rPr>
              <a:t>但现在还是一桌散件加一把线</a:t>
            </a:r>
            <a:endParaRPr lang="en-US" sz="1800"/>
          </a:p>
        </p:txBody>
      </p:sp>
      <p:sp>
        <p:nvSpPr>
          <p:cNvPr id="7" name="card2"/>
          <p:cNvSpPr/>
          <p:nvPr/>
        </p:nvSpPr>
        <p:spPr>
          <a:xfrm>
            <a:off x="6350000" y="1778000"/>
            <a:ext cx="5080000" cy="2540000"/>
          </a:xfrm>
          <a:prstGeom prst="rect">
            <a:avLst/>
          </a:prstGeom>
          <a:solidFill>
            <a:srgbClr val="F3D230">
              <a:alpha val="14902"/>
            </a:srgbClr>
          </a:solidFill>
          <a:ln>
            <a:noFill/>
          </a:ln>
        </p:spPr>
      </p:sp>
      <p:sp>
        <p:nvSpPr>
          <p:cNvPr id="8" name="card2t"/>
          <p:cNvSpPr txBox="1"/>
          <p:nvPr/>
        </p:nvSpPr>
        <p:spPr>
          <a:xfrm>
            <a:off x="6654800" y="2006600"/>
            <a:ext cx="4470400" cy="2082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ctr">
              <a:lnSpc>
                <a:spcPct val="160000"/>
              </a:lnSpc>
            </a:pPr>
            <a:r>
              <a:rPr lang="en-US" sz="2200" b="1">
                <a:solidFill>
                  <a:srgbClr val="000000"/>
                </a:solidFill>
                <a:latin typeface="MiSans"/>
                <a:ea typeface="MiSans"/>
              </a:rPr>
              <a:t>有个样子 · 面子</a:t>
            </a:r>
            <a:endParaRPr lang="en-US" sz="1800"/>
          </a:p>
          <a:p>
            <a:pPr algn="ctr">
              <a:lnSpc>
                <a:spcPct val="160000"/>
              </a:lnSpc>
              <a:spcBef>
                <a:spcPts val="1000"/>
              </a:spcBef>
            </a:pPr>
            <a:r>
              <a:rPr lang="en-US" sz="1800">
                <a:solidFill>
                  <a:srgbClr val="000000"/>
                </a:solidFill>
                <a:latin typeface="MiSans"/>
                <a:ea typeface="MiSans"/>
              </a:rPr>
              <a:t>一眼知道它是什么</a:t>
            </a:r>
            <a:endParaRPr lang="en-US" sz="1800"/>
          </a:p>
          <a:p>
            <a:pPr algn="ctr">
              <a:lnSpc>
                <a:spcPct val="160000"/>
              </a:lnSpc>
            </a:pPr>
            <a:r>
              <a:rPr lang="en-US" sz="1800">
                <a:solidFill>
                  <a:srgbClr val="000000"/>
                </a:solidFill>
                <a:latin typeface="MiSans"/>
                <a:ea typeface="MiSans"/>
              </a:rPr>
              <a:t>别人不看说明书就敢上手</a:t>
            </a:r>
            <a:endParaRPr lang="en-US" sz="1800"/>
          </a:p>
        </p:txBody>
      </p:sp>
      <p:sp>
        <p:nvSpPr>
          <p:cNvPr id="9" name="bottom"/>
          <p:cNvSpPr txBox="1"/>
          <p:nvPr/>
        </p:nvSpPr>
        <p:spPr>
          <a:xfrm>
            <a:off x="762000" y="4953000"/>
            <a:ext cx="10668000" cy="889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ctr">
              <a:lnSpc>
                <a:spcPct val="150000"/>
              </a:lnSpc>
            </a:pPr>
            <a:r>
              <a:rPr lang="en-US" sz="1900" b="1">
                <a:solidFill>
                  <a:srgbClr val="000000"/>
                </a:solidFill>
                <a:latin typeface="MiSans"/>
                <a:ea typeface="MiSans"/>
              </a:rPr>
              <a:t>路演那天，别人先看见面子，才轮到里子</a:t>
            </a:r>
            <a:endParaRPr lang="en-US" sz="1900"/>
          </a:p>
          <a:p>
            <a:pPr algn="ctr">
              <a:lnSpc>
                <a:spcPct val="150000"/>
              </a:lnSpc>
            </a:pPr>
            <a:r>
              <a:rPr lang="en-US" sz="1900" b="1">
                <a:solidFill>
                  <a:srgbClr val="000000"/>
                </a:solidFill>
                <a:latin typeface="MiSans"/>
                <a:ea typeface="MiSans"/>
              </a:rPr>
              <a:t>外观不用买、不用打印——垃圾就是外观的建材市场</a:t>
            </a:r>
            <a:endParaRPr lang="en-US" sz="1900"/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a14="http://schemas.microsoft.com/office/drawing/2010/main" xmlns:c="http://schemas.openxmlformats.org/drawingml/2006/chart" xmlns:m="http://schemas.openxmlformats.org/officeDocument/2006/math" xmlns:pptd="https://kimi.design/pptd/202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508000" y="558800"/>
            <a:ext cx="76200" cy="5588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3" name="seclabel"/>
          <p:cNvSpPr txBox="1"/>
          <p:nvPr/>
        </p:nvSpPr>
        <p:spPr>
          <a:xfrm>
            <a:off x="736600" y="558800"/>
            <a:ext cx="71120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400">
                <a:solidFill>
                  <a:srgbClr val="000000"/>
                </a:solidFill>
                <a:latin typeface="MiSans"/>
                <a:ea typeface="MiSans"/>
              </a:rPr>
              <a:t>■ 第一幕 · 建材市场 ｜ 四招</a:t>
            </a:r>
            <a:endParaRPr lang="en-US" sz="1400"/>
          </a:p>
        </p:txBody>
      </p:sp>
      <p:sp>
        <p:nvSpPr>
          <p:cNvPr id="4" name="title"/>
          <p:cNvSpPr txBox="1"/>
          <p:nvPr/>
        </p:nvSpPr>
        <p:spPr>
          <a:xfrm>
            <a:off x="736600" y="787400"/>
            <a:ext cx="10668000" cy="508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3400" b="1">
                <a:solidFill>
                  <a:srgbClr val="000000"/>
                </a:solidFill>
                <a:latin typeface="MiSans"/>
                <a:ea typeface="MiSans"/>
              </a:rPr>
              <a:t>像模像样四招</a:t>
            </a:r>
            <a:endParaRPr lang="en-US" sz="3400"/>
          </a:p>
        </p:txBody>
      </p:sp>
      <p:sp>
        <p:nvSpPr>
          <p:cNvPr id="5" name="c1"/>
          <p:cNvSpPr/>
          <p:nvPr/>
        </p:nvSpPr>
        <p:spPr>
          <a:xfrm>
            <a:off x="762000" y="1549400"/>
            <a:ext cx="5080000" cy="1651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</p:sp>
      <p:sp>
        <p:nvSpPr>
          <p:cNvPr id="6" name="c1dot"/>
          <p:cNvSpPr/>
          <p:nvPr/>
        </p:nvSpPr>
        <p:spPr>
          <a:xfrm>
            <a:off x="1016000" y="1778000"/>
            <a:ext cx="330200" cy="330200"/>
          </a:xfrm>
          <a:prstGeom prst="ellipse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7" name="c1num"/>
          <p:cNvSpPr txBox="1"/>
          <p:nvPr/>
        </p:nvSpPr>
        <p:spPr>
          <a:xfrm>
            <a:off x="1016000" y="1778000"/>
            <a:ext cx="330200" cy="330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ctr">
              <a:lnSpc>
                <a:spcPct val="120000"/>
              </a:lnSpc>
            </a:pPr>
            <a:r>
              <a:rPr lang="en-US" sz="1500" b="1">
                <a:solidFill>
                  <a:srgbClr val="000000"/>
                </a:solidFill>
                <a:latin typeface="MiSans"/>
                <a:ea typeface="MiSans"/>
              </a:rPr>
              <a:t>1</a:t>
            </a:r>
            <a:endParaRPr lang="en-US" sz="1500"/>
          </a:p>
        </p:txBody>
      </p:sp>
      <p:sp>
        <p:nvSpPr>
          <p:cNvPr id="8" name="c1t"/>
          <p:cNvSpPr txBox="1"/>
          <p:nvPr/>
        </p:nvSpPr>
        <p:spPr>
          <a:xfrm>
            <a:off x="1524000" y="1676400"/>
            <a:ext cx="4064000" cy="1371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50000"/>
              </a:lnSpc>
            </a:pPr>
            <a:r>
              <a:rPr lang="en-US" sz="1800" b="1">
                <a:solidFill>
                  <a:srgbClr val="000000"/>
                </a:solidFill>
                <a:latin typeface="MiSans"/>
                <a:ea typeface="MiSans"/>
              </a:rPr>
              <a:t>找个壳</a:t>
            </a:r>
            <a:endParaRPr lang="en-US" sz="1500"/>
          </a:p>
          <a:p>
            <a:pPr algn="l">
              <a:lnSpc>
                <a:spcPct val="150000"/>
              </a:lnSpc>
            </a:pPr>
            <a:r>
              <a:rPr lang="en-US" sz="1500">
                <a:solidFill>
                  <a:srgbClr val="000000"/>
                </a:solidFill>
                <a:latin typeface="MiSans"/>
                <a:ea typeface="MiSans"/>
              </a:rPr>
              <a:t>纸盒、外卖盒、旧玩具壳——它是什么，就先像什么</a:t>
            </a:r>
            <a:endParaRPr lang="en-US" sz="1500"/>
          </a:p>
        </p:txBody>
      </p:sp>
      <p:sp>
        <p:nvSpPr>
          <p:cNvPr id="9" name="c2"/>
          <p:cNvSpPr/>
          <p:nvPr/>
        </p:nvSpPr>
        <p:spPr>
          <a:xfrm>
            <a:off x="6350000" y="1549400"/>
            <a:ext cx="5080000" cy="1651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</p:sp>
      <p:sp>
        <p:nvSpPr>
          <p:cNvPr id="10" name="c2dot"/>
          <p:cNvSpPr/>
          <p:nvPr/>
        </p:nvSpPr>
        <p:spPr>
          <a:xfrm>
            <a:off x="6604000" y="1778000"/>
            <a:ext cx="330200" cy="330200"/>
          </a:xfrm>
          <a:prstGeom prst="ellipse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11" name="c2num"/>
          <p:cNvSpPr txBox="1"/>
          <p:nvPr/>
        </p:nvSpPr>
        <p:spPr>
          <a:xfrm>
            <a:off x="6604000" y="1778000"/>
            <a:ext cx="330200" cy="330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ctr">
              <a:lnSpc>
                <a:spcPct val="120000"/>
              </a:lnSpc>
            </a:pPr>
            <a:r>
              <a:rPr lang="en-US" sz="1500" b="1">
                <a:solidFill>
                  <a:srgbClr val="000000"/>
                </a:solidFill>
                <a:latin typeface="MiSans"/>
                <a:ea typeface="MiSans"/>
              </a:rPr>
              <a:t>2</a:t>
            </a:r>
            <a:endParaRPr lang="en-US" sz="1500"/>
          </a:p>
        </p:txBody>
      </p:sp>
      <p:sp>
        <p:nvSpPr>
          <p:cNvPr id="12" name="c2t"/>
          <p:cNvSpPr txBox="1"/>
          <p:nvPr/>
        </p:nvSpPr>
        <p:spPr>
          <a:xfrm>
            <a:off x="7112000" y="1676400"/>
            <a:ext cx="4064000" cy="1371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50000"/>
              </a:lnSpc>
            </a:pPr>
            <a:r>
              <a:rPr lang="en-US" sz="1800" b="1">
                <a:solidFill>
                  <a:srgbClr val="000000"/>
                </a:solidFill>
                <a:latin typeface="MiSans"/>
                <a:ea typeface="MiSans"/>
              </a:rPr>
              <a:t>固定它</a:t>
            </a:r>
            <a:endParaRPr lang="en-US" sz="1500"/>
          </a:p>
          <a:p>
            <a:pPr algn="l">
              <a:lnSpc>
                <a:spcPct val="150000"/>
              </a:lnSpc>
            </a:pPr>
            <a:r>
              <a:rPr lang="en-US" sz="1500">
                <a:solidFill>
                  <a:srgbClr val="000000"/>
                </a:solidFill>
                <a:latin typeface="MiSans"/>
                <a:ea typeface="MiSans"/>
              </a:rPr>
              <a:t>胶带、皮筋、扎带——线不晃，演示才稳</a:t>
            </a:r>
            <a:endParaRPr lang="en-US" sz="1500"/>
          </a:p>
        </p:txBody>
      </p:sp>
      <p:sp>
        <p:nvSpPr>
          <p:cNvPr id="13" name="c3"/>
          <p:cNvSpPr/>
          <p:nvPr/>
        </p:nvSpPr>
        <p:spPr>
          <a:xfrm>
            <a:off x="762000" y="3454400"/>
            <a:ext cx="5080000" cy="1651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</p:sp>
      <p:sp>
        <p:nvSpPr>
          <p:cNvPr id="14" name="c3dot"/>
          <p:cNvSpPr/>
          <p:nvPr/>
        </p:nvSpPr>
        <p:spPr>
          <a:xfrm>
            <a:off x="1016000" y="3683000"/>
            <a:ext cx="330200" cy="330200"/>
          </a:xfrm>
          <a:prstGeom prst="ellipse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15" name="c3num"/>
          <p:cNvSpPr txBox="1"/>
          <p:nvPr/>
        </p:nvSpPr>
        <p:spPr>
          <a:xfrm>
            <a:off x="1016000" y="3683000"/>
            <a:ext cx="330200" cy="330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ctr">
              <a:lnSpc>
                <a:spcPct val="120000"/>
              </a:lnSpc>
            </a:pPr>
            <a:r>
              <a:rPr lang="en-US" sz="1500" b="1">
                <a:solidFill>
                  <a:srgbClr val="000000"/>
                </a:solidFill>
                <a:latin typeface="MiSans"/>
                <a:ea typeface="MiSans"/>
              </a:rPr>
              <a:t>3</a:t>
            </a:r>
            <a:endParaRPr lang="en-US" sz="1500"/>
          </a:p>
        </p:txBody>
      </p:sp>
      <p:sp>
        <p:nvSpPr>
          <p:cNvPr id="16" name="c3t"/>
          <p:cNvSpPr txBox="1"/>
          <p:nvPr/>
        </p:nvSpPr>
        <p:spPr>
          <a:xfrm>
            <a:off x="1524000" y="3581400"/>
            <a:ext cx="4064000" cy="1371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50000"/>
              </a:lnSpc>
            </a:pPr>
            <a:r>
              <a:rPr lang="en-US" sz="1800" b="1">
                <a:solidFill>
                  <a:srgbClr val="000000"/>
                </a:solidFill>
                <a:latin typeface="MiSans"/>
                <a:ea typeface="MiSans"/>
              </a:rPr>
              <a:t>标出来</a:t>
            </a:r>
            <a:endParaRPr lang="en-US" sz="1500"/>
          </a:p>
          <a:p>
            <a:pPr algn="l">
              <a:lnSpc>
                <a:spcPct val="150000"/>
              </a:lnSpc>
            </a:pPr>
            <a:r>
              <a:rPr lang="en-US" sz="1500">
                <a:solidFill>
                  <a:srgbClr val="000000"/>
                </a:solidFill>
                <a:latin typeface="MiSans"/>
                <a:ea typeface="MiSans"/>
              </a:rPr>
              <a:t>记号笔写按钮名、贴箭头——别人不看说明书就敢上手</a:t>
            </a:r>
            <a:endParaRPr lang="en-US" sz="1500"/>
          </a:p>
        </p:txBody>
      </p:sp>
      <p:sp>
        <p:nvSpPr>
          <p:cNvPr id="17" name="c4"/>
          <p:cNvSpPr/>
          <p:nvPr/>
        </p:nvSpPr>
        <p:spPr>
          <a:xfrm>
            <a:off x="6350000" y="3454400"/>
            <a:ext cx="5080000" cy="1651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</p:sp>
      <p:sp>
        <p:nvSpPr>
          <p:cNvPr id="18" name="c4dot"/>
          <p:cNvSpPr/>
          <p:nvPr/>
        </p:nvSpPr>
        <p:spPr>
          <a:xfrm>
            <a:off x="6604000" y="3683000"/>
            <a:ext cx="330200" cy="330200"/>
          </a:xfrm>
          <a:prstGeom prst="ellipse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19" name="c4num"/>
          <p:cNvSpPr txBox="1"/>
          <p:nvPr/>
        </p:nvSpPr>
        <p:spPr>
          <a:xfrm>
            <a:off x="6604000" y="3683000"/>
            <a:ext cx="330200" cy="330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ctr">
              <a:lnSpc>
                <a:spcPct val="120000"/>
              </a:lnSpc>
            </a:pPr>
            <a:r>
              <a:rPr lang="en-US" sz="1500" b="1">
                <a:solidFill>
                  <a:srgbClr val="000000"/>
                </a:solidFill>
                <a:latin typeface="MiSans"/>
                <a:ea typeface="MiSans"/>
              </a:rPr>
              <a:t>4</a:t>
            </a:r>
            <a:endParaRPr lang="en-US" sz="1500"/>
          </a:p>
        </p:txBody>
      </p:sp>
      <p:sp>
        <p:nvSpPr>
          <p:cNvPr id="20" name="c4t"/>
          <p:cNvSpPr txBox="1"/>
          <p:nvPr/>
        </p:nvSpPr>
        <p:spPr>
          <a:xfrm>
            <a:off x="7112000" y="3581400"/>
            <a:ext cx="4064000" cy="1371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50000"/>
              </a:lnSpc>
            </a:pPr>
            <a:r>
              <a:rPr lang="en-US" sz="1800" b="1">
                <a:solidFill>
                  <a:srgbClr val="000000"/>
                </a:solidFill>
                <a:latin typeface="MiSans"/>
                <a:ea typeface="MiSans"/>
              </a:rPr>
              <a:t>藏起乱</a:t>
            </a:r>
            <a:endParaRPr lang="en-US" sz="1500"/>
          </a:p>
          <a:p>
            <a:pPr algn="l">
              <a:lnSpc>
                <a:spcPct val="150000"/>
              </a:lnSpc>
            </a:pPr>
            <a:r>
              <a:rPr lang="en-US" sz="1500">
                <a:solidFill>
                  <a:srgbClr val="000000"/>
                </a:solidFill>
                <a:latin typeface="MiSans"/>
                <a:ea typeface="MiSans"/>
              </a:rPr>
              <a:t>走线收进盒——露出来的只有"脸"</a:t>
            </a:r>
            <a:endParaRPr lang="en-US" sz="1500"/>
          </a:p>
        </p:txBody>
      </p:sp>
      <p:sp>
        <p:nvSpPr>
          <p:cNvPr id="21" name="discbg"/>
          <p:cNvSpPr/>
          <p:nvPr/>
        </p:nvSpPr>
        <p:spPr>
          <a:xfrm>
            <a:off x="762000" y="5384800"/>
            <a:ext cx="10668000" cy="635000"/>
          </a:xfrm>
          <a:prstGeom prst="rect">
            <a:avLst/>
          </a:prstGeom>
          <a:solidFill>
            <a:srgbClr val="F3D230">
              <a:alpha val="14902"/>
            </a:srgbClr>
          </a:solidFill>
          <a:ln>
            <a:noFill/>
          </a:ln>
        </p:spPr>
      </p:sp>
      <p:sp>
        <p:nvSpPr>
          <p:cNvPr id="22" name="disct"/>
          <p:cNvSpPr txBox="1"/>
          <p:nvPr/>
        </p:nvSpPr>
        <p:spPr>
          <a:xfrm>
            <a:off x="1066800" y="5384800"/>
            <a:ext cx="10058400" cy="635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ctr">
              <a:lnSpc>
                <a:spcPct val="120000"/>
              </a:lnSpc>
            </a:pPr>
            <a:r>
              <a:rPr lang="en-US" sz="1600" b="1">
                <a:solidFill>
                  <a:srgbClr val="000000"/>
                </a:solidFill>
                <a:latin typeface="MiSans"/>
                <a:ea typeface="MiSans"/>
              </a:rPr>
              <a:t>外观服从演示——末 10 分钟快装，不超过创作时间的 1/3</a:t>
            </a:r>
            <a:endParaRPr lang="en-US" sz="1600"/>
          </a:p>
        </p:txBody>
      </p:sp>
      <p:sp>
        <p:nvSpPr>
          <p:cNvPr id="23" name="small"/>
          <p:cNvSpPr txBox="1"/>
          <p:nvPr/>
        </p:nvSpPr>
        <p:spPr>
          <a:xfrm>
            <a:off x="762000" y="6172200"/>
            <a:ext cx="10668000" cy="304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ctr">
              <a:lnSpc>
                <a:spcPct val="120000"/>
              </a:lnSpc>
            </a:pPr>
            <a:r>
              <a:rPr lang="en-US" sz="1300">
                <a:solidFill>
                  <a:srgbClr val="000000"/>
                </a:solidFill>
                <a:latin typeface="MiSans"/>
                <a:ea typeface="MiSans"/>
              </a:rPr>
              <a:t>剪刀美工刀在老师那儿，用完就还 ｜ 材料自带干净废品＋公共池，只挑不买</a:t>
            </a:r>
            <a:endParaRPr lang="en-US" sz="1300"/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a14="http://schemas.microsoft.com/office/drawing/2010/main" xmlns:c="http://schemas.openxmlformats.org/drawingml/2006/chart" xmlns:m="http://schemas.openxmlformats.org/officeDocument/2006/math" xmlns:pptd="https://kimi.design/pptd/202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508000" y="558800"/>
            <a:ext cx="76200" cy="5588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3" name="seclabel"/>
          <p:cNvSpPr txBox="1"/>
          <p:nvPr/>
        </p:nvSpPr>
        <p:spPr>
          <a:xfrm>
            <a:off x="736600" y="558800"/>
            <a:ext cx="71120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400">
                <a:solidFill>
                  <a:srgbClr val="000000"/>
                </a:solidFill>
                <a:latin typeface="MiSans"/>
                <a:ea typeface="MiSans"/>
              </a:rPr>
              <a:t>■ 第一幕 · 建材市场 ｜ 就地取材</a:t>
            </a:r>
            <a:endParaRPr lang="en-US" sz="1400"/>
          </a:p>
        </p:txBody>
      </p:sp>
      <p:sp>
        <p:nvSpPr>
          <p:cNvPr id="4" name="title"/>
          <p:cNvSpPr txBox="1"/>
          <p:nvPr/>
        </p:nvSpPr>
        <p:spPr>
          <a:xfrm>
            <a:off x="736600" y="787400"/>
            <a:ext cx="10668000" cy="508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3400" b="1">
                <a:solidFill>
                  <a:srgbClr val="000000"/>
                </a:solidFill>
                <a:latin typeface="MiSans"/>
                <a:ea typeface="MiSans"/>
              </a:rPr>
              <a:t>就地取材——材料墙</a:t>
            </a:r>
            <a:endParaRPr lang="en-US" sz="3400"/>
          </a:p>
        </p:txBody>
      </p:sp>
      <p:pic>
        <p:nvPicPr>
          <p:cNvPr id="5" name="wallimg"/>
          <p:cNvPicPr/>
          <p:nvPr/>
        </p:nvPicPr>
        <p:blipFill>
          <a:blip r:embed="rIdImage2"/>
          <a:srcRect l="-30808" r="-30808"/>
          <a:stretch>
            <a:fillRect/>
          </a:stretch>
        </p:blipFill>
        <p:spPr>
          <a:xfrm>
            <a:off x="1016000" y="1422400"/>
            <a:ext cx="10160000" cy="4191000"/>
          </a:xfrm>
          <a:prstGeom prst="rect">
            <a:avLst/>
          </a:prstGeom>
          <a:ln>
            <a:noFill/>
          </a:ln>
        </p:spPr>
      </p:pic>
      <p:sp>
        <p:nvSpPr>
          <p:cNvPr id="6" name="flowbg"/>
          <p:cNvSpPr/>
          <p:nvPr/>
        </p:nvSpPr>
        <p:spPr>
          <a:xfrm>
            <a:off x="762000" y="5791200"/>
            <a:ext cx="10668000" cy="584200"/>
          </a:xfrm>
          <a:prstGeom prst="rect">
            <a:avLst/>
          </a:prstGeom>
          <a:solidFill>
            <a:srgbClr val="F3D230">
              <a:alpha val="14902"/>
            </a:srgbClr>
          </a:solidFill>
          <a:ln>
            <a:noFill/>
          </a:ln>
        </p:spPr>
      </p:sp>
      <p:sp>
        <p:nvSpPr>
          <p:cNvPr id="7" name="flowt"/>
          <p:cNvSpPr txBox="1"/>
          <p:nvPr/>
        </p:nvSpPr>
        <p:spPr>
          <a:xfrm>
            <a:off x="1066800" y="5791200"/>
            <a:ext cx="10058400" cy="584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ctr">
              <a:lnSpc>
                <a:spcPct val="120000"/>
              </a:lnSpc>
            </a:pPr>
            <a:r>
              <a:rPr lang="en-US" sz="1700" b="1">
                <a:solidFill>
                  <a:srgbClr val="000000"/>
                </a:solidFill>
                <a:latin typeface="MiSans"/>
                <a:ea typeface="MiSans"/>
              </a:rPr>
              <a:t>找材料 → 搭结构 → 贴外观 → 可用演示 ｜ 没有一样要花钱买</a:t>
            </a:r>
            <a:endParaRPr lang="en-US" sz="1700"/>
          </a:p>
        </p:txBody>
      </p: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a14="http://schemas.microsoft.com/office/drawing/2010/main" xmlns:c="http://schemas.openxmlformats.org/drawingml/2006/chart" xmlns:m="http://schemas.openxmlformats.org/officeDocument/2006/math" xmlns:pptd="https://kimi.design/pptd/202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508000" y="558800"/>
            <a:ext cx="76200" cy="5588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3" name="seclabel"/>
          <p:cNvSpPr txBox="1"/>
          <p:nvPr/>
        </p:nvSpPr>
        <p:spPr>
          <a:xfrm>
            <a:off x="736600" y="558800"/>
            <a:ext cx="71120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400">
                <a:solidFill>
                  <a:srgbClr val="000000"/>
                </a:solidFill>
                <a:latin typeface="MiSans"/>
                <a:ea typeface="MiSans"/>
              </a:rPr>
              <a:t>■ 第二幕 · 第二棒冲刺 ｜ 站会</a:t>
            </a:r>
            <a:endParaRPr lang="en-US" sz="1400"/>
          </a:p>
        </p:txBody>
      </p:sp>
      <p:sp>
        <p:nvSpPr>
          <p:cNvPr id="4" name="step1"/>
          <p:cNvSpPr txBox="1"/>
          <p:nvPr/>
        </p:nvSpPr>
        <p:spPr>
          <a:xfrm>
            <a:off x="762000" y="1397000"/>
            <a:ext cx="10668000" cy="431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ctr">
              <a:lnSpc>
                <a:spcPct val="120000"/>
              </a:lnSpc>
            </a:pPr>
            <a:r>
              <a:rPr lang="en-US" sz="1800">
                <a:solidFill>
                  <a:srgbClr val="000000"/>
                </a:solidFill>
                <a:latin typeface="MiSans"/>
                <a:ea typeface="MiSans"/>
              </a:rPr>
              <a:t>先读你的棒交接单——上一棒说"下一棒第一件事"是什么</a:t>
            </a:r>
            <a:endParaRPr lang="en-US" sz="1800"/>
          </a:p>
        </p:txBody>
      </p:sp>
      <p:sp>
        <p:nvSpPr>
          <p:cNvPr id="5" name="bigbg"/>
          <p:cNvSpPr/>
          <p:nvPr/>
        </p:nvSpPr>
        <p:spPr>
          <a:xfrm>
            <a:off x="762000" y="2133600"/>
            <a:ext cx="10668000" cy="1397000"/>
          </a:xfrm>
          <a:prstGeom prst="rect">
            <a:avLst/>
          </a:prstGeom>
          <a:solidFill>
            <a:srgbClr val="F3D230">
              <a:alpha val="14902"/>
            </a:srgbClr>
          </a:solidFill>
          <a:ln>
            <a:noFill/>
          </a:ln>
        </p:spPr>
      </p:sp>
      <p:sp>
        <p:nvSpPr>
          <p:cNvPr id="6" name="bigt"/>
          <p:cNvSpPr txBox="1"/>
          <p:nvPr/>
        </p:nvSpPr>
        <p:spPr>
          <a:xfrm>
            <a:off x="1066800" y="2133600"/>
            <a:ext cx="10058400" cy="1397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ctr">
              <a:lnSpc>
                <a:spcPct val="120000"/>
              </a:lnSpc>
            </a:pPr>
            <a:r>
              <a:rPr lang="en-US" sz="2800" b="1">
                <a:solidFill>
                  <a:srgbClr val="000000"/>
                </a:solidFill>
                <a:latin typeface="MiSans"/>
                <a:ea typeface="MiSans"/>
              </a:rPr>
              <a:t>今天我要把核心功能做到 ＿＿＿。</a:t>
            </a:r>
            <a:endParaRPr lang="en-US" sz="2800"/>
          </a:p>
        </p:txBody>
      </p:sp>
      <p:sp>
        <p:nvSpPr>
          <p:cNvPr id="7" name="defbox"/>
          <p:cNvSpPr/>
          <p:nvPr/>
        </p:nvSpPr>
        <p:spPr>
          <a:xfrm>
            <a:off x="762000" y="3937000"/>
            <a:ext cx="10668000" cy="1143000"/>
          </a:xfrm>
          <a:prstGeom prst="rect">
            <a:avLst/>
          </a:prstGeom>
          <a:noFill/>
          <a:ln w="12700">
            <a:solidFill>
              <a:srgbClr val="000000"/>
            </a:solidFill>
          </a:ln>
        </p:spPr>
      </p:sp>
      <p:sp>
        <p:nvSpPr>
          <p:cNvPr id="8" name="deft"/>
          <p:cNvSpPr txBox="1"/>
          <p:nvPr/>
        </p:nvSpPr>
        <p:spPr>
          <a:xfrm>
            <a:off x="1066800" y="4089400"/>
            <a:ext cx="10058400" cy="838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ctr">
              <a:lnSpc>
                <a:spcPct val="150000"/>
              </a:lnSpc>
            </a:pPr>
            <a:r>
              <a:rPr lang="en-US" sz="1800">
                <a:solidFill>
                  <a:srgbClr val="000000"/>
                </a:solidFill>
                <a:latin typeface="MiSans"/>
                <a:ea typeface="MiSans"/>
              </a:rPr>
              <a:t>"功能完成"不是你想象的全部，</a:t>
            </a:r>
            <a:endParaRPr lang="en-US" sz="1800"/>
          </a:p>
          <a:p>
            <a:pPr algn="ctr">
              <a:lnSpc>
                <a:spcPct val="150000"/>
              </a:lnSpc>
            </a:pPr>
            <a:r>
              <a:rPr lang="en-US" sz="1800">
                <a:solidFill>
                  <a:srgbClr val="000000"/>
                </a:solidFill>
                <a:latin typeface="MiSans"/>
                <a:ea typeface="MiSans"/>
              </a:rPr>
              <a:t>是</a:t>
            </a:r>
            <a:r>
              <a:rPr lang="en-US" sz="1800" b="1">
                <a:solidFill>
                  <a:srgbClr val="000000"/>
                </a:solidFill>
                <a:latin typeface="MiSans"/>
                <a:ea typeface="MiSans"/>
              </a:rPr>
              <a:t>你需求单上的核心功能</a:t>
            </a:r>
            <a:r>
              <a:rPr lang="en-US" sz="1800">
                <a:solidFill>
                  <a:srgbClr val="000000"/>
                </a:solidFill>
                <a:latin typeface="MiSans"/>
                <a:ea typeface="MiSans"/>
              </a:rPr>
              <a:t>——说超了的，收回来</a:t>
            </a:r>
            <a:endParaRPr lang="en-US" sz="1800"/>
          </a:p>
        </p:txBody>
      </p:sp>
      <p:sp>
        <p:nvSpPr>
          <p:cNvPr id="9" name="lookline"/>
          <p:cNvSpPr txBox="1"/>
          <p:nvPr/>
        </p:nvSpPr>
        <p:spPr>
          <a:xfrm>
            <a:off x="762000" y="5181600"/>
            <a:ext cx="10668000" cy="406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ctr">
              <a:lnSpc>
                <a:spcPct val="120000"/>
              </a:lnSpc>
            </a:pPr>
            <a:r>
              <a:rPr lang="en-US" sz="1500">
                <a:solidFill>
                  <a:srgbClr val="000000"/>
                </a:solidFill>
                <a:latin typeface="MiSans"/>
                <a:ea typeface="MiSans"/>
              </a:rPr>
              <a:t>可以带半句："……并且给它装上＿＿＿（壳/标记）"——外观是可选项，功能是必答题</a:t>
            </a:r>
            <a:endParaRPr lang="en-US" sz="1500"/>
          </a:p>
        </p:txBody>
      </p:sp>
      <p:sp>
        <p:nvSpPr>
          <p:cNvPr id="10" name="mode"/>
          <p:cNvSpPr txBox="1"/>
          <p:nvPr/>
        </p:nvSpPr>
        <p:spPr>
          <a:xfrm>
            <a:off x="762000" y="5740400"/>
            <a:ext cx="10668000" cy="457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ctr">
              <a:lnSpc>
                <a:spcPct val="140000"/>
              </a:lnSpc>
            </a:pPr>
            <a:r>
              <a:rPr lang="en-US" sz="1500">
                <a:solidFill>
                  <a:srgbClr val="000000"/>
                </a:solidFill>
                <a:latin typeface="MiSans"/>
                <a:ea typeface="MiSans"/>
              </a:rPr>
              <a:t>人少：全体起立逐个说 ｜ 人多：两人互说＋写在需求单顶上，抽几人讲给全班</a:t>
            </a:r>
            <a:endParaRPr lang="en-US" sz="1500"/>
          </a:p>
        </p:txBody>
      </p: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 xmlns:a14="http://schemas.microsoft.com/office/drawing/2010/main" xmlns:c="http://schemas.openxmlformats.org/drawingml/2006/chart" xmlns:m="http://schemas.openxmlformats.org/officeDocument/2006/math" xmlns:pptd="https://kimi.design/pptd/202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508000" y="558800"/>
            <a:ext cx="76200" cy="5588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3" name="seclabel"/>
          <p:cNvSpPr txBox="1"/>
          <p:nvPr/>
        </p:nvSpPr>
        <p:spPr>
          <a:xfrm>
            <a:off x="736600" y="558800"/>
            <a:ext cx="71120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400">
                <a:solidFill>
                  <a:srgbClr val="000000"/>
                </a:solidFill>
                <a:latin typeface="MiSans"/>
                <a:ea typeface="MiSans"/>
              </a:rPr>
              <a:t>■ 第二幕 · 第二棒冲刺 ｜ 常亮</a:t>
            </a:r>
            <a:endParaRPr lang="en-US" sz="1400"/>
          </a:p>
        </p:txBody>
      </p:sp>
      <p:sp>
        <p:nvSpPr>
          <p:cNvPr id="4" name="title"/>
          <p:cNvSpPr txBox="1"/>
          <p:nvPr/>
        </p:nvSpPr>
        <p:spPr>
          <a:xfrm>
            <a:off x="736600" y="787400"/>
            <a:ext cx="10668000" cy="508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3400" b="1">
                <a:solidFill>
                  <a:srgbClr val="000000"/>
                </a:solidFill>
                <a:latin typeface="MiSans"/>
                <a:ea typeface="MiSans"/>
              </a:rPr>
              <a:t>开跑——规则沿用第一棒</a:t>
            </a:r>
            <a:endParaRPr lang="en-US" sz="3400"/>
          </a:p>
        </p:txBody>
      </p:sp>
      <p:sp>
        <p:nvSpPr>
          <p:cNvPr id="5" name="rulecard"/>
          <p:cNvSpPr/>
          <p:nvPr/>
        </p:nvSpPr>
        <p:spPr>
          <a:xfrm>
            <a:off x="762000" y="1498600"/>
            <a:ext cx="10668000" cy="20066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</p:sp>
      <p:sp>
        <p:nvSpPr>
          <p:cNvPr id="6" name="ruletext"/>
          <p:cNvSpPr txBox="1"/>
          <p:nvPr/>
        </p:nvSpPr>
        <p:spPr>
          <a:xfrm>
            <a:off x="1143000" y="1676400"/>
            <a:ext cx="10058400" cy="165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70000"/>
              </a:lnSpc>
            </a:pPr>
            <a:r>
              <a:rPr lang="en-US" sz="1800">
                <a:solidFill>
                  <a:srgbClr val="000000"/>
                </a:solidFill>
                <a:latin typeface="MiSans"/>
                <a:ea typeface="MiSans"/>
              </a:rPr>
              <a:t>① 对照你的需求单——改可以，划掉不删除</a:t>
            </a:r>
            <a:endParaRPr lang="en-US" sz="1800"/>
          </a:p>
          <a:p>
            <a:pPr algn="l">
              <a:lnSpc>
                <a:spcPct val="170000"/>
              </a:lnSpc>
            </a:pPr>
            <a:r>
              <a:rPr lang="en-US" sz="1800">
                <a:solidFill>
                  <a:srgbClr val="000000"/>
                </a:solidFill>
                <a:latin typeface="MiSans"/>
                <a:ea typeface="MiSans"/>
              </a:rPr>
              <a:t>② </a:t>
            </a:r>
            <a:r>
              <a:rPr lang="en-US" sz="1800" b="1">
                <a:solidFill>
                  <a:srgbClr val="000000"/>
                </a:solidFill>
                <a:latin typeface="MiSans"/>
                <a:ea typeface="MiSans"/>
              </a:rPr>
              <a:t>15 分钟无进展必须举手</a:t>
            </a:r>
            <a:r>
              <a:rPr lang="en-US" sz="1800">
                <a:solidFill>
                  <a:srgbClr val="000000"/>
                </a:solidFill>
                <a:latin typeface="MiSans"/>
                <a:ea typeface="MiSans"/>
              </a:rPr>
              <a:t>——卡住不丢人，硬扛才丢人</a:t>
            </a:r>
            <a:endParaRPr lang="en-US" sz="1800"/>
          </a:p>
          <a:p>
            <a:pPr algn="l">
              <a:lnSpc>
                <a:spcPct val="170000"/>
              </a:lnSpc>
            </a:pPr>
            <a:r>
              <a:rPr lang="en-US" sz="1800">
                <a:solidFill>
                  <a:srgbClr val="000000"/>
                </a:solidFill>
                <a:latin typeface="MiSans"/>
                <a:ea typeface="MiSans"/>
              </a:rPr>
              <a:t>③ 代码问题先问你的 AI——"一次只要一步"</a:t>
            </a:r>
            <a:endParaRPr lang="en-US" sz="1800"/>
          </a:p>
        </p:txBody>
      </p:sp>
      <p:sp>
        <p:nvSpPr>
          <p:cNvPr id="7" name="plusbg"/>
          <p:cNvSpPr/>
          <p:nvPr/>
        </p:nvSpPr>
        <p:spPr>
          <a:xfrm>
            <a:off x="762000" y="3708400"/>
            <a:ext cx="10668000" cy="609600"/>
          </a:xfrm>
          <a:prstGeom prst="rect">
            <a:avLst/>
          </a:prstGeom>
          <a:solidFill>
            <a:srgbClr val="F3D230">
              <a:alpha val="14902"/>
            </a:srgbClr>
          </a:solidFill>
          <a:ln>
            <a:noFill/>
          </a:ln>
        </p:spPr>
      </p:sp>
      <p:sp>
        <p:nvSpPr>
          <p:cNvPr id="8" name="plust"/>
          <p:cNvSpPr txBox="1"/>
          <p:nvPr/>
        </p:nvSpPr>
        <p:spPr>
          <a:xfrm>
            <a:off x="1066800" y="3708400"/>
            <a:ext cx="10058400" cy="609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ctr">
              <a:lnSpc>
                <a:spcPct val="120000"/>
              </a:lnSpc>
            </a:pPr>
            <a:r>
              <a:rPr lang="en-US" sz="1600">
                <a:solidFill>
                  <a:srgbClr val="000000"/>
                </a:solidFill>
                <a:latin typeface="MiSans"/>
                <a:ea typeface="MiSans"/>
              </a:rPr>
              <a:t>今天加一条：aily 不熟就翻你的双视图小抄——它就是为今天写的</a:t>
            </a:r>
            <a:endParaRPr lang="en-US" sz="1600"/>
          </a:p>
        </p:txBody>
      </p:sp>
      <p:sp>
        <p:nvSpPr>
          <p:cNvPr id="9" name="lookbg"/>
          <p:cNvSpPr/>
          <p:nvPr/>
        </p:nvSpPr>
        <p:spPr>
          <a:xfrm>
            <a:off x="762000" y="4470400"/>
            <a:ext cx="10668000" cy="609600"/>
          </a:xfrm>
          <a:prstGeom prst="rect">
            <a:avLst/>
          </a:prstGeom>
          <a:solidFill>
            <a:srgbClr val="F3D230">
              <a:alpha val="14902"/>
            </a:srgbClr>
          </a:solidFill>
          <a:ln>
            <a:noFill/>
          </a:ln>
        </p:spPr>
      </p:sp>
      <p:sp>
        <p:nvSpPr>
          <p:cNvPr id="10" name="lookt"/>
          <p:cNvSpPr txBox="1"/>
          <p:nvPr/>
        </p:nvSpPr>
        <p:spPr>
          <a:xfrm>
            <a:off x="1066800" y="4470400"/>
            <a:ext cx="10058400" cy="609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ctr">
              <a:lnSpc>
                <a:spcPct val="120000"/>
              </a:lnSpc>
            </a:pPr>
            <a:r>
              <a:rPr lang="en-US" sz="1600">
                <a:solidFill>
                  <a:srgbClr val="000000"/>
                </a:solidFill>
                <a:latin typeface="MiSans"/>
                <a:ea typeface="MiSans"/>
              </a:rPr>
              <a:t>最后 10 分钟外观快装——功能跑通了再动剪刀：找个壳、固定、标出来、藏起乱</a:t>
            </a:r>
            <a:endParaRPr lang="en-US" sz="1600"/>
          </a:p>
        </p:txBody>
      </p:sp>
      <p:sp>
        <p:nvSpPr>
          <p:cNvPr id="11" name="redline"/>
          <p:cNvSpPr txBox="1"/>
          <p:nvPr/>
        </p:nvSpPr>
        <p:spPr>
          <a:xfrm>
            <a:off x="762000" y="5384800"/>
            <a:ext cx="10668000" cy="711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ctr">
              <a:lnSpc>
                <a:spcPct val="120000"/>
              </a:lnSpc>
            </a:pPr>
            <a:r>
              <a:rPr lang="en-US" sz="2000" b="1">
                <a:solidFill>
                  <a:srgbClr val="D84144"/>
                </a:solidFill>
                <a:latin typeface="MiSans"/>
                <a:ea typeface="MiSans"/>
              </a:rPr>
              <a:t>评审前 15 分钟，全场停手——准备两段话：现在能什么、还不能什么</a:t>
            </a:r>
            <a:endParaRPr lang="en-US" sz="2000"/>
          </a:p>
        </p:txBody>
      </p:sp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 xmlns:a14="http://schemas.microsoft.com/office/drawing/2010/main" xmlns:c="http://schemas.openxmlformats.org/drawingml/2006/chart" xmlns:m="http://schemas.openxmlformats.org/officeDocument/2006/math" xmlns:pptd="https://kimi.design/pptd/202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508000" y="558800"/>
            <a:ext cx="76200" cy="5588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3" name="seclabel"/>
          <p:cNvSpPr txBox="1"/>
          <p:nvPr/>
        </p:nvSpPr>
        <p:spPr>
          <a:xfrm>
            <a:off x="736600" y="558800"/>
            <a:ext cx="71120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400">
                <a:solidFill>
                  <a:srgbClr val="000000"/>
                </a:solidFill>
                <a:latin typeface="MiSans"/>
                <a:ea typeface="MiSans"/>
              </a:rPr>
              <a:t>■ 第三幕 · 评审与交接 ｜ Quinn</a:t>
            </a:r>
            <a:endParaRPr lang="en-US" sz="1400"/>
          </a:p>
        </p:txBody>
      </p:sp>
      <p:sp>
        <p:nvSpPr>
          <p:cNvPr id="4" name="title"/>
          <p:cNvSpPr txBox="1"/>
          <p:nvPr/>
        </p:nvSpPr>
        <p:spPr>
          <a:xfrm>
            <a:off x="736600" y="787400"/>
            <a:ext cx="10668000" cy="508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3400" b="1">
                <a:solidFill>
                  <a:srgbClr val="000000"/>
                </a:solidFill>
                <a:latin typeface="MiSans"/>
                <a:ea typeface="MiSans"/>
              </a:rPr>
              <a:t>停手。评审时间——本棒查"结不结实"</a:t>
            </a:r>
            <a:endParaRPr lang="en-US" sz="3400"/>
          </a:p>
        </p:txBody>
      </p:sp>
      <p:sp>
        <p:nvSpPr>
          <p:cNvPr id="5" name="pos"/>
          <p:cNvSpPr txBox="1"/>
          <p:nvPr/>
        </p:nvSpPr>
        <p:spPr>
          <a:xfrm>
            <a:off x="762000" y="1346200"/>
            <a:ext cx="106680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ctr">
              <a:lnSpc>
                <a:spcPct val="120000"/>
              </a:lnSpc>
            </a:pPr>
            <a:r>
              <a:rPr lang="en-US" sz="1600" b="1">
                <a:solidFill>
                  <a:srgbClr val="000000"/>
                </a:solidFill>
                <a:latin typeface="MiSans"/>
                <a:ea typeface="MiSans"/>
              </a:rPr>
              <a:t>上一棒挑"像不像样"；本棒查"结不结实"——5 条结实度清单，逐条实测</a:t>
            </a:r>
            <a:endParaRPr lang="en-US" sz="1600"/>
          </a:p>
        </p:txBody>
      </p:sp>
      <p:sp>
        <p:nvSpPr>
          <p:cNvPr id="6" name="codebox"/>
          <p:cNvSpPr/>
          <p:nvPr/>
        </p:nvSpPr>
        <p:spPr>
          <a:xfrm>
            <a:off x="762000" y="1854200"/>
            <a:ext cx="10668000" cy="1905000"/>
          </a:xfrm>
          <a:prstGeom prst="rect">
            <a:avLst/>
          </a:prstGeom>
          <a:solidFill>
            <a:srgbClr val="F5F5F5"/>
          </a:solidFill>
          <a:ln w="12700">
            <a:solidFill>
              <a:srgbClr val="000000"/>
            </a:solidFill>
          </a:ln>
        </p:spPr>
      </p:sp>
      <p:sp>
        <p:nvSpPr>
          <p:cNvPr id="7" name="codetext"/>
          <p:cNvSpPr txBox="1"/>
          <p:nvPr/>
        </p:nvSpPr>
        <p:spPr>
          <a:xfrm>
            <a:off x="1066800" y="1981200"/>
            <a:ext cx="10058400" cy="165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45000"/>
              </a:lnSpc>
            </a:pPr>
            <a:r>
              <a:rPr lang="en-US" sz="1400">
                <a:solidFill>
                  <a:srgbClr val="000000"/>
                </a:solidFill>
                <a:latin typeface="Source Code Pro"/>
                <a:ea typeface="Source Code Pro"/>
              </a:rPr>
              <a:t>Quinn，还是你。基于当前状态：我的作品现在能</a:t>
            </a:r>
            <a:r>
              <a:rPr lang="en-US" sz="1400">
                <a:solidFill>
                  <a:srgbClr val="000000"/>
                </a:solidFill>
                <a:highlight>
                  <a:srgbClr val="F3D230"/>
                </a:highlight>
                <a:latin typeface="Source Code Pro"/>
                <a:ea typeface="Source Code Pro"/>
              </a:rPr>
              <a:t>＿＿＿</a:t>
            </a:r>
            <a:r>
              <a:rPr lang="en-US" sz="1400">
                <a:solidFill>
                  <a:srgbClr val="000000"/>
                </a:solidFill>
                <a:latin typeface="Source Code Pro"/>
                <a:ea typeface="Source Code Pro"/>
              </a:rPr>
              <a:t>，还不能</a:t>
            </a:r>
            <a:r>
              <a:rPr lang="en-US" sz="1400">
                <a:solidFill>
                  <a:srgbClr val="000000"/>
                </a:solidFill>
                <a:highlight>
                  <a:srgbClr val="F3D230"/>
                </a:highlight>
                <a:latin typeface="Source Code Pro"/>
                <a:ea typeface="Source Code Pro"/>
              </a:rPr>
              <a:t>＿＿＿</a:t>
            </a:r>
            <a:r>
              <a:rPr lang="en-US" sz="1400">
                <a:solidFill>
                  <a:srgbClr val="000000"/>
                </a:solidFill>
                <a:latin typeface="Source Code Pro"/>
                <a:ea typeface="Source Code Pro"/>
              </a:rPr>
              <a:t>。</a:t>
            </a:r>
            <a:endParaRPr lang="en-US" sz="1400"/>
          </a:p>
          <a:p>
            <a:pPr algn="l">
              <a:lnSpc>
                <a:spcPct val="145000"/>
              </a:lnSpc>
            </a:pPr>
            <a:r>
              <a:rPr lang="en-US" sz="1400">
                <a:solidFill>
                  <a:srgbClr val="000000"/>
                </a:solidFill>
                <a:latin typeface="Source Code Pro"/>
                <a:ea typeface="Source Code Pro"/>
              </a:rPr>
              <a:t>你是测试工程师，给我 5 条"结实度测试"：</a:t>
            </a:r>
            <a:endParaRPr lang="en-US" sz="1400"/>
          </a:p>
          <a:p>
            <a:pPr algn="l">
              <a:lnSpc>
                <a:spcPct val="145000"/>
              </a:lnSpc>
            </a:pPr>
            <a:r>
              <a:rPr lang="en-US" sz="1400">
                <a:solidFill>
                  <a:srgbClr val="000000"/>
                </a:solidFill>
                <a:latin typeface="Source Code Pro"/>
                <a:ea typeface="Source Code Pro"/>
              </a:rPr>
              <a:t>连续用 10 次？放着不动 5 分钟再动？换个人来用？</a:t>
            </a:r>
            <a:endParaRPr lang="en-US" sz="1400"/>
          </a:p>
          <a:p>
            <a:pPr algn="l">
              <a:lnSpc>
                <a:spcPct val="145000"/>
              </a:lnSpc>
            </a:pPr>
            <a:r>
              <a:rPr lang="en-US" sz="1400">
                <a:solidFill>
                  <a:srgbClr val="000000"/>
                </a:solidFill>
                <a:latin typeface="Source Code Pro"/>
                <a:ea typeface="Source Code Pro"/>
              </a:rPr>
              <a:t>快按慢按乱按？——具体到怎么操作、看什么现象。</a:t>
            </a:r>
            <a:endParaRPr lang="en-US" sz="1400"/>
          </a:p>
        </p:txBody>
      </p:sp>
      <p:sp>
        <p:nvSpPr>
          <p:cNvPr id="8" name="prebox"/>
          <p:cNvSpPr/>
          <p:nvPr/>
        </p:nvSpPr>
        <p:spPr>
          <a:xfrm>
            <a:off x="762000" y="3962400"/>
            <a:ext cx="10668000" cy="1320800"/>
          </a:xfrm>
          <a:prstGeom prst="rect">
            <a:avLst/>
          </a:prstGeom>
          <a:noFill/>
          <a:ln w="12700">
            <a:solidFill>
              <a:srgbClr val="000000"/>
            </a:solidFill>
          </a:ln>
        </p:spPr>
      </p:sp>
      <p:sp>
        <p:nvSpPr>
          <p:cNvPr id="9" name="pret"/>
          <p:cNvSpPr txBox="1"/>
          <p:nvPr/>
        </p:nvSpPr>
        <p:spPr>
          <a:xfrm>
            <a:off x="1066800" y="4064000"/>
            <a:ext cx="10058400" cy="1117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45000"/>
              </a:lnSpc>
            </a:pPr>
            <a:r>
              <a:rPr lang="en-US" sz="1400" b="1">
                <a:solidFill>
                  <a:srgbClr val="000000"/>
                </a:solidFill>
                <a:latin typeface="MiSans"/>
                <a:ea typeface="MiSans"/>
              </a:rPr>
              <a:t>前提：这个对话窗里要有 BMAD 团队</a:t>
            </a:r>
            <a:r>
              <a:rPr lang="en-US" sz="1400">
                <a:solidFill>
                  <a:srgbClr val="000000"/>
                </a:solidFill>
                <a:latin typeface="MiSans"/>
                <a:ea typeface="MiSans"/>
              </a:rPr>
              <a:t>——第 8 课已发过背景句的窗口直接发；</a:t>
            </a:r>
            <a:endParaRPr lang="en-US" sz="1400"/>
          </a:p>
          <a:p>
            <a:pPr algn="l">
              <a:lnSpc>
                <a:spcPct val="145000"/>
              </a:lnSpc>
            </a:pPr>
            <a:r>
              <a:rPr lang="en-US" sz="1400">
                <a:solidFill>
                  <a:srgbClr val="000000"/>
                </a:solidFill>
                <a:latin typeface="MiSans"/>
                <a:ea typeface="MiSans"/>
              </a:rPr>
              <a:t>新对话窗先补：「这个对话里有 BMAD 团队：John（PM）、Sally（UX）、</a:t>
            </a:r>
            <a:endParaRPr lang="en-US" sz="1400"/>
          </a:p>
          <a:p>
            <a:pPr algn="l">
              <a:lnSpc>
                <a:spcPct val="145000"/>
              </a:lnSpc>
            </a:pPr>
            <a:r>
              <a:rPr lang="en-US" sz="1400">
                <a:solidFill>
                  <a:srgbClr val="000000"/>
                </a:solidFill>
                <a:latin typeface="MiSans"/>
                <a:ea typeface="MiSans"/>
              </a:rPr>
              <a:t>Winston（架构师）、Amelia（开发）、Quinn（测试）。记住了，后面我会直接找他们干活。」</a:t>
            </a:r>
            <a:endParaRPr lang="en-US" sz="1400"/>
          </a:p>
        </p:txBody>
      </p:sp>
      <p:sp>
        <p:nvSpPr>
          <p:cNvPr id="10" name="redline"/>
          <p:cNvSpPr txBox="1"/>
          <p:nvPr/>
        </p:nvSpPr>
        <p:spPr>
          <a:xfrm>
            <a:off x="762000" y="5537200"/>
            <a:ext cx="10668000" cy="558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ctr">
              <a:lnSpc>
                <a:spcPct val="120000"/>
              </a:lnSpc>
            </a:pPr>
            <a:r>
              <a:rPr lang="en-US" sz="2000" b="1">
                <a:solidFill>
                  <a:srgbClr val="D84144"/>
                </a:solidFill>
                <a:latin typeface="MiSans"/>
                <a:ea typeface="MiSans"/>
              </a:rPr>
              <a:t>评审时间一到，准时开始——谁都挤不掉，包括讲师</a:t>
            </a:r>
            <a:endParaRPr lang="en-US" sz="2000"/>
          </a:p>
        </p:txBody>
      </p:sp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 xmlns:a14="http://schemas.microsoft.com/office/drawing/2010/main" xmlns:c="http://schemas.openxmlformats.org/drawingml/2006/chart" xmlns:m="http://schemas.openxmlformats.org/officeDocument/2006/math" xmlns:pptd="https://kimi.design/pptd/202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508000" y="558800"/>
            <a:ext cx="76200" cy="5588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3" name="seclabel"/>
          <p:cNvSpPr txBox="1"/>
          <p:nvPr/>
        </p:nvSpPr>
        <p:spPr>
          <a:xfrm>
            <a:off x="736600" y="558800"/>
            <a:ext cx="71120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400">
                <a:solidFill>
                  <a:srgbClr val="000000"/>
                </a:solidFill>
                <a:latin typeface="MiSans"/>
                <a:ea typeface="MiSans"/>
              </a:rPr>
              <a:t>■ 第三幕 · 评审与交接 ｜ 挑剔用户</a:t>
            </a:r>
            <a:endParaRPr lang="en-US" sz="1400"/>
          </a:p>
        </p:txBody>
      </p:sp>
      <p:sp>
        <p:nvSpPr>
          <p:cNvPr id="4" name="title"/>
          <p:cNvSpPr txBox="1"/>
          <p:nvPr/>
        </p:nvSpPr>
        <p:spPr>
          <a:xfrm>
            <a:off x="736600" y="787400"/>
            <a:ext cx="10668000" cy="508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3400" b="1">
                <a:solidFill>
                  <a:srgbClr val="000000"/>
                </a:solidFill>
                <a:latin typeface="MiSans"/>
                <a:ea typeface="MiSans"/>
              </a:rPr>
              <a:t>挑剔用户，本棒只挑 1 个刺</a:t>
            </a:r>
            <a:endParaRPr lang="en-US" sz="3400"/>
          </a:p>
        </p:txBody>
      </p:sp>
      <p:sp>
        <p:nvSpPr>
          <p:cNvPr id="5" name="codebox"/>
          <p:cNvSpPr/>
          <p:nvPr/>
        </p:nvSpPr>
        <p:spPr>
          <a:xfrm>
            <a:off x="762000" y="1778000"/>
            <a:ext cx="10668000" cy="2159000"/>
          </a:xfrm>
          <a:prstGeom prst="rect">
            <a:avLst/>
          </a:prstGeom>
          <a:solidFill>
            <a:srgbClr val="F5F5F5"/>
          </a:solidFill>
          <a:ln w="12700">
            <a:solidFill>
              <a:srgbClr val="000000"/>
            </a:solidFill>
          </a:ln>
        </p:spPr>
      </p:sp>
      <p:sp>
        <p:nvSpPr>
          <p:cNvPr id="6" name="codetext"/>
          <p:cNvSpPr txBox="1"/>
          <p:nvPr/>
        </p:nvSpPr>
        <p:spPr>
          <a:xfrm>
            <a:off x="1066800" y="1981200"/>
            <a:ext cx="10058400" cy="1752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45000"/>
              </a:lnSpc>
            </a:pPr>
            <a:r>
              <a:rPr lang="en-US" sz="1600">
                <a:solidFill>
                  <a:srgbClr val="000000"/>
                </a:solidFill>
                <a:latin typeface="Source Code Pro"/>
                <a:ea typeface="Source Code Pro"/>
              </a:rPr>
              <a:t>你现在是我的真实用户（</a:t>
            </a:r>
            <a:r>
              <a:rPr lang="en-US" sz="1600">
                <a:solidFill>
                  <a:srgbClr val="000000"/>
                </a:solidFill>
                <a:highlight>
                  <a:srgbClr val="F3D230"/>
                </a:highlight>
                <a:latin typeface="Source Code Pro"/>
                <a:ea typeface="Source Code Pro"/>
              </a:rPr>
              <a:t>＿＿＿</a:t>
            </a:r>
            <a:r>
              <a:rPr lang="en-US" sz="1600">
                <a:solidFill>
                  <a:srgbClr val="000000"/>
                </a:solidFill>
                <a:latin typeface="Source Code Pro"/>
                <a:ea typeface="Source Code Pro"/>
              </a:rPr>
              <a:t>）。</a:t>
            </a:r>
            <a:endParaRPr lang="en-US" sz="1600"/>
          </a:p>
          <a:p>
            <a:pPr algn="l">
              <a:lnSpc>
                <a:spcPct val="145000"/>
              </a:lnSpc>
            </a:pPr>
            <a:r>
              <a:rPr lang="en-US" sz="1600">
                <a:solidFill>
                  <a:srgbClr val="000000"/>
                </a:solidFill>
                <a:latin typeface="Source Code Pro"/>
                <a:ea typeface="Source Code Pro"/>
              </a:rPr>
              <a:t>我的作品现在能</a:t>
            </a:r>
            <a:r>
              <a:rPr lang="en-US" sz="1600">
                <a:solidFill>
                  <a:srgbClr val="000000"/>
                </a:solidFill>
                <a:highlight>
                  <a:srgbClr val="F3D230"/>
                </a:highlight>
                <a:latin typeface="Source Code Pro"/>
                <a:ea typeface="Source Code Pro"/>
              </a:rPr>
              <a:t>＿＿＿</a:t>
            </a:r>
            <a:r>
              <a:rPr lang="en-US" sz="1600">
                <a:solidFill>
                  <a:srgbClr val="000000"/>
                </a:solidFill>
                <a:latin typeface="Source Code Pro"/>
                <a:ea typeface="Source Code Pro"/>
              </a:rPr>
              <a:t>，还不能</a:t>
            </a:r>
            <a:r>
              <a:rPr lang="en-US" sz="1600">
                <a:solidFill>
                  <a:srgbClr val="000000"/>
                </a:solidFill>
                <a:highlight>
                  <a:srgbClr val="F3D230"/>
                </a:highlight>
                <a:latin typeface="Source Code Pro"/>
                <a:ea typeface="Source Code Pro"/>
              </a:rPr>
              <a:t>＿＿＿</a:t>
            </a:r>
            <a:r>
              <a:rPr lang="en-US" sz="1600">
                <a:solidFill>
                  <a:srgbClr val="000000"/>
                </a:solidFill>
                <a:latin typeface="Source Code Pro"/>
                <a:ea typeface="Source Code Pro"/>
              </a:rPr>
              <a:t>。</a:t>
            </a:r>
            <a:endParaRPr lang="en-US" sz="1600"/>
          </a:p>
          <a:p>
            <a:pPr algn="l">
              <a:lnSpc>
                <a:spcPct val="145000"/>
              </a:lnSpc>
            </a:pPr>
            <a:r>
              <a:rPr lang="en-US" sz="1600">
                <a:solidFill>
                  <a:srgbClr val="000000"/>
                </a:solidFill>
                <a:latin typeface="Source Code Pro"/>
                <a:ea typeface="Source Code Pro"/>
              </a:rPr>
              <a:t>不许夸。以他/她的身份只挑 1 个最致命的刺。</a:t>
            </a:r>
            <a:endParaRPr lang="en-US" sz="1600"/>
          </a:p>
        </p:txBody>
      </p:sp>
      <p:sp>
        <p:nvSpPr>
          <p:cNvPr id="7" name="pushbg"/>
          <p:cNvSpPr/>
          <p:nvPr/>
        </p:nvSpPr>
        <p:spPr>
          <a:xfrm>
            <a:off x="762000" y="4267200"/>
            <a:ext cx="10668000" cy="711200"/>
          </a:xfrm>
          <a:prstGeom prst="rect">
            <a:avLst/>
          </a:prstGeom>
          <a:solidFill>
            <a:srgbClr val="F3D230">
              <a:alpha val="14902"/>
            </a:srgbClr>
          </a:solidFill>
          <a:ln>
            <a:noFill/>
          </a:ln>
        </p:spPr>
      </p:sp>
      <p:sp>
        <p:nvSpPr>
          <p:cNvPr id="8" name="pusht"/>
          <p:cNvSpPr txBox="1"/>
          <p:nvPr/>
        </p:nvSpPr>
        <p:spPr>
          <a:xfrm>
            <a:off x="1066800" y="4267200"/>
            <a:ext cx="10058400" cy="711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ctr">
              <a:lnSpc>
                <a:spcPct val="120000"/>
              </a:lnSpc>
            </a:pPr>
            <a:r>
              <a:rPr lang="en-US" sz="1700">
                <a:solidFill>
                  <a:srgbClr val="000000"/>
                </a:solidFill>
                <a:latin typeface="MiSans"/>
                <a:ea typeface="MiSans"/>
              </a:rPr>
              <a:t>AI 开夸了？顶回去——"不许夸。只许挑刺。"</a:t>
            </a:r>
            <a:endParaRPr lang="en-US" sz="1700"/>
          </a:p>
        </p:txBody>
      </p:sp>
      <p:sp>
        <p:nvSpPr>
          <p:cNvPr id="9" name="bottom"/>
          <p:cNvSpPr txBox="1"/>
          <p:nvPr/>
        </p:nvSpPr>
        <p:spPr>
          <a:xfrm>
            <a:off x="762000" y="5334000"/>
            <a:ext cx="10668000" cy="457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ctr">
              <a:lnSpc>
                <a:spcPct val="140000"/>
              </a:lnSpc>
            </a:pPr>
            <a:r>
              <a:rPr lang="en-US" sz="1500">
                <a:solidFill>
                  <a:srgbClr val="000000"/>
                </a:solidFill>
                <a:latin typeface="MiSans"/>
                <a:ea typeface="MiSans"/>
              </a:rPr>
              <a:t>5 条全过没毛病？让同桌用野蛮人方式再试一次</a:t>
            </a:r>
            <a:endParaRPr lang="en-US" sz="1500"/>
          </a:p>
        </p:txBody>
      </p:sp>
    </p:spTree>
  </p:cSld>
  <p:clrMapOvr>
    <a:masterClrMapping/>
  </p:clrMapOvr>
</p:sld>
</file>

<file path=ppt/slides/slide18.xml><?xml version="1.0" encoding="utf-8"?>
<p:sld xmlns:p="http://schemas.openxmlformats.org/presentationml/2006/main" xmlns:a="http://schemas.openxmlformats.org/drawingml/2006/main" xmlns:a14="http://schemas.microsoft.com/office/drawing/2010/main" xmlns:c="http://schemas.openxmlformats.org/drawingml/2006/chart" xmlns:m="http://schemas.openxmlformats.org/officeDocument/2006/math" xmlns:pptd="https://kimi.design/pptd/202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508000" y="558800"/>
            <a:ext cx="76200" cy="5588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3" name="seclabel"/>
          <p:cNvSpPr txBox="1"/>
          <p:nvPr/>
        </p:nvSpPr>
        <p:spPr>
          <a:xfrm>
            <a:off x="736600" y="558800"/>
            <a:ext cx="71120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400">
                <a:solidFill>
                  <a:srgbClr val="000000"/>
                </a:solidFill>
                <a:latin typeface="MiSans"/>
                <a:ea typeface="MiSans"/>
              </a:rPr>
              <a:t>■ 第三幕 · 评审与交接 ｜ 交接</a:t>
            </a:r>
            <a:endParaRPr lang="en-US" sz="1400"/>
          </a:p>
        </p:txBody>
      </p:sp>
      <p:sp>
        <p:nvSpPr>
          <p:cNvPr id="4" name="title"/>
          <p:cNvSpPr txBox="1"/>
          <p:nvPr/>
        </p:nvSpPr>
        <p:spPr>
          <a:xfrm>
            <a:off x="736600" y="787400"/>
            <a:ext cx="10668000" cy="508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3400" b="1">
                <a:solidFill>
                  <a:srgbClr val="000000"/>
                </a:solidFill>
                <a:latin typeface="MiSans"/>
                <a:ea typeface="MiSans"/>
              </a:rPr>
              <a:t>逐条决定，填第 2 棒交接单</a:t>
            </a:r>
            <a:endParaRPr lang="en-US" sz="3400"/>
          </a:p>
        </p:txBody>
      </p:sp>
      <p:sp>
        <p:nvSpPr>
          <p:cNvPr id="5" name="disccard"/>
          <p:cNvSpPr/>
          <p:nvPr/>
        </p:nvSpPr>
        <p:spPr>
          <a:xfrm>
            <a:off x="762000" y="1498600"/>
            <a:ext cx="5080000" cy="266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</p:sp>
      <p:sp>
        <p:nvSpPr>
          <p:cNvPr id="6" name="disct"/>
          <p:cNvSpPr txBox="1"/>
          <p:nvPr/>
        </p:nvSpPr>
        <p:spPr>
          <a:xfrm>
            <a:off x="1066800" y="1676400"/>
            <a:ext cx="4470400" cy="2311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55000"/>
              </a:lnSpc>
            </a:pPr>
            <a:r>
              <a:rPr lang="en-US" sz="1500" b="1">
                <a:solidFill>
                  <a:srgbClr val="000000"/>
                </a:solidFill>
                <a:latin typeface="MiSans"/>
                <a:ea typeface="MiSans"/>
              </a:rPr>
              <a:t>决定纪律</a:t>
            </a:r>
            <a:endParaRPr lang="en-US" sz="1500"/>
          </a:p>
          <a:p>
            <a:pPr algn="l">
              <a:lnSpc>
                <a:spcPct val="155000"/>
              </a:lnSpc>
              <a:spcBef>
                <a:spcPts val="600"/>
              </a:spcBef>
            </a:pPr>
            <a:r>
              <a:rPr lang="en-US" sz="1500">
                <a:solidFill>
                  <a:srgbClr val="000000"/>
                </a:solidFill>
                <a:latin typeface="MiSans"/>
                <a:ea typeface="MiSans"/>
              </a:rPr>
              <a:t>接受还是拒绝，都写理由。</a:t>
            </a:r>
            <a:endParaRPr lang="en-US" sz="1500"/>
          </a:p>
          <a:p>
            <a:pPr algn="l">
              <a:lnSpc>
                <a:spcPct val="155000"/>
              </a:lnSpc>
              <a:spcBef>
                <a:spcPts val="600"/>
              </a:spcBef>
            </a:pPr>
            <a:r>
              <a:rPr lang="en-US" sz="1500">
                <a:solidFill>
                  <a:srgbClr val="000000"/>
                </a:solidFill>
                <a:latin typeface="MiSans"/>
                <a:ea typeface="MiSans"/>
              </a:rPr>
              <a:t>下一棒是冲刺棒，</a:t>
            </a:r>
            <a:r>
              <a:rPr lang="en-US" sz="1500" b="1">
                <a:solidFill>
                  <a:srgbClr val="000000"/>
                </a:solidFill>
                <a:latin typeface="MiSans"/>
                <a:ea typeface="MiSans"/>
              </a:rPr>
              <a:t>只修不加</a:t>
            </a:r>
            <a:r>
              <a:rPr lang="en-US" sz="1500">
                <a:solidFill>
                  <a:srgbClr val="000000"/>
                </a:solidFill>
                <a:latin typeface="MiSans"/>
                <a:ea typeface="MiSans"/>
              </a:rPr>
              <a:t>——改不完的写进"下一棒第一件事"时想清楚：那是你最后一次修它的机会。</a:t>
            </a:r>
            <a:endParaRPr lang="en-US" sz="1500"/>
          </a:p>
        </p:txBody>
      </p:sp>
      <p:sp>
        <p:nvSpPr>
          <p:cNvPr id="7" name="codebox"/>
          <p:cNvSpPr/>
          <p:nvPr/>
        </p:nvSpPr>
        <p:spPr>
          <a:xfrm>
            <a:off x="6146800" y="1498600"/>
            <a:ext cx="5283200" cy="2819400"/>
          </a:xfrm>
          <a:prstGeom prst="rect">
            <a:avLst/>
          </a:prstGeom>
          <a:solidFill>
            <a:srgbClr val="F5F5F5"/>
          </a:solidFill>
          <a:ln w="12700">
            <a:solidFill>
              <a:srgbClr val="000000"/>
            </a:solidFill>
          </a:ln>
        </p:spPr>
      </p:sp>
      <p:sp>
        <p:nvSpPr>
          <p:cNvPr id="8" name="codetext"/>
          <p:cNvSpPr txBox="1"/>
          <p:nvPr/>
        </p:nvSpPr>
        <p:spPr>
          <a:xfrm>
            <a:off x="6375400" y="1574800"/>
            <a:ext cx="4826000" cy="2667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45000"/>
              </a:lnSpc>
            </a:pPr>
            <a:r>
              <a:rPr lang="en-US" sz="1300">
                <a:solidFill>
                  <a:srgbClr val="000000"/>
                </a:solidFill>
                <a:latin typeface="Source Code Pro"/>
                <a:ea typeface="Source Code Pro"/>
              </a:rPr>
              <a:t># 棒交接单 · 第 2 棒</a:t>
            </a:r>
            <a:endParaRPr lang="en-US" sz="1300"/>
          </a:p>
          <a:p>
            <a:pPr algn="l">
              <a:lnSpc>
                <a:spcPct val="145000"/>
              </a:lnSpc>
            </a:pPr>
            <a:r>
              <a:rPr lang="en-US" sz="1300">
                <a:solidFill>
                  <a:srgbClr val="000000"/>
                </a:solidFill>
                <a:latin typeface="Source Code Pro"/>
                <a:ea typeface="Source Code Pro"/>
              </a:rPr>
              <a:t>名字：＿＿＿　日期：＿＿＿</a:t>
            </a:r>
            <a:endParaRPr lang="en-US" sz="1300"/>
          </a:p>
          <a:p>
            <a:pPr algn="l">
              <a:lnSpc>
                <a:spcPct val="145000"/>
              </a:lnSpc>
              <a:spcBef>
                <a:spcPts val="400"/>
              </a:spcBef>
            </a:pPr>
            <a:r>
              <a:rPr lang="en-US" sz="1300">
                <a:solidFill>
                  <a:srgbClr val="000000"/>
                </a:solidFill>
                <a:latin typeface="Source Code Pro"/>
                <a:ea typeface="Source Code Pro"/>
              </a:rPr>
              <a:t>## 本棒做到哪（一句可验证的话）</a:t>
            </a:r>
            <a:endParaRPr lang="en-US" sz="1300"/>
          </a:p>
          <a:p>
            <a:pPr algn="l">
              <a:lnSpc>
                <a:spcPct val="145000"/>
              </a:lnSpc>
            </a:pPr>
            <a:r>
              <a:rPr lang="en-US" sz="1300">
                <a:solidFill>
                  <a:srgbClr val="000000"/>
                </a:solidFill>
                <a:latin typeface="Source Code Pro"/>
                <a:ea typeface="Source Code Pro"/>
              </a:rPr>
              <a:t>## 我请了外援＿＿＿（没请的写：我不引库，因为＿＿＿）</a:t>
            </a:r>
            <a:endParaRPr lang="en-US" sz="1300"/>
          </a:p>
          <a:p>
            <a:pPr algn="l">
              <a:lnSpc>
                <a:spcPct val="145000"/>
              </a:lnSpc>
            </a:pPr>
            <a:r>
              <a:rPr lang="en-US" sz="1300">
                <a:solidFill>
                  <a:srgbClr val="000000"/>
                </a:solidFill>
                <a:latin typeface="Source Code Pro"/>
                <a:ea typeface="Source Code Pro"/>
              </a:rPr>
              <a:t>## 外观现在什么样（没装的写：还是散件）</a:t>
            </a:r>
            <a:endParaRPr lang="en-US" sz="1300"/>
          </a:p>
          <a:p>
            <a:pPr algn="l">
              <a:lnSpc>
                <a:spcPct val="145000"/>
              </a:lnSpc>
            </a:pPr>
            <a:r>
              <a:rPr lang="en-US" sz="1300">
                <a:solidFill>
                  <a:srgbClr val="000000"/>
                </a:solidFill>
                <a:latin typeface="Source Code Pro"/>
                <a:ea typeface="Source Code Pro"/>
              </a:rPr>
              <a:t>## AI 评审最重要的 1 条＋我的决定（接受/拒绝＋理由）</a:t>
            </a:r>
            <a:endParaRPr lang="en-US" sz="1300"/>
          </a:p>
          <a:p>
            <a:pPr algn="l">
              <a:lnSpc>
                <a:spcPct val="145000"/>
              </a:lnSpc>
            </a:pPr>
            <a:r>
              <a:rPr lang="en-US" sz="1300">
                <a:solidFill>
                  <a:srgbClr val="000000"/>
                </a:solidFill>
                <a:latin typeface="Source Code Pro"/>
                <a:ea typeface="Source Code Pro"/>
              </a:rPr>
              <a:t>## 下一棒第一件事（只修不加，想清楚了）</a:t>
            </a:r>
            <a:endParaRPr lang="en-US" sz="1300"/>
          </a:p>
        </p:txBody>
      </p:sp>
      <p:sp>
        <p:nvSpPr>
          <p:cNvPr id="9" name="redline"/>
          <p:cNvSpPr txBox="1"/>
          <p:nvPr/>
        </p:nvSpPr>
        <p:spPr>
          <a:xfrm>
            <a:off x="762000" y="4419600"/>
            <a:ext cx="10668000" cy="508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ctr">
              <a:lnSpc>
                <a:spcPct val="120000"/>
              </a:lnSpc>
            </a:pPr>
            <a:r>
              <a:rPr lang="en-US" sz="1900" b="1">
                <a:solidFill>
                  <a:srgbClr val="D84144"/>
                </a:solidFill>
                <a:latin typeface="MiSans"/>
                <a:ea typeface="MiSans"/>
              </a:rPr>
              <a:t>全盘接受的，讲师找你聊——没主见比不改更危险</a:t>
            </a:r>
            <a:endParaRPr lang="en-US" sz="1900"/>
          </a:p>
        </p:txBody>
      </p:sp>
      <p:sp>
        <p:nvSpPr>
          <p:cNvPr id="10" name="logbg"/>
          <p:cNvSpPr/>
          <p:nvPr/>
        </p:nvSpPr>
        <p:spPr>
          <a:xfrm>
            <a:off x="762000" y="5156200"/>
            <a:ext cx="10668000" cy="812800"/>
          </a:xfrm>
          <a:prstGeom prst="rect">
            <a:avLst/>
          </a:prstGeom>
          <a:solidFill>
            <a:srgbClr val="F3D230">
              <a:alpha val="14902"/>
            </a:srgbClr>
          </a:solidFill>
          <a:ln>
            <a:noFill/>
          </a:ln>
        </p:spPr>
      </p:sp>
      <p:sp>
        <p:nvSpPr>
          <p:cNvPr id="11" name="logt"/>
          <p:cNvSpPr txBox="1"/>
          <p:nvPr/>
        </p:nvSpPr>
        <p:spPr>
          <a:xfrm>
            <a:off x="1066800" y="5156200"/>
            <a:ext cx="10058400" cy="812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ctr">
              <a:lnSpc>
                <a:spcPct val="145000"/>
              </a:lnSpc>
            </a:pPr>
            <a:r>
              <a:rPr lang="en-US" sz="1600">
                <a:solidFill>
                  <a:srgbClr val="000000"/>
                </a:solidFill>
                <a:latin typeface="MiSans"/>
                <a:ea typeface="MiSans"/>
              </a:rPr>
              <a:t>日志"做了"句必填——</a:t>
            </a:r>
            <a:endParaRPr lang="en-US" sz="1600"/>
          </a:p>
          <a:p>
            <a:pPr algn="ctr">
              <a:lnSpc>
                <a:spcPct val="145000"/>
              </a:lnSpc>
            </a:pPr>
            <a:r>
              <a:rPr lang="en-US" sz="1600" b="1">
                <a:solidFill>
                  <a:srgbClr val="000000"/>
                </a:solidFill>
                <a:latin typeface="MiSans"/>
                <a:ea typeface="MiSans"/>
              </a:rPr>
              <a:t>我请了外援＿＿＿，它替我省了＿＿＿；外观用了＿＿＿（材料）；结实度测试过了＿＿＿条</a:t>
            </a:r>
            <a:endParaRPr lang="en-US" sz="1600"/>
          </a:p>
        </p:txBody>
      </p:sp>
    </p:spTree>
  </p:cSld>
  <p:clrMapOvr>
    <a:masterClrMapping/>
  </p:clrMapOvr>
</p:sld>
</file>

<file path=ppt/slides/slide19.xml><?xml version="1.0" encoding="utf-8"?>
<p:sld xmlns:p="http://schemas.openxmlformats.org/presentationml/2006/main" xmlns:a="http://schemas.openxmlformats.org/drawingml/2006/main" xmlns:a14="http://schemas.microsoft.com/office/drawing/2010/main" xmlns:c="http://schemas.openxmlformats.org/drawingml/2006/chart" xmlns:m="http://schemas.openxmlformats.org/officeDocument/2006/math" xmlns:pptd="https://kimi.design/pptd/202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508000" y="558800"/>
            <a:ext cx="76200" cy="5588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3" name="seclabel"/>
          <p:cNvSpPr txBox="1"/>
          <p:nvPr/>
        </p:nvSpPr>
        <p:spPr>
          <a:xfrm>
            <a:off x="736600" y="558800"/>
            <a:ext cx="71120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400">
                <a:solidFill>
                  <a:srgbClr val="000000"/>
                </a:solidFill>
                <a:latin typeface="MiSans"/>
                <a:ea typeface="MiSans"/>
              </a:rPr>
              <a:t>■ 第三幕 · 评审与交接 ｜ 封顶</a:t>
            </a:r>
            <a:endParaRPr lang="en-US" sz="1400"/>
          </a:p>
        </p:txBody>
      </p:sp>
      <p:sp>
        <p:nvSpPr>
          <p:cNvPr id="4" name="big"/>
          <p:cNvSpPr txBox="1"/>
          <p:nvPr/>
        </p:nvSpPr>
        <p:spPr>
          <a:xfrm>
            <a:off x="762000" y="1041400"/>
            <a:ext cx="10668000" cy="1016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ctr">
              <a:lnSpc>
                <a:spcPct val="120000"/>
              </a:lnSpc>
            </a:pPr>
            <a:r>
              <a:rPr lang="en-US" sz="6400" b="1">
                <a:solidFill>
                  <a:srgbClr val="000000"/>
                </a:solidFill>
                <a:latin typeface="MiSans"/>
                <a:ea typeface="MiSans"/>
              </a:rPr>
              <a:t>封顶</a:t>
            </a:r>
            <a:endParaRPr lang="en-US" sz="6400"/>
          </a:p>
        </p:txBody>
      </p:sp>
      <p:sp>
        <p:nvSpPr>
          <p:cNvPr id="5" name="journey"/>
          <p:cNvSpPr txBox="1"/>
          <p:nvPr/>
        </p:nvSpPr>
        <p:spPr>
          <a:xfrm>
            <a:off x="1651000" y="2286000"/>
            <a:ext cx="8890000" cy="2540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ctr">
              <a:lnSpc>
                <a:spcPct val="155000"/>
              </a:lnSpc>
            </a:pPr>
            <a:r>
              <a:rPr lang="en-US" sz="1600">
                <a:solidFill>
                  <a:srgbClr val="000000"/>
                </a:solidFill>
                <a:latin typeface="MiSans"/>
                <a:ea typeface="MiSans"/>
              </a:rPr>
              <a:t>· 点亮第一盏灯 · 找到值得做的题目 · 作品有了屏幕 ·</a:t>
            </a:r>
            <a:endParaRPr lang="en-US" sz="1600"/>
          </a:p>
          <a:p>
            <a:pPr algn="ctr">
              <a:lnSpc>
                <a:spcPct val="155000"/>
              </a:lnSpc>
            </a:pPr>
            <a:r>
              <a:rPr lang="en-US" sz="1600">
                <a:solidFill>
                  <a:srgbClr val="000000"/>
                </a:solidFill>
                <a:latin typeface="MiSans"/>
                <a:ea typeface="MiSans"/>
              </a:rPr>
              <a:t>· 有了 AI 团队 · 教硬件学会看 · 搬回自己的电脑 ·</a:t>
            </a:r>
            <a:endParaRPr lang="en-US" sz="1600"/>
          </a:p>
          <a:p>
            <a:pPr algn="ctr">
              <a:lnSpc>
                <a:spcPct val="155000"/>
              </a:lnSpc>
            </a:pPr>
            <a:r>
              <a:rPr lang="en-US" sz="1600">
                <a:solidFill>
                  <a:srgbClr val="000000"/>
                </a:solidFill>
                <a:latin typeface="MiSans"/>
                <a:ea typeface="MiSans"/>
              </a:rPr>
              <a:t>· 立项 · 跑通第一圈 ·</a:t>
            </a:r>
            <a:endParaRPr lang="en-US" sz="1600"/>
          </a:p>
          <a:p>
            <a:pPr algn="ctr">
              <a:lnSpc>
                <a:spcPct val="155000"/>
              </a:lnSpc>
              <a:spcBef>
                <a:spcPts val="800"/>
              </a:spcBef>
            </a:pPr>
            <a:r>
              <a:rPr lang="en-US" sz="2200" b="1">
                <a:solidFill>
                  <a:srgbClr val="000000"/>
                </a:solidFill>
                <a:latin typeface="MiSans"/>
                <a:ea typeface="MiSans"/>
              </a:rPr>
              <a:t>· 今天，请来了外援 ·</a:t>
            </a:r>
            <a:endParaRPr lang="en-US" sz="1600"/>
          </a:p>
        </p:txBody>
      </p:sp>
      <p:sp>
        <p:nvSpPr>
          <p:cNvPr id="6" name="quotebg"/>
          <p:cNvSpPr/>
          <p:nvPr/>
        </p:nvSpPr>
        <p:spPr>
          <a:xfrm>
            <a:off x="1651000" y="5029200"/>
            <a:ext cx="8890000" cy="711200"/>
          </a:xfrm>
          <a:prstGeom prst="rect">
            <a:avLst/>
          </a:prstGeom>
          <a:solidFill>
            <a:srgbClr val="F3D230">
              <a:alpha val="14902"/>
            </a:srgbClr>
          </a:solidFill>
          <a:ln>
            <a:noFill/>
          </a:ln>
        </p:spPr>
      </p:sp>
      <p:sp>
        <p:nvSpPr>
          <p:cNvPr id="7" name="quotet"/>
          <p:cNvSpPr txBox="1"/>
          <p:nvPr/>
        </p:nvSpPr>
        <p:spPr>
          <a:xfrm>
            <a:off x="1905000" y="5029200"/>
            <a:ext cx="8382000" cy="711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ctr">
              <a:lnSpc>
                <a:spcPct val="120000"/>
              </a:lnSpc>
            </a:pPr>
            <a:r>
              <a:rPr lang="en-US" sz="1600">
                <a:solidFill>
                  <a:srgbClr val="000000"/>
                </a:solidFill>
                <a:latin typeface="MiSans"/>
                <a:ea typeface="MiSans"/>
              </a:rPr>
              <a:t>从"敢做"到"看得懂"，到"会请外援"——功能封顶了，还第一次有了样子。停一秒，看看它</a:t>
            </a:r>
            <a:endParaRPr lang="en-US" sz="1600"/>
          </a:p>
        </p:txBody>
      </p:sp>
      <p:sp>
        <p:nvSpPr>
          <p:cNvPr id="8" name="next"/>
          <p:cNvSpPr txBox="1"/>
          <p:nvPr/>
        </p:nvSpPr>
        <p:spPr>
          <a:xfrm>
            <a:off x="762000" y="5994400"/>
            <a:ext cx="10668000" cy="508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ctr">
              <a:lnSpc>
                <a:spcPct val="140000"/>
              </a:lnSpc>
            </a:pPr>
            <a:r>
              <a:rPr lang="en-US" sz="1500">
                <a:solidFill>
                  <a:srgbClr val="000000"/>
                </a:solidFill>
                <a:latin typeface="MiSans"/>
                <a:ea typeface="MiSans"/>
              </a:rPr>
              <a:t>下次课：最后一棒＋路演——冲刺纪律四个字：只修不加。带上棒交接单、你的作品、和你最想给别人看的那一面</a:t>
            </a:r>
            <a:endParaRPr lang="en-US" sz="15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PTD">
  <a:themeElements>
    <a:clrScheme name="PPTD">
      <a:dk1>
        <a:srgbClr val="000000"/>
      </a:dk1>
      <a:lt1>
        <a:srgbClr val="FFFFFF"/>
      </a:lt1>
      <a:dk2>
        <a:srgbClr val="1F2937"/>
      </a:dk2>
      <a:lt2>
        <a:srgbClr val="F3F4F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PPTD">
      <a:majorFont>
        <a:latin typeface="MiSans"/>
        <a:ea typeface="MiSans"/>
        <a:cs typeface="MiSans"/>
      </a:majorFont>
      <a:minorFont>
        <a:latin typeface="MiSans"/>
        <a:ea typeface="MiSans"/>
        <a:cs typeface="MiSans"/>
      </a:minorFont>
    </a:fontScheme>
    <a:fmtScheme name="PPTD">
      <a:fillStyleLst>
        <a:solidFill>
          <a:schemeClr val="accent1"/>
        </a:solidFill>
        <a:solidFill>
          <a:schemeClr val="accent2"/>
        </a:solidFill>
        <a:solidFill>
          <a:schemeClr val="accent3"/>
        </a:solidFill>
      </a:fillStyleLst>
      <a:lnStyleLst>
        <a:ln w="6350" cap="flat" cmpd="sng" algn="ctr">
          <a:solidFill>
            <a:schemeClr val="accent1"/>
          </a:solidFill>
          <a:prstDash val="solid"/>
        </a:ln>
        <a:ln w="12700" cap="flat" cmpd="sng" algn="ctr">
          <a:solidFill>
            <a:schemeClr val="accent1"/>
          </a:solidFill>
          <a:prstDash val="solid"/>
        </a:ln>
        <a:ln w="19050" cap="flat" cmpd="sng" algn="ctr">
          <a:solidFill>
            <a:schemeClr val="accent1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lt1"/>
        </a:solidFill>
        <a:solidFill>
          <a:schemeClr val="lt2"/>
        </a:solidFill>
        <a:solidFill>
          <a:schemeClr val="dk1"/>
        </a:solidFill>
      </a:bgFillStyleLst>
    </a:fmtScheme>
  </a:themeElements>
</a:theme>
</file>

<file path=docProps/app.xml><?xml version="1.0" encoding="utf-8"?>
<Properties xmlns="http://schemas.openxmlformats.org/officeDocument/2006/extended-properties">
  <Application>Neo Design</Application>
  <Slides>19</Slides>
</Properties>
</file>

<file path=docProps/core.xml><?xml version="1.0" encoding="utf-8"?>
<cp:coreProperties xmlns:cp="http://schemas.openxmlformats.org/package/2006/metadata/core-properties" xmlns:dc="http://purl.org/dc/elements/1.1/"/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4" name="AIGC">
    <vt:lpwstr/>
  </property>
</Properties>
</file>