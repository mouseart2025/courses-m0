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notesMasterIdLst>
    <p:notesMasterId r:id="rId22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（候场页，无讲稿。学员入座时屏幕常亮本页。）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「30 秒回顾：上次课，你跑通了第一圈——你的作品有了 MVP，能演示、被两位评委挑过刺、你还做了接受还是拒绝的决定。棒交接单带来了吗？放在手边，今天开场要读它。今天两件事：上半场去建材市场请外援；下半场第二棒冲刺，把核心功能做完整。节奏和第一棒一模一样。」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「看这个复杂传感器。不用外援，让 AI 直接写驱动——上百行，滚三屏。看得懂吗？上几课你能看懂了——但看得懂，不等于该自己写。现在：三行。这上百行，早有人写好、测好、免费送你——这就是开源：全世界工程师互相送工具包。这个工具包，叫库。今天学会去建材市场：你的作品需要什么，世界上大概率已经有人造好了轮子。」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「第一步搜，第二步看说明页判断靠不靠谱——三看（指投屏逐条念）：① 最近更新是什么时候，三年没动静的，慎请；② 有没有示例，没示例的，等于不给说明书；③ 说明写得完不完整。三看过两看，可以请。这页今天就挂在这儿——装库、圈库、接库，随时可以回头对它。」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「先全班一起请同一个外援，走一遍完整流程：搜、看、装、跑。（示例跑通、编译飞快时）……停。刚才编译用了几秒？对——请来的外援是编译好的成品，这就是请外援的第二个好处。」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「看这里——这个项目的工具间，和那个项目的工具间，是两个房间。为什么这样设计？一句话：一个房间着火了，不烧隔壁。你的番茄钟请的外援，和你的作品请的外援，各住各的，互不打架。」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建材市场逛起来很爽——但引不引库，是一个取舍决定，不是默认动作。例一：复杂传感器自己写要上百行——该引。例二：让一个灯闪三下，三行就写完，你还去找个'闪灯库'——不该引。区别在哪？三问（指屏幕）：对核心功能有帮助吗？今天搞得定吗？不引会怎样？圈定只许 1 个——圈 3 个的，退回重圈。找不到合适库的，写清'为什么不引'——和引了的同等正确。」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「对照你的需求单，让 AI 当你的选型顾问——句式照投屏发。它列候选，你圈 1 个，今天就装这 1 个。AI 推荐了搜不到的库？它会编——建材市场里搜得到的才算数。」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「最后一步最难：示例代码不是你的功能。两步：一，问 AI'这段代码在干嘛'——它是你请来的翻译官，专门翻译'不是为你写的代码'；二，让 AI 按你的需求改造，先只改最小的一处，跑通再要下一处。达标线：装上＋示例跑通。」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「每人一句：我引了什么库、替我省了什么。不引的同学报：我为什么不引——和引了的同等掌声。外援请进门了。接下来，第二棒站会——开跑。」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「外援不止代码。看你的作品——功能在跑，但它还是一桌散件加一把线。MVP 有两张脸：能演示（里子），和有个样子（面子）。路演那天，别人先看见面子，才轮到里子。外观不用买、不用打印——垃圾就是外观的建材市场。」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「四招（投屏逐条）：一，找个壳——它是什么，就先像什么；二，固定它——线不晃，演示才稳；三，标出来——别人不看说明书就敢上手；四，藏起乱——露出来的只有脸。纪律一条：外观服从演示——末 10 分钟快装，陷进去的我会把你拽回来。想 1 分钟：你的作品可以像什么？」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「看一眼这面材料墙——快递箱、纸杯、胶带、记号笔、橡皮筋、扎带、长尾夹、吸管、胶枪、剪刀。没有一样要花钱买。左边是材料，右边是作品——中间只隔一个动作：动手。找材料 → 搭结构 → 贴外观 → 可用演示。提前三天我会在群里提醒大家带干净废品；没带也有公共池。」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站会。先读你的棒交接单——上一棒说'下一棒第一件事'是什么？然后一句话：'今天我要把核心功能做到___。'注意定义：'功能完成'不是你想象的全部，是你需求单上的核心功能——对照它说，说超了的收回来。」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「开跑。规则沿用第一棒：对照需求单；15 分钟无进展举手；代码问题先问 AI。今天多一句：aily 不熟就翻你的双视图小抄——它就是为今天写的。最后 10 分钟是外观快装：功能跑通了再动剪刀，四招能上几个上几个。评审前 15 分钟逐桌提醒：准备两段话。评审时间一到准时开始，谁都挤不掉。」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「停手。评审时间——上一棒评委挑'像不像样'，本棒评委查'结不结实'。主力是老熟人 Quinn：5 条结实度清单，逐条实测——本棒升级，不只抽 2 条。还是老规矩：喂当前真实状态，不吹牛；就在你原来的对话窗里接着聊，别新开窗口。」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「挑剔用户本棒降级：只挑 1 个最致命的刺。AI 开夸了？顶回去——'不许夸。只许挑刺。'5 条全过的，恭喜，它结实了——让同桌用野蛮人方式再试一次。」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「逐条决定：接受还是拒绝，写理由。提醒：下一棒是冲刺棒，只修不加——今天改不完的，写进交接单'下一棒第一件事'时想清楚：那是你最后一次修它的机会。填棒交接单（第 2 棒），写进你的学员文档。」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（仪式要有分量，停 1 分钟）「第一次课，你点亮了第一盏灯……今天，你请来了外援。从'敢做'到'看得懂'，到'会请外援'。你的作品，功能封顶了。停一秒，看看它——这就是你九次课的样子。下次课预告：最后一棒＋路演。冲刺纪律只有四个字：只修不加。带上你的棒交接单、你的作品、和你最想给别人看的那一面。」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png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7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8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9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2" Type="http://schemas.openxmlformats.org/officeDocument/2006/relationships/image" Target="../media/image2.png"/><Relationship Id="rIdNotes1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4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5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6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7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8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9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2540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000000"/>
                </a:solidFill>
                <a:latin typeface="MiSans"/>
                <a:ea typeface="MiSans"/>
              </a:rPr>
              <a:t>给作品请外援</a:t>
            </a:r>
            <a:endParaRPr lang="en-US" sz="4000"/>
          </a:p>
        </p:txBody>
      </p:sp>
      <p:sp>
        <p:nvSpPr>
          <p:cNvPr id="3" name="titleline"/>
          <p:cNvSpPr/>
          <p:nvPr/>
        </p:nvSpPr>
        <p:spPr>
          <a:xfrm>
            <a:off x="762000" y="3492500"/>
            <a:ext cx="2286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4" name="subtitle"/>
          <p:cNvSpPr txBox="1"/>
          <p:nvPr/>
        </p:nvSpPr>
        <p:spPr>
          <a:xfrm>
            <a:off x="762000" y="3810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第 9 课 ｜ 马拉松 · 第二棒</a:t>
            </a:r>
            <a:endParaRPr lang="en-US" sz="2000"/>
          </a:p>
          <a:p>
            <a:pPr algn="l">
              <a:lnSpc>
                <a:spcPct val="14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今天，让你的 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MVP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 长出新本事</a:t>
            </a:r>
            <a:endParaRPr lang="en-US" sz="2000"/>
          </a:p>
        </p:txBody>
      </p:sp>
      <p:pic>
        <p:nvPicPr>
          <p:cNvPr id="5" name="coverimg"/>
          <p:cNvPicPr/>
          <p:nvPr/>
        </p:nvPicPr>
        <p:blipFill>
          <a:blip r:embed="rIdImage1"/>
          <a:srcRect l="-0" r="-0"/>
          <a:stretch>
            <a:fillRect/>
          </a:stretch>
        </p:blipFill>
        <p:spPr>
          <a:xfrm>
            <a:off x="6858000" y="1270000"/>
            <a:ext cx="4826000" cy="4826000"/>
          </a:xfrm>
          <a:prstGeom prst="rect">
            <a:avLst/>
          </a:prstGeom>
          <a:ln>
            <a:noFill/>
          </a:ln>
        </p:spPr>
      </p:pic>
      <p:sp>
        <p:nvSpPr>
          <p:cNvPr id="6" name="footinfo"/>
          <p:cNvSpPr txBox="1"/>
          <p:nvPr/>
        </p:nvSpPr>
        <p:spPr>
          <a:xfrm>
            <a:off x="762000" y="6223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柴火创客学园 M0 · CFG-5 学期班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开场 ｜ 定档</a:t>
            </a:r>
            <a:endParaRPr lang="en-US" sz="1400"/>
          </a:p>
        </p:txBody>
      </p:sp>
      <p:sp>
        <p:nvSpPr>
          <p:cNvPr id="4" name="recall"/>
          <p:cNvSpPr txBox="1"/>
          <p:nvPr/>
        </p:nvSpPr>
        <p:spPr>
          <a:xfrm>
            <a:off x="736600" y="812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30 秒回顾：第一圈跑通了——你的 MVP 能演示、被挑过刺、做过决定；棒交接单带来了吗</a:t>
            </a:r>
            <a:endParaRPr lang="en-US" sz="1500"/>
          </a:p>
        </p:txBody>
      </p:sp>
      <p:sp>
        <p:nvSpPr>
          <p:cNvPr id="5" name="big"/>
          <p:cNvSpPr txBox="1"/>
          <p:nvPr/>
        </p:nvSpPr>
        <p:spPr>
          <a:xfrm>
            <a:off x="762000" y="1498600"/>
            <a:ext cx="1066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4000" b="1">
                <a:solidFill>
                  <a:srgbClr val="000000"/>
                </a:solidFill>
                <a:latin typeface="MiSans"/>
                <a:ea typeface="MiSans"/>
              </a:rPr>
              <a:t>今天，让你的 MVP 长出新本事。</a:t>
            </a:r>
            <a:endParaRPr lang="en-US" sz="4000"/>
          </a:p>
        </p:txBody>
      </p:sp>
      <p:sp>
        <p:nvSpPr>
          <p:cNvPr id="6" name="arrow1"/>
          <p:cNvSpPr/>
          <p:nvPr/>
        </p:nvSpPr>
        <p:spPr>
          <a:xfrm>
            <a:off x="762000" y="2768600"/>
            <a:ext cx="50800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arrow1t"/>
          <p:cNvSpPr txBox="1"/>
          <p:nvPr/>
        </p:nvSpPr>
        <p:spPr>
          <a:xfrm>
            <a:off x="1066800" y="2946400"/>
            <a:ext cx="44704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上半场：去建材市场请外援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库＝别人写好、测好、免费送你的工具包</a:t>
            </a:r>
            <a:endParaRPr lang="en-US" sz="1800"/>
          </a:p>
        </p:txBody>
      </p:sp>
      <p:sp>
        <p:nvSpPr>
          <p:cNvPr id="8" name="arrowicon"/>
          <p:cNvSpPr txBox="1"/>
          <p:nvPr/>
        </p:nvSpPr>
        <p:spPr>
          <a:xfrm>
            <a:off x="5867400" y="2768600"/>
            <a:ext cx="482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endParaRPr lang="en-US" sz="3400"/>
          </a:p>
        </p:txBody>
      </p:sp>
      <p:sp>
        <p:nvSpPr>
          <p:cNvPr id="9" name="arrow2"/>
          <p:cNvSpPr/>
          <p:nvPr/>
        </p:nvSpPr>
        <p:spPr>
          <a:xfrm>
            <a:off x="6375400" y="2768600"/>
            <a:ext cx="50546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arrow2t"/>
          <p:cNvSpPr txBox="1"/>
          <p:nvPr/>
        </p:nvSpPr>
        <p:spPr>
          <a:xfrm>
            <a:off x="6680200" y="2946400"/>
            <a:ext cx="4445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下半场：把核心功能做完整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第二棒冲刺，节奏和第一棒一样</a:t>
            </a:r>
            <a:endParaRPr lang="en-US" sz="1800"/>
          </a:p>
        </p:txBody>
      </p:sp>
      <p:sp>
        <p:nvSpPr>
          <p:cNvPr id="11" name="rhythmbg"/>
          <p:cNvSpPr/>
          <p:nvPr/>
        </p:nvSpPr>
        <p:spPr>
          <a:xfrm>
            <a:off x="762000" y="4978400"/>
            <a:ext cx="10668000" cy="762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2" name="rhythmt"/>
          <p:cNvSpPr txBox="1"/>
          <p:nvPr/>
        </p:nvSpPr>
        <p:spPr>
          <a:xfrm>
            <a:off x="1066800" y="4978400"/>
            <a:ext cx="10058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节奏和第一棒一样——站会 → 创作 → AI 评审 → 决定 → 交接</a:t>
            </a:r>
            <a:endParaRPr lang="en-US" sz="17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为什么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看得懂，不等于该自己写</a:t>
            </a:r>
            <a:endParaRPr lang="en-US" sz="3400"/>
          </a:p>
        </p:txBody>
      </p:sp>
      <p:sp>
        <p:nvSpPr>
          <p:cNvPr id="5" name="leftcard"/>
          <p:cNvSpPr/>
          <p:nvPr/>
        </p:nvSpPr>
        <p:spPr>
          <a:xfrm>
            <a:off x="762000" y="1574800"/>
            <a:ext cx="5080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lefttext"/>
          <p:cNvSpPr txBox="1"/>
          <p:nvPr/>
        </p:nvSpPr>
        <p:spPr>
          <a:xfrm>
            <a:off x="1066800" y="1778000"/>
            <a:ext cx="44704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不用外援</a:t>
            </a:r>
            <a:endParaRPr lang="en-US" sz="1800"/>
          </a:p>
          <a:p>
            <a:pPr algn="l">
              <a:lnSpc>
                <a:spcPct val="14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让 AI 直接写驱动</a:t>
            </a:r>
            <a:endParaRPr lang="en-US" sz="1800"/>
          </a:p>
        </p:txBody>
      </p:sp>
      <p:sp>
        <p:nvSpPr>
          <p:cNvPr id="7" name="leftcode"/>
          <p:cNvSpPr/>
          <p:nvPr/>
        </p:nvSpPr>
        <p:spPr>
          <a:xfrm>
            <a:off x="1066800" y="2616200"/>
            <a:ext cx="4470400" cy="177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8" name="leftcodet"/>
          <p:cNvSpPr txBox="1"/>
          <p:nvPr/>
        </p:nvSpPr>
        <p:spPr>
          <a:xfrm>
            <a:off x="1219200" y="2717800"/>
            <a:ext cx="4165600" cy="157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uint8_t reg = 0x1A;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wire_begin(addr);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wire_write(reg);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// ……（再滚两屏）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// ……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// ……</a:t>
            </a:r>
            <a:endParaRPr lang="en-US" sz="1300"/>
          </a:p>
        </p:txBody>
      </p:sp>
      <p:sp>
        <p:nvSpPr>
          <p:cNvPr id="9" name="lefttag"/>
          <p:cNvSpPr txBox="1"/>
          <p:nvPr/>
        </p:nvSpPr>
        <p:spPr>
          <a:xfrm>
            <a:off x="1066800" y="4470400"/>
            <a:ext cx="4470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上百行，滚三屏</a:t>
            </a:r>
            <a:endParaRPr lang="en-US" sz="1700"/>
          </a:p>
        </p:txBody>
      </p:sp>
      <p:sp>
        <p:nvSpPr>
          <p:cNvPr id="10" name="rightcard"/>
          <p:cNvSpPr/>
          <p:nvPr/>
        </p:nvSpPr>
        <p:spPr>
          <a:xfrm>
            <a:off x="6350000" y="1574800"/>
            <a:ext cx="5080000" cy="3429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1" name="righttext"/>
          <p:cNvSpPr txBox="1"/>
          <p:nvPr/>
        </p:nvSpPr>
        <p:spPr>
          <a:xfrm>
            <a:off x="6654800" y="1778000"/>
            <a:ext cx="44704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请了外援</a:t>
            </a:r>
            <a:endParaRPr lang="en-US" sz="1800"/>
          </a:p>
          <a:p>
            <a:pPr algn="l">
              <a:lnSpc>
                <a:spcPct val="14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三行调用</a:t>
            </a:r>
            <a:endParaRPr lang="en-US" sz="1800"/>
          </a:p>
        </p:txBody>
      </p:sp>
      <p:sp>
        <p:nvSpPr>
          <p:cNvPr id="12" name="rightcode"/>
          <p:cNvSpPr/>
          <p:nvPr/>
        </p:nvSpPr>
        <p:spPr>
          <a:xfrm>
            <a:off x="6654800" y="2616200"/>
            <a:ext cx="4470400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3" name="rightcodet"/>
          <p:cNvSpPr txBox="1"/>
          <p:nvPr/>
        </p:nvSpPr>
        <p:spPr>
          <a:xfrm>
            <a:off x="6807200" y="2717800"/>
            <a:ext cx="41656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import 外援</a:t>
            </a:r>
            <a:endParaRPr lang="en-US" sz="1500"/>
          </a:p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外援.begin()</a:t>
            </a:r>
            <a:endParaRPr lang="en-US" sz="1500"/>
          </a:p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外援.read()</a:t>
            </a:r>
            <a:endParaRPr lang="en-US" sz="1500"/>
          </a:p>
        </p:txBody>
      </p:sp>
      <p:sp>
        <p:nvSpPr>
          <p:cNvPr id="14" name="righttag"/>
          <p:cNvSpPr txBox="1"/>
          <p:nvPr/>
        </p:nvSpPr>
        <p:spPr>
          <a:xfrm>
            <a:off x="6654800" y="4470400"/>
            <a:ext cx="4470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三行，收工</a:t>
            </a:r>
            <a:endParaRPr lang="en-US" sz="1700"/>
          </a:p>
        </p:txBody>
      </p:sp>
      <p:sp>
        <p:nvSpPr>
          <p:cNvPr id="15" name="bottom"/>
          <p:cNvSpPr txBox="1"/>
          <p:nvPr/>
        </p:nvSpPr>
        <p:spPr>
          <a:xfrm>
            <a:off x="762000" y="53594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这上百行，早有人写好、测好、免费送你——这就是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开源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；</a:t>
            </a:r>
            <a:endParaRPr lang="en-US" sz="1900"/>
          </a:p>
          <a:p>
            <a:pPr algn="ctr">
              <a:lnSpc>
                <a:spcPct val="15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这个工具包，叫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库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三看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请外援前，先三看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676400"/>
            <a:ext cx="10668000" cy="330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879600"/>
            <a:ext cx="10058400" cy="289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900" b="1">
                <a:solidFill>
                  <a:srgbClr val="000000"/>
                </a:solidFill>
                <a:latin typeface="Source Code Pro"/>
                <a:ea typeface="Source Code Pro"/>
              </a:rPr>
              <a:t>请外援前三看（过两看，可以请）：</a:t>
            </a:r>
            <a:endParaRPr lang="en-US" sz="1900"/>
          </a:p>
          <a:p>
            <a:pPr algn="l">
              <a:lnSpc>
                <a:spcPct val="160000"/>
              </a:lnSpc>
            </a:pPr>
            <a:r>
              <a:rPr lang="en-US" sz="1900">
                <a:solidFill>
                  <a:srgbClr val="000000"/>
                </a:solidFill>
                <a:latin typeface="Source Code Pro"/>
                <a:ea typeface="Source Code Pro"/>
              </a:rPr>
              <a:t>① 最近更新是什么时候？（三年没动静的，慎请）</a:t>
            </a:r>
            <a:endParaRPr lang="en-US" sz="1900"/>
          </a:p>
          <a:p>
            <a:pPr algn="l">
              <a:lnSpc>
                <a:spcPct val="160000"/>
              </a:lnSpc>
            </a:pPr>
            <a:r>
              <a:rPr lang="en-US" sz="1900">
                <a:solidFill>
                  <a:srgbClr val="000000"/>
                </a:solidFill>
                <a:latin typeface="Source Code Pro"/>
                <a:ea typeface="Source Code Pro"/>
              </a:rPr>
              <a:t>② 有没有示例？（没示例＝不给说明书）</a:t>
            </a:r>
            <a:endParaRPr lang="en-US" sz="1900"/>
          </a:p>
          <a:p>
            <a:pPr algn="l">
              <a:lnSpc>
                <a:spcPct val="160000"/>
              </a:lnSpc>
            </a:pPr>
            <a:r>
              <a:rPr lang="en-US" sz="1900">
                <a:solidFill>
                  <a:srgbClr val="000000"/>
                </a:solidFill>
                <a:latin typeface="Source Code Pro"/>
                <a:ea typeface="Source Code Pro"/>
              </a:rPr>
              <a:t>③ 说明写得完不完整？</a:t>
            </a:r>
            <a:endParaRPr lang="en-US" sz="1900"/>
          </a:p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（翻车补课·第四看：支持的硬件列表里有我的板子吗？）</a:t>
            </a:r>
            <a:endParaRPr lang="en-US" sz="1900"/>
          </a:p>
        </p:txBody>
      </p:sp>
      <p:sp>
        <p:nvSpPr>
          <p:cNvPr id="7" name="bottom"/>
          <p:cNvSpPr txBox="1"/>
          <p:nvPr/>
        </p:nvSpPr>
        <p:spPr>
          <a:xfrm>
            <a:off x="762000" y="5308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三看过两看，可以请——本页常亮，装库、圈库、接库，随时回头对它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同装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全班一起，请同一个外援</a:t>
            </a:r>
            <a:endParaRPr lang="en-US" sz="3400"/>
          </a:p>
        </p:txBody>
      </p:sp>
      <p:sp>
        <p:nvSpPr>
          <p:cNvPr id="5" name="s1dot"/>
          <p:cNvSpPr/>
          <p:nvPr/>
        </p:nvSpPr>
        <p:spPr>
          <a:xfrm>
            <a:off x="1219200" y="1778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s1num"/>
          <p:cNvSpPr txBox="1"/>
          <p:nvPr/>
        </p:nvSpPr>
        <p:spPr>
          <a:xfrm>
            <a:off x="1219200" y="1778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800"/>
          </a:p>
        </p:txBody>
      </p:sp>
      <p:sp>
        <p:nvSpPr>
          <p:cNvPr id="7" name="s1t"/>
          <p:cNvSpPr txBox="1"/>
          <p:nvPr/>
        </p:nvSpPr>
        <p:spPr>
          <a:xfrm>
            <a:off x="762000" y="2387600"/>
            <a:ext cx="228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搜</a:t>
            </a:r>
            <a:endParaRPr lang="en-US" sz="1700"/>
          </a:p>
          <a:p>
            <a:pPr algn="ctr">
              <a:lnSpc>
                <a:spcPct val="145000"/>
              </a:lnSpc>
              <a:spcBef>
                <a:spcPts val="6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建材市场里搜它</a:t>
            </a:r>
            <a:endParaRPr lang="en-US" sz="1700"/>
          </a:p>
        </p:txBody>
      </p:sp>
      <p:sp>
        <p:nvSpPr>
          <p:cNvPr id="8" name="a1"/>
          <p:cNvSpPr txBox="1"/>
          <p:nvPr/>
        </p:nvSpPr>
        <p:spPr>
          <a:xfrm>
            <a:off x="3073400" y="1778000"/>
            <a:ext cx="482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endParaRPr lang="en-US" sz="2400"/>
          </a:p>
        </p:txBody>
      </p:sp>
      <p:sp>
        <p:nvSpPr>
          <p:cNvPr id="9" name="s2dot"/>
          <p:cNvSpPr/>
          <p:nvPr/>
        </p:nvSpPr>
        <p:spPr>
          <a:xfrm>
            <a:off x="3784600" y="1778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s2num"/>
          <p:cNvSpPr txBox="1"/>
          <p:nvPr/>
        </p:nvSpPr>
        <p:spPr>
          <a:xfrm>
            <a:off x="3784600" y="1778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800"/>
          </a:p>
        </p:txBody>
      </p:sp>
      <p:sp>
        <p:nvSpPr>
          <p:cNvPr id="11" name="s2t"/>
          <p:cNvSpPr txBox="1"/>
          <p:nvPr/>
        </p:nvSpPr>
        <p:spPr>
          <a:xfrm>
            <a:off x="3327400" y="2387600"/>
            <a:ext cx="228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看</a:t>
            </a:r>
            <a:endParaRPr lang="en-US" sz="1700"/>
          </a:p>
          <a:p>
            <a:pPr algn="ctr">
              <a:lnSpc>
                <a:spcPct val="145000"/>
              </a:lnSpc>
              <a:spcBef>
                <a:spcPts val="6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三看（回上一页）</a:t>
            </a:r>
            <a:endParaRPr lang="en-US" sz="1700"/>
          </a:p>
        </p:txBody>
      </p:sp>
      <p:sp>
        <p:nvSpPr>
          <p:cNvPr id="12" name="a2"/>
          <p:cNvSpPr txBox="1"/>
          <p:nvPr/>
        </p:nvSpPr>
        <p:spPr>
          <a:xfrm>
            <a:off x="5638800" y="1778000"/>
            <a:ext cx="482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endParaRPr lang="en-US" sz="2400"/>
          </a:p>
        </p:txBody>
      </p:sp>
      <p:sp>
        <p:nvSpPr>
          <p:cNvPr id="13" name="s3dot"/>
          <p:cNvSpPr/>
          <p:nvPr/>
        </p:nvSpPr>
        <p:spPr>
          <a:xfrm>
            <a:off x="6350000" y="1778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s3num"/>
          <p:cNvSpPr txBox="1"/>
          <p:nvPr/>
        </p:nvSpPr>
        <p:spPr>
          <a:xfrm>
            <a:off x="6350000" y="1778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800"/>
          </a:p>
        </p:txBody>
      </p:sp>
      <p:sp>
        <p:nvSpPr>
          <p:cNvPr id="15" name="s3t"/>
          <p:cNvSpPr txBox="1"/>
          <p:nvPr/>
        </p:nvSpPr>
        <p:spPr>
          <a:xfrm>
            <a:off x="5892800" y="2387600"/>
            <a:ext cx="228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装</a:t>
            </a:r>
            <a:endParaRPr lang="en-US" sz="1700"/>
          </a:p>
          <a:p>
            <a:pPr algn="ctr">
              <a:lnSpc>
                <a:spcPct val="145000"/>
              </a:lnSpc>
              <a:spcBef>
                <a:spcPts val="6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领进你这个项目的工具间</a:t>
            </a:r>
            <a:endParaRPr lang="en-US" sz="1700"/>
          </a:p>
        </p:txBody>
      </p:sp>
      <p:sp>
        <p:nvSpPr>
          <p:cNvPr id="16" name="a3"/>
          <p:cNvSpPr txBox="1"/>
          <p:nvPr/>
        </p:nvSpPr>
        <p:spPr>
          <a:xfrm>
            <a:off x="8204200" y="1778000"/>
            <a:ext cx="482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endParaRPr lang="en-US" sz="2400"/>
          </a:p>
        </p:txBody>
      </p:sp>
      <p:sp>
        <p:nvSpPr>
          <p:cNvPr id="17" name="s4dot"/>
          <p:cNvSpPr/>
          <p:nvPr/>
        </p:nvSpPr>
        <p:spPr>
          <a:xfrm>
            <a:off x="8915400" y="1778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8" name="s4num"/>
          <p:cNvSpPr txBox="1"/>
          <p:nvPr/>
        </p:nvSpPr>
        <p:spPr>
          <a:xfrm>
            <a:off x="8915400" y="1778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endParaRPr lang="en-US" sz="1800"/>
          </a:p>
        </p:txBody>
      </p:sp>
      <p:sp>
        <p:nvSpPr>
          <p:cNvPr id="19" name="s4t"/>
          <p:cNvSpPr txBox="1"/>
          <p:nvPr/>
        </p:nvSpPr>
        <p:spPr>
          <a:xfrm>
            <a:off x="8458200" y="2387600"/>
            <a:ext cx="228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跑</a:t>
            </a:r>
            <a:endParaRPr lang="en-US" sz="1700"/>
          </a:p>
          <a:p>
            <a:pPr algn="ctr">
              <a:lnSpc>
                <a:spcPct val="145000"/>
              </a:lnSpc>
              <a:spcBef>
                <a:spcPts val="6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跑它自带的示例</a:t>
            </a:r>
            <a:endParaRPr lang="en-US" sz="1700"/>
          </a:p>
        </p:txBody>
      </p:sp>
      <p:sp>
        <p:nvSpPr>
          <p:cNvPr id="20" name="flashbg"/>
          <p:cNvSpPr/>
          <p:nvPr/>
        </p:nvSpPr>
        <p:spPr>
          <a:xfrm>
            <a:off x="762000" y="4191000"/>
            <a:ext cx="10668000" cy="1397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21" name="flasht"/>
          <p:cNvSpPr txBox="1"/>
          <p:nvPr/>
        </p:nvSpPr>
        <p:spPr>
          <a:xfrm>
            <a:off x="1066800" y="4368800"/>
            <a:ext cx="100584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5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示例跑通那一刻，停一秒——刚才编译用了几秒？</a:t>
            </a:r>
            <a:endParaRPr lang="en-US" sz="1800"/>
          </a:p>
          <a:p>
            <a:pPr algn="ctr">
              <a:lnSpc>
                <a:spcPct val="155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请来的外援是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编译好的成品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，这就是请外援的第二个好处。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工具间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每个项目有自己的工具间</a:t>
            </a:r>
            <a:endParaRPr lang="en-US" sz="3400"/>
          </a:p>
        </p:txBody>
      </p:sp>
      <p:sp>
        <p:nvSpPr>
          <p:cNvPr id="5" name="room1"/>
          <p:cNvSpPr/>
          <p:nvPr/>
        </p:nvSpPr>
        <p:spPr>
          <a:xfrm>
            <a:off x="1016000" y="1778000"/>
            <a:ext cx="4064000" cy="279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</p:sp>
      <p:sp>
        <p:nvSpPr>
          <p:cNvPr id="6" name="room1t"/>
          <p:cNvSpPr txBox="1"/>
          <p:nvPr/>
        </p:nvSpPr>
        <p:spPr>
          <a:xfrm>
            <a:off x="1320800" y="2006600"/>
            <a:ext cx="34544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番茄钟项目</a:t>
            </a:r>
            <a:endParaRPr lang="en-US" sz="170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它请的外援</a:t>
            </a:r>
            <a:endParaRPr lang="en-US" sz="1700"/>
          </a:p>
          <a:p>
            <a:pPr algn="ctr">
              <a:lnSpc>
                <a:spcPct val="16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住在这儿</a:t>
            </a:r>
            <a:endParaRPr lang="en-US" sz="1700"/>
          </a:p>
        </p:txBody>
      </p:sp>
      <p:sp>
        <p:nvSpPr>
          <p:cNvPr id="7" name="wall"/>
          <p:cNvSpPr/>
          <p:nvPr/>
        </p:nvSpPr>
        <p:spPr>
          <a:xfrm>
            <a:off x="5892800" y="1651000"/>
            <a:ext cx="406400" cy="304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room2"/>
          <p:cNvSpPr/>
          <p:nvPr/>
        </p:nvSpPr>
        <p:spPr>
          <a:xfrm>
            <a:off x="7112000" y="1778000"/>
            <a:ext cx="4064000" cy="279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</p:sp>
      <p:sp>
        <p:nvSpPr>
          <p:cNvPr id="9" name="room2t"/>
          <p:cNvSpPr txBox="1"/>
          <p:nvPr/>
        </p:nvSpPr>
        <p:spPr>
          <a:xfrm>
            <a:off x="7416800" y="2006600"/>
            <a:ext cx="34544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我的作品</a:t>
            </a:r>
            <a:endParaRPr lang="en-US" sz="170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它请的外援</a:t>
            </a:r>
            <a:endParaRPr lang="en-US" sz="1700"/>
          </a:p>
          <a:p>
            <a:pPr algn="ctr">
              <a:lnSpc>
                <a:spcPct val="16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住在这儿</a:t>
            </a:r>
            <a:endParaRPr lang="en-US" sz="1700"/>
          </a:p>
        </p:txBody>
      </p:sp>
      <p:sp>
        <p:nvSpPr>
          <p:cNvPr id="10" name="bottom"/>
          <p:cNvSpPr txBox="1"/>
          <p:nvPr/>
        </p:nvSpPr>
        <p:spPr>
          <a:xfrm>
            <a:off x="762000" y="51562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一个房间着火了，不烧隔壁——各住各的，互不打架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取舍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引不引库，是一个取舍决定——不是默认动作</a:t>
            </a:r>
            <a:endParaRPr lang="en-US" sz="3000"/>
          </a:p>
        </p:txBody>
      </p:sp>
      <p:sp>
        <p:nvSpPr>
          <p:cNvPr id="5" name="ex1"/>
          <p:cNvSpPr/>
          <p:nvPr/>
        </p:nvSpPr>
        <p:spPr>
          <a:xfrm>
            <a:off x="762000" y="1498600"/>
            <a:ext cx="50800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ex1t"/>
          <p:cNvSpPr txBox="1"/>
          <p:nvPr/>
        </p:nvSpPr>
        <p:spPr>
          <a:xfrm>
            <a:off x="1066800" y="1651000"/>
            <a:ext cx="4470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例一：该引 ✅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复杂传感器，自己写上百行——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早有人造好了轮子</a:t>
            </a:r>
            <a:endParaRPr lang="en-US" sz="1700"/>
          </a:p>
        </p:txBody>
      </p:sp>
      <p:sp>
        <p:nvSpPr>
          <p:cNvPr id="7" name="ex2"/>
          <p:cNvSpPr/>
          <p:nvPr/>
        </p:nvSpPr>
        <p:spPr>
          <a:xfrm>
            <a:off x="6350000" y="1498600"/>
            <a:ext cx="5080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ex2t"/>
          <p:cNvSpPr txBox="1"/>
          <p:nvPr/>
        </p:nvSpPr>
        <p:spPr>
          <a:xfrm>
            <a:off x="6654800" y="1651000"/>
            <a:ext cx="4470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例二：不该引 ❌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让灯闪三下，三行写完——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何必再找个"闪灯库"</a:t>
            </a:r>
            <a:endParaRPr lang="en-US" sz="1700"/>
          </a:p>
        </p:txBody>
      </p:sp>
      <p:sp>
        <p:nvSpPr>
          <p:cNvPr id="9" name="q1dot"/>
          <p:cNvSpPr/>
          <p:nvPr/>
        </p:nvSpPr>
        <p:spPr>
          <a:xfrm>
            <a:off x="1092200" y="3403600"/>
            <a:ext cx="177800" cy="177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q1t"/>
          <p:cNvSpPr txBox="1"/>
          <p:nvPr/>
        </p:nvSpPr>
        <p:spPr>
          <a:xfrm>
            <a:off x="1397000" y="33020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对核心功能有帮助吗</a:t>
            </a:r>
            <a:endParaRPr lang="en-US" sz="1700"/>
          </a:p>
        </p:txBody>
      </p:sp>
      <p:sp>
        <p:nvSpPr>
          <p:cNvPr id="11" name="q2dot"/>
          <p:cNvSpPr/>
          <p:nvPr/>
        </p:nvSpPr>
        <p:spPr>
          <a:xfrm>
            <a:off x="4978400" y="3403600"/>
            <a:ext cx="177800" cy="177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q2t"/>
          <p:cNvSpPr txBox="1"/>
          <p:nvPr/>
        </p:nvSpPr>
        <p:spPr>
          <a:xfrm>
            <a:off x="5283200" y="33020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今天搞得定吗</a:t>
            </a:r>
            <a:endParaRPr lang="en-US" sz="1700"/>
          </a:p>
        </p:txBody>
      </p:sp>
      <p:sp>
        <p:nvSpPr>
          <p:cNvPr id="13" name="q3dot"/>
          <p:cNvSpPr/>
          <p:nvPr/>
        </p:nvSpPr>
        <p:spPr>
          <a:xfrm>
            <a:off x="8407400" y="3403600"/>
            <a:ext cx="177800" cy="177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q3t"/>
          <p:cNvSpPr txBox="1"/>
          <p:nvPr/>
        </p:nvSpPr>
        <p:spPr>
          <a:xfrm>
            <a:off x="8712200" y="33020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不引会怎样</a:t>
            </a:r>
            <a:endParaRPr lang="en-US" sz="1700"/>
          </a:p>
        </p:txBody>
      </p:sp>
      <p:sp>
        <p:nvSpPr>
          <p:cNvPr id="15" name="redline"/>
          <p:cNvSpPr txBox="1"/>
          <p:nvPr/>
        </p:nvSpPr>
        <p:spPr>
          <a:xfrm>
            <a:off x="762000" y="40894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900" b="1">
                <a:solidFill>
                  <a:srgbClr val="D84144"/>
                </a:solidFill>
                <a:latin typeface="MiSans"/>
                <a:ea typeface="MiSans"/>
              </a:rPr>
              <a:t>圈定只许 1 个——贪多是本课高发病，圈 3 个的退回重圈</a:t>
            </a:r>
            <a:endParaRPr lang="en-US" sz="1900"/>
          </a:p>
          <a:p>
            <a:pPr algn="ctr">
              <a:lnSpc>
                <a:spcPct val="150000"/>
              </a:lnSpc>
            </a:pPr>
            <a:r>
              <a:rPr lang="en-US" sz="1900" b="1">
                <a:solidFill>
                  <a:srgbClr val="D84144"/>
                </a:solidFill>
                <a:latin typeface="MiSans"/>
                <a:ea typeface="MiSans"/>
              </a:rPr>
              <a:t>不引库和引库同等正确——验收看理由</a:t>
            </a:r>
            <a:endParaRPr lang="en-US" sz="1900"/>
          </a:p>
        </p:txBody>
      </p:sp>
      <p:sp>
        <p:nvSpPr>
          <p:cNvPr id="16" name="bottom"/>
          <p:cNvSpPr txBox="1"/>
          <p:nvPr/>
        </p:nvSpPr>
        <p:spPr>
          <a:xfrm>
            <a:off x="762000" y="5257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找不到合适库的，写清"为什么不引"——照常验收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选型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让 AI 当你的选型顾问（原对话窗，别新开）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574800"/>
            <a:ext cx="10668000" cy="30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778000"/>
            <a:ext cx="10058400" cy="264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这是我的需求单核心功能：</a:t>
            </a:r>
            <a:r>
              <a:rPr lang="en-US" sz="16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我要用的板子是：</a:t>
            </a:r>
            <a:r>
              <a:rPr lang="en-US" sz="16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请当我的选型顾问：推荐 3 个可能有帮助的外部库，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每个说一句它干嘛、为什么适合我，按合适程度排序。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提醒：只推荐真实存在、支持我板子的库。</a:t>
            </a:r>
            <a:endParaRPr lang="en-US" sz="1600"/>
          </a:p>
        </p:txBody>
      </p:sp>
      <p:sp>
        <p:nvSpPr>
          <p:cNvPr id="7" name="bottom"/>
          <p:cNvSpPr txBox="1"/>
          <p:nvPr/>
        </p:nvSpPr>
        <p:spPr>
          <a:xfrm>
            <a:off x="762000" y="4953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它列候选，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你圈 1 个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；</a:t>
            </a:r>
            <a:endParaRPr lang="en-US" sz="1800"/>
          </a:p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AI 会一本正经地编——建材市场里搜得到的才算数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接入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示例代码，不是你的功能</a:t>
            </a:r>
            <a:endParaRPr lang="en-US" sz="3400"/>
          </a:p>
        </p:txBody>
      </p:sp>
      <p:sp>
        <p:nvSpPr>
          <p:cNvPr id="5" name="contrast"/>
          <p:cNvSpPr txBox="1"/>
          <p:nvPr/>
        </p:nvSpPr>
        <p:spPr>
          <a:xfrm>
            <a:off x="762000" y="14224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示例＝"演示这个库能干嘛" ｜ 你要的＝"我的核心功能"</a:t>
            </a:r>
            <a:endParaRPr lang="en-US" sz="1800"/>
          </a:p>
        </p:txBody>
      </p:sp>
      <p:sp>
        <p:nvSpPr>
          <p:cNvPr id="6" name="step1dot"/>
          <p:cNvSpPr/>
          <p:nvPr/>
        </p:nvSpPr>
        <p:spPr>
          <a:xfrm>
            <a:off x="838200" y="20574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step1num"/>
          <p:cNvSpPr txBox="1"/>
          <p:nvPr/>
        </p:nvSpPr>
        <p:spPr>
          <a:xfrm>
            <a:off x="838200" y="2057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8" name="step1t"/>
          <p:cNvSpPr txBox="1"/>
          <p:nvPr/>
        </p:nvSpPr>
        <p:spPr>
          <a:xfrm>
            <a:off x="1295400" y="19812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问 AI"这段代码在干嘛"——翻译官，专翻不是为你写的代码</a:t>
            </a:r>
            <a:endParaRPr lang="en-US" sz="1700"/>
          </a:p>
        </p:txBody>
      </p:sp>
      <p:sp>
        <p:nvSpPr>
          <p:cNvPr id="9" name="step2dot"/>
          <p:cNvSpPr/>
          <p:nvPr/>
        </p:nvSpPr>
        <p:spPr>
          <a:xfrm>
            <a:off x="838200" y="26162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step2num"/>
          <p:cNvSpPr txBox="1"/>
          <p:nvPr/>
        </p:nvSpPr>
        <p:spPr>
          <a:xfrm>
            <a:off x="838200" y="26162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1" name="step2t"/>
          <p:cNvSpPr txBox="1"/>
          <p:nvPr/>
        </p:nvSpPr>
        <p:spPr>
          <a:xfrm>
            <a:off x="1295400" y="2540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让 AI 按你的需求改造——先只改最小的一处，跑通再要下一处</a:t>
            </a:r>
            <a:endParaRPr lang="en-US" sz="1700"/>
          </a:p>
        </p:txBody>
      </p:sp>
      <p:sp>
        <p:nvSpPr>
          <p:cNvPr id="12" name="codebox"/>
          <p:cNvSpPr/>
          <p:nvPr/>
        </p:nvSpPr>
        <p:spPr>
          <a:xfrm>
            <a:off x="762000" y="3251200"/>
            <a:ext cx="10668000" cy="203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13" name="codetext"/>
          <p:cNvSpPr txBox="1"/>
          <p:nvPr/>
        </p:nvSpPr>
        <p:spPr>
          <a:xfrm>
            <a:off x="1066800" y="3403600"/>
            <a:ext cx="10058400" cy="172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基于上一轮的结论：我装了库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，它的示例能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（一句话）。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我的核心功能是：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请把示例改造成我的功能：先只改最小的一处，跑通我再要下一处。</a:t>
            </a:r>
            <a:endParaRPr lang="en-US" sz="1500"/>
          </a:p>
        </p:txBody>
      </p:sp>
      <p:sp>
        <p:nvSpPr>
          <p:cNvPr id="14" name="okbg"/>
          <p:cNvSpPr/>
          <p:nvPr/>
        </p:nvSpPr>
        <p:spPr>
          <a:xfrm>
            <a:off x="762000" y="5537200"/>
            <a:ext cx="10668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5" name="okt"/>
          <p:cNvSpPr txBox="1"/>
          <p:nvPr/>
        </p:nvSpPr>
        <p:spPr>
          <a:xfrm>
            <a:off x="1066800" y="5537200"/>
            <a:ext cx="10058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达标线：装上＋示例跑通——接不完的，转下半场创作段接着做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互报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每人一句</a:t>
            </a:r>
            <a:endParaRPr lang="en-US" sz="3400"/>
          </a:p>
        </p:txBody>
      </p:sp>
      <p:sp>
        <p:nvSpPr>
          <p:cNvPr id="5" name="card1"/>
          <p:cNvSpPr/>
          <p:nvPr/>
        </p:nvSpPr>
        <p:spPr>
          <a:xfrm>
            <a:off x="762000" y="1905000"/>
            <a:ext cx="5080000" cy="2286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card1t"/>
          <p:cNvSpPr txBox="1"/>
          <p:nvPr/>
        </p:nvSpPr>
        <p:spPr>
          <a:xfrm>
            <a:off x="1066800" y="2133600"/>
            <a:ext cx="4470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我引了什么库、</a:t>
            </a:r>
            <a:endParaRPr lang="en-US" sz="1900"/>
          </a:p>
          <a:p>
            <a:pPr algn="ctr">
              <a:lnSpc>
                <a:spcPct val="16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替我省了什么</a:t>
            </a:r>
            <a:endParaRPr lang="en-US" sz="1900"/>
          </a:p>
        </p:txBody>
      </p:sp>
      <p:sp>
        <p:nvSpPr>
          <p:cNvPr id="7" name="card2"/>
          <p:cNvSpPr/>
          <p:nvPr/>
        </p:nvSpPr>
        <p:spPr>
          <a:xfrm>
            <a:off x="6350000" y="1905000"/>
            <a:ext cx="5080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card2t"/>
          <p:cNvSpPr txBox="1"/>
          <p:nvPr/>
        </p:nvSpPr>
        <p:spPr>
          <a:xfrm>
            <a:off x="6654800" y="2133600"/>
            <a:ext cx="4470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我为什么不引——</a:t>
            </a:r>
            <a:endParaRPr lang="en-US" sz="1900"/>
          </a:p>
          <a:p>
            <a:pPr algn="ctr">
              <a:lnSpc>
                <a:spcPct val="16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和引了的，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同等掌声</a:t>
            </a:r>
            <a:endParaRPr lang="en-US" sz="1900"/>
          </a:p>
        </p:txBody>
      </p:sp>
      <p:sp>
        <p:nvSpPr>
          <p:cNvPr id="9" name="bottom"/>
          <p:cNvSpPr txBox="1"/>
          <p:nvPr/>
        </p:nvSpPr>
        <p:spPr>
          <a:xfrm>
            <a:off x="762000" y="4826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人多就同桌互报，老师抽几位讲给全班</a:t>
            </a:r>
            <a:endParaRPr lang="en-US" sz="15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外观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外援不止代码——MVP 有两张脸</a:t>
            </a:r>
            <a:endParaRPr lang="en-US" sz="3400"/>
          </a:p>
        </p:txBody>
      </p:sp>
      <p:sp>
        <p:nvSpPr>
          <p:cNvPr id="5" name="card1"/>
          <p:cNvSpPr/>
          <p:nvPr/>
        </p:nvSpPr>
        <p:spPr>
          <a:xfrm>
            <a:off x="762000" y="1778000"/>
            <a:ext cx="5080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card1t"/>
          <p:cNvSpPr txBox="1"/>
          <p:nvPr/>
        </p:nvSpPr>
        <p:spPr>
          <a:xfrm>
            <a:off x="1066800" y="2006600"/>
            <a:ext cx="4470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能演示 · 里子</a:t>
            </a:r>
            <a:endParaRPr lang="en-US" sz="180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功能在跑</a:t>
            </a:r>
            <a:endParaRPr lang="en-US" sz="1800"/>
          </a:p>
          <a:p>
            <a:pPr algn="ctr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但现在还是一桌散件加一把线</a:t>
            </a:r>
            <a:endParaRPr lang="en-US" sz="1800"/>
          </a:p>
        </p:txBody>
      </p:sp>
      <p:sp>
        <p:nvSpPr>
          <p:cNvPr id="7" name="card2"/>
          <p:cNvSpPr/>
          <p:nvPr/>
        </p:nvSpPr>
        <p:spPr>
          <a:xfrm>
            <a:off x="6350000" y="1778000"/>
            <a:ext cx="5080000" cy="2540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card2t"/>
          <p:cNvSpPr txBox="1"/>
          <p:nvPr/>
        </p:nvSpPr>
        <p:spPr>
          <a:xfrm>
            <a:off x="6654800" y="2006600"/>
            <a:ext cx="44704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有个样子 · 面子</a:t>
            </a:r>
            <a:endParaRPr lang="en-US" sz="180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一眼知道它是什么</a:t>
            </a:r>
            <a:endParaRPr lang="en-US" sz="1800"/>
          </a:p>
          <a:p>
            <a:pPr algn="ctr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别人不看说明书就敢上手</a:t>
            </a:r>
            <a:endParaRPr lang="en-US" sz="1800"/>
          </a:p>
        </p:txBody>
      </p:sp>
      <p:sp>
        <p:nvSpPr>
          <p:cNvPr id="9" name="bottom"/>
          <p:cNvSpPr txBox="1"/>
          <p:nvPr/>
        </p:nvSpPr>
        <p:spPr>
          <a:xfrm>
            <a:off x="762000" y="4953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路演那天，别人先看见面子，才轮到里子</a:t>
            </a:r>
            <a:endParaRPr lang="en-US" sz="1900"/>
          </a:p>
          <a:p>
            <a:pPr algn="ctr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外观不用买、不用打印——垃圾就是外观的建材市场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四招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像模像样四招</a:t>
            </a:r>
            <a:endParaRPr lang="en-US" sz="3400"/>
          </a:p>
        </p:txBody>
      </p:sp>
      <p:sp>
        <p:nvSpPr>
          <p:cNvPr id="5" name="c1"/>
          <p:cNvSpPr/>
          <p:nvPr/>
        </p:nvSpPr>
        <p:spPr>
          <a:xfrm>
            <a:off x="762000" y="1549400"/>
            <a:ext cx="5080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c1dot"/>
          <p:cNvSpPr/>
          <p:nvPr/>
        </p:nvSpPr>
        <p:spPr>
          <a:xfrm>
            <a:off x="1016000" y="1778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c1num"/>
          <p:cNvSpPr txBox="1"/>
          <p:nvPr/>
        </p:nvSpPr>
        <p:spPr>
          <a:xfrm>
            <a:off x="1016000" y="1778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8" name="c1t"/>
          <p:cNvSpPr txBox="1"/>
          <p:nvPr/>
        </p:nvSpPr>
        <p:spPr>
          <a:xfrm>
            <a:off x="1524000" y="1676400"/>
            <a:ext cx="4064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找个壳</a:t>
            </a:r>
            <a:endParaRPr lang="en-US" sz="15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纸盒、外卖盒、旧玩具壳——它是什么，就先像什么</a:t>
            </a:r>
            <a:endParaRPr lang="en-US" sz="1500"/>
          </a:p>
        </p:txBody>
      </p:sp>
      <p:sp>
        <p:nvSpPr>
          <p:cNvPr id="9" name="c2"/>
          <p:cNvSpPr/>
          <p:nvPr/>
        </p:nvSpPr>
        <p:spPr>
          <a:xfrm>
            <a:off x="6350000" y="1549400"/>
            <a:ext cx="5080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c2dot"/>
          <p:cNvSpPr/>
          <p:nvPr/>
        </p:nvSpPr>
        <p:spPr>
          <a:xfrm>
            <a:off x="6604000" y="1778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c2num"/>
          <p:cNvSpPr txBox="1"/>
          <p:nvPr/>
        </p:nvSpPr>
        <p:spPr>
          <a:xfrm>
            <a:off x="6604000" y="1778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2" name="c2t"/>
          <p:cNvSpPr txBox="1"/>
          <p:nvPr/>
        </p:nvSpPr>
        <p:spPr>
          <a:xfrm>
            <a:off x="7112000" y="1676400"/>
            <a:ext cx="4064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固定它</a:t>
            </a:r>
            <a:endParaRPr lang="en-US" sz="15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胶带、皮筋、扎带——线不晃，演示才稳</a:t>
            </a:r>
            <a:endParaRPr lang="en-US" sz="1500"/>
          </a:p>
        </p:txBody>
      </p:sp>
      <p:sp>
        <p:nvSpPr>
          <p:cNvPr id="13" name="c3"/>
          <p:cNvSpPr/>
          <p:nvPr/>
        </p:nvSpPr>
        <p:spPr>
          <a:xfrm>
            <a:off x="762000" y="3454400"/>
            <a:ext cx="5080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4" name="c3dot"/>
          <p:cNvSpPr/>
          <p:nvPr/>
        </p:nvSpPr>
        <p:spPr>
          <a:xfrm>
            <a:off x="1016000" y="3683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c3num"/>
          <p:cNvSpPr txBox="1"/>
          <p:nvPr/>
        </p:nvSpPr>
        <p:spPr>
          <a:xfrm>
            <a:off x="1016000" y="3683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500"/>
          </a:p>
        </p:txBody>
      </p:sp>
      <p:sp>
        <p:nvSpPr>
          <p:cNvPr id="16" name="c3t"/>
          <p:cNvSpPr txBox="1"/>
          <p:nvPr/>
        </p:nvSpPr>
        <p:spPr>
          <a:xfrm>
            <a:off x="1524000" y="3581400"/>
            <a:ext cx="4064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标出来</a:t>
            </a:r>
            <a:endParaRPr lang="en-US" sz="15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记号笔写按钮名、贴箭头——别人不看说明书就敢上手</a:t>
            </a:r>
            <a:endParaRPr lang="en-US" sz="1500"/>
          </a:p>
        </p:txBody>
      </p:sp>
      <p:sp>
        <p:nvSpPr>
          <p:cNvPr id="17" name="c4"/>
          <p:cNvSpPr/>
          <p:nvPr/>
        </p:nvSpPr>
        <p:spPr>
          <a:xfrm>
            <a:off x="6350000" y="3454400"/>
            <a:ext cx="5080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8" name="c4dot"/>
          <p:cNvSpPr/>
          <p:nvPr/>
        </p:nvSpPr>
        <p:spPr>
          <a:xfrm>
            <a:off x="6604000" y="3683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9" name="c4num"/>
          <p:cNvSpPr txBox="1"/>
          <p:nvPr/>
        </p:nvSpPr>
        <p:spPr>
          <a:xfrm>
            <a:off x="6604000" y="3683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endParaRPr lang="en-US" sz="1500"/>
          </a:p>
        </p:txBody>
      </p:sp>
      <p:sp>
        <p:nvSpPr>
          <p:cNvPr id="20" name="c4t"/>
          <p:cNvSpPr txBox="1"/>
          <p:nvPr/>
        </p:nvSpPr>
        <p:spPr>
          <a:xfrm>
            <a:off x="7112000" y="3581400"/>
            <a:ext cx="4064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藏起乱</a:t>
            </a:r>
            <a:endParaRPr lang="en-US" sz="15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走线收进盒——露出来的只有"脸"</a:t>
            </a:r>
            <a:endParaRPr lang="en-US" sz="1500"/>
          </a:p>
        </p:txBody>
      </p:sp>
      <p:sp>
        <p:nvSpPr>
          <p:cNvPr id="21" name="discbg"/>
          <p:cNvSpPr/>
          <p:nvPr/>
        </p:nvSpPr>
        <p:spPr>
          <a:xfrm>
            <a:off x="762000" y="5384800"/>
            <a:ext cx="10668000" cy="635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22" name="disct"/>
          <p:cNvSpPr txBox="1"/>
          <p:nvPr/>
        </p:nvSpPr>
        <p:spPr>
          <a:xfrm>
            <a:off x="1066800" y="5384800"/>
            <a:ext cx="1005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外观服从演示——末 10 分钟快装，不超过创作时间的 1/3</a:t>
            </a:r>
            <a:endParaRPr lang="en-US" sz="1600"/>
          </a:p>
        </p:txBody>
      </p:sp>
      <p:sp>
        <p:nvSpPr>
          <p:cNvPr id="23" name="small"/>
          <p:cNvSpPr txBox="1"/>
          <p:nvPr/>
        </p:nvSpPr>
        <p:spPr>
          <a:xfrm>
            <a:off x="762000" y="6172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剪刀美工刀在老师那儿，用完就还 ｜ 材料自带干净废品＋公共池，只挑不买</a:t>
            </a:r>
            <a:endParaRPr lang="en-US" sz="13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建材市场 ｜ 就地取材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就地取材——材料墙</a:t>
            </a:r>
            <a:endParaRPr lang="en-US" sz="3400"/>
          </a:p>
        </p:txBody>
      </p:sp>
      <p:pic>
        <p:nvPicPr>
          <p:cNvPr id="5" name="wallimg"/>
          <p:cNvPicPr/>
          <p:nvPr/>
        </p:nvPicPr>
        <p:blipFill>
          <a:blip r:embed="rIdImage2"/>
          <a:srcRect l="-30808" r="-30808"/>
          <a:stretch>
            <a:fillRect/>
          </a:stretch>
        </p:blipFill>
        <p:spPr>
          <a:xfrm>
            <a:off x="1016000" y="1422400"/>
            <a:ext cx="10160000" cy="4191000"/>
          </a:xfrm>
          <a:prstGeom prst="rect">
            <a:avLst/>
          </a:prstGeom>
          <a:ln>
            <a:noFill/>
          </a:ln>
        </p:spPr>
      </p:pic>
      <p:sp>
        <p:nvSpPr>
          <p:cNvPr id="6" name="flowbg"/>
          <p:cNvSpPr/>
          <p:nvPr/>
        </p:nvSpPr>
        <p:spPr>
          <a:xfrm>
            <a:off x="762000" y="5791200"/>
            <a:ext cx="10668000" cy="584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flowt"/>
          <p:cNvSpPr txBox="1"/>
          <p:nvPr/>
        </p:nvSpPr>
        <p:spPr>
          <a:xfrm>
            <a:off x="1066800" y="57912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找材料 → 搭结构 → 贴外观 → 可用演示 ｜ 没有一样要花钱买</a:t>
            </a:r>
            <a:endParaRPr lang="en-US" sz="17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第二棒冲刺 ｜ 站会</a:t>
            </a:r>
            <a:endParaRPr lang="en-US" sz="1400"/>
          </a:p>
        </p:txBody>
      </p:sp>
      <p:sp>
        <p:nvSpPr>
          <p:cNvPr id="4" name="step1"/>
          <p:cNvSpPr txBox="1"/>
          <p:nvPr/>
        </p:nvSpPr>
        <p:spPr>
          <a:xfrm>
            <a:off x="762000" y="13970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先读你的棒交接单——上一棒说"下一棒第一件事"是什么</a:t>
            </a:r>
            <a:endParaRPr lang="en-US" sz="1800"/>
          </a:p>
        </p:txBody>
      </p:sp>
      <p:sp>
        <p:nvSpPr>
          <p:cNvPr id="5" name="bigbg"/>
          <p:cNvSpPr/>
          <p:nvPr/>
        </p:nvSpPr>
        <p:spPr>
          <a:xfrm>
            <a:off x="762000" y="2133600"/>
            <a:ext cx="10668000" cy="1397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bigt"/>
          <p:cNvSpPr txBox="1"/>
          <p:nvPr/>
        </p:nvSpPr>
        <p:spPr>
          <a:xfrm>
            <a:off x="1066800" y="2133600"/>
            <a:ext cx="10058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今天我要把核心功能做到 ＿＿＿。</a:t>
            </a:r>
            <a:endParaRPr lang="en-US" sz="2800"/>
          </a:p>
        </p:txBody>
      </p:sp>
      <p:sp>
        <p:nvSpPr>
          <p:cNvPr id="7" name="defbox"/>
          <p:cNvSpPr/>
          <p:nvPr/>
        </p:nvSpPr>
        <p:spPr>
          <a:xfrm>
            <a:off x="762000" y="3937000"/>
            <a:ext cx="106680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deft"/>
          <p:cNvSpPr txBox="1"/>
          <p:nvPr/>
        </p:nvSpPr>
        <p:spPr>
          <a:xfrm>
            <a:off x="1066800" y="4089400"/>
            <a:ext cx="10058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"功能完成"不是你想象的全部，</a:t>
            </a:r>
            <a:endParaRPr lang="en-US" sz="1800"/>
          </a:p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是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你需求单上的核心功能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——说超了的，收回来</a:t>
            </a:r>
            <a:endParaRPr lang="en-US" sz="1800"/>
          </a:p>
        </p:txBody>
      </p:sp>
      <p:sp>
        <p:nvSpPr>
          <p:cNvPr id="9" name="lookline"/>
          <p:cNvSpPr txBox="1"/>
          <p:nvPr/>
        </p:nvSpPr>
        <p:spPr>
          <a:xfrm>
            <a:off x="762000" y="51816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可以带半句："……并且给它装上＿＿＿（壳/标记）"——外观是可选项，功能是必答题</a:t>
            </a:r>
            <a:endParaRPr lang="en-US" sz="1500"/>
          </a:p>
        </p:txBody>
      </p:sp>
      <p:sp>
        <p:nvSpPr>
          <p:cNvPr id="10" name="mode"/>
          <p:cNvSpPr txBox="1"/>
          <p:nvPr/>
        </p:nvSpPr>
        <p:spPr>
          <a:xfrm>
            <a:off x="762000" y="57404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人少：全体起立逐个说 ｜ 人多：两人互说＋写在需求单顶上，抽几人讲给全班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第二棒冲刺 ｜ 常亮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开跑——规则沿用第一棒</a:t>
            </a:r>
            <a:endParaRPr lang="en-US" sz="3400"/>
          </a:p>
        </p:txBody>
      </p:sp>
      <p:sp>
        <p:nvSpPr>
          <p:cNvPr id="5" name="rulecard"/>
          <p:cNvSpPr/>
          <p:nvPr/>
        </p:nvSpPr>
        <p:spPr>
          <a:xfrm>
            <a:off x="762000" y="1498600"/>
            <a:ext cx="106680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ruletext"/>
          <p:cNvSpPr txBox="1"/>
          <p:nvPr/>
        </p:nvSpPr>
        <p:spPr>
          <a:xfrm>
            <a:off x="1143000" y="1676400"/>
            <a:ext cx="10058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7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① 对照你的需求单——改可以，划掉不删除</a:t>
            </a:r>
            <a:endParaRPr lang="en-US" sz="1800"/>
          </a:p>
          <a:p>
            <a:pPr algn="l">
              <a:lnSpc>
                <a:spcPct val="17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② 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15 分钟无进展必须举手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——卡住不丢人，硬扛才丢人</a:t>
            </a:r>
            <a:endParaRPr lang="en-US" sz="1800"/>
          </a:p>
          <a:p>
            <a:pPr algn="l">
              <a:lnSpc>
                <a:spcPct val="17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③ 代码问题先问你的 AI——"一次只要一步"</a:t>
            </a:r>
            <a:endParaRPr lang="en-US" sz="1800"/>
          </a:p>
        </p:txBody>
      </p:sp>
      <p:sp>
        <p:nvSpPr>
          <p:cNvPr id="7" name="plusbg"/>
          <p:cNvSpPr/>
          <p:nvPr/>
        </p:nvSpPr>
        <p:spPr>
          <a:xfrm>
            <a:off x="762000" y="3708400"/>
            <a:ext cx="10668000" cy="6096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plust"/>
          <p:cNvSpPr txBox="1"/>
          <p:nvPr/>
        </p:nvSpPr>
        <p:spPr>
          <a:xfrm>
            <a:off x="1066800" y="3708400"/>
            <a:ext cx="10058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今天加一条：aily 不熟就翻你的双视图小抄——它就是为今天写的</a:t>
            </a:r>
            <a:endParaRPr lang="en-US" sz="1600"/>
          </a:p>
        </p:txBody>
      </p:sp>
      <p:sp>
        <p:nvSpPr>
          <p:cNvPr id="9" name="lookbg"/>
          <p:cNvSpPr/>
          <p:nvPr/>
        </p:nvSpPr>
        <p:spPr>
          <a:xfrm>
            <a:off x="762000" y="4470400"/>
            <a:ext cx="10668000" cy="6096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lookt"/>
          <p:cNvSpPr txBox="1"/>
          <p:nvPr/>
        </p:nvSpPr>
        <p:spPr>
          <a:xfrm>
            <a:off x="1066800" y="4470400"/>
            <a:ext cx="10058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最后 10 分钟外观快装——功能跑通了再动剪刀：找个壳、固定、标出来、藏起乱</a:t>
            </a:r>
            <a:endParaRPr lang="en-US" sz="1600"/>
          </a:p>
        </p:txBody>
      </p:sp>
      <p:sp>
        <p:nvSpPr>
          <p:cNvPr id="11" name="redline"/>
          <p:cNvSpPr txBox="1"/>
          <p:nvPr/>
        </p:nvSpPr>
        <p:spPr>
          <a:xfrm>
            <a:off x="762000" y="53848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D84144"/>
                </a:solidFill>
                <a:latin typeface="MiSans"/>
                <a:ea typeface="MiSans"/>
              </a:rPr>
              <a:t>评审前 15 分钟，全场停手——准备两段话：现在能什么、还不能什么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Quinn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停手。评审时间——本棒查"结不结实"</a:t>
            </a:r>
            <a:endParaRPr lang="en-US" sz="3400"/>
          </a:p>
        </p:txBody>
      </p:sp>
      <p:sp>
        <p:nvSpPr>
          <p:cNvPr id="5" name="pos"/>
          <p:cNvSpPr txBox="1"/>
          <p:nvPr/>
        </p:nvSpPr>
        <p:spPr>
          <a:xfrm>
            <a:off x="762000" y="1346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上一棒挑"像不像样"；本棒查"结不结实"——5 条结实度清单，逐条实测</a:t>
            </a:r>
            <a:endParaRPr lang="en-US" sz="1600"/>
          </a:p>
        </p:txBody>
      </p:sp>
      <p:sp>
        <p:nvSpPr>
          <p:cNvPr id="6" name="codebox"/>
          <p:cNvSpPr/>
          <p:nvPr/>
        </p:nvSpPr>
        <p:spPr>
          <a:xfrm>
            <a:off x="762000" y="1854200"/>
            <a:ext cx="10668000" cy="1905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7" name="codetext"/>
          <p:cNvSpPr txBox="1"/>
          <p:nvPr/>
        </p:nvSpPr>
        <p:spPr>
          <a:xfrm>
            <a:off x="1066800" y="1981200"/>
            <a:ext cx="10058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Quinn，还是你。基于当前状态：我的作品现在能</a:t>
            </a:r>
            <a:r>
              <a:rPr lang="en-US" sz="14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，还不能</a:t>
            </a:r>
            <a:r>
              <a:rPr lang="en-US" sz="14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你是测试工程师，给我 5 条"结实度测试"：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连续用 10 次？放着不动 5 分钟再动？换个人来用？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快按慢按乱按？——具体到怎么操作、看什么现象。</a:t>
            </a:r>
            <a:endParaRPr lang="en-US" sz="1400"/>
          </a:p>
        </p:txBody>
      </p:sp>
      <p:sp>
        <p:nvSpPr>
          <p:cNvPr id="8" name="prebox"/>
          <p:cNvSpPr/>
          <p:nvPr/>
        </p:nvSpPr>
        <p:spPr>
          <a:xfrm>
            <a:off x="762000" y="3962400"/>
            <a:ext cx="10668000" cy="132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9" name="pret"/>
          <p:cNvSpPr txBox="1"/>
          <p:nvPr/>
        </p:nvSpPr>
        <p:spPr>
          <a:xfrm>
            <a:off x="1066800" y="4064000"/>
            <a:ext cx="1005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前提：这个对话窗里要有 BMAD 团队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——第 8 课已发过背景句的窗口直接发；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新对话窗先补：「这个对话里有 BMAD 团队：John（PM）、Sally（UX）、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Winston（架构师）、Amelia（开发）、Quinn（测试）。记住了，后面我会直接找他们干活。」</a:t>
            </a:r>
            <a:endParaRPr lang="en-US" sz="1400"/>
          </a:p>
        </p:txBody>
      </p:sp>
      <p:sp>
        <p:nvSpPr>
          <p:cNvPr id="10" name="redline"/>
          <p:cNvSpPr txBox="1"/>
          <p:nvPr/>
        </p:nvSpPr>
        <p:spPr>
          <a:xfrm>
            <a:off x="762000" y="5537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D84144"/>
                </a:solidFill>
                <a:latin typeface="MiSans"/>
                <a:ea typeface="MiSans"/>
              </a:rPr>
              <a:t>评审时间一到，准时开始——谁都挤不掉，包括讲师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挑剔用户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挑剔用户，本棒只挑 1 个刺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778000"/>
            <a:ext cx="10668000" cy="215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981200"/>
            <a:ext cx="10058400" cy="175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你现在是我的真实用户（</a:t>
            </a:r>
            <a:r>
              <a:rPr lang="en-US" sz="16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）。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我的作品现在能</a:t>
            </a:r>
            <a:r>
              <a:rPr lang="en-US" sz="16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，还不能</a:t>
            </a:r>
            <a:r>
              <a:rPr lang="en-US" sz="16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不许夸。以他/她的身份只挑 1 个最致命的刺。</a:t>
            </a:r>
            <a:endParaRPr lang="en-US" sz="1600"/>
          </a:p>
        </p:txBody>
      </p:sp>
      <p:sp>
        <p:nvSpPr>
          <p:cNvPr id="7" name="pushbg"/>
          <p:cNvSpPr/>
          <p:nvPr/>
        </p:nvSpPr>
        <p:spPr>
          <a:xfrm>
            <a:off x="762000" y="4267200"/>
            <a:ext cx="10668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pusht"/>
          <p:cNvSpPr txBox="1"/>
          <p:nvPr/>
        </p:nvSpPr>
        <p:spPr>
          <a:xfrm>
            <a:off x="1066800" y="4267200"/>
            <a:ext cx="10058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AI 开夸了？顶回去——"不许夸。只许挑刺。"</a:t>
            </a:r>
            <a:endParaRPr lang="en-US" sz="1700"/>
          </a:p>
        </p:txBody>
      </p:sp>
      <p:sp>
        <p:nvSpPr>
          <p:cNvPr id="9" name="bottom"/>
          <p:cNvSpPr txBox="1"/>
          <p:nvPr/>
        </p:nvSpPr>
        <p:spPr>
          <a:xfrm>
            <a:off x="762000" y="5334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5 条全过没毛病？让同桌用野蛮人方式再试一次</a:t>
            </a:r>
            <a:endParaRPr lang="en-US" sz="15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交接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逐条决定，填第 2 棒交接单</a:t>
            </a:r>
            <a:endParaRPr lang="en-US" sz="3400"/>
          </a:p>
        </p:txBody>
      </p:sp>
      <p:sp>
        <p:nvSpPr>
          <p:cNvPr id="5" name="disccard"/>
          <p:cNvSpPr/>
          <p:nvPr/>
        </p:nvSpPr>
        <p:spPr>
          <a:xfrm>
            <a:off x="762000" y="1498600"/>
            <a:ext cx="5080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disct"/>
          <p:cNvSpPr txBox="1"/>
          <p:nvPr/>
        </p:nvSpPr>
        <p:spPr>
          <a:xfrm>
            <a:off x="1066800" y="1676400"/>
            <a:ext cx="4470400" cy="2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决定纪律</a:t>
            </a:r>
            <a:endParaRPr lang="en-US" sz="150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接受还是拒绝，都写理由。</a:t>
            </a:r>
            <a:endParaRPr lang="en-US" sz="150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下一棒是冲刺棒，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只修不加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——改不完的写进"下一棒第一件事"时想清楚：那是你最后一次修它的机会。</a:t>
            </a:r>
            <a:endParaRPr lang="en-US" sz="1500"/>
          </a:p>
        </p:txBody>
      </p:sp>
      <p:sp>
        <p:nvSpPr>
          <p:cNvPr id="7" name="codebox"/>
          <p:cNvSpPr/>
          <p:nvPr/>
        </p:nvSpPr>
        <p:spPr>
          <a:xfrm>
            <a:off x="6146800" y="1498600"/>
            <a:ext cx="5283200" cy="2819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8" name="codetext"/>
          <p:cNvSpPr txBox="1"/>
          <p:nvPr/>
        </p:nvSpPr>
        <p:spPr>
          <a:xfrm>
            <a:off x="6375400" y="1574800"/>
            <a:ext cx="4826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# 棒交接单 · 第 2 棒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名字：＿＿＿　日期：＿＿＿</a:t>
            </a:r>
            <a:endParaRPr lang="en-US" sz="130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## 本棒做到哪（一句可验证的话）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## 我请了外援＿＿＿（没请的写：我不引库，因为＿＿＿）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## 外观现在什么样（没装的写：还是散件）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## AI 评审最重要的 1 条＋我的决定（接受/拒绝＋理由）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Source Code Pro"/>
                <a:ea typeface="Source Code Pro"/>
              </a:rPr>
              <a:t>## 下一棒第一件事（只修不加，想清楚了）</a:t>
            </a:r>
            <a:endParaRPr lang="en-US" sz="1300"/>
          </a:p>
        </p:txBody>
      </p:sp>
      <p:sp>
        <p:nvSpPr>
          <p:cNvPr id="9" name="redline"/>
          <p:cNvSpPr txBox="1"/>
          <p:nvPr/>
        </p:nvSpPr>
        <p:spPr>
          <a:xfrm>
            <a:off x="762000" y="4419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D84144"/>
                </a:solidFill>
                <a:latin typeface="MiSans"/>
                <a:ea typeface="MiSans"/>
              </a:rPr>
              <a:t>全盘接受的，讲师找你聊——没主见比不改更危险</a:t>
            </a:r>
            <a:endParaRPr lang="en-US" sz="1900"/>
          </a:p>
        </p:txBody>
      </p:sp>
      <p:sp>
        <p:nvSpPr>
          <p:cNvPr id="10" name="logbg"/>
          <p:cNvSpPr/>
          <p:nvPr/>
        </p:nvSpPr>
        <p:spPr>
          <a:xfrm>
            <a:off x="762000" y="5156200"/>
            <a:ext cx="10668000" cy="8128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1" name="logt"/>
          <p:cNvSpPr txBox="1"/>
          <p:nvPr/>
        </p:nvSpPr>
        <p:spPr>
          <a:xfrm>
            <a:off x="1066800" y="5156200"/>
            <a:ext cx="10058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日志"做了"句必填——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我请了外援＿＿＿，它替我省了＿＿＿；外观用了＿＿＿（材料）；结实度测试过了＿＿＿条</a:t>
            </a:r>
            <a:endParaRPr lang="en-US" sz="16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封顶</a:t>
            </a:r>
            <a:endParaRPr lang="en-US" sz="1400"/>
          </a:p>
        </p:txBody>
      </p:sp>
      <p:sp>
        <p:nvSpPr>
          <p:cNvPr id="4" name="big"/>
          <p:cNvSpPr txBox="1"/>
          <p:nvPr/>
        </p:nvSpPr>
        <p:spPr>
          <a:xfrm>
            <a:off x="762000" y="10414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6400" b="1">
                <a:solidFill>
                  <a:srgbClr val="000000"/>
                </a:solidFill>
                <a:latin typeface="MiSans"/>
                <a:ea typeface="MiSans"/>
              </a:rPr>
              <a:t>封顶</a:t>
            </a:r>
            <a:endParaRPr lang="en-US" sz="6400"/>
          </a:p>
        </p:txBody>
      </p:sp>
      <p:sp>
        <p:nvSpPr>
          <p:cNvPr id="5" name="journey"/>
          <p:cNvSpPr txBox="1"/>
          <p:nvPr/>
        </p:nvSpPr>
        <p:spPr>
          <a:xfrm>
            <a:off x="1651000" y="2286000"/>
            <a:ext cx="8890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· 点亮第一盏灯 · 找到值得做的题目 · 作品有了屏幕 ·</a:t>
            </a:r>
            <a:endParaRPr lang="en-US" sz="1600"/>
          </a:p>
          <a:p>
            <a:pPr algn="ctr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· 有了 AI 团队 · 教硬件学会看 · 搬回自己的电脑 ·</a:t>
            </a:r>
            <a:endParaRPr lang="en-US" sz="1600"/>
          </a:p>
          <a:p>
            <a:pPr algn="ctr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· 立项 · 跑通第一圈 ·</a:t>
            </a:r>
            <a:endParaRPr lang="en-US" sz="1600"/>
          </a:p>
          <a:p>
            <a:pPr algn="ctr">
              <a:lnSpc>
                <a:spcPct val="155000"/>
              </a:lnSpc>
              <a:spcBef>
                <a:spcPts val="800"/>
              </a:spcBef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· 今天，请来了外援 ·</a:t>
            </a:r>
            <a:endParaRPr lang="en-US" sz="1600"/>
          </a:p>
        </p:txBody>
      </p:sp>
      <p:sp>
        <p:nvSpPr>
          <p:cNvPr id="6" name="quotebg"/>
          <p:cNvSpPr/>
          <p:nvPr/>
        </p:nvSpPr>
        <p:spPr>
          <a:xfrm>
            <a:off x="1651000" y="5029200"/>
            <a:ext cx="8890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quotet"/>
          <p:cNvSpPr txBox="1"/>
          <p:nvPr/>
        </p:nvSpPr>
        <p:spPr>
          <a:xfrm>
            <a:off x="1905000" y="5029200"/>
            <a:ext cx="838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从"敢做"到"看得懂"，到"会请外援"——功能封顶了，还第一次有了样子。停一秒，看看它</a:t>
            </a:r>
            <a:endParaRPr lang="en-US" sz="1600"/>
          </a:p>
        </p:txBody>
      </p:sp>
      <p:sp>
        <p:nvSpPr>
          <p:cNvPr id="8" name="next"/>
          <p:cNvSpPr txBox="1"/>
          <p:nvPr/>
        </p:nvSpPr>
        <p:spPr>
          <a:xfrm>
            <a:off x="762000" y="5994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下次课：最后一棒＋路演——冲刺纪律四个字：只修不加。带上棒交接单、你的作品、和你最想给别人看的那一面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19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