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6" r:id="rId13"/>
    <p:sldId id="279" r:id="rId14"/>
    <p:sldId id="280" r:id="rId15"/>
    <p:sldId id="281" r:id="rId16"/>
    <p:sldId id="282" r:id="rId17"/>
    <p:sldId id="283" r:id="rId18"/>
    <p:sldId id="267" r:id="rId19"/>
    <p:sldId id="268" r:id="rId20"/>
    <p:sldId id="265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</p:sldIdLst>
  <p:sldSz cx="12192000" cy="6858000"/>
  <p:notesSz cx="12192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Notes Placeholder 1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「大家好，欢迎来到智能硬件课的第一课。</a:t>
            </a:r>
            <a:endParaRPr lang="en-US" sz="1200"/>
          </a:p>
          <a:p>
            <a:endParaRPr sz="1200"/>
          </a:p>
          <a:p>
            <a:r>
              <a:rPr lang="en-US" sz="1200"/>
              <a:t>我叫【你的名字→学员平时怎么叫你就怎么写】，从今天开始带你们一起玩。</a:t>
            </a:r>
            <a:endParaRPr lang="en-US" sz="1200"/>
          </a:p>
          <a:p>
            <a:endParaRPr sz="1200"/>
          </a:p>
          <a:p>
            <a:r>
              <a:rPr lang="en-US" sz="1200"/>
              <a:t>在开始之前，我先不说话——给你们看一个东西。」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（什么都不说。学员进门坐定后，直接走到投屏前，打开 Codecraft，当着全班的面敲字，让所有人看清你敲的是中文——）</a:t>
            </a:r>
            <a:endParaRPr lang="en-US" sz="1200"/>
          </a:p>
          <a:p>
            <a:endParaRPr sz="1200"/>
          </a:p>
          <a:p>
            <a:r>
              <a:rPr lang="en-US" sz="1200"/>
              <a:t>「帮我写一个程序，让 Beginner Kit 的 LED 每隔 500 毫秒闪烁一次。」</a:t>
            </a:r>
            <a:endParaRPr lang="en-US" sz="1200"/>
          </a:p>
          <a:p>
            <a:endParaRPr sz="1200"/>
          </a:p>
          <a:p>
            <a:r>
              <a:rPr lang="en-US" sz="1200"/>
              <a:t>[发送。等它生成、编译、烧录——LED 开始闪。不停，接着在同一对话里补第二句：]</a:t>
            </a:r>
            <a:endParaRPr lang="en-US" sz="1200"/>
          </a:p>
          <a:p>
            <a:endParaRPr sz="1200"/>
          </a:p>
          <a:p>
            <a:r>
              <a:rPr lang="en-US" sz="1200"/>
              <a:t>「LED 亮的时候，蜂鸣器也同步鸣叫；LED 灭的时候也停。」</a:t>
            </a:r>
            <a:endParaRPr lang="en-US" sz="1200"/>
          </a:p>
          <a:p>
            <a:endParaRPr sz="1200"/>
          </a:p>
          <a:p>
            <a:r>
              <a:rPr lang="en-US" sz="1200"/>
              <a:t>[再烧录——声光同步了。再补第三句：]</a:t>
            </a:r>
            <a:endParaRPr lang="en-US" sz="1200"/>
          </a:p>
          <a:p>
            <a:endParaRPr sz="1200"/>
          </a:p>
          <a:p>
            <a:r>
              <a:rPr lang="en-US" sz="1200"/>
              <a:t>「用莫尔斯电码，持续发送声光 SOS 信号。」</a:t>
            </a:r>
            <a:endParaRPr lang="en-US" sz="1200"/>
          </a:p>
          <a:p>
            <a:endParaRPr sz="1200"/>
          </a:p>
          <a:p>
            <a:r>
              <a:rPr lang="en-US" sz="1200"/>
              <a:t>[烧录。拿起板子，让它对着全班发 SOS。等大家反应过来这是求救信号——笑声和"哦——"是这个环节的任务。]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（声音停了，趁热把刚才的事说清楚）</a:t>
            </a:r>
            <a:endParaRPr lang="en-US" sz="1200"/>
          </a:p>
          <a:p>
            <a:endParaRPr sz="1200"/>
          </a:p>
          <a:p>
            <a:r>
              <a:rPr lang="en-US" sz="1200"/>
              <a:t>「刚才发生了什么？我说一遍。</a:t>
            </a:r>
            <a:endParaRPr lang="en-US" sz="1200"/>
          </a:p>
          <a:p>
            <a:endParaRPr sz="1200"/>
          </a:p>
          <a:p>
            <a:r>
              <a:rPr lang="en-US" sz="1200"/>
              <a:t>我在一个叫 Codecraft 的网站上，用三句中文告诉 AI 我要什么。</a:t>
            </a:r>
            <a:endParaRPr lang="en-US" sz="1200"/>
          </a:p>
          <a:p>
            <a:endParaRPr sz="1200"/>
          </a:p>
          <a:p>
            <a:r>
              <a:rPr lang="en-US" sz="1200"/>
              <a:t>AI 把它写成了板子看得懂的指令——那东西叫代码，以前要人一行一行地敲，今天它替我敲了。</a:t>
            </a:r>
            <a:endParaRPr lang="en-US" sz="1200"/>
          </a:p>
          <a:p>
            <a:endParaRPr sz="1200"/>
          </a:p>
          <a:p>
            <a:r>
              <a:rPr lang="en-US" sz="1200"/>
              <a:t>然后电脑把指令顺着这根线搬进板子——这一步叫烧录。搬进去，板子就记住了。</a:t>
            </a:r>
            <a:endParaRPr lang="en-US" sz="1200"/>
          </a:p>
          <a:p>
            <a:endParaRPr sz="1200"/>
          </a:p>
          <a:p>
            <a:r>
              <a:rPr lang="en-US" sz="1200"/>
              <a:t>我一句代码都没写，三句话，它就开始发求救信号了。」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「先问三个问题。</a:t>
            </a:r>
            <a:endParaRPr lang="en-US" sz="1200"/>
          </a:p>
          <a:p>
            <a:endParaRPr sz="1200"/>
          </a:p>
          <a:p>
            <a:r>
              <a:rPr lang="en-US" sz="1200"/>
              <a:t>第一个：刚才我写代码了吗？」[停两秒]</a:t>
            </a:r>
            <a:endParaRPr lang="en-US" sz="1200"/>
          </a:p>
          <a:p>
            <a:endParaRPr sz="1200"/>
          </a:p>
          <a:p>
            <a:r>
              <a:rPr lang="en-US" sz="1200"/>
              <a:t>「第二个：你们中间，谁会写代码？」[停两秒，大概率没人举手]</a:t>
            </a:r>
            <a:endParaRPr lang="en-US" sz="1200"/>
          </a:p>
          <a:p>
            <a:endParaRPr sz="1200"/>
          </a:p>
          <a:p>
            <a:r>
              <a:rPr lang="en-US" sz="1200"/>
              <a:t>「第三个：一行代码都不会，能不能做出刚才那个东西？」[再停两秒，让"能"这个字从他们嘴里出来]</a:t>
            </a:r>
            <a:endParaRPr lang="en-US" sz="1200"/>
          </a:p>
          <a:p>
            <a:endParaRPr sz="1200"/>
          </a:p>
          <a:p>
            <a:r>
              <a:rPr lang="en-US" sz="1200"/>
              <a:t>「对——能。这就是这门课。」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「先导课讲的全局，30 秒过一遍：一，你不是来学语法的——你是导演，AI 是程序员，铁律是不许手写代码；二，一个项目有八步，今天先走做原型和写代码这两步；三，今天先练两样：做出来，和讲清楚你是怎么做的。</a:t>
            </a:r>
            <a:endParaRPr lang="en-US" sz="1200"/>
          </a:p>
          <a:p>
            <a:endParaRPr sz="1200"/>
          </a:p>
          <a:p>
            <a:r>
              <a:rPr lang="en-US" sz="1200"/>
              <a:t>没赶上先导课的同学，记住这三句就够，细节会在今天课上再遇到。」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「这门课，练的是六种本事：会出题、会找用户、会做出来、会取舍、会判断好坏、会讲给别人听。</a:t>
            </a:r>
            <a:endParaRPr lang="en-US" sz="1200"/>
          </a:p>
          <a:p>
            <a:endParaRPr sz="1200"/>
          </a:p>
          <a:p>
            <a:r>
              <a:rPr lang="en-US" sz="1200"/>
              <a:t>代码 AI 写，这六样它替不了你。</a:t>
            </a:r>
            <a:endParaRPr lang="en-US" sz="1200"/>
          </a:p>
          <a:p>
            <a:endParaRPr sz="1200"/>
          </a:p>
          <a:p>
            <a:r>
              <a:rPr lang="en-US" sz="1200"/>
              <a:t>今天先练两样：做出来，和讲清楚你是怎么做的。」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「到结课时，你们每个人会带走一个自己定义、自己做的智能作品，还有它的全套成长记录。今天是第一步。</a:t>
            </a:r>
            <a:endParaRPr lang="en-US" sz="1200"/>
          </a:p>
          <a:p>
            <a:endParaRPr sz="1200"/>
          </a:p>
          <a:p>
            <a:r>
              <a:rPr lang="en-US" sz="1200"/>
              <a:t>现在先来认识一下：同桌之间，每人 15 秒，说说『我最想让 AI 帮我做的一件事』。我先说我的——【我想让 AI 提醒我妈按时喝水→换成你自己真实的一件小事，越小越好】。」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「现在，打开浏览器，输入 codecraft.seeed.cc——刚才演示我用的就是这个网站。它叫 Codecraft，是你跟 AI 说话的地方，也是 AI 给板子写指令的地方。登录你的账号。</a:t>
            </a:r>
            <a:endParaRPr lang="en-US" sz="1200"/>
          </a:p>
          <a:p>
            <a:endParaRPr sz="1200"/>
          </a:p>
          <a:p>
            <a:r>
              <a:rPr lang="en-US" sz="1200"/>
              <a:t>网址和账号密码都在你们的座位卡上。</a:t>
            </a:r>
            <a:endParaRPr lang="en-US" sz="1200"/>
          </a:p>
          <a:p>
            <a:endParaRPr sz="1200"/>
          </a:p>
          <a:p>
            <a:r>
              <a:rPr lang="en-US" sz="1200"/>
              <a:t>只登录，先别乱点。」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「演示看过了，道理也讲了。接下来这三十分钟，轮到你们——每个人的板子上，亮出自己的名字。一个不落。」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[举起一块板子，指着说，90 秒以内讲完，不讲任何原理]</a:t>
            </a:r>
            <a:endParaRPr lang="en-US" sz="1200"/>
          </a:p>
          <a:p>
            <a:endParaRPr sz="1200"/>
          </a:p>
          <a:p>
            <a:r>
              <a:rPr lang="en-US" sz="1200"/>
              <a:t>「认识一下你的搭档。它有个正式名字，叫开发板——你可以把它当成一台迷你电脑。它比你的手机笨得多，但有一个手机比不了的本事：你给它一件事，它能一直做，做一年也不烦。它自己不会想——想主意的是 AI，拿主意的是你。</a:t>
            </a:r>
            <a:endParaRPr lang="en-US" sz="1200"/>
          </a:p>
          <a:p>
            <a:endParaRPr sz="1200"/>
          </a:p>
          <a:p>
            <a:r>
              <a:rPr lang="en-US" sz="1200"/>
              <a:t>这是屏幕、灯、小喇叭——它的脸和嗓子。这边这些小零件叫传感器——能感觉到东西的小零件，是它的眼睛和耳朵：这个感光线，这个感声音，这个感冷热。</a:t>
            </a:r>
            <a:endParaRPr lang="en-US" sz="1200"/>
          </a:p>
          <a:p>
            <a:endParaRPr sz="1200"/>
          </a:p>
          <a:p>
            <a:r>
              <a:rPr lang="en-US" sz="1200"/>
              <a:t>今天你要让它开口，叫出你的名字。现在，把 USB 线插上，一头电脑一头板子。」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的使用。本套件是由一个 Arduino </a:t>
            </a:r>
            <a:endParaRPr 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的使用。本套件是由一个 Arduino </a:t>
            </a:r>
            <a:endParaRPr 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的使用。本套件是由一个 Arduino </a:t>
            </a:r>
            <a:endParaRPr 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的使用。本套件是由一个 Arduino </a:t>
            </a:r>
            <a:endParaRPr 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</a:t>
            </a:r>
            <a:endParaRPr 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「跟着我做，一步一步来。先说一句：等会儿这一步叫『连接』，是干嘛的？让电脑和板子说上话——AI 写好的指令，要从这条 USB 线搬进板子。</a:t>
            </a:r>
            <a:endParaRPr lang="en-US" sz="1200"/>
          </a:p>
          <a:p>
            <a:endParaRPr sz="1200"/>
          </a:p>
          <a:p>
            <a:r>
              <a:rPr lang="en-US" sz="1200"/>
              <a:t>第一步，选设备——点 Grove Beginner Kit。</a:t>
            </a:r>
            <a:endParaRPr lang="en-US" sz="1200"/>
          </a:p>
          <a:p>
            <a:endParaRPr sz="1200"/>
          </a:p>
          <a:p>
            <a:r>
              <a:rPr lang="en-US" sz="1200"/>
              <a:t>第二步，不用找菜单，直接在输入框里打出你的需求，点发送。</a:t>
            </a:r>
            <a:endParaRPr lang="en-US" sz="1200"/>
          </a:p>
          <a:p>
            <a:endParaRPr sz="1200"/>
          </a:p>
          <a:p>
            <a:r>
              <a:rPr lang="en-US" sz="1200"/>
              <a:t>第三步，看到绿色按钮『连接并烧录』，点它——浏览器弹窗问能不能连，点『允许』。</a:t>
            </a:r>
            <a:endParaRPr lang="en-US" sz="1200"/>
          </a:p>
          <a:p>
            <a:endParaRPr sz="1200"/>
          </a:p>
          <a:p>
            <a:r>
              <a:rPr lang="en-US" sz="1200"/>
              <a:t>第四步，选带 CP2102N 或 USB 字样的那一行，别选 Bluetooth 那行，然后点『连接』。</a:t>
            </a:r>
            <a:endParaRPr lang="en-US" sz="1200"/>
          </a:p>
          <a:p>
            <a:endParaRPr sz="1200"/>
          </a:p>
          <a:p>
            <a:r>
              <a:rPr lang="en-US" sz="1200"/>
              <a:t>第五步，它自己开始烧录，烧完看板子——屏幕上就是你的名字。」</a:t>
            </a:r>
            <a:endParaRPr lang="en-US" sz="1200"/>
          </a:p>
          <a:p>
            <a:endParaRPr sz="1200"/>
          </a:p>
          <a:p>
            <a:r>
              <a:rPr lang="en-US" sz="1200"/>
              <a:t>[投屏逐步带，全班同步，不放跑单——快手先连上就让他等，别让队伍散开]</a:t>
            </a:r>
            <a:endParaRPr lang="en-US" sz="1200"/>
          </a:p>
          <a:p>
            <a:endParaRPr sz="1200"/>
          </a:p>
          <a:p>
            <a:r>
              <a:rPr lang="en-US" sz="1200"/>
              <a:t>救场预案：弹窗没出现，多半是手快点了「取消」——让学生再点一次「连接并烧录」即可；个别电脑驱动问题，助教 2 分钟内处理，搞不定先换备机，不要让大家等。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「再强调一遍第一句咒语：一次只说一件事。</a:t>
            </a:r>
            <a:endParaRPr lang="en-US" sz="1200"/>
          </a:p>
          <a:p>
            <a:endParaRPr sz="1200"/>
          </a:p>
          <a:p>
            <a:r>
              <a:rPr lang="en-US" sz="1200"/>
              <a:t>不说'帮我把灯、屏幕、喇叭都搞上'，要说'在屏幕上用大字显示我的名字'。</a:t>
            </a:r>
            <a:endParaRPr lang="en-US" sz="1200"/>
          </a:p>
          <a:p>
            <a:endParaRPr sz="1200"/>
          </a:p>
          <a:p>
            <a:r>
              <a:rPr lang="en-US" sz="1200"/>
              <a:t>一件事，说清楚，它就能做对。」</a:t>
            </a:r>
            <a:endParaRPr lang="en-US" sz="1200"/>
          </a:p>
          <a:p>
            <a:endParaRPr sz="1200"/>
          </a:p>
          <a:p>
            <a:r>
              <a:rPr lang="en-US" sz="1200"/>
              <a:t>[把这句话写在白板角落，今天全场留着]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「动手前，先给你们两句跟 AI 说话的咒语。</a:t>
            </a:r>
            <a:endParaRPr lang="en-US" sz="1200"/>
          </a:p>
          <a:p>
            <a:endParaRPr sz="1200"/>
          </a:p>
          <a:p>
            <a:r>
              <a:rPr lang="en-US" sz="1200"/>
              <a:t>第一句：一次只说一件事。不说'帮我把灯、屏幕、喇叭都搞上'，要说'在屏幕上用大字显示我的名字'——一件事，说清楚，它就能做对。</a:t>
            </a:r>
            <a:endParaRPr lang="en-US" sz="1200"/>
          </a:p>
          <a:p>
            <a:endParaRPr sz="1200"/>
          </a:p>
          <a:p>
            <a:r>
              <a:rPr lang="en-US" sz="1200"/>
              <a:t>第二句：不对，就往下补一句。做出来的效果不对？别删对话、别重开，就在原来的对话里接着补一句，AI 记得你们前面聊的。</a:t>
            </a:r>
            <a:endParaRPr lang="en-US" sz="1200"/>
          </a:p>
          <a:p>
            <a:endParaRPr sz="1200"/>
          </a:p>
          <a:p>
            <a:r>
              <a:rPr lang="en-US" sz="1200"/>
              <a:t>这两句也印在你们的学员文档上，忘了就翻。」</a:t>
            </a:r>
            <a:endParaRPr lang="en-US" sz="1200"/>
          </a:p>
          <a:p>
            <a:endParaRPr sz="1200"/>
          </a:p>
          <a:p>
            <a:r>
              <a:rPr lang="en-US" sz="1200"/>
              <a:t>[两句各读一遍，让学员跟你念一遍]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「等会儿屏幕上会跑过三个词，先认识一下。『生成』——AI 在写指令；『编译』——它把指令翻译成板子听得懂的话；『烧录』——把翻译好的指令顺着 USB 线搬进板子。搬进去，板子就记住了，拔掉线也忘不掉。」</a:t>
            </a:r>
            <a:endParaRPr lang="en-US" sz="1200"/>
          </a:p>
          <a:p>
            <a:endParaRPr sz="1200"/>
          </a:p>
          <a:p>
            <a:r>
              <a:rPr lang="en-US" sz="1200"/>
              <a:t>「看我做一遍。」[投屏，慢慢敲]</a:t>
            </a:r>
            <a:endParaRPr lang="en-US" sz="1200"/>
          </a:p>
          <a:p>
            <a:endParaRPr sz="1200"/>
          </a:p>
          <a:p>
            <a:r>
              <a:rPr lang="en-US" sz="1200"/>
              <a:t>「『在屏幕上用大字显示：</a:t>
            </a:r>
            <a:r>
              <a:rPr lang="en-US" sz="1200" b="1">
                <a:solidFill>
                  <a:srgbClr val="000000"/>
                </a:solidFill>
                <a:latin typeface="MiSans"/>
                <a:ea typeface="MiSans"/>
                <a:sym typeface="+mn-ea"/>
              </a:rPr>
              <a:t>Hello, I’m</a:t>
            </a:r>
            <a:r>
              <a:rPr lang="en-US" sz="1200"/>
              <a:t>【你的名字</a:t>
            </a:r>
            <a:r>
              <a:rPr lang="zh-CN" altLang="en-US" sz="1200"/>
              <a:t>拼音或英文</a:t>
            </a:r>
            <a:r>
              <a:rPr lang="en-US" sz="1200"/>
              <a:t>】.』发送。它写好了，编译，烧录——」[举起自己的板子]「亮了。</a:t>
            </a:r>
            <a:endParaRPr lang="en-US" sz="1200"/>
          </a:p>
          <a:p>
            <a:endParaRPr sz="1200"/>
          </a:p>
          <a:p>
            <a:r>
              <a:rPr lang="en-US" sz="1200"/>
              <a:t>现在轮到你们，把名字换成你自己的。点亮了的，举手，助教给你桌上立一面小旗。」</a:t>
            </a:r>
            <a:endParaRPr lang="en-US" sz="1200"/>
          </a:p>
          <a:p>
            <a:endParaRPr sz="1200"/>
          </a:p>
          <a:p>
            <a:r>
              <a:rPr lang="en-US" sz="1200"/>
              <a:t>[中文策略：名字里有生僻字、屏幕显示不稳的，笑着说"它还不认识这个字——先换个它认识的外号或英文名点亮，回头我们再教它"，不现场解决字库问题。10 分钟没点亮的，直接换备板，不修。你不许替学员打字——手是他的，成功才是他的。]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「来——所有人，把板子举起来！」[等全场举起]</a:t>
            </a:r>
            <a:endParaRPr lang="en-US" sz="1200"/>
          </a:p>
          <a:p>
            <a:endParaRPr sz="1200"/>
          </a:p>
          <a:p>
            <a:r>
              <a:rPr lang="en-US" sz="1200"/>
              <a:t>「从这一刻起，你们都是能让硬件听话的人了。看镜头——」</a:t>
            </a:r>
            <a:endParaRPr lang="en-US" sz="1200"/>
          </a:p>
          <a:p>
            <a:endParaRPr sz="1200"/>
          </a:p>
          <a:p>
            <a:r>
              <a:rPr lang="en-US" sz="1200"/>
              <a:t>[助教先扫一眼：还有板子黑着的学员，先换位帮他点亮再入镜，不让任何人举着一块黑板拍照。这张照片还是日志素材和结课对比素材，横竖各拍两张。]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「现在它是你的了。给它加一个你想要的效果——名字一闪一闪、加一声提示音、加个表情、让名字滚起来，随你挑。</a:t>
            </a:r>
            <a:endParaRPr lang="en-US" sz="1200"/>
          </a:p>
          <a:p>
            <a:endParaRPr sz="1200"/>
          </a:p>
          <a:p>
            <a:r>
              <a:rPr lang="en-US" sz="1200"/>
              <a:t>这里用上第二句咒语：改出来的效果不对？**别删对话，别重开**，就在原来的对话里往下补一句，比如『不对，我想要它闪快一点』。AI 记得你们前面聊的，接着改就行。」</a:t>
            </a:r>
            <a:endParaRPr lang="en-US" sz="1200"/>
          </a:p>
          <a:p>
            <a:endParaRPr sz="1200"/>
          </a:p>
          <a:p>
            <a:r>
              <a:rPr lang="en-US" sz="1200"/>
              <a:t>[约 3 分钟后]「同桌之间互相看看，每人 30 秒：你加了什么效果，怎么跟 AI 说的。我挑一两个投屏给全班看。」</a:t>
            </a:r>
            <a:endParaRPr lang="en-US" sz="1200"/>
          </a:p>
          <a:p>
            <a:endParaRPr sz="1200"/>
          </a:p>
          <a:p>
            <a:r>
              <a:rPr lang="en-US" sz="1200"/>
              <a:t>[投屏优先挑"改坏了又改回来"的过程，不只挑最炫的——让全班看到"改回来"才是常态]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[指着屏幕上的三格图]</a:t>
            </a:r>
            <a:endParaRPr lang="en-US" sz="1200"/>
          </a:p>
          <a:p>
            <a:endParaRPr sz="1200"/>
          </a:p>
          <a:p>
            <a:r>
              <a:rPr lang="en-US" sz="1200"/>
              <a:t>「整个学期，硬件的学问就一张图：感知、逻辑、输出。</a:t>
            </a:r>
            <a:endParaRPr lang="en-US" sz="1200"/>
          </a:p>
          <a:p>
            <a:endParaRPr sz="1200"/>
          </a:p>
          <a:p>
            <a:r>
              <a:rPr lang="en-US" sz="1200"/>
              <a:t>举三个例子。自动门：看到人——这是感知；判断要不要开——这是逻辑；门打开——这是输出。</a:t>
            </a:r>
            <a:endParaRPr lang="en-US" sz="1200"/>
          </a:p>
          <a:p>
            <a:endParaRPr sz="1200"/>
          </a:p>
          <a:p>
            <a:r>
              <a:rPr lang="en-US" sz="1200"/>
              <a:t>空调：测温度，比较，制冷。</a:t>
            </a:r>
            <a:endParaRPr lang="en-US" sz="1200"/>
          </a:p>
          <a:p>
            <a:endParaRPr sz="1200"/>
          </a:p>
          <a:p>
            <a:r>
              <a:rPr lang="en-US" sz="1200"/>
              <a:t>第三个，你妈：看到你玩手机——感知；判断该不该骂——逻辑；喊你——输出。」[等笑声]</a:t>
            </a:r>
            <a:endParaRPr lang="en-US" sz="1200"/>
          </a:p>
          <a:p>
            <a:endParaRPr sz="1200"/>
          </a:p>
          <a:p>
            <a:r>
              <a:rPr lang="en-US" sz="1200"/>
              <a:t>「现在看你们的板子：眼睛耳朵在这边，脸和嗓子在这边。中间的逻辑——你说了算。」</a:t>
            </a:r>
            <a:endParaRPr lang="en-US" sz="1200"/>
          </a:p>
          <a:p>
            <a:endParaRPr sz="1200"/>
          </a:p>
          <a:p>
            <a:r>
              <a:rPr lang="en-US" sz="1200"/>
              <a:t>["感知→逻辑→输出"这六个字让学员跟你念一遍]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「第一个作品，一起跟做：天黑亮灯。</a:t>
            </a:r>
            <a:endParaRPr lang="en-US" sz="1200"/>
          </a:p>
          <a:p>
            <a:endParaRPr sz="1200"/>
          </a:p>
          <a:p>
            <a:r>
              <a:rPr lang="en-US" sz="1200"/>
              <a:t>跟 AI 说——『当光线变暗时，打开 LED 灯；变亮时，关闭。』发送、烧录。</a:t>
            </a:r>
            <a:endParaRPr lang="en-US" sz="1200"/>
          </a:p>
          <a:p>
            <a:endParaRPr sz="1200"/>
          </a:p>
          <a:p>
            <a:r>
              <a:rPr lang="en-US" sz="1200"/>
              <a:t>好，现在全班一起，用手捂住板子上这个光线传感器——」[全场灯此起彼伏亮起来]</a:t>
            </a:r>
            <a:endParaRPr lang="en-US" sz="1200"/>
          </a:p>
          <a:p>
            <a:endParaRPr sz="1200"/>
          </a:p>
          <a:p>
            <a:r>
              <a:rPr lang="en-US" sz="1200"/>
              <a:t>「看，一屋子的小夜灯。」</a:t>
            </a:r>
            <a:endParaRPr lang="en-US" sz="1200"/>
          </a:p>
          <a:p>
            <a:endParaRPr sz="1200"/>
          </a:p>
          <a:p>
            <a:r>
              <a:rPr lang="en-US" sz="1200"/>
              <a:t>[有人的灯不灵敏——走过去大声说：]「它觉得你这儿还不够暗。怎么办？跟 AI 说——『再灵敏一点』。」[让全场听见这句，这就是第二句咒语的实战]</a:t>
            </a:r>
            <a:endParaRPr lang="en-US" sz="1200"/>
          </a:p>
          <a:p>
            <a:endParaRPr sz="1200"/>
          </a:p>
          <a:p>
            <a:r>
              <a:rPr lang="en-US" sz="1200"/>
              <a:t>[回到屏幕，把三格图填上]「刚才我们做了什么？感知——光线；逻辑——暗了就开；输出——LED 灯。填进格子里就这么简单。接下来你们自己填这三格——填什么，做什么。」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「看你们桌上的桌牌，任选一个传感器、一个输出，自己组合。声控灯、摇晃报警、高温提醒……都行。</a:t>
            </a:r>
            <a:endParaRPr lang="en-US" sz="1200"/>
          </a:p>
          <a:p>
            <a:endParaRPr sz="1200"/>
          </a:p>
          <a:p>
            <a:r>
              <a:rPr lang="en-US" sz="1200"/>
              <a:t>有一条硬规矩：**先跟同桌说出你的三格，再动手。**说不出来不许碰键盘——想清楚，再说清楚，才做得出来。」</a:t>
            </a:r>
            <a:endParaRPr lang="en-US" sz="1200"/>
          </a:p>
          <a:p>
            <a:endParaRPr sz="1200"/>
          </a:p>
          <a:p>
            <a:r>
              <a:rPr lang="en-US" sz="1200"/>
              <a:t>[巡场第一句问的都是："你的三格是什么？"答不上来的，用类比帮："你的作品里，谁是自动门的眼睛？"]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[全场第一个报错出现时，吹停全班 1 分钟，投屏那位学员的屏幕]</a:t>
            </a:r>
            <a:endParaRPr lang="en-US" sz="1200"/>
          </a:p>
          <a:p>
            <a:endParaRPr sz="1200"/>
          </a:p>
          <a:p>
            <a:r>
              <a:rPr lang="en-US" sz="1200"/>
              <a:t>「停一下，全班看这里——我们迎来了今天第一个报错。</a:t>
            </a:r>
            <a:endParaRPr lang="en-US" sz="1200"/>
          </a:p>
          <a:p>
            <a:endParaRPr sz="1200"/>
          </a:p>
          <a:p>
            <a:r>
              <a:rPr lang="en-US" sz="1200"/>
              <a:t>看，报错不是坏了，是 AI 在跟你说话。它把问题写出来了，你原样转给它就行。</a:t>
            </a:r>
            <a:endParaRPr lang="en-US" sz="1200"/>
          </a:p>
          <a:p>
            <a:endParaRPr sz="1200"/>
          </a:p>
          <a:p>
            <a:r>
              <a:rPr lang="en-US" sz="1200"/>
              <a:t>报错全文复制，加一句『我刚才改了什么』，一起丢回给 AI。」[带着他完成一遍]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「最后一个作品，命题只有一句：做一个会反应的东西。</a:t>
            </a:r>
            <a:endParaRPr lang="en-US" sz="1200"/>
          </a:p>
          <a:p>
            <a:endParaRPr sz="1200"/>
          </a:p>
          <a:p>
            <a:r>
              <a:rPr lang="en-US" sz="1200"/>
              <a:t>对什么反应、怎么反应，全你定。想把刚才那个作品改得更厉害的，也可以接着做。」</a:t>
            </a:r>
            <a:endParaRPr lang="en-US" sz="1200"/>
          </a:p>
          <a:p>
            <a:endParaRPr sz="1200"/>
          </a:p>
          <a:p>
            <a:r>
              <a:rPr lang="en-US" sz="1200"/>
              <a:t>[给快手两个挑战方向，任选：小游戏机，或者板子当外设控制屏幕上的小游戏——以你自己预演跑通过的为准，没跑通的别放出去，快手翻车没人接得住。还快？让他用三格给同桌当老师，记下来，下节课正式让他当小老师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[第一次做日志，你先示范一遍自己的四句，说出你自己卡在哪——你示弱，他们才敢写真话]</a:t>
            </a:r>
            <a:endParaRPr lang="en-US" sz="1200"/>
          </a:p>
          <a:p>
            <a:endParaRPr sz="1200"/>
          </a:p>
          <a:p>
            <a:r>
              <a:rPr lang="en-US" sz="1200"/>
              <a:t>「桌内每人 30 秒：演示你的作品，说出它的三格。」[巡一圈]</a:t>
            </a:r>
            <a:endParaRPr lang="en-US" sz="1200"/>
          </a:p>
          <a:p>
            <a:endParaRPr sz="1200"/>
          </a:p>
          <a:p>
            <a:r>
              <a:rPr lang="en-US" sz="1200"/>
              <a:t>「现在，做今天的日志，四句话说全：今天我做了＿＿＿；卡在＿＿＿；后来＿＿＿；下次想＿＿＿。</a:t>
            </a:r>
            <a:endParaRPr lang="en-US" sz="1200"/>
          </a:p>
          <a:p>
            <a:endParaRPr sz="1200"/>
          </a:p>
          <a:p>
            <a:r>
              <a:rPr lang="en-US" sz="1200"/>
              <a:t>对着手机说，说完发给 AI，加一句：『帮我整理成日志，只许整理我说过的，不许加我没说的。』</a:t>
            </a:r>
            <a:endParaRPr lang="en-US" sz="1200"/>
          </a:p>
          <a:p>
            <a:endParaRPr sz="1200"/>
          </a:p>
          <a:p>
            <a:r>
              <a:rPr lang="en-US" sz="1200"/>
              <a:t>它整理完你要看一眼——**AI 会一本正经地编，校对是你的事。**」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 1"/>
          <p:cNvSpPr txBox="1"/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/>
              <a:t>「今天的日志都存好了——那是你们作品的成长史，到结课时它比作品本身还值钱。</a:t>
            </a:r>
            <a:endParaRPr lang="en-US" sz="1200"/>
          </a:p>
          <a:p>
            <a:endParaRPr sz="1200"/>
          </a:p>
          <a:p>
            <a:r>
              <a:rPr lang="en-US" sz="1200"/>
              <a:t>下次课，我们干一件更重要的事：找到那个值得你一直做下去的题目。</a:t>
            </a:r>
            <a:endParaRPr lang="en-US" sz="1200"/>
          </a:p>
          <a:p>
            <a:endParaRPr sz="1200"/>
          </a:p>
          <a:p>
            <a:r>
              <a:rPr lang="en-US" sz="1200"/>
              <a:t>回家路上可以开始想——你身边，有什么小事让你烦？</a:t>
            </a:r>
            <a:endParaRPr lang="en-US" sz="1200"/>
          </a:p>
          <a:p>
            <a:endParaRPr sz="1200"/>
          </a:p>
          <a:p>
            <a:r>
              <a:rPr lang="en-US" sz="1200"/>
              <a:t>下课！」</a:t>
            </a:r>
            <a:endParaRPr lang="en-US" sz="1200"/>
          </a:p>
          <a:p>
            <a:endParaRPr sz="1200"/>
          </a:p>
          <a:p>
            <a:r>
              <a:rPr lang="en-US" sz="1200"/>
              <a:t>[收尾别拖，预告说完就下课。意犹未尽，是最好的下课状态。]</a:t>
            </a:r>
            <a:endParaRPr lang="en-US" sz="1200"/>
          </a:p>
          <a:p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jpe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-title"/>
          <p:cNvSpPr txBox="1"/>
          <p:nvPr/>
        </p:nvSpPr>
        <p:spPr>
          <a:xfrm>
            <a:off x="1016000" y="2260600"/>
            <a:ext cx="707263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400" b="1">
                <a:solidFill>
                  <a:srgbClr val="000000"/>
                </a:solidFill>
                <a:latin typeface="MiSans"/>
                <a:ea typeface="MiSans"/>
              </a:rPr>
              <a:t>用 AI 点亮你的第一块硬件</a:t>
            </a:r>
            <a:endParaRPr lang="en-US" sz="4400"/>
          </a:p>
        </p:txBody>
      </p:sp>
      <p:sp>
        <p:nvSpPr>
          <p:cNvPr id="3" name="deco-line"/>
          <p:cNvSpPr/>
          <p:nvPr/>
        </p:nvSpPr>
        <p:spPr>
          <a:xfrm>
            <a:off x="1019810" y="3378200"/>
            <a:ext cx="706882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sub-title"/>
          <p:cNvSpPr txBox="1"/>
          <p:nvPr/>
        </p:nvSpPr>
        <p:spPr>
          <a:xfrm>
            <a:off x="1016000" y="3708400"/>
            <a:ext cx="707263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柴火创客学园 M0 · 零基础智能硬件入门 · 第 1 课</a:t>
            </a:r>
            <a:endParaRPr lang="en-US" sz="2000"/>
          </a:p>
        </p:txBody>
      </p:sp>
      <p:sp>
        <p:nvSpPr>
          <p:cNvPr id="5" name="slogan"/>
          <p:cNvSpPr txBox="1"/>
          <p:nvPr/>
        </p:nvSpPr>
        <p:spPr>
          <a:xfrm>
            <a:off x="1016000" y="4470400"/>
            <a:ext cx="707263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不会写代码？正好。这门课不用。</a:t>
            </a:r>
            <a:endParaRPr lang="en-US" sz="1800"/>
          </a:p>
        </p:txBody>
      </p:sp>
      <p:sp>
        <p:nvSpPr>
          <p:cNvPr id="6" name="org"/>
          <p:cNvSpPr txBox="1"/>
          <p:nvPr/>
        </p:nvSpPr>
        <p:spPr>
          <a:xfrm>
            <a:off x="1016000" y="5943600"/>
            <a:ext cx="1016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柴火创客学园 ｜ 2026</a:t>
            </a:r>
            <a:endParaRPr lang="en-US" sz="1400"/>
          </a:p>
        </p:txBody>
      </p:sp>
      <p:pic>
        <p:nvPicPr>
          <p:cNvPr id="7" name="Picture 4"/>
          <p:cNvPicPr/>
          <p:nvPr/>
        </p:nvPicPr>
        <p:blipFill>
          <a:blip r:embed="rId1"/>
          <a:stretch>
            <a:fillRect/>
          </a:stretch>
        </p:blipFill>
        <p:spPr>
          <a:xfrm>
            <a:off x="1019810" y="708660"/>
            <a:ext cx="2214880" cy="483870"/>
          </a:xfrm>
          <a:prstGeom prst="rect">
            <a:avLst/>
          </a:prstGeom>
          <a:ln>
            <a:noFill/>
          </a:ln>
        </p:spPr>
      </p:pic>
      <p:pic>
        <p:nvPicPr>
          <p:cNvPr id="8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516630" y="607060"/>
            <a:ext cx="1223010" cy="689610"/>
          </a:xfrm>
          <a:prstGeom prst="rect">
            <a:avLst/>
          </a:prstGeom>
          <a:ln>
            <a:noFill/>
          </a:ln>
        </p:spPr>
      </p:pic>
      <p:pic>
        <p:nvPicPr>
          <p:cNvPr id="9" name="Picture 3"/>
          <p:cNvPicPr/>
          <p:nvPr/>
        </p:nvPicPr>
        <p:blipFill>
          <a:blip r:embed="rId3"/>
          <a:srcRect l="17662" t="21598" r="20559" b="16798"/>
          <a:stretch>
            <a:fillRect/>
          </a:stretch>
        </p:blipFill>
        <p:spPr>
          <a:xfrm rot="-5400000">
            <a:off x="7627620" y="1390650"/>
            <a:ext cx="5246370" cy="388239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/>
          <p:nvPr/>
        </p:nvPicPr>
        <p:blipFill>
          <a:blip r:embed="rId1"/>
          <a:stretch>
            <a:fillRect/>
          </a:stretch>
        </p:blipFill>
        <p:spPr>
          <a:xfrm>
            <a:off x="762000" y="1962150"/>
            <a:ext cx="5143500" cy="4243070"/>
          </a:xfrm>
          <a:prstGeom prst="rect">
            <a:avLst/>
          </a:prstGeom>
          <a:ln>
            <a:noFill/>
          </a:ln>
        </p:spPr>
      </p:pic>
      <p:sp>
        <p:nvSpPr>
          <p:cNvPr id="3" name="AutoShape 3"/>
          <p:cNvSpPr txBox="1"/>
          <p:nvPr/>
        </p:nvSpPr>
        <p:spPr>
          <a:xfrm>
            <a:off x="1000760" y="951230"/>
            <a:ext cx="10951210" cy="477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7000"/>
              </a:lnSpc>
            </a:pPr>
            <a:r>
              <a:rPr lang="en-US" sz="3100" b="1">
                <a:solidFill>
                  <a:srgbClr val="000000"/>
                </a:solidFill>
                <a:latin typeface="Noto Sans SC"/>
                <a:ea typeface="Noto Sans SC"/>
              </a:rPr>
              <a:t>演示：三句话实现声光 SOS</a:t>
            </a:r>
            <a:endParaRPr lang="en-US" sz="3100"/>
          </a:p>
        </p:txBody>
      </p:sp>
      <p:sp>
        <p:nvSpPr>
          <p:cNvPr id="4" name="AutoShape 4"/>
          <p:cNvSpPr/>
          <p:nvPr/>
        </p:nvSpPr>
        <p:spPr>
          <a:xfrm>
            <a:off x="762000" y="951230"/>
            <a:ext cx="114300" cy="54864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5" name="AutoShape 5"/>
          <p:cNvSpPr txBox="1"/>
          <p:nvPr/>
        </p:nvSpPr>
        <p:spPr>
          <a:xfrm>
            <a:off x="952500" y="2484120"/>
            <a:ext cx="4762500" cy="4800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F3D230"/>
                </a:solidFill>
                <a:latin typeface="JetBrains Mono" panose="02000009000000000000"/>
                <a:ea typeface="JetBrains Mono" panose="02000009000000000000"/>
              </a:rPr>
              <a:t>&gt;</a:t>
            </a:r>
            <a:r>
              <a:rPr lang="en-US" sz="1350">
                <a:solidFill>
                  <a:srgbClr val="81A1C1"/>
                </a:solidFill>
                <a:latin typeface="JetBrains Mono" panose="02000009000000000000"/>
                <a:ea typeface="JetBrains Mono" panose="02000009000000000000"/>
              </a:rPr>
              <a:t>帮我写一个程序，让 Beginner Kit 的 LED 每隔 500 毫秒闪烁一次</a:t>
            </a:r>
            <a:endParaRPr lang="en-US" sz="1350"/>
          </a:p>
        </p:txBody>
      </p:sp>
      <p:sp>
        <p:nvSpPr>
          <p:cNvPr id="6" name="AutoShape 6"/>
          <p:cNvSpPr txBox="1"/>
          <p:nvPr/>
        </p:nvSpPr>
        <p:spPr>
          <a:xfrm>
            <a:off x="952500" y="3135630"/>
            <a:ext cx="47625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A3BE8C"/>
                </a:solidFill>
                <a:latin typeface="JetBrains Mono" panose="02000009000000000000"/>
                <a:ea typeface="JetBrains Mono" panose="02000009000000000000"/>
              </a:rPr>
              <a:t>✅ Round 1: LED 闪烁成功</a:t>
            </a:r>
            <a:endParaRPr lang="en-US" sz="1350"/>
          </a:p>
        </p:txBody>
      </p:sp>
      <p:sp>
        <p:nvSpPr>
          <p:cNvPr id="7" name="AutoShape 7"/>
          <p:cNvSpPr txBox="1"/>
          <p:nvPr/>
        </p:nvSpPr>
        <p:spPr>
          <a:xfrm>
            <a:off x="952500" y="3957320"/>
            <a:ext cx="47625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F3D230"/>
                </a:solidFill>
                <a:latin typeface="JetBrains Mono" panose="02000009000000000000"/>
                <a:ea typeface="JetBrains Mono" panose="02000009000000000000"/>
              </a:rPr>
              <a:t>&gt;</a:t>
            </a:r>
            <a:r>
              <a:rPr lang="en-US" sz="1350">
                <a:solidFill>
                  <a:srgbClr val="81A1C1"/>
                </a:solidFill>
                <a:latin typeface="JetBrains Mono" panose="02000009000000000000"/>
                <a:ea typeface="JetBrains Mono" panose="02000009000000000000"/>
              </a:rPr>
              <a:t>LED 亮的时候，蜂鸣器也同步鸣叫；LED 灭的时候也停</a:t>
            </a:r>
            <a:endParaRPr lang="en-US" sz="1350"/>
          </a:p>
        </p:txBody>
      </p:sp>
      <p:sp>
        <p:nvSpPr>
          <p:cNvPr id="8" name="AutoShape 8"/>
          <p:cNvSpPr txBox="1"/>
          <p:nvPr/>
        </p:nvSpPr>
        <p:spPr>
          <a:xfrm>
            <a:off x="952500" y="4368800"/>
            <a:ext cx="47625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A3BE8C"/>
                </a:solidFill>
                <a:latin typeface="JetBrains Mono" panose="02000009000000000000"/>
                <a:ea typeface="JetBrains Mono" panose="02000009000000000000"/>
              </a:rPr>
              <a:t>✅ Round 2: 声光同步完成</a:t>
            </a:r>
            <a:endParaRPr lang="en-US" sz="1350"/>
          </a:p>
        </p:txBody>
      </p:sp>
      <p:sp>
        <p:nvSpPr>
          <p:cNvPr id="9" name="AutoShape 9"/>
          <p:cNvSpPr txBox="1"/>
          <p:nvPr/>
        </p:nvSpPr>
        <p:spPr>
          <a:xfrm>
            <a:off x="952500" y="5191760"/>
            <a:ext cx="47625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F3D230"/>
                </a:solidFill>
                <a:latin typeface="JetBrains Mono" panose="02000009000000000000"/>
                <a:ea typeface="JetBrains Mono" panose="02000009000000000000"/>
              </a:rPr>
              <a:t>&gt;</a:t>
            </a:r>
            <a:r>
              <a:rPr lang="en-US" sz="1350">
                <a:solidFill>
                  <a:srgbClr val="81A1C1"/>
                </a:solidFill>
                <a:latin typeface="JetBrains Mono" panose="02000009000000000000"/>
                <a:ea typeface="JetBrains Mono" panose="02000009000000000000"/>
              </a:rPr>
              <a:t>用莫尔斯电码，持续发送声光 SOS 信号</a:t>
            </a:r>
            <a:endParaRPr lang="en-US" sz="1350"/>
          </a:p>
        </p:txBody>
      </p:sp>
      <p:sp>
        <p:nvSpPr>
          <p:cNvPr id="10" name="AutoShape 10"/>
          <p:cNvSpPr txBox="1"/>
          <p:nvPr/>
        </p:nvSpPr>
        <p:spPr>
          <a:xfrm>
            <a:off x="952500" y="5603240"/>
            <a:ext cx="476250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2000"/>
              </a:lnSpc>
            </a:pPr>
            <a:r>
              <a:rPr lang="en-US" sz="1350">
                <a:solidFill>
                  <a:srgbClr val="D84144"/>
                </a:solidFill>
                <a:latin typeface="JetBrains Mono" panose="02000009000000000000"/>
                <a:ea typeface="JetBrains Mono" panose="02000009000000000000"/>
              </a:rPr>
              <a:t>✅ Round 3: ··· ─── ··· 运行中</a:t>
            </a:r>
            <a:endParaRPr lang="en-US" sz="1350"/>
          </a:p>
        </p:txBody>
      </p:sp>
      <p:pic>
        <p:nvPicPr>
          <p:cNvPr id="11" name="Picture 11"/>
          <p:cNvPicPr/>
          <p:nvPr/>
        </p:nvPicPr>
        <p:blipFill>
          <a:blip r:embed="rId2"/>
          <a:stretch>
            <a:fillRect/>
          </a:stretch>
        </p:blipFill>
        <p:spPr>
          <a:xfrm>
            <a:off x="6553200" y="283210"/>
            <a:ext cx="5143500" cy="5143500"/>
          </a:xfrm>
          <a:prstGeom prst="rect">
            <a:avLst/>
          </a:prstGeom>
          <a:ln>
            <a:noFill/>
          </a:ln>
        </p:spPr>
      </p:pic>
      <p:sp>
        <p:nvSpPr>
          <p:cNvPr id="12" name="AutoShape 12"/>
          <p:cNvSpPr txBox="1"/>
          <p:nvPr/>
        </p:nvSpPr>
        <p:spPr>
          <a:xfrm>
            <a:off x="6553200" y="5520690"/>
            <a:ext cx="5143500" cy="919480"/>
          </a:xfrm>
          <a:prstGeom prst="rect">
            <a:avLst/>
          </a:prstGeom>
          <a:solidFill>
            <a:srgbClr val="FDF8E3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90204"/>
                <a:ea typeface="Arial" panose="020B0604020202090204"/>
              </a:rPr>
              <a:t>请注意看：他输入的是大白话，不是代码</a:t>
            </a:r>
            <a:endParaRPr lang="en-US" sz="1400"/>
          </a:p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000000"/>
                </a:solidFill>
                <a:latin typeface="Arial" panose="020B0604020202090204"/>
                <a:ea typeface="Arial" panose="020B0604020202090204"/>
              </a:rPr>
              <a:t>三句，写在同一个对话里——一句一句往下补</a:t>
            </a:r>
            <a:endParaRPr lang="en-US" sz="14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02 / 23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刚才发生了什么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四步，三分钟</a:t>
            </a:r>
            <a:endParaRPr lang="en-US" sz="3800"/>
          </a:p>
        </p:txBody>
      </p:sp>
      <p:sp>
        <p:nvSpPr>
          <p:cNvPr id="5" name="c1"/>
          <p:cNvSpPr/>
          <p:nvPr/>
        </p:nvSpPr>
        <p:spPr>
          <a:xfrm>
            <a:off x="508000" y="2032000"/>
            <a:ext cx="24892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1-t"/>
          <p:cNvSpPr txBox="1"/>
          <p:nvPr/>
        </p:nvSpPr>
        <p:spPr>
          <a:xfrm>
            <a:off x="660400" y="2184400"/>
            <a:ext cx="2184400" cy="134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① 我说了人话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200">
                <a:solidFill>
                  <a:srgbClr val="333333"/>
                </a:solidFill>
                <a:latin typeface="MiSans"/>
                <a:ea typeface="MiSans"/>
              </a:rPr>
              <a:t>（一个叫 Codecraft 的网站）</a:t>
            </a:r>
            <a:endParaRPr lang="en-US" sz="1600"/>
          </a:p>
        </p:txBody>
      </p:sp>
      <p:sp>
        <p:nvSpPr>
          <p:cNvPr id="7" name="a1"/>
          <p:cNvSpPr txBox="1"/>
          <p:nvPr/>
        </p:nvSpPr>
        <p:spPr>
          <a:xfrm>
            <a:off x="3022600" y="2540000"/>
            <a:ext cx="304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2600"/>
          </a:p>
        </p:txBody>
      </p:sp>
      <p:sp>
        <p:nvSpPr>
          <p:cNvPr id="8" name="c2"/>
          <p:cNvSpPr/>
          <p:nvPr/>
        </p:nvSpPr>
        <p:spPr>
          <a:xfrm>
            <a:off x="3327400" y="2032000"/>
            <a:ext cx="24892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c2-t"/>
          <p:cNvSpPr txBox="1"/>
          <p:nvPr/>
        </p:nvSpPr>
        <p:spPr>
          <a:xfrm>
            <a:off x="3479800" y="2184400"/>
            <a:ext cx="2184400" cy="134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② AI 写成指令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200">
                <a:solidFill>
                  <a:srgbClr val="333333"/>
                </a:solidFill>
                <a:latin typeface="MiSans"/>
                <a:ea typeface="MiSans"/>
              </a:rPr>
              <a:t>（指令的另一个名字叫代码）</a:t>
            </a:r>
            <a:endParaRPr lang="en-US" sz="1600"/>
          </a:p>
        </p:txBody>
      </p:sp>
      <p:sp>
        <p:nvSpPr>
          <p:cNvPr id="10" name="a2"/>
          <p:cNvSpPr txBox="1"/>
          <p:nvPr/>
        </p:nvSpPr>
        <p:spPr>
          <a:xfrm>
            <a:off x="5842000" y="2540000"/>
            <a:ext cx="304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2600"/>
          </a:p>
        </p:txBody>
      </p:sp>
      <p:sp>
        <p:nvSpPr>
          <p:cNvPr id="11" name="c3"/>
          <p:cNvSpPr/>
          <p:nvPr/>
        </p:nvSpPr>
        <p:spPr>
          <a:xfrm>
            <a:off x="6146800" y="2032000"/>
            <a:ext cx="24892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2" name="c3-t"/>
          <p:cNvSpPr txBox="1"/>
          <p:nvPr/>
        </p:nvSpPr>
        <p:spPr>
          <a:xfrm>
            <a:off x="6299200" y="2184400"/>
            <a:ext cx="2184400" cy="134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③ 指令搬进板子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200">
                <a:solidFill>
                  <a:srgbClr val="333333"/>
                </a:solidFill>
                <a:latin typeface="MiSans"/>
                <a:ea typeface="MiSans"/>
              </a:rPr>
              <a:t>（这一步叫烧录）</a:t>
            </a:r>
            <a:endParaRPr lang="en-US" sz="1600"/>
          </a:p>
        </p:txBody>
      </p:sp>
      <p:sp>
        <p:nvSpPr>
          <p:cNvPr id="13" name="a3"/>
          <p:cNvSpPr txBox="1"/>
          <p:nvPr/>
        </p:nvSpPr>
        <p:spPr>
          <a:xfrm>
            <a:off x="8661400" y="2540000"/>
            <a:ext cx="304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2600"/>
          </a:p>
        </p:txBody>
      </p:sp>
      <p:sp>
        <p:nvSpPr>
          <p:cNvPr id="14" name="c4"/>
          <p:cNvSpPr/>
          <p:nvPr/>
        </p:nvSpPr>
        <p:spPr>
          <a:xfrm>
            <a:off x="8966200" y="2032000"/>
            <a:ext cx="24892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c4-t"/>
          <p:cNvSpPr txBox="1"/>
          <p:nvPr/>
        </p:nvSpPr>
        <p:spPr>
          <a:xfrm>
            <a:off x="9118600" y="2184400"/>
            <a:ext cx="2184400" cy="1346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④ 板子记住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200">
                <a:solidFill>
                  <a:srgbClr val="333333"/>
                </a:solidFill>
                <a:latin typeface="MiSans"/>
                <a:ea typeface="MiSans"/>
              </a:rPr>
              <a:t>（三句话，它开始发 SOS）</a:t>
            </a:r>
            <a:endParaRPr lang="en-US" sz="1600"/>
          </a:p>
        </p:txBody>
      </p:sp>
      <p:sp>
        <p:nvSpPr>
          <p:cNvPr id="16" name="goldbar"/>
          <p:cNvSpPr/>
          <p:nvPr/>
        </p:nvSpPr>
        <p:spPr>
          <a:xfrm>
            <a:off x="508000" y="4445000"/>
            <a:ext cx="76200" cy="889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7" name="goldcard"/>
          <p:cNvSpPr/>
          <p:nvPr/>
        </p:nvSpPr>
        <p:spPr>
          <a:xfrm>
            <a:off x="584200" y="4445000"/>
            <a:ext cx="11099800" cy="88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8" name="goldtext"/>
          <p:cNvSpPr txBox="1"/>
          <p:nvPr/>
        </p:nvSpPr>
        <p:spPr>
          <a:xfrm>
            <a:off x="889000" y="4445000"/>
            <a:ext cx="10541000" cy="889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这不是魔术——这是你等会儿自己要走一遍的路。</a:t>
            </a:r>
            <a:endParaRPr lang="en-US" sz="2200"/>
          </a:p>
        </p:txBody>
      </p:sp>
      <p:sp>
        <p:nvSpPr>
          <p:cNvPr id="19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2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03 / 23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三个问题</a:t>
            </a:r>
            <a:endParaRPr lang="en-US" sz="1500"/>
          </a:p>
        </p:txBody>
      </p:sp>
      <p:sp>
        <p:nvSpPr>
          <p:cNvPr id="4" name="q1-dot"/>
          <p:cNvSpPr/>
          <p:nvPr/>
        </p:nvSpPr>
        <p:spPr>
          <a:xfrm>
            <a:off x="1016000" y="1981200"/>
            <a:ext cx="660400" cy="660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5" name="q1-num"/>
          <p:cNvSpPr txBox="1"/>
          <p:nvPr/>
        </p:nvSpPr>
        <p:spPr>
          <a:xfrm>
            <a:off x="1016000" y="1981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2400"/>
          </a:p>
        </p:txBody>
      </p:sp>
      <p:sp>
        <p:nvSpPr>
          <p:cNvPr id="6" name="q1-text"/>
          <p:cNvSpPr txBox="1"/>
          <p:nvPr/>
        </p:nvSpPr>
        <p:spPr>
          <a:xfrm>
            <a:off x="2032000" y="19812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刚才，我写代码了吗？</a:t>
            </a:r>
            <a:endParaRPr lang="en-US" sz="2800"/>
          </a:p>
        </p:txBody>
      </p:sp>
      <p:sp>
        <p:nvSpPr>
          <p:cNvPr id="7" name="q2-dot"/>
          <p:cNvSpPr/>
          <p:nvPr/>
        </p:nvSpPr>
        <p:spPr>
          <a:xfrm>
            <a:off x="1016000" y="3251200"/>
            <a:ext cx="660400" cy="660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q2-num"/>
          <p:cNvSpPr txBox="1"/>
          <p:nvPr/>
        </p:nvSpPr>
        <p:spPr>
          <a:xfrm>
            <a:off x="1016000" y="3251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400"/>
          </a:p>
        </p:txBody>
      </p:sp>
      <p:sp>
        <p:nvSpPr>
          <p:cNvPr id="9" name="q2-text"/>
          <p:cNvSpPr txBox="1"/>
          <p:nvPr/>
        </p:nvSpPr>
        <p:spPr>
          <a:xfrm>
            <a:off x="2032000" y="32512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你们中间，谁会写代码？</a:t>
            </a:r>
            <a:endParaRPr lang="en-US" sz="2800"/>
          </a:p>
        </p:txBody>
      </p:sp>
      <p:sp>
        <p:nvSpPr>
          <p:cNvPr id="10" name="q3-dot"/>
          <p:cNvSpPr/>
          <p:nvPr/>
        </p:nvSpPr>
        <p:spPr>
          <a:xfrm>
            <a:off x="1016000" y="4521200"/>
            <a:ext cx="660400" cy="660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q3-num"/>
          <p:cNvSpPr txBox="1"/>
          <p:nvPr/>
        </p:nvSpPr>
        <p:spPr>
          <a:xfrm>
            <a:off x="1016000" y="45212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2400"/>
          </a:p>
        </p:txBody>
      </p:sp>
      <p:sp>
        <p:nvSpPr>
          <p:cNvPr id="12" name="q3-text"/>
          <p:cNvSpPr txBox="1"/>
          <p:nvPr/>
        </p:nvSpPr>
        <p:spPr>
          <a:xfrm>
            <a:off x="2032000" y="4521200"/>
            <a:ext cx="9398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一行代码都不会，能不能做出刚才那个东西？</a:t>
            </a:r>
            <a:endParaRPr lang="en-US" sz="28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04 / 23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889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先导课 · 30 秒回顾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先导课说过的，30 秒过一遍</a:t>
            </a:r>
            <a:endParaRPr lang="en-US" sz="3800"/>
          </a:p>
        </p:txBody>
      </p:sp>
      <p:sp>
        <p:nvSpPr>
          <p:cNvPr id="5" name="r1"/>
          <p:cNvSpPr/>
          <p:nvPr/>
        </p:nvSpPr>
        <p:spPr>
          <a:xfrm>
            <a:off x="508000" y="1905000"/>
            <a:ext cx="3403600" cy="317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" name="r1-tag"/>
          <p:cNvSpPr/>
          <p:nvPr/>
        </p:nvSpPr>
        <p:spPr>
          <a:xfrm>
            <a:off x="508000" y="19050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7" name="r1-chip"/>
          <p:cNvSpPr/>
          <p:nvPr/>
        </p:nvSpPr>
        <p:spPr>
          <a:xfrm>
            <a:off x="762000" y="2184400"/>
            <a:ext cx="558800" cy="5588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r1-i"/>
          <p:cNvSpPr/>
          <p:nvPr/>
        </p:nvSpPr>
        <p:spPr>
          <a:xfrm>
            <a:off x="901700" y="2324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48" y="64"/>
                </a:moveTo>
                <a:cubicBezTo>
                  <a:pt x="450" y="64"/>
                  <a:pt x="452" y="64"/>
                  <a:pt x="454" y="64"/>
                </a:cubicBezTo>
                <a:lnTo>
                  <a:pt x="358" y="160"/>
                </a:lnTo>
                <a:lnTo>
                  <a:pt x="426" y="160"/>
                </a:lnTo>
                <a:lnTo>
                  <a:pt x="498" y="88"/>
                </a:lnTo>
                <a:cubicBezTo>
                  <a:pt x="507" y="99"/>
                  <a:pt x="512" y="113"/>
                  <a:pt x="512" y="128"/>
                </a:cubicBezTo>
                <a:lnTo>
                  <a:pt x="512" y="384"/>
                </a:lnTo>
                <a:cubicBezTo>
                  <a:pt x="512" y="419"/>
                  <a:pt x="483" y="448"/>
                  <a:pt x="448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134" y="64"/>
                </a:lnTo>
                <a:lnTo>
                  <a:pt x="38" y="160"/>
                </a:lnTo>
                <a:lnTo>
                  <a:pt x="106" y="160"/>
                </a:lnTo>
                <a:lnTo>
                  <a:pt x="201" y="65"/>
                </a:lnTo>
                <a:lnTo>
                  <a:pt x="202" y="64"/>
                </a:lnTo>
                <a:lnTo>
                  <a:pt x="294" y="64"/>
                </a:lnTo>
                <a:lnTo>
                  <a:pt x="198" y="160"/>
                </a:lnTo>
                <a:lnTo>
                  <a:pt x="266" y="160"/>
                </a:lnTo>
                <a:lnTo>
                  <a:pt x="361" y="65"/>
                </a:lnTo>
                <a:lnTo>
                  <a:pt x="362" y="64"/>
                </a:lnTo>
                <a:lnTo>
                  <a:pt x="448" y="64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9" name="r1-t"/>
          <p:cNvSpPr txBox="1"/>
          <p:nvPr/>
        </p:nvSpPr>
        <p:spPr>
          <a:xfrm>
            <a:off x="762000" y="2921000"/>
            <a:ext cx="28956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你的角色</a:t>
            </a:r>
            <a:endParaRPr lang="en-US" sz="160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不是编程班——你是导演，AI 是程序员。铁律：不许自己手写代码，说清楚、看效果、不满意让它改。</a:t>
            </a:r>
            <a:endParaRPr lang="en-US" sz="1600"/>
          </a:p>
        </p:txBody>
      </p:sp>
      <p:sp>
        <p:nvSpPr>
          <p:cNvPr id="10" name="r2"/>
          <p:cNvSpPr/>
          <p:nvPr/>
        </p:nvSpPr>
        <p:spPr>
          <a:xfrm>
            <a:off x="4394200" y="1905000"/>
            <a:ext cx="3403600" cy="317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1" name="r2-tag"/>
          <p:cNvSpPr/>
          <p:nvPr/>
        </p:nvSpPr>
        <p:spPr>
          <a:xfrm>
            <a:off x="4394200" y="19050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2" name="r2-chip"/>
          <p:cNvSpPr/>
          <p:nvPr/>
        </p:nvSpPr>
        <p:spPr>
          <a:xfrm>
            <a:off x="4648200" y="2184400"/>
            <a:ext cx="558800" cy="5588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r2-i"/>
          <p:cNvSpPr/>
          <p:nvPr/>
        </p:nvSpPr>
        <p:spPr>
          <a:xfrm>
            <a:off x="4787900" y="2324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48"/>
                </a:moveTo>
                <a:cubicBezTo>
                  <a:pt x="512" y="37"/>
                  <a:pt x="506" y="27"/>
                  <a:pt x="497" y="21"/>
                </a:cubicBezTo>
                <a:cubicBezTo>
                  <a:pt x="487" y="15"/>
                  <a:pt x="476" y="14"/>
                  <a:pt x="466" y="19"/>
                </a:cubicBezTo>
                <a:lnTo>
                  <a:pt x="350" y="78"/>
                </a:lnTo>
                <a:lnTo>
                  <a:pt x="170" y="18"/>
                </a:lnTo>
                <a:cubicBezTo>
                  <a:pt x="162" y="15"/>
                  <a:pt x="153" y="16"/>
                  <a:pt x="146" y="19"/>
                </a:cubicBezTo>
                <a:lnTo>
                  <a:pt x="18" y="83"/>
                </a:lnTo>
                <a:cubicBezTo>
                  <a:pt x="7" y="89"/>
                  <a:pt x="0" y="100"/>
                  <a:pt x="0" y="112"/>
                </a:cubicBezTo>
                <a:lnTo>
                  <a:pt x="0" y="464"/>
                </a:lnTo>
                <a:cubicBezTo>
                  <a:pt x="0" y="475"/>
                  <a:pt x="6" y="485"/>
                  <a:pt x="15" y="491"/>
                </a:cubicBezTo>
                <a:cubicBezTo>
                  <a:pt x="25" y="497"/>
                  <a:pt x="36" y="498"/>
                  <a:pt x="46" y="493"/>
                </a:cubicBezTo>
                <a:lnTo>
                  <a:pt x="162" y="434"/>
                </a:lnTo>
                <a:lnTo>
                  <a:pt x="342" y="494"/>
                </a:lnTo>
                <a:cubicBezTo>
                  <a:pt x="350" y="497"/>
                  <a:pt x="359" y="496"/>
                  <a:pt x="366" y="493"/>
                </a:cubicBezTo>
                <a:lnTo>
                  <a:pt x="494" y="429"/>
                </a:lnTo>
                <a:cubicBezTo>
                  <a:pt x="505" y="423"/>
                  <a:pt x="512" y="412"/>
                  <a:pt x="512" y="400"/>
                </a:cubicBezTo>
                <a:lnTo>
                  <a:pt x="512" y="48"/>
                </a:lnTo>
                <a:close/>
                <a:moveTo>
                  <a:pt x="192" y="377"/>
                </a:moveTo>
                <a:lnTo>
                  <a:pt x="192" y="92"/>
                </a:lnTo>
                <a:lnTo>
                  <a:pt x="320" y="135"/>
                </a:lnTo>
                <a:lnTo>
                  <a:pt x="320" y="420"/>
                </a:lnTo>
                <a:lnTo>
                  <a:pt x="192" y="377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4" name="r2-t"/>
          <p:cNvSpPr txBox="1"/>
          <p:nvPr/>
        </p:nvSpPr>
        <p:spPr>
          <a:xfrm>
            <a:off x="4648200" y="2921000"/>
            <a:ext cx="28956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整张地图</a:t>
            </a:r>
            <a:endParaRPr lang="en-US" sz="160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一个项目有八步：选题、找用户、做原型、写代码、取舍、验证、记录、商业化。今天走第 ③④ 步。</a:t>
            </a:r>
            <a:endParaRPr lang="en-US" sz="1600"/>
          </a:p>
        </p:txBody>
      </p:sp>
      <p:sp>
        <p:nvSpPr>
          <p:cNvPr id="15" name="r3"/>
          <p:cNvSpPr/>
          <p:nvPr/>
        </p:nvSpPr>
        <p:spPr>
          <a:xfrm>
            <a:off x="8280400" y="1905000"/>
            <a:ext cx="3403600" cy="3175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6" name="r3-tag"/>
          <p:cNvSpPr/>
          <p:nvPr/>
        </p:nvSpPr>
        <p:spPr>
          <a:xfrm>
            <a:off x="8280400" y="1905000"/>
            <a:ext cx="3403600" cy="1016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7" name="r3-chip"/>
          <p:cNvSpPr/>
          <p:nvPr/>
        </p:nvSpPr>
        <p:spPr>
          <a:xfrm>
            <a:off x="8534400" y="2184400"/>
            <a:ext cx="558800" cy="558800"/>
          </a:xfrm>
          <a:prstGeom prst="round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r3-i"/>
          <p:cNvSpPr/>
          <p:nvPr/>
        </p:nvSpPr>
        <p:spPr>
          <a:xfrm>
            <a:off x="8674100" y="2324100"/>
            <a:ext cx="279400" cy="2794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512" y="32"/>
                </a:lnTo>
                <a:cubicBezTo>
                  <a:pt x="547" y="32"/>
                  <a:pt x="576" y="61"/>
                  <a:pt x="576" y="96"/>
                </a:cubicBezTo>
                <a:lnTo>
                  <a:pt x="0" y="96"/>
                </a:lnTo>
                <a:close/>
                <a:moveTo>
                  <a:pt x="0" y="144"/>
                </a:moveTo>
                <a:lnTo>
                  <a:pt x="576" y="144"/>
                </a:lnTo>
                <a:lnTo>
                  <a:pt x="576" y="416"/>
                </a:lnTo>
                <a:cubicBezTo>
                  <a:pt x="576" y="451"/>
                  <a:pt x="547" y="480"/>
                  <a:pt x="512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44"/>
                </a:lnTo>
                <a:close/>
                <a:moveTo>
                  <a:pt x="247" y="416"/>
                </a:moveTo>
                <a:cubicBezTo>
                  <a:pt x="268" y="416"/>
                  <a:pt x="283" y="397"/>
                  <a:pt x="270" y="381"/>
                </a:cubicBezTo>
                <a:cubicBezTo>
                  <a:pt x="255" y="363"/>
                  <a:pt x="233" y="352"/>
                  <a:pt x="208" y="352"/>
                </a:cubicBezTo>
                <a:lnTo>
                  <a:pt x="144" y="352"/>
                </a:lnTo>
                <a:cubicBezTo>
                  <a:pt x="119" y="352"/>
                  <a:pt x="97" y="363"/>
                  <a:pt x="82" y="381"/>
                </a:cubicBezTo>
                <a:cubicBezTo>
                  <a:pt x="69" y="397"/>
                  <a:pt x="85" y="416"/>
                  <a:pt x="105" y="416"/>
                </a:cubicBezTo>
                <a:lnTo>
                  <a:pt x="247" y="416"/>
                </a:lnTo>
                <a:close/>
                <a:moveTo>
                  <a:pt x="176" y="312"/>
                </a:moveTo>
                <a:cubicBezTo>
                  <a:pt x="207" y="312"/>
                  <a:pt x="232" y="287"/>
                  <a:pt x="232" y="256"/>
                </a:cubicBezTo>
                <a:cubicBezTo>
                  <a:pt x="232" y="225"/>
                  <a:pt x="207" y="200"/>
                  <a:pt x="176" y="200"/>
                </a:cubicBezTo>
                <a:cubicBezTo>
                  <a:pt x="145" y="200"/>
                  <a:pt x="120" y="225"/>
                  <a:pt x="120" y="256"/>
                </a:cubicBezTo>
                <a:cubicBezTo>
                  <a:pt x="120" y="287"/>
                  <a:pt x="145" y="312"/>
                  <a:pt x="176" y="312"/>
                </a:cubicBezTo>
                <a:close/>
                <a:moveTo>
                  <a:pt x="360" y="208"/>
                </a:moveTo>
                <a:cubicBezTo>
                  <a:pt x="347" y="208"/>
                  <a:pt x="336" y="219"/>
                  <a:pt x="336" y="232"/>
                </a:cubicBezTo>
                <a:cubicBezTo>
                  <a:pt x="336" y="245"/>
                  <a:pt x="347" y="256"/>
                  <a:pt x="360" y="256"/>
                </a:cubicBezTo>
                <a:lnTo>
                  <a:pt x="472" y="256"/>
                </a:lnTo>
                <a:cubicBezTo>
                  <a:pt x="485" y="256"/>
                  <a:pt x="496" y="245"/>
                  <a:pt x="496" y="232"/>
                </a:cubicBezTo>
                <a:cubicBezTo>
                  <a:pt x="496" y="219"/>
                  <a:pt x="485" y="208"/>
                  <a:pt x="472" y="208"/>
                </a:cubicBezTo>
                <a:lnTo>
                  <a:pt x="360" y="208"/>
                </a:lnTo>
                <a:close/>
                <a:moveTo>
                  <a:pt x="360" y="304"/>
                </a:moveTo>
                <a:cubicBezTo>
                  <a:pt x="347" y="304"/>
                  <a:pt x="336" y="315"/>
                  <a:pt x="336" y="328"/>
                </a:cubicBezTo>
                <a:cubicBezTo>
                  <a:pt x="336" y="341"/>
                  <a:pt x="347" y="352"/>
                  <a:pt x="360" y="352"/>
                </a:cubicBezTo>
                <a:lnTo>
                  <a:pt x="472" y="352"/>
                </a:lnTo>
                <a:cubicBezTo>
                  <a:pt x="485" y="352"/>
                  <a:pt x="496" y="341"/>
                  <a:pt x="496" y="328"/>
                </a:cubicBezTo>
                <a:cubicBezTo>
                  <a:pt x="496" y="315"/>
                  <a:pt x="485" y="304"/>
                  <a:pt x="472" y="304"/>
                </a:cubicBezTo>
                <a:lnTo>
                  <a:pt x="360" y="304"/>
                </a:ln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9" name="r3-t"/>
          <p:cNvSpPr txBox="1"/>
          <p:nvPr/>
        </p:nvSpPr>
        <p:spPr>
          <a:xfrm>
            <a:off x="8534400" y="2921000"/>
            <a:ext cx="28956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今天练什么</a:t>
            </a:r>
            <a:endParaRPr lang="en-US" sz="1600"/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今天先练两样：做出来，和讲清楚你是怎么做的——走通做原型、写代码这两步。</a:t>
            </a:r>
            <a:endParaRPr lang="en-US" sz="1600"/>
          </a:p>
        </p:txBody>
      </p:sp>
      <p:sp>
        <p:nvSpPr>
          <p:cNvPr id="20" name="note-box"/>
          <p:cNvSpPr/>
          <p:nvPr/>
        </p:nvSpPr>
        <p:spPr>
          <a:xfrm>
            <a:off x="762000" y="5384800"/>
            <a:ext cx="10668000" cy="6604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21" name="note-t"/>
          <p:cNvSpPr txBox="1"/>
          <p:nvPr/>
        </p:nvSpPr>
        <p:spPr>
          <a:xfrm>
            <a:off x="1117600" y="5384800"/>
            <a:ext cx="99568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没赶上先导课？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记住这三句，就能跟上今天。</a:t>
            </a:r>
            <a:endParaRPr lang="en-US" sz="1700"/>
          </a:p>
        </p:txBody>
      </p:sp>
      <p:sp>
        <p:nvSpPr>
          <p:cNvPr id="22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2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05 / 23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这门课练什么</a:t>
            </a:r>
            <a:endParaRPr lang="en-US" sz="1500"/>
          </a:p>
        </p:txBody>
      </p:sp>
      <p:sp>
        <p:nvSpPr>
          <p:cNvPr id="4" name="s1"/>
          <p:cNvSpPr/>
          <p:nvPr/>
        </p:nvSpPr>
        <p:spPr>
          <a:xfrm>
            <a:off x="508000" y="1219200"/>
            <a:ext cx="3556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5" name="s1-dot"/>
          <p:cNvSpPr/>
          <p:nvPr/>
        </p:nvSpPr>
        <p:spPr>
          <a:xfrm>
            <a:off x="762000" y="1422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1-num"/>
          <p:cNvSpPr txBox="1"/>
          <p:nvPr/>
        </p:nvSpPr>
        <p:spPr>
          <a:xfrm>
            <a:off x="762000" y="1422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1700"/>
          </a:p>
        </p:txBody>
      </p:sp>
      <p:sp>
        <p:nvSpPr>
          <p:cNvPr id="7" name="s1-t"/>
          <p:cNvSpPr txBox="1"/>
          <p:nvPr/>
        </p:nvSpPr>
        <p:spPr>
          <a:xfrm>
            <a:off x="508000" y="19050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会出题</a:t>
            </a:r>
            <a:endParaRPr lang="en-US" sz="2200"/>
          </a:p>
        </p:txBody>
      </p:sp>
      <p:sp>
        <p:nvSpPr>
          <p:cNvPr id="8" name="s2"/>
          <p:cNvSpPr/>
          <p:nvPr/>
        </p:nvSpPr>
        <p:spPr>
          <a:xfrm>
            <a:off x="4318000" y="1219200"/>
            <a:ext cx="3556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s2-dot"/>
          <p:cNvSpPr/>
          <p:nvPr/>
        </p:nvSpPr>
        <p:spPr>
          <a:xfrm>
            <a:off x="4572000" y="1422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s2-num"/>
          <p:cNvSpPr txBox="1"/>
          <p:nvPr/>
        </p:nvSpPr>
        <p:spPr>
          <a:xfrm>
            <a:off x="4572000" y="1422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1700"/>
          </a:p>
        </p:txBody>
      </p:sp>
      <p:sp>
        <p:nvSpPr>
          <p:cNvPr id="11" name="s2-t"/>
          <p:cNvSpPr txBox="1"/>
          <p:nvPr/>
        </p:nvSpPr>
        <p:spPr>
          <a:xfrm>
            <a:off x="4318000" y="19050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会找用户</a:t>
            </a:r>
            <a:endParaRPr lang="en-US" sz="2200"/>
          </a:p>
        </p:txBody>
      </p:sp>
      <p:sp>
        <p:nvSpPr>
          <p:cNvPr id="12" name="s3"/>
          <p:cNvSpPr/>
          <p:nvPr/>
        </p:nvSpPr>
        <p:spPr>
          <a:xfrm>
            <a:off x="8128000" y="1219200"/>
            <a:ext cx="3556000" cy="1498600"/>
          </a:xfrm>
          <a:prstGeom prst="rect">
            <a:avLst/>
          </a:prstGeom>
          <a:solidFill>
            <a:srgbClr val="F3D230">
              <a:alpha val="20000"/>
            </a:srgbClr>
          </a:solidFill>
          <a:ln w="12700">
            <a:solidFill>
              <a:srgbClr val="000000"/>
            </a:solidFill>
          </a:ln>
        </p:spPr>
      </p:sp>
      <p:sp>
        <p:nvSpPr>
          <p:cNvPr id="13" name="s3-dot"/>
          <p:cNvSpPr/>
          <p:nvPr/>
        </p:nvSpPr>
        <p:spPr>
          <a:xfrm>
            <a:off x="8382000" y="14224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4" name="s3-num"/>
          <p:cNvSpPr txBox="1"/>
          <p:nvPr/>
        </p:nvSpPr>
        <p:spPr>
          <a:xfrm>
            <a:off x="8382000" y="14224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3</a:t>
            </a:r>
            <a:endParaRPr lang="en-US" sz="1700"/>
          </a:p>
        </p:txBody>
      </p:sp>
      <p:sp>
        <p:nvSpPr>
          <p:cNvPr id="15" name="s3-t"/>
          <p:cNvSpPr txBox="1"/>
          <p:nvPr/>
        </p:nvSpPr>
        <p:spPr>
          <a:xfrm>
            <a:off x="8128000" y="19050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会做出来</a:t>
            </a:r>
            <a:endParaRPr lang="en-US" sz="2200"/>
          </a:p>
        </p:txBody>
      </p:sp>
      <p:sp>
        <p:nvSpPr>
          <p:cNvPr id="16" name="s4"/>
          <p:cNvSpPr/>
          <p:nvPr/>
        </p:nvSpPr>
        <p:spPr>
          <a:xfrm>
            <a:off x="508000" y="2971800"/>
            <a:ext cx="3556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7" name="s4-dot"/>
          <p:cNvSpPr/>
          <p:nvPr/>
        </p:nvSpPr>
        <p:spPr>
          <a:xfrm>
            <a:off x="762000" y="3175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8" name="s4-num"/>
          <p:cNvSpPr txBox="1"/>
          <p:nvPr/>
        </p:nvSpPr>
        <p:spPr>
          <a:xfrm>
            <a:off x="762000" y="3175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4</a:t>
            </a:r>
            <a:endParaRPr lang="en-US" sz="1700"/>
          </a:p>
        </p:txBody>
      </p:sp>
      <p:sp>
        <p:nvSpPr>
          <p:cNvPr id="19" name="s4-t"/>
          <p:cNvSpPr txBox="1"/>
          <p:nvPr/>
        </p:nvSpPr>
        <p:spPr>
          <a:xfrm>
            <a:off x="508000" y="36576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会取舍</a:t>
            </a:r>
            <a:endParaRPr lang="en-US" sz="2200"/>
          </a:p>
        </p:txBody>
      </p:sp>
      <p:sp>
        <p:nvSpPr>
          <p:cNvPr id="20" name="s5"/>
          <p:cNvSpPr/>
          <p:nvPr/>
        </p:nvSpPr>
        <p:spPr>
          <a:xfrm>
            <a:off x="4318000" y="2971800"/>
            <a:ext cx="3556000" cy="149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21" name="s5-dot"/>
          <p:cNvSpPr/>
          <p:nvPr/>
        </p:nvSpPr>
        <p:spPr>
          <a:xfrm>
            <a:off x="4572000" y="3175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2" name="s5-num"/>
          <p:cNvSpPr txBox="1"/>
          <p:nvPr/>
        </p:nvSpPr>
        <p:spPr>
          <a:xfrm>
            <a:off x="4572000" y="3175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5</a:t>
            </a:r>
            <a:endParaRPr lang="en-US" sz="1700"/>
          </a:p>
        </p:txBody>
      </p:sp>
      <p:sp>
        <p:nvSpPr>
          <p:cNvPr id="23" name="s5-t"/>
          <p:cNvSpPr txBox="1"/>
          <p:nvPr/>
        </p:nvSpPr>
        <p:spPr>
          <a:xfrm>
            <a:off x="4318000" y="36576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会判断好坏</a:t>
            </a:r>
            <a:endParaRPr lang="en-US" sz="2200"/>
          </a:p>
        </p:txBody>
      </p:sp>
      <p:sp>
        <p:nvSpPr>
          <p:cNvPr id="24" name="s6"/>
          <p:cNvSpPr/>
          <p:nvPr/>
        </p:nvSpPr>
        <p:spPr>
          <a:xfrm>
            <a:off x="8128000" y="2971800"/>
            <a:ext cx="3556000" cy="1498600"/>
          </a:xfrm>
          <a:prstGeom prst="rect">
            <a:avLst/>
          </a:prstGeom>
          <a:solidFill>
            <a:srgbClr val="F3D230">
              <a:alpha val="20000"/>
            </a:srgbClr>
          </a:solidFill>
          <a:ln w="12700">
            <a:solidFill>
              <a:srgbClr val="000000"/>
            </a:solidFill>
          </a:ln>
        </p:spPr>
      </p:sp>
      <p:sp>
        <p:nvSpPr>
          <p:cNvPr id="25" name="s6-dot"/>
          <p:cNvSpPr/>
          <p:nvPr/>
        </p:nvSpPr>
        <p:spPr>
          <a:xfrm>
            <a:off x="8382000" y="3175000"/>
            <a:ext cx="431800" cy="4318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26" name="s6-num"/>
          <p:cNvSpPr txBox="1"/>
          <p:nvPr/>
        </p:nvSpPr>
        <p:spPr>
          <a:xfrm>
            <a:off x="8382000" y="31750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6</a:t>
            </a:r>
            <a:endParaRPr lang="en-US" sz="1700"/>
          </a:p>
        </p:txBody>
      </p:sp>
      <p:sp>
        <p:nvSpPr>
          <p:cNvPr id="27" name="s6-t"/>
          <p:cNvSpPr txBox="1"/>
          <p:nvPr/>
        </p:nvSpPr>
        <p:spPr>
          <a:xfrm>
            <a:off x="8128000" y="3657600"/>
            <a:ext cx="3556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会讲给别人听</a:t>
            </a:r>
            <a:endParaRPr lang="en-US" sz="2200"/>
          </a:p>
        </p:txBody>
      </p:sp>
      <p:sp>
        <p:nvSpPr>
          <p:cNvPr id="28" name="hl-box"/>
          <p:cNvSpPr/>
          <p:nvPr/>
        </p:nvSpPr>
        <p:spPr>
          <a:xfrm>
            <a:off x="508000" y="4775200"/>
            <a:ext cx="11176000" cy="635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29" name="hl-text"/>
          <p:cNvSpPr txBox="1"/>
          <p:nvPr/>
        </p:nvSpPr>
        <p:spPr>
          <a:xfrm>
            <a:off x="812800" y="4775200"/>
            <a:ext cx="105664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今天先练两样——做出来，和讲清楚你是怎么做的</a:t>
            </a:r>
            <a:endParaRPr lang="en-US" sz="1900"/>
          </a:p>
        </p:txBody>
      </p:sp>
      <p:sp>
        <p:nvSpPr>
          <p:cNvPr id="30" name="bottom-note"/>
          <p:cNvSpPr txBox="1"/>
          <p:nvPr/>
        </p:nvSpPr>
        <p:spPr>
          <a:xfrm>
            <a:off x="1016000" y="56642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代码 AI 写，这六样它替不了你。</a:t>
            </a:r>
            <a:endParaRPr lang="en-US" sz="1500"/>
          </a:p>
        </p:txBody>
      </p:sp>
      <p:sp>
        <p:nvSpPr>
          <p:cNvPr id="31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3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06 / 23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破冰 · 同桌 15 秒</a:t>
            </a:r>
            <a:endParaRPr lang="en-US" sz="1500"/>
          </a:p>
        </p:txBody>
      </p:sp>
      <p:sp>
        <p:nvSpPr>
          <p:cNvPr id="4" name="qmark"/>
          <p:cNvSpPr txBox="1"/>
          <p:nvPr/>
        </p:nvSpPr>
        <p:spPr>
          <a:xfrm>
            <a:off x="4826000" y="1397000"/>
            <a:ext cx="2540000" cy="1270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7200" b="1">
                <a:solidFill>
                  <a:srgbClr val="F3D230"/>
                </a:solidFill>
                <a:latin typeface="MiSans"/>
                <a:ea typeface="MiSans"/>
              </a:rPr>
              <a:t>？</a:t>
            </a:r>
            <a:endParaRPr lang="en-US" sz="7200"/>
          </a:p>
        </p:txBody>
      </p:sp>
      <p:sp>
        <p:nvSpPr>
          <p:cNvPr id="5" name="question"/>
          <p:cNvSpPr txBox="1"/>
          <p:nvPr/>
        </p:nvSpPr>
        <p:spPr>
          <a:xfrm>
            <a:off x="1016000" y="29464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000000"/>
                </a:solidFill>
                <a:latin typeface="MiSans"/>
                <a:ea typeface="MiSans"/>
              </a:rPr>
              <a:t>我最想让 AI 帮我做的一件事</a:t>
            </a:r>
            <a:endParaRPr lang="en-US" sz="3400"/>
          </a:p>
        </p:txBody>
      </p:sp>
      <p:sp>
        <p:nvSpPr>
          <p:cNvPr id="6" name="rule-box"/>
          <p:cNvSpPr/>
          <p:nvPr/>
        </p:nvSpPr>
        <p:spPr>
          <a:xfrm>
            <a:off x="2286000" y="4191000"/>
            <a:ext cx="7620000" cy="812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7" name="rule-text"/>
          <p:cNvSpPr txBox="1"/>
          <p:nvPr/>
        </p:nvSpPr>
        <p:spPr>
          <a:xfrm>
            <a:off x="2540000" y="4191000"/>
            <a:ext cx="7112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同桌之间，每人 15 秒。越小、越真实，越好。</a:t>
            </a:r>
            <a:endParaRPr lang="en-US" sz="2200"/>
          </a:p>
        </p:txBody>
      </p:sp>
      <p:sp>
        <p:nvSpPr>
          <p:cNvPr id="8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9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07 / 23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就位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登录就位</a:t>
            </a:r>
            <a:endParaRPr lang="en-US" sz="3800"/>
          </a:p>
        </p:txBody>
      </p:sp>
      <p:sp>
        <p:nvSpPr>
          <p:cNvPr id="5" name="def-box"/>
          <p:cNvSpPr/>
          <p:nvPr/>
        </p:nvSpPr>
        <p:spPr>
          <a:xfrm>
            <a:off x="508000" y="1778000"/>
            <a:ext cx="11176000" cy="7874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6" name="def-text"/>
          <p:cNvSpPr txBox="1"/>
          <p:nvPr/>
        </p:nvSpPr>
        <p:spPr>
          <a:xfrm>
            <a:off x="812800" y="1778000"/>
            <a:ext cx="10566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Codecraft 是什么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：一个网站——你跟 AI 说话的地方，也是 AI 给板子写指令的地方。刚才的演示用的就是它。</a:t>
            </a:r>
            <a:endParaRPr lang="en-US" sz="1700"/>
          </a:p>
        </p:txBody>
      </p:sp>
      <p:sp>
        <p:nvSpPr>
          <p:cNvPr id="7" name="url-card"/>
          <p:cNvSpPr/>
          <p:nvPr/>
        </p:nvSpPr>
        <p:spPr>
          <a:xfrm>
            <a:off x="2921000" y="2819400"/>
            <a:ext cx="6350000" cy="81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8" name="url-text"/>
          <p:cNvSpPr txBox="1"/>
          <p:nvPr/>
        </p:nvSpPr>
        <p:spPr>
          <a:xfrm>
            <a:off x="2921000" y="2819400"/>
            <a:ext cx="63500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000" b="1">
                <a:solidFill>
                  <a:srgbClr val="000000"/>
                </a:solidFill>
                <a:latin typeface="MiSans"/>
                <a:ea typeface="MiSans"/>
              </a:rPr>
              <a:t>codecraft.seeed.cc</a:t>
            </a:r>
            <a:endParaRPr lang="en-US" sz="3000"/>
          </a:p>
        </p:txBody>
      </p:sp>
      <p:sp>
        <p:nvSpPr>
          <p:cNvPr id="9" name="steps"/>
          <p:cNvSpPr txBox="1"/>
          <p:nvPr/>
        </p:nvSpPr>
        <p:spPr>
          <a:xfrm>
            <a:off x="1270000" y="3962400"/>
            <a:ext cx="96520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80000"/>
              </a:lnSpc>
            </a:pPr>
            <a:r>
              <a:rPr lang="en-US" sz="2100">
                <a:solidFill>
                  <a:srgbClr val="000000"/>
                </a:solidFill>
                <a:latin typeface="Noto Sans SC"/>
                <a:ea typeface="Noto Sans SC"/>
              </a:rPr>
              <a:t>① 打开浏览器，输入网址</a:t>
            </a:r>
            <a:endParaRPr lang="en-US" sz="2100"/>
          </a:p>
          <a:p>
            <a:pPr algn="l">
              <a:lnSpc>
                <a:spcPct val="180000"/>
              </a:lnSpc>
            </a:pPr>
            <a:r>
              <a:rPr lang="en-US" sz="2100">
                <a:solidFill>
                  <a:srgbClr val="000000"/>
                </a:solidFill>
                <a:latin typeface="Noto Sans SC"/>
                <a:ea typeface="Noto Sans SC"/>
              </a:rPr>
              <a:t>② 登录座位卡上的账号——</a:t>
            </a:r>
            <a:r>
              <a:rPr lang="en-US" sz="2100" b="1">
                <a:solidFill>
                  <a:srgbClr val="000000"/>
                </a:solidFill>
                <a:latin typeface="Noto Sans SC"/>
                <a:ea typeface="Noto Sans SC"/>
              </a:rPr>
              <a:t>只登录，先别乱点</a:t>
            </a:r>
            <a:endParaRPr lang="en-US" sz="2100"/>
          </a:p>
        </p:txBody>
      </p:sp>
      <p:sp>
        <p:nvSpPr>
          <p:cNvPr id="10" name="note-box"/>
          <p:cNvSpPr/>
          <p:nvPr/>
        </p:nvSpPr>
        <p:spPr>
          <a:xfrm>
            <a:off x="2921000" y="5283200"/>
            <a:ext cx="6350000" cy="6096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1" name="note-text"/>
          <p:cNvSpPr txBox="1"/>
          <p:nvPr/>
        </p:nvSpPr>
        <p:spPr>
          <a:xfrm>
            <a:off x="3175000" y="5283200"/>
            <a:ext cx="584200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网址和账号密码都在你的座位卡上</a:t>
            </a:r>
            <a:endParaRPr lang="en-US" sz="1700"/>
          </a:p>
        </p:txBody>
      </p:sp>
      <p:sp>
        <p:nvSpPr>
          <p:cNvPr id="12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08 / 23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-title"/>
          <p:cNvSpPr txBox="1"/>
          <p:nvPr/>
        </p:nvSpPr>
        <p:spPr>
          <a:xfrm>
            <a:off x="1016000" y="2413000"/>
            <a:ext cx="10160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>
                <a:solidFill>
                  <a:srgbClr val="000000"/>
                </a:solidFill>
                <a:latin typeface="MiSans"/>
                <a:ea typeface="MiSans"/>
              </a:rPr>
              <a:t>点亮课</a:t>
            </a:r>
            <a:endParaRPr lang="en-US" sz="4800"/>
          </a:p>
        </p:txBody>
      </p:sp>
      <p:sp>
        <p:nvSpPr>
          <p:cNvPr id="3" name="deco-line"/>
          <p:cNvSpPr/>
          <p:nvPr/>
        </p:nvSpPr>
        <p:spPr>
          <a:xfrm>
            <a:off x="5080000" y="3556000"/>
            <a:ext cx="2032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sub-title"/>
          <p:cNvSpPr txBox="1"/>
          <p:nvPr/>
        </p:nvSpPr>
        <p:spPr>
          <a:xfrm>
            <a:off x="1016000" y="38862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让屏幕亮出你的名字</a:t>
            </a:r>
            <a:endParaRPr lang="en-US"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你的搭档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认识你的板子</a:t>
            </a:r>
            <a:endParaRPr lang="en-US" sz="3800"/>
          </a:p>
        </p:txBody>
      </p:sp>
      <p:sp>
        <p:nvSpPr>
          <p:cNvPr id="5" name="def-box"/>
          <p:cNvSpPr/>
          <p:nvPr/>
        </p:nvSpPr>
        <p:spPr>
          <a:xfrm>
            <a:off x="508000" y="1727200"/>
            <a:ext cx="11176000" cy="7366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6" name="def-text"/>
          <p:cNvSpPr txBox="1"/>
          <p:nvPr/>
        </p:nvSpPr>
        <p:spPr>
          <a:xfrm>
            <a:off x="812800" y="1727200"/>
            <a:ext cx="10566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它叫</a:t>
            </a: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开发板</a:t>
            </a:r>
            <a:r>
              <a:rPr lang="en-US" sz="1700">
                <a:solidFill>
                  <a:srgbClr val="000000"/>
                </a:solidFill>
                <a:latin typeface="MiSans"/>
                <a:ea typeface="MiSans"/>
              </a:rPr>
              <a:t>——一台迷你电脑。比手机笨，但你给它一件事，它能一直做，做一年也不烦。</a:t>
            </a:r>
            <a:endParaRPr lang="en-US" sz="1700"/>
          </a:p>
        </p:txBody>
      </p:sp>
      <p:sp>
        <p:nvSpPr>
          <p:cNvPr id="7" name="ann"/>
          <p:cNvSpPr txBox="1"/>
          <p:nvPr/>
        </p:nvSpPr>
        <p:spPr>
          <a:xfrm>
            <a:off x="6858000" y="2717800"/>
            <a:ext cx="4826000" cy="266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中间的主控板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——它的脑子（想主意的是 AI，拿主意的是你）</a:t>
            </a:r>
            <a:endParaRPr lang="en-US" sz="1500"/>
          </a:p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屏幕、灯、小喇叭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——它的脸和嗓子</a:t>
            </a:r>
            <a:endParaRPr lang="en-US" sz="1500"/>
          </a:p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传感器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——它的眼睛和耳朵：感光线、感声音、感冷热</a:t>
            </a:r>
            <a:endParaRPr lang="en-US" sz="1500"/>
          </a:p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按钮、旋钮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——让你操作的地方</a:t>
            </a:r>
            <a:endParaRPr lang="en-US" sz="1500"/>
          </a:p>
          <a:p>
            <a:pPr algn="l">
              <a:lnSpc>
                <a:spcPct val="155000"/>
              </a:lnSpc>
            </a:pPr>
            <a:r>
              <a:rPr lang="en-US" sz="1500" b="1">
                <a:solidFill>
                  <a:srgbClr val="000000"/>
                </a:solidFill>
                <a:latin typeface="MiSans"/>
                <a:ea typeface="MiSans"/>
              </a:rPr>
              <a:t>USB 口</a:t>
            </a: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——今天插这里</a:t>
            </a:r>
            <a:endParaRPr lang="en-US" sz="1500"/>
          </a:p>
        </p:txBody>
      </p:sp>
      <p:sp>
        <p:nvSpPr>
          <p:cNvPr id="8" name="note-box"/>
          <p:cNvSpPr/>
          <p:nvPr/>
        </p:nvSpPr>
        <p:spPr>
          <a:xfrm>
            <a:off x="508000" y="5638800"/>
            <a:ext cx="11176000" cy="5588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9" name="note-text"/>
          <p:cNvSpPr txBox="1"/>
          <p:nvPr/>
        </p:nvSpPr>
        <p:spPr>
          <a:xfrm>
            <a:off x="812800" y="56388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板子上的小模块以后可以掰下来单独用，但今天先不掰，我说掰再掰。</a:t>
            </a:r>
            <a:endParaRPr lang="en-US" sz="1600"/>
          </a:p>
        </p:txBody>
      </p:sp>
      <p:sp>
        <p:nvSpPr>
          <p:cNvPr id="10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1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11 / 23</a:t>
            </a:r>
            <a:endParaRPr lang="en-US" sz="1100"/>
          </a:p>
        </p:txBody>
      </p:sp>
      <p:pic>
        <p:nvPicPr>
          <p:cNvPr id="12" name="board-img"/>
          <p:cNvPicPr/>
          <p:nvPr/>
        </p:nvPicPr>
        <p:blipFill>
          <a:blip r:embed="rId1"/>
          <a:srcRect l="-26381" r="-26381"/>
          <a:stretch>
            <a:fillRect/>
          </a:stretch>
        </p:blipFill>
        <p:spPr>
          <a:xfrm>
            <a:off x="584200" y="2565400"/>
            <a:ext cx="6096000" cy="2997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94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1330960"/>
            <a:ext cx="12192000" cy="5283200"/>
          </a:xfrm>
          <a:prstGeom prst="rect">
            <a:avLst/>
          </a:prstGeom>
          <a:ln>
            <a:noFill/>
          </a:ln>
        </p:spPr>
      </p:pic>
      <p:sp>
        <p:nvSpPr>
          <p:cNvPr id="3" name="矩形 295"/>
          <p:cNvSpPr/>
          <p:nvPr/>
        </p:nvSpPr>
        <p:spPr>
          <a:xfrm>
            <a:off x="8164830" y="3849370"/>
            <a:ext cx="735330" cy="534670"/>
          </a:xfrm>
          <a:prstGeom prst="rect">
            <a:avLst/>
          </a:prstGeom>
          <a:solidFill>
            <a:srgbClr val="262626"/>
          </a:solidFill>
          <a:ln w="12700">
            <a:solidFill>
              <a:srgbClr val="5C5C5C"/>
            </a:solidFill>
          </a:ln>
        </p:spPr>
      </p:sp>
      <p:sp>
        <p:nvSpPr>
          <p:cNvPr id="4" name="文本框 296"/>
          <p:cNvSpPr txBox="1"/>
          <p:nvPr/>
        </p:nvSpPr>
        <p:spPr>
          <a:xfrm>
            <a:off x="2786380" y="1069340"/>
            <a:ext cx="591312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默认字体"/>
                <a:ea typeface="默认字体"/>
              </a:rPr>
              <a:t>Grove 极简 Arduino 入门套件</a:t>
            </a:r>
            <a:endParaRPr lang="en-US" sz="1500"/>
          </a:p>
        </p:txBody>
      </p:sp>
      <p:sp>
        <p:nvSpPr>
          <p:cNvPr id="5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你的搭档</a:t>
            </a:r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787400"/>
            <a:ext cx="12192000" cy="5283200"/>
          </a:xfrm>
          <a:prstGeom prst="rect">
            <a:avLst/>
          </a:prstGeom>
          <a:ln>
            <a:noFill/>
          </a:ln>
        </p:spPr>
      </p:pic>
      <p:sp>
        <p:nvSpPr>
          <p:cNvPr id="3" name="矩形 300"/>
          <p:cNvSpPr/>
          <p:nvPr/>
        </p:nvSpPr>
        <p:spPr>
          <a:xfrm>
            <a:off x="8164830" y="3305810"/>
            <a:ext cx="735330" cy="534670"/>
          </a:xfrm>
          <a:prstGeom prst="rect">
            <a:avLst/>
          </a:prstGeom>
          <a:solidFill>
            <a:srgbClr val="262626"/>
          </a:solidFill>
          <a:ln w="12700">
            <a:solidFill>
              <a:srgbClr val="5C5C5C"/>
            </a:solidFill>
          </a:ln>
        </p:spPr>
      </p:sp>
      <p:sp>
        <p:nvSpPr>
          <p:cNvPr id="4" name="文本框 301"/>
          <p:cNvSpPr txBox="1"/>
          <p:nvPr/>
        </p:nvSpPr>
        <p:spPr>
          <a:xfrm>
            <a:off x="2786380" y="525780"/>
            <a:ext cx="591312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默认字体"/>
                <a:ea typeface="默认字体"/>
              </a:rPr>
              <a:t>Grove 极简 Arduino 入门套件——感知能力</a:t>
            </a:r>
            <a:endParaRPr lang="en-US" sz="1500"/>
          </a:p>
        </p:txBody>
      </p:sp>
      <p:sp>
        <p:nvSpPr>
          <p:cNvPr id="5" name="圆角矩形 302"/>
          <p:cNvSpPr/>
          <p:nvPr/>
        </p:nvSpPr>
        <p:spPr>
          <a:xfrm>
            <a:off x="7225030" y="1283970"/>
            <a:ext cx="2103120" cy="4246880"/>
          </a:xfrm>
          <a:prstGeom prst="roundRect">
            <a:avLst>
              <a:gd name="adj" fmla="val 10626"/>
            </a:avLst>
          </a:prstGeom>
          <a:solidFill>
            <a:srgbClr val="D58EFF">
              <a:alpha val="83137"/>
            </a:srgbClr>
          </a:solidFill>
          <a:ln w="12700">
            <a:solidFill>
              <a:srgbClr val="5C5C5C"/>
            </a:solidFill>
          </a:ln>
        </p:spPr>
      </p:sp>
      <p:sp>
        <p:nvSpPr>
          <p:cNvPr id="6" name="object 13"/>
          <p:cNvSpPr/>
          <p:nvPr/>
        </p:nvSpPr>
        <p:spPr>
          <a:xfrm>
            <a:off x="747776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F2C7"/>
          </a:solidFill>
          <a:ln>
            <a:noFill/>
          </a:ln>
        </p:spPr>
      </p:sp>
      <p:pic>
        <p:nvPicPr>
          <p:cNvPr id="7" name="object 14"/>
          <p:cNvPicPr/>
          <p:nvPr/>
        </p:nvPicPr>
        <p:blipFill>
          <a:blip r:embed="rId2"/>
          <a:stretch>
            <a:fillRect/>
          </a:stretch>
        </p:blipFill>
        <p:spPr>
          <a:xfrm>
            <a:off x="7614920" y="1935480"/>
            <a:ext cx="346710" cy="346710"/>
          </a:xfrm>
          <a:prstGeom prst="rect">
            <a:avLst/>
          </a:prstGeom>
          <a:ln>
            <a:noFill/>
          </a:ln>
        </p:spPr>
      </p:pic>
      <p:sp>
        <p:nvSpPr>
          <p:cNvPr id="8" name="object 19"/>
          <p:cNvSpPr/>
          <p:nvPr/>
        </p:nvSpPr>
        <p:spPr>
          <a:xfrm>
            <a:off x="837438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7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ECE8FE"/>
          </a:solidFill>
          <a:ln>
            <a:noFill/>
          </a:ln>
        </p:spPr>
      </p:sp>
      <p:pic>
        <p:nvPicPr>
          <p:cNvPr id="9" name="object 20"/>
          <p:cNvPicPr/>
          <p:nvPr/>
        </p:nvPicPr>
        <p:blipFill>
          <a:blip r:embed="rId3"/>
          <a:stretch>
            <a:fillRect/>
          </a:stretch>
        </p:blipFill>
        <p:spPr>
          <a:xfrm>
            <a:off x="8478520" y="1951990"/>
            <a:ext cx="431800" cy="312420"/>
          </a:xfrm>
          <a:prstGeom prst="rect">
            <a:avLst/>
          </a:prstGeom>
          <a:ln>
            <a:noFill/>
          </a:ln>
        </p:spPr>
      </p:pic>
      <p:sp>
        <p:nvSpPr>
          <p:cNvPr id="10" name="object 24"/>
          <p:cNvSpPr/>
          <p:nvPr/>
        </p:nvSpPr>
        <p:spPr>
          <a:xfrm>
            <a:off x="7654290" y="3262630"/>
            <a:ext cx="577850" cy="57785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pic>
        <p:nvPicPr>
          <p:cNvPr id="11" name="object 25"/>
          <p:cNvPicPr/>
          <p:nvPr/>
        </p:nvPicPr>
        <p:blipFill>
          <a:blip r:embed="rId4"/>
          <a:stretch>
            <a:fillRect/>
          </a:stretch>
        </p:blipFill>
        <p:spPr>
          <a:xfrm>
            <a:off x="7857490" y="3390900"/>
            <a:ext cx="180340" cy="321310"/>
          </a:xfrm>
          <a:prstGeom prst="rect">
            <a:avLst/>
          </a:prstGeom>
          <a:ln>
            <a:noFill/>
          </a:ln>
        </p:spPr>
      </p:pic>
      <p:sp>
        <p:nvSpPr>
          <p:cNvPr id="12" name="object 36"/>
          <p:cNvSpPr/>
          <p:nvPr/>
        </p:nvSpPr>
        <p:spPr>
          <a:xfrm>
            <a:off x="8380730" y="4593590"/>
            <a:ext cx="626110" cy="62611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0FAE4"/>
          </a:solidFill>
          <a:ln>
            <a:noFill/>
          </a:ln>
        </p:spPr>
      </p:sp>
      <p:pic>
        <p:nvPicPr>
          <p:cNvPr id="13" name="object 37"/>
          <p:cNvPicPr/>
          <p:nvPr/>
        </p:nvPicPr>
        <p:blipFill>
          <a:blip r:embed="rId5"/>
          <a:stretch>
            <a:fillRect/>
          </a:stretch>
        </p:blipFill>
        <p:spPr>
          <a:xfrm>
            <a:off x="8517890" y="4730750"/>
            <a:ext cx="353060" cy="351790"/>
          </a:xfrm>
          <a:prstGeom prst="rect">
            <a:avLst/>
          </a:prstGeom>
          <a:ln>
            <a:noFill/>
          </a:ln>
        </p:spPr>
      </p:pic>
      <p:sp>
        <p:nvSpPr>
          <p:cNvPr id="14" name="object 30"/>
          <p:cNvSpPr/>
          <p:nvPr/>
        </p:nvSpPr>
        <p:spPr>
          <a:xfrm>
            <a:off x="7477760" y="4593590"/>
            <a:ext cx="627380" cy="62738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3" y="318512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AE9FE"/>
          </a:solidFill>
          <a:ln>
            <a:noFill/>
          </a:ln>
        </p:spPr>
      </p:sp>
      <p:pic>
        <p:nvPicPr>
          <p:cNvPr id="15" name="object 31"/>
          <p:cNvPicPr/>
          <p:nvPr/>
        </p:nvPicPr>
        <p:blipFill>
          <a:blip r:embed="rId6"/>
          <a:stretch>
            <a:fillRect/>
          </a:stretch>
        </p:blipFill>
        <p:spPr>
          <a:xfrm>
            <a:off x="7581900" y="4754880"/>
            <a:ext cx="435610" cy="304800"/>
          </a:xfrm>
          <a:prstGeom prst="rect">
            <a:avLst/>
          </a:prstGeom>
          <a:ln>
            <a:noFill/>
          </a:ln>
        </p:spPr>
      </p:pic>
      <p:pic>
        <p:nvPicPr>
          <p:cNvPr id="16" name="图片 318"/>
          <p:cNvPicPr/>
          <p:nvPr/>
        </p:nvPicPr>
        <p:blipFill>
          <a:blip r:embed="rId7"/>
          <a:stretch>
            <a:fillRect/>
          </a:stretch>
        </p:blipFill>
        <p:spPr>
          <a:xfrm>
            <a:off x="8114030" y="3154680"/>
            <a:ext cx="836930" cy="83693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21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787400"/>
            <a:ext cx="12192000" cy="5283200"/>
          </a:xfrm>
          <a:prstGeom prst="rect">
            <a:avLst/>
          </a:prstGeom>
          <a:ln>
            <a:noFill/>
          </a:ln>
        </p:spPr>
      </p:pic>
      <p:sp>
        <p:nvSpPr>
          <p:cNvPr id="3" name="矩形 322"/>
          <p:cNvSpPr/>
          <p:nvPr/>
        </p:nvSpPr>
        <p:spPr>
          <a:xfrm>
            <a:off x="8164830" y="3305810"/>
            <a:ext cx="735330" cy="534670"/>
          </a:xfrm>
          <a:prstGeom prst="rect">
            <a:avLst/>
          </a:prstGeom>
          <a:solidFill>
            <a:srgbClr val="262626"/>
          </a:solidFill>
          <a:ln w="12700">
            <a:solidFill>
              <a:srgbClr val="5C5C5C"/>
            </a:solidFill>
          </a:ln>
        </p:spPr>
      </p:sp>
      <p:sp>
        <p:nvSpPr>
          <p:cNvPr id="4" name="文本框 323"/>
          <p:cNvSpPr txBox="1"/>
          <p:nvPr/>
        </p:nvSpPr>
        <p:spPr>
          <a:xfrm>
            <a:off x="2786380" y="525780"/>
            <a:ext cx="591312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默认字体"/>
                <a:ea typeface="默认字体"/>
              </a:rPr>
              <a:t>Grove 极简 Arduino 入门套件——表达（执行）能力</a:t>
            </a:r>
            <a:endParaRPr lang="en-US" sz="1500"/>
          </a:p>
        </p:txBody>
      </p:sp>
      <p:sp>
        <p:nvSpPr>
          <p:cNvPr id="5" name="圆角矩形 324"/>
          <p:cNvSpPr/>
          <p:nvPr/>
        </p:nvSpPr>
        <p:spPr>
          <a:xfrm>
            <a:off x="2434590" y="1322070"/>
            <a:ext cx="2103120" cy="2876550"/>
          </a:xfrm>
          <a:prstGeom prst="roundRect">
            <a:avLst>
              <a:gd name="adj" fmla="val 10626"/>
            </a:avLst>
          </a:prstGeom>
          <a:solidFill>
            <a:srgbClr val="F5C400">
              <a:alpha val="70196"/>
            </a:srgbClr>
          </a:solidFill>
          <a:ln w="12700">
            <a:solidFill>
              <a:srgbClr val="5C5C5C"/>
            </a:solidFill>
          </a:ln>
        </p:spPr>
      </p:sp>
      <p:sp>
        <p:nvSpPr>
          <p:cNvPr id="6" name="object 13"/>
          <p:cNvSpPr/>
          <p:nvPr/>
        </p:nvSpPr>
        <p:spPr>
          <a:xfrm>
            <a:off x="747776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F2C7"/>
          </a:solidFill>
          <a:ln>
            <a:noFill/>
          </a:ln>
        </p:spPr>
      </p:sp>
      <p:pic>
        <p:nvPicPr>
          <p:cNvPr id="7" name="object 14"/>
          <p:cNvPicPr/>
          <p:nvPr/>
        </p:nvPicPr>
        <p:blipFill>
          <a:blip r:embed="rId2"/>
          <a:stretch>
            <a:fillRect/>
          </a:stretch>
        </p:blipFill>
        <p:spPr>
          <a:xfrm>
            <a:off x="7614920" y="1935480"/>
            <a:ext cx="346710" cy="346710"/>
          </a:xfrm>
          <a:prstGeom prst="rect">
            <a:avLst/>
          </a:prstGeom>
          <a:ln>
            <a:noFill/>
          </a:ln>
        </p:spPr>
      </p:pic>
      <p:sp>
        <p:nvSpPr>
          <p:cNvPr id="8" name="object 19"/>
          <p:cNvSpPr/>
          <p:nvPr/>
        </p:nvSpPr>
        <p:spPr>
          <a:xfrm>
            <a:off x="837438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7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ECE8FE"/>
          </a:solidFill>
          <a:ln>
            <a:noFill/>
          </a:ln>
        </p:spPr>
      </p:sp>
      <p:pic>
        <p:nvPicPr>
          <p:cNvPr id="9" name="object 20"/>
          <p:cNvPicPr/>
          <p:nvPr/>
        </p:nvPicPr>
        <p:blipFill>
          <a:blip r:embed="rId3"/>
          <a:stretch>
            <a:fillRect/>
          </a:stretch>
        </p:blipFill>
        <p:spPr>
          <a:xfrm>
            <a:off x="8478520" y="1951990"/>
            <a:ext cx="431800" cy="312420"/>
          </a:xfrm>
          <a:prstGeom prst="rect">
            <a:avLst/>
          </a:prstGeom>
          <a:ln>
            <a:noFill/>
          </a:ln>
        </p:spPr>
      </p:pic>
      <p:sp>
        <p:nvSpPr>
          <p:cNvPr id="10" name="object 24"/>
          <p:cNvSpPr/>
          <p:nvPr/>
        </p:nvSpPr>
        <p:spPr>
          <a:xfrm>
            <a:off x="7654290" y="3262630"/>
            <a:ext cx="577850" cy="57785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pic>
        <p:nvPicPr>
          <p:cNvPr id="11" name="object 25"/>
          <p:cNvPicPr/>
          <p:nvPr/>
        </p:nvPicPr>
        <p:blipFill>
          <a:blip r:embed="rId4"/>
          <a:stretch>
            <a:fillRect/>
          </a:stretch>
        </p:blipFill>
        <p:spPr>
          <a:xfrm>
            <a:off x="7857490" y="3390900"/>
            <a:ext cx="180340" cy="321310"/>
          </a:xfrm>
          <a:prstGeom prst="rect">
            <a:avLst/>
          </a:prstGeom>
          <a:ln>
            <a:noFill/>
          </a:ln>
        </p:spPr>
      </p:pic>
      <p:sp>
        <p:nvSpPr>
          <p:cNvPr id="12" name="object 36"/>
          <p:cNvSpPr/>
          <p:nvPr/>
        </p:nvSpPr>
        <p:spPr>
          <a:xfrm>
            <a:off x="8380730" y="4593590"/>
            <a:ext cx="626110" cy="62611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0FAE4"/>
          </a:solidFill>
          <a:ln>
            <a:noFill/>
          </a:ln>
        </p:spPr>
      </p:sp>
      <p:pic>
        <p:nvPicPr>
          <p:cNvPr id="13" name="object 37"/>
          <p:cNvPicPr/>
          <p:nvPr/>
        </p:nvPicPr>
        <p:blipFill>
          <a:blip r:embed="rId5"/>
          <a:stretch>
            <a:fillRect/>
          </a:stretch>
        </p:blipFill>
        <p:spPr>
          <a:xfrm>
            <a:off x="8517890" y="4730750"/>
            <a:ext cx="353060" cy="351790"/>
          </a:xfrm>
          <a:prstGeom prst="rect">
            <a:avLst/>
          </a:prstGeom>
          <a:ln>
            <a:noFill/>
          </a:ln>
        </p:spPr>
      </p:pic>
      <p:sp>
        <p:nvSpPr>
          <p:cNvPr id="14" name="object 30"/>
          <p:cNvSpPr/>
          <p:nvPr/>
        </p:nvSpPr>
        <p:spPr>
          <a:xfrm>
            <a:off x="7477760" y="4593590"/>
            <a:ext cx="627380" cy="62738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3" y="318512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AE9FE"/>
          </a:solidFill>
          <a:ln>
            <a:noFill/>
          </a:ln>
        </p:spPr>
      </p:sp>
      <p:pic>
        <p:nvPicPr>
          <p:cNvPr id="15" name="object 31"/>
          <p:cNvPicPr/>
          <p:nvPr/>
        </p:nvPicPr>
        <p:blipFill>
          <a:blip r:embed="rId6"/>
          <a:stretch>
            <a:fillRect/>
          </a:stretch>
        </p:blipFill>
        <p:spPr>
          <a:xfrm>
            <a:off x="7581900" y="4754880"/>
            <a:ext cx="435610" cy="304800"/>
          </a:xfrm>
          <a:prstGeom prst="rect">
            <a:avLst/>
          </a:prstGeom>
          <a:ln>
            <a:noFill/>
          </a:ln>
        </p:spPr>
      </p:pic>
      <p:pic>
        <p:nvPicPr>
          <p:cNvPr id="16" name="图片 340"/>
          <p:cNvPicPr/>
          <p:nvPr/>
        </p:nvPicPr>
        <p:blipFill>
          <a:blip r:embed="rId7"/>
          <a:stretch>
            <a:fillRect/>
          </a:stretch>
        </p:blipFill>
        <p:spPr>
          <a:xfrm>
            <a:off x="8114030" y="3154680"/>
            <a:ext cx="836930" cy="836930"/>
          </a:xfrm>
          <a:prstGeom prst="rect">
            <a:avLst/>
          </a:prstGeom>
          <a:ln>
            <a:noFill/>
          </a:ln>
        </p:spPr>
      </p:pic>
      <p:pic>
        <p:nvPicPr>
          <p:cNvPr id="17" name="图片 341"/>
          <p:cNvPicPr/>
          <p:nvPr/>
        </p:nvPicPr>
        <p:blipFill>
          <a:blip r:embed="rId8"/>
          <a:srcRect l="9097" t="35575" r="71475" b="34438"/>
          <a:stretch>
            <a:fillRect/>
          </a:stretch>
        </p:blipFill>
        <p:spPr>
          <a:xfrm>
            <a:off x="2694940" y="1676400"/>
            <a:ext cx="703580" cy="1084580"/>
          </a:xfrm>
          <a:prstGeom prst="rect">
            <a:avLst/>
          </a:prstGeom>
          <a:ln>
            <a:noFill/>
          </a:ln>
        </p:spPr>
      </p:pic>
      <p:pic>
        <p:nvPicPr>
          <p:cNvPr id="18" name="图片 342"/>
          <p:cNvPicPr/>
          <p:nvPr/>
        </p:nvPicPr>
        <p:blipFill>
          <a:blip r:embed="rId8"/>
          <a:srcRect l="36187" t="35267" r="34533" b="36286"/>
          <a:stretch>
            <a:fillRect/>
          </a:stretch>
        </p:blipFill>
        <p:spPr>
          <a:xfrm>
            <a:off x="3398520" y="1676400"/>
            <a:ext cx="1059180" cy="1029970"/>
          </a:xfrm>
          <a:prstGeom prst="rect">
            <a:avLst/>
          </a:prstGeom>
          <a:ln>
            <a:noFill/>
          </a:ln>
        </p:spPr>
      </p:pic>
      <p:pic>
        <p:nvPicPr>
          <p:cNvPr id="19" name="图片 343"/>
          <p:cNvPicPr/>
          <p:nvPr/>
        </p:nvPicPr>
        <p:blipFill>
          <a:blip r:embed="rId8"/>
          <a:srcRect l="67280" t="34651" r="3440" b="36902"/>
          <a:stretch>
            <a:fillRect/>
          </a:stretch>
        </p:blipFill>
        <p:spPr>
          <a:xfrm>
            <a:off x="2956560" y="3058160"/>
            <a:ext cx="1059180" cy="102997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4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787400"/>
            <a:ext cx="12192000" cy="5283200"/>
          </a:xfrm>
          <a:prstGeom prst="rect">
            <a:avLst/>
          </a:prstGeom>
          <a:ln>
            <a:noFill/>
          </a:ln>
        </p:spPr>
      </p:pic>
      <p:sp>
        <p:nvSpPr>
          <p:cNvPr id="3" name="矩形 350"/>
          <p:cNvSpPr/>
          <p:nvPr/>
        </p:nvSpPr>
        <p:spPr>
          <a:xfrm>
            <a:off x="8164830" y="3305810"/>
            <a:ext cx="735330" cy="534670"/>
          </a:xfrm>
          <a:prstGeom prst="rect">
            <a:avLst/>
          </a:prstGeom>
          <a:solidFill>
            <a:srgbClr val="262626"/>
          </a:solidFill>
          <a:ln w="12700">
            <a:solidFill>
              <a:srgbClr val="5C5C5C"/>
            </a:solidFill>
          </a:ln>
        </p:spPr>
      </p:sp>
      <p:sp>
        <p:nvSpPr>
          <p:cNvPr id="4" name="文本框 351"/>
          <p:cNvSpPr txBox="1"/>
          <p:nvPr/>
        </p:nvSpPr>
        <p:spPr>
          <a:xfrm>
            <a:off x="2786380" y="525780"/>
            <a:ext cx="591312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默认字体"/>
                <a:ea typeface="默认字体"/>
              </a:rPr>
              <a:t>Grove 极简 Arduino 入门套件——交互能力</a:t>
            </a:r>
            <a:endParaRPr lang="en-US" sz="1500"/>
          </a:p>
        </p:txBody>
      </p:sp>
      <p:sp>
        <p:nvSpPr>
          <p:cNvPr id="5" name="圆角矩形 352"/>
          <p:cNvSpPr/>
          <p:nvPr/>
        </p:nvSpPr>
        <p:spPr>
          <a:xfrm>
            <a:off x="2425700" y="4330700"/>
            <a:ext cx="1990090" cy="1129030"/>
          </a:xfrm>
          <a:prstGeom prst="roundRect">
            <a:avLst>
              <a:gd name="adj" fmla="val 10626"/>
            </a:avLst>
          </a:prstGeom>
          <a:solidFill>
            <a:srgbClr val="F88825">
              <a:alpha val="81961"/>
            </a:srgbClr>
          </a:solidFill>
          <a:ln w="12700">
            <a:solidFill>
              <a:srgbClr val="5C5C5C"/>
            </a:solidFill>
          </a:ln>
        </p:spPr>
      </p:sp>
      <p:pic>
        <p:nvPicPr>
          <p:cNvPr id="6" name="object 41"/>
          <p:cNvPicPr/>
          <p:nvPr/>
        </p:nvPicPr>
        <p:blipFill>
          <a:blip r:embed="rId2"/>
          <a:stretch>
            <a:fillRect/>
          </a:stretch>
        </p:blipFill>
        <p:spPr>
          <a:xfrm>
            <a:off x="3569970" y="4653280"/>
            <a:ext cx="519430" cy="485140"/>
          </a:xfrm>
          <a:prstGeom prst="rect">
            <a:avLst/>
          </a:prstGeom>
          <a:ln>
            <a:noFill/>
          </a:ln>
        </p:spPr>
      </p:pic>
      <p:pic>
        <p:nvPicPr>
          <p:cNvPr id="7" name="图片 354"/>
          <p:cNvPicPr/>
          <p:nvPr/>
        </p:nvPicPr>
        <p:blipFill>
          <a:blip r:embed="rId3"/>
          <a:stretch>
            <a:fillRect/>
          </a:stretch>
        </p:blipFill>
        <p:spPr>
          <a:xfrm>
            <a:off x="2555240" y="4513580"/>
            <a:ext cx="787400" cy="787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357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787400"/>
            <a:ext cx="12192000" cy="5283200"/>
          </a:xfrm>
          <a:prstGeom prst="rect">
            <a:avLst/>
          </a:prstGeom>
          <a:ln>
            <a:noFill/>
          </a:ln>
        </p:spPr>
      </p:pic>
      <p:sp>
        <p:nvSpPr>
          <p:cNvPr id="3" name="矩形 358"/>
          <p:cNvSpPr/>
          <p:nvPr/>
        </p:nvSpPr>
        <p:spPr>
          <a:xfrm>
            <a:off x="8164830" y="3305810"/>
            <a:ext cx="735330" cy="534670"/>
          </a:xfrm>
          <a:prstGeom prst="rect">
            <a:avLst/>
          </a:prstGeom>
          <a:solidFill>
            <a:srgbClr val="262626"/>
          </a:solidFill>
          <a:ln w="12700">
            <a:solidFill>
              <a:srgbClr val="5C5C5C"/>
            </a:solidFill>
          </a:ln>
        </p:spPr>
      </p:sp>
      <p:sp>
        <p:nvSpPr>
          <p:cNvPr id="4" name="文本框 359"/>
          <p:cNvSpPr txBox="1"/>
          <p:nvPr/>
        </p:nvSpPr>
        <p:spPr>
          <a:xfrm>
            <a:off x="2786380" y="525780"/>
            <a:ext cx="5913120" cy="23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默认字体"/>
                <a:ea typeface="默认字体"/>
              </a:rPr>
              <a:t>Grove 极简 Arduino 入门套件——核心控制与扩展能力</a:t>
            </a:r>
            <a:endParaRPr lang="en-US" sz="1500"/>
          </a:p>
        </p:txBody>
      </p:sp>
      <p:sp>
        <p:nvSpPr>
          <p:cNvPr id="5" name="圆角矩形 360"/>
          <p:cNvSpPr/>
          <p:nvPr/>
        </p:nvSpPr>
        <p:spPr>
          <a:xfrm>
            <a:off x="4707890" y="2118360"/>
            <a:ext cx="2292350" cy="2947670"/>
          </a:xfrm>
          <a:prstGeom prst="roundRect">
            <a:avLst>
              <a:gd name="adj" fmla="val 10626"/>
            </a:avLst>
          </a:prstGeom>
          <a:solidFill>
            <a:srgbClr val="319B62">
              <a:alpha val="74902"/>
            </a:srgbClr>
          </a:solidFill>
          <a:ln w="12700">
            <a:solidFill>
              <a:srgbClr val="5C5C5C"/>
            </a:solidFill>
          </a:ln>
        </p:spPr>
      </p:sp>
      <p:sp>
        <p:nvSpPr>
          <p:cNvPr id="6" name="object 13"/>
          <p:cNvSpPr/>
          <p:nvPr/>
        </p:nvSpPr>
        <p:spPr>
          <a:xfrm>
            <a:off x="747776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7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F2C7"/>
          </a:solidFill>
          <a:ln>
            <a:noFill/>
          </a:ln>
        </p:spPr>
      </p:sp>
      <p:pic>
        <p:nvPicPr>
          <p:cNvPr id="7" name="object 14"/>
          <p:cNvPicPr/>
          <p:nvPr/>
        </p:nvPicPr>
        <p:blipFill>
          <a:blip r:embed="rId2"/>
          <a:stretch>
            <a:fillRect/>
          </a:stretch>
        </p:blipFill>
        <p:spPr>
          <a:xfrm>
            <a:off x="7614920" y="1935480"/>
            <a:ext cx="346710" cy="346710"/>
          </a:xfrm>
          <a:prstGeom prst="rect">
            <a:avLst/>
          </a:prstGeom>
          <a:ln>
            <a:noFill/>
          </a:ln>
        </p:spPr>
      </p:pic>
      <p:sp>
        <p:nvSpPr>
          <p:cNvPr id="8" name="object 19"/>
          <p:cNvSpPr/>
          <p:nvPr/>
        </p:nvSpPr>
        <p:spPr>
          <a:xfrm>
            <a:off x="8374380" y="1797050"/>
            <a:ext cx="622300" cy="6223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59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7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7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3" y="318513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ECE8FE"/>
          </a:solidFill>
          <a:ln>
            <a:noFill/>
          </a:ln>
        </p:spPr>
      </p:sp>
      <p:pic>
        <p:nvPicPr>
          <p:cNvPr id="9" name="object 20"/>
          <p:cNvPicPr/>
          <p:nvPr/>
        </p:nvPicPr>
        <p:blipFill>
          <a:blip r:embed="rId3"/>
          <a:stretch>
            <a:fillRect/>
          </a:stretch>
        </p:blipFill>
        <p:spPr>
          <a:xfrm>
            <a:off x="8478520" y="1951990"/>
            <a:ext cx="431800" cy="312420"/>
          </a:xfrm>
          <a:prstGeom prst="rect">
            <a:avLst/>
          </a:prstGeom>
          <a:ln>
            <a:noFill/>
          </a:ln>
        </p:spPr>
      </p:pic>
      <p:sp>
        <p:nvSpPr>
          <p:cNvPr id="10" name="object 24"/>
          <p:cNvSpPr/>
          <p:nvPr/>
        </p:nvSpPr>
        <p:spPr>
          <a:xfrm>
            <a:off x="7654290" y="3262630"/>
            <a:ext cx="577850" cy="57785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4" y="318512"/>
                </a:lnTo>
                <a:lnTo>
                  <a:pt x="221219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</p:sp>
      <p:pic>
        <p:nvPicPr>
          <p:cNvPr id="11" name="object 25"/>
          <p:cNvPicPr/>
          <p:nvPr/>
        </p:nvPicPr>
        <p:blipFill>
          <a:blip r:embed="rId4"/>
          <a:stretch>
            <a:fillRect/>
          </a:stretch>
        </p:blipFill>
        <p:spPr>
          <a:xfrm>
            <a:off x="7857490" y="3390900"/>
            <a:ext cx="180340" cy="321310"/>
          </a:xfrm>
          <a:prstGeom prst="rect">
            <a:avLst/>
          </a:prstGeom>
          <a:ln>
            <a:noFill/>
          </a:ln>
        </p:spPr>
      </p:pic>
      <p:sp>
        <p:nvSpPr>
          <p:cNvPr id="12" name="object 36"/>
          <p:cNvSpPr/>
          <p:nvPr/>
        </p:nvSpPr>
        <p:spPr>
          <a:xfrm>
            <a:off x="8380730" y="4593590"/>
            <a:ext cx="626110" cy="62611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4" y="266701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80" y="121679"/>
                </a:lnTo>
                <a:lnTo>
                  <a:pt x="24386" y="83314"/>
                </a:lnTo>
                <a:lnTo>
                  <a:pt x="50216" y="50216"/>
                </a:lnTo>
                <a:lnTo>
                  <a:pt x="83315" y="24385"/>
                </a:lnTo>
                <a:lnTo>
                  <a:pt x="121679" y="7380"/>
                </a:lnTo>
                <a:lnTo>
                  <a:pt x="163027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9" y="121679"/>
                </a:lnTo>
                <a:lnTo>
                  <a:pt x="342694" y="163026"/>
                </a:lnTo>
                <a:lnTo>
                  <a:pt x="342899" y="171449"/>
                </a:lnTo>
                <a:lnTo>
                  <a:pt x="342694" y="179872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8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0FAE4"/>
          </a:solidFill>
          <a:ln>
            <a:noFill/>
          </a:ln>
        </p:spPr>
      </p:sp>
      <p:pic>
        <p:nvPicPr>
          <p:cNvPr id="13" name="object 37"/>
          <p:cNvPicPr/>
          <p:nvPr/>
        </p:nvPicPr>
        <p:blipFill>
          <a:blip r:embed="rId5"/>
          <a:stretch>
            <a:fillRect/>
          </a:stretch>
        </p:blipFill>
        <p:spPr>
          <a:xfrm>
            <a:off x="8517890" y="4730750"/>
            <a:ext cx="353060" cy="351790"/>
          </a:xfrm>
          <a:prstGeom prst="rect">
            <a:avLst/>
          </a:prstGeom>
          <a:ln>
            <a:noFill/>
          </a:ln>
        </p:spPr>
      </p:pic>
      <p:sp>
        <p:nvSpPr>
          <p:cNvPr id="14" name="object 30"/>
          <p:cNvSpPr/>
          <p:nvPr/>
        </p:nvSpPr>
        <p:spPr>
          <a:xfrm>
            <a:off x="7477760" y="4593590"/>
            <a:ext cx="627380" cy="62738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79" y="337760"/>
                </a:lnTo>
                <a:lnTo>
                  <a:pt x="90627" y="322656"/>
                </a:lnTo>
                <a:lnTo>
                  <a:pt x="56317" y="298493"/>
                </a:lnTo>
                <a:lnTo>
                  <a:pt x="28893" y="266701"/>
                </a:lnTo>
                <a:lnTo>
                  <a:pt x="10017" y="229199"/>
                </a:lnTo>
                <a:lnTo>
                  <a:pt x="823" y="188255"/>
                </a:lnTo>
                <a:lnTo>
                  <a:pt x="0" y="171449"/>
                </a:lnTo>
                <a:lnTo>
                  <a:pt x="205" y="163026"/>
                </a:lnTo>
                <a:lnTo>
                  <a:pt x="7379" y="121679"/>
                </a:lnTo>
                <a:lnTo>
                  <a:pt x="24385" y="83314"/>
                </a:lnTo>
                <a:lnTo>
                  <a:pt x="50216" y="50216"/>
                </a:lnTo>
                <a:lnTo>
                  <a:pt x="83314" y="24385"/>
                </a:lnTo>
                <a:lnTo>
                  <a:pt x="121678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8" y="7380"/>
                </a:lnTo>
                <a:lnTo>
                  <a:pt x="259584" y="24385"/>
                </a:lnTo>
                <a:lnTo>
                  <a:pt x="292683" y="50216"/>
                </a:lnTo>
                <a:lnTo>
                  <a:pt x="318513" y="83314"/>
                </a:lnTo>
                <a:lnTo>
                  <a:pt x="335518" y="121679"/>
                </a:lnTo>
                <a:lnTo>
                  <a:pt x="342693" y="163026"/>
                </a:lnTo>
                <a:lnTo>
                  <a:pt x="342899" y="171449"/>
                </a:lnTo>
                <a:lnTo>
                  <a:pt x="342693" y="179872"/>
                </a:lnTo>
                <a:lnTo>
                  <a:pt x="335518" y="221219"/>
                </a:lnTo>
                <a:lnTo>
                  <a:pt x="318513" y="259584"/>
                </a:lnTo>
                <a:lnTo>
                  <a:pt x="292683" y="292682"/>
                </a:lnTo>
                <a:lnTo>
                  <a:pt x="259583" y="318512"/>
                </a:lnTo>
                <a:lnTo>
                  <a:pt x="221218" y="335518"/>
                </a:lnTo>
                <a:lnTo>
                  <a:pt x="179872" y="342693"/>
                </a:lnTo>
                <a:lnTo>
                  <a:pt x="171449" y="342899"/>
                </a:lnTo>
                <a:close/>
              </a:path>
            </a:pathLst>
          </a:custGeom>
          <a:solidFill>
            <a:srgbClr val="DAE9FE"/>
          </a:solidFill>
          <a:ln>
            <a:noFill/>
          </a:ln>
        </p:spPr>
      </p:sp>
      <p:pic>
        <p:nvPicPr>
          <p:cNvPr id="15" name="object 31"/>
          <p:cNvPicPr/>
          <p:nvPr/>
        </p:nvPicPr>
        <p:blipFill>
          <a:blip r:embed="rId6"/>
          <a:stretch>
            <a:fillRect/>
          </a:stretch>
        </p:blipFill>
        <p:spPr>
          <a:xfrm>
            <a:off x="7581900" y="4754880"/>
            <a:ext cx="435610" cy="304800"/>
          </a:xfrm>
          <a:prstGeom prst="rect">
            <a:avLst/>
          </a:prstGeom>
          <a:ln>
            <a:noFill/>
          </a:ln>
        </p:spPr>
      </p:pic>
      <p:pic>
        <p:nvPicPr>
          <p:cNvPr id="16" name="图片 376"/>
          <p:cNvPicPr/>
          <p:nvPr/>
        </p:nvPicPr>
        <p:blipFill>
          <a:blip r:embed="rId7"/>
          <a:stretch>
            <a:fillRect/>
          </a:stretch>
        </p:blipFill>
        <p:spPr>
          <a:xfrm>
            <a:off x="8114030" y="3154680"/>
            <a:ext cx="836930" cy="836930"/>
          </a:xfrm>
          <a:prstGeom prst="rect">
            <a:avLst/>
          </a:prstGeom>
          <a:ln>
            <a:noFill/>
          </a:ln>
        </p:spPr>
      </p:pic>
      <p:sp>
        <p:nvSpPr>
          <p:cNvPr id="17" name="文本框 377"/>
          <p:cNvSpPr txBox="1"/>
          <p:nvPr/>
        </p:nvSpPr>
        <p:spPr>
          <a:xfrm>
            <a:off x="1287780" y="6360160"/>
            <a:ext cx="10394950" cy="1028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665">
                <a:solidFill>
                  <a:srgbClr val="7F7F7F"/>
                </a:solidFill>
                <a:latin typeface="MiSans"/>
                <a:ea typeface="MiSans"/>
              </a:rPr>
              <a:t>Grove 极简 Arduino 入门套件（ 英文 Grove Beginner Kit for Arduino，课程内简称“入门套件” ）是最好的 Arduino 入门学习套件之一，它无需特别困难的焊接操作和复杂的连接电路，用户可以专注于学习 Arduino 的使用。 </a:t>
            </a:r>
            <a:endParaRPr lang="en-US" sz="665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连接 · 让电脑和板子说上话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连接 Codecraft：五步到点亮</a:t>
            </a:r>
            <a:endParaRPr lang="en-US" sz="3800"/>
          </a:p>
        </p:txBody>
      </p:sp>
      <p:pic>
        <p:nvPicPr>
          <p:cNvPr id="5" name="img1"/>
          <p:cNvPicPr/>
          <p:nvPr/>
        </p:nvPicPr>
        <p:blipFill>
          <a:blip r:embed="rId1"/>
          <a:srcRect t="-8366" b="-8366"/>
          <a:stretch>
            <a:fillRect/>
          </a:stretch>
        </p:blipFill>
        <p:spPr>
          <a:xfrm>
            <a:off x="508000" y="1727200"/>
            <a:ext cx="3657600" cy="1930400"/>
          </a:xfrm>
          <a:prstGeom prst="rect">
            <a:avLst/>
          </a:prstGeom>
          <a:ln>
            <a:noFill/>
          </a:ln>
        </p:spPr>
      </p:pic>
      <p:sp>
        <p:nvSpPr>
          <p:cNvPr id="6" name="img1-border"/>
          <p:cNvSpPr/>
          <p:nvPr/>
        </p:nvSpPr>
        <p:spPr>
          <a:xfrm>
            <a:off x="508000" y="1727200"/>
            <a:ext cx="3657600" cy="19304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pic>
        <p:nvPicPr>
          <p:cNvPr id="7" name="img2"/>
          <p:cNvPicPr/>
          <p:nvPr/>
        </p:nvPicPr>
        <p:blipFill>
          <a:blip r:embed="rId2"/>
          <a:srcRect t="-5661" b="-5661"/>
          <a:stretch>
            <a:fillRect/>
          </a:stretch>
        </p:blipFill>
        <p:spPr>
          <a:xfrm>
            <a:off x="4267200" y="1727200"/>
            <a:ext cx="3657600" cy="1930400"/>
          </a:xfrm>
          <a:prstGeom prst="rect">
            <a:avLst/>
          </a:prstGeom>
          <a:ln>
            <a:noFill/>
          </a:ln>
        </p:spPr>
      </p:pic>
      <p:sp>
        <p:nvSpPr>
          <p:cNvPr id="8" name="img2-border"/>
          <p:cNvSpPr/>
          <p:nvPr/>
        </p:nvSpPr>
        <p:spPr>
          <a:xfrm>
            <a:off x="4267200" y="1727200"/>
            <a:ext cx="3657600" cy="19304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pic>
        <p:nvPicPr>
          <p:cNvPr id="9" name="img3"/>
          <p:cNvPicPr/>
          <p:nvPr/>
        </p:nvPicPr>
        <p:blipFill>
          <a:blip r:embed="rId3"/>
          <a:srcRect l="-111386" r="-111386"/>
          <a:stretch>
            <a:fillRect/>
          </a:stretch>
        </p:blipFill>
        <p:spPr>
          <a:xfrm>
            <a:off x="8026400" y="1727200"/>
            <a:ext cx="3657600" cy="1930400"/>
          </a:xfrm>
          <a:prstGeom prst="rect">
            <a:avLst/>
          </a:prstGeom>
          <a:ln>
            <a:noFill/>
          </a:ln>
        </p:spPr>
      </p:pic>
      <p:sp>
        <p:nvSpPr>
          <p:cNvPr id="10" name="img3-border"/>
          <p:cNvSpPr/>
          <p:nvPr/>
        </p:nvSpPr>
        <p:spPr>
          <a:xfrm>
            <a:off x="8026400" y="1727200"/>
            <a:ext cx="3657600" cy="19304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1" name="cap1"/>
          <p:cNvSpPr txBox="1"/>
          <p:nvPr/>
        </p:nvSpPr>
        <p:spPr>
          <a:xfrm>
            <a:off x="508000" y="3733800"/>
            <a:ext cx="365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① 选设备：点 </a:t>
            </a:r>
            <a:r>
              <a:rPr lang="en-US" sz="15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Grove Beginner Kit</a:t>
            </a:r>
            <a:endParaRPr lang="en-US" sz="1500"/>
          </a:p>
        </p:txBody>
      </p:sp>
      <p:sp>
        <p:nvSpPr>
          <p:cNvPr id="12" name="cap2"/>
          <p:cNvSpPr txBox="1"/>
          <p:nvPr/>
        </p:nvSpPr>
        <p:spPr>
          <a:xfrm>
            <a:off x="4267200" y="3733800"/>
            <a:ext cx="365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② 直接输入你的需求，点发送</a:t>
            </a:r>
            <a:endParaRPr lang="en-US" sz="1500"/>
          </a:p>
        </p:txBody>
      </p:sp>
      <p:sp>
        <p:nvSpPr>
          <p:cNvPr id="13" name="cap3"/>
          <p:cNvSpPr txBox="1"/>
          <p:nvPr/>
        </p:nvSpPr>
        <p:spPr>
          <a:xfrm>
            <a:off x="8026400" y="3733800"/>
            <a:ext cx="3657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③ 出现绿色按钮，点 </a:t>
            </a:r>
            <a:r>
              <a:rPr lang="en-US" sz="15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连接并烧录</a:t>
            </a:r>
            <a:endParaRPr lang="en-US" sz="1500"/>
          </a:p>
        </p:txBody>
      </p:sp>
      <p:pic>
        <p:nvPicPr>
          <p:cNvPr id="14" name="img4"/>
          <p:cNvPicPr/>
          <p:nvPr/>
        </p:nvPicPr>
        <p:blipFill>
          <a:blip r:embed="rId4"/>
          <a:srcRect l="-1745" r="-1745"/>
          <a:stretch>
            <a:fillRect/>
          </a:stretch>
        </p:blipFill>
        <p:spPr>
          <a:xfrm>
            <a:off x="508000" y="4470400"/>
            <a:ext cx="2032000" cy="1676400"/>
          </a:xfrm>
          <a:prstGeom prst="rect">
            <a:avLst/>
          </a:prstGeom>
          <a:ln>
            <a:noFill/>
          </a:ln>
        </p:spPr>
      </p:pic>
      <p:sp>
        <p:nvSpPr>
          <p:cNvPr id="15" name="img4-border"/>
          <p:cNvSpPr/>
          <p:nvPr/>
        </p:nvSpPr>
        <p:spPr>
          <a:xfrm>
            <a:off x="508000" y="4470400"/>
            <a:ext cx="2032000" cy="16764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pic>
        <p:nvPicPr>
          <p:cNvPr id="16" name="img5"/>
          <p:cNvPicPr/>
          <p:nvPr/>
        </p:nvPicPr>
        <p:blipFill>
          <a:blip r:embed="rId5"/>
          <a:srcRect l="-900" r="-900"/>
          <a:stretch>
            <a:fillRect/>
          </a:stretch>
        </p:blipFill>
        <p:spPr>
          <a:xfrm>
            <a:off x="2857500" y="4470400"/>
            <a:ext cx="2730500" cy="1676400"/>
          </a:xfrm>
          <a:prstGeom prst="rect">
            <a:avLst/>
          </a:prstGeom>
          <a:ln>
            <a:noFill/>
          </a:ln>
        </p:spPr>
      </p:pic>
      <p:sp>
        <p:nvSpPr>
          <p:cNvPr id="17" name="img5-border"/>
          <p:cNvSpPr/>
          <p:nvPr/>
        </p:nvSpPr>
        <p:spPr>
          <a:xfrm>
            <a:off x="2857500" y="4470400"/>
            <a:ext cx="2730500" cy="1676400"/>
          </a:xfrm>
          <a:prstGeom prst="rect">
            <a:avLst/>
          </a:prstGeom>
          <a:noFill/>
          <a:ln w="12700">
            <a:solidFill>
              <a:srgbClr val="E5E7EB"/>
            </a:solidFill>
          </a:ln>
        </p:spPr>
      </p:sp>
      <p:sp>
        <p:nvSpPr>
          <p:cNvPr id="18" name="cap4"/>
          <p:cNvSpPr txBox="1"/>
          <p:nvPr/>
        </p:nvSpPr>
        <p:spPr>
          <a:xfrm>
            <a:off x="508000" y="6197600"/>
            <a:ext cx="203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④ 选串口 →「连接」</a:t>
            </a:r>
            <a:endParaRPr lang="en-US" sz="1300"/>
          </a:p>
        </p:txBody>
      </p:sp>
      <p:sp>
        <p:nvSpPr>
          <p:cNvPr id="19" name="cap5"/>
          <p:cNvSpPr txBox="1"/>
          <p:nvPr/>
        </p:nvSpPr>
        <p:spPr>
          <a:xfrm>
            <a:off x="2857500" y="6197600"/>
            <a:ext cx="27305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⑤ 自动烧录 → 看板子出结果</a:t>
            </a:r>
            <a:endParaRPr lang="en-US" sz="1300"/>
          </a:p>
        </p:txBody>
      </p:sp>
      <p:sp>
        <p:nvSpPr>
          <p:cNvPr id="20" name="hint-box"/>
          <p:cNvSpPr/>
          <p:nvPr/>
        </p:nvSpPr>
        <p:spPr>
          <a:xfrm>
            <a:off x="5969000" y="4470400"/>
            <a:ext cx="5715000" cy="16764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21" name="hint-text"/>
          <p:cNvSpPr txBox="1"/>
          <p:nvPr/>
        </p:nvSpPr>
        <p:spPr>
          <a:xfrm>
            <a:off x="6248400" y="4572000"/>
            <a:ext cx="5156200" cy="147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串口选哪行？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带 </a:t>
            </a:r>
            <a:r>
              <a:rPr lang="en-US" sz="1400" b="1">
                <a:solidFill>
                  <a:srgbClr val="000000"/>
                </a:solidFill>
                <a:highlight>
                  <a:srgbClr val="F3D230"/>
                </a:highlight>
                <a:latin typeface="MiSans"/>
                <a:ea typeface="MiSans"/>
              </a:rPr>
              <a:t>CP2102N / USB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 字样的那行——不是 Bluetooth 那行。</a:t>
            </a:r>
            <a:endParaRPr lang="en-US" sz="1400"/>
          </a:p>
          <a:p>
            <a:pPr algn="l">
              <a:lnSpc>
                <a:spcPct val="145000"/>
              </a:lnSpc>
              <a:spcBef>
                <a:spcPts val="600"/>
              </a:spcBef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弹窗没出现？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手快点了「取消」？再点一次「连接并烧录」；还不行就举手，助教 2 分钟搞定。</a:t>
            </a:r>
            <a:endParaRPr lang="en-US" sz="1400"/>
          </a:p>
        </p:txBody>
      </p:sp>
      <p:sp>
        <p:nvSpPr>
          <p:cNvPr id="22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23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12 / 23</a:t>
            </a:r>
            <a:endParaRPr lang="en-US" sz="1100"/>
          </a:p>
        </p:txBody>
      </p:sp>
      <p:pic>
        <p:nvPicPr>
          <p:cNvPr id="24" name="图片 23"/>
          <p:cNvPicPr/>
          <p:nvPr/>
        </p:nvPicPr>
        <p:blipFill>
          <a:blip r:embed="rId6"/>
          <a:stretch>
            <a:fillRect/>
          </a:stretch>
        </p:blipFill>
        <p:spPr>
          <a:xfrm>
            <a:off x="3481070" y="3147060"/>
            <a:ext cx="586740" cy="5867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咒语 1 ｜ 一次只说一件事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说清楚一件事</a:t>
            </a:r>
            <a:endParaRPr lang="en-US" sz="3800"/>
          </a:p>
        </p:txBody>
      </p:sp>
      <p:sp>
        <p:nvSpPr>
          <p:cNvPr id="5" name="card"/>
          <p:cNvSpPr/>
          <p:nvPr/>
        </p:nvSpPr>
        <p:spPr>
          <a:xfrm>
            <a:off x="508000" y="1981200"/>
            <a:ext cx="11176000" cy="1168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card-t"/>
          <p:cNvSpPr txBox="1"/>
          <p:nvPr/>
        </p:nvSpPr>
        <p:spPr>
          <a:xfrm>
            <a:off x="863600" y="1981200"/>
            <a:ext cx="104648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700">
                <a:solidFill>
                  <a:srgbClr val="000000"/>
                </a:solidFill>
                <a:latin typeface="JetBrains Mono" panose="02000009000000000000"/>
                <a:ea typeface="JetBrains Mono" panose="02000009000000000000"/>
              </a:rPr>
              <a:t>我用的是 Grove Beginner Kit。请帮我做一件事：＿＿＿（只写一件）。做到 ＿＿＿ 就算成功。请先不要加别的功能。</a:t>
            </a:r>
            <a:endParaRPr lang="en-US" sz="1700"/>
          </a:p>
        </p:txBody>
      </p:sp>
      <p:sp>
        <p:nvSpPr>
          <p:cNvPr id="7" name="good"/>
          <p:cNvSpPr txBox="1"/>
          <p:nvPr/>
        </p:nvSpPr>
        <p:spPr>
          <a:xfrm>
            <a:off x="762000" y="36576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√ </a:t>
            </a: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好说法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："在屏幕上用大字显示：你好，我是＿＿＿。"</a:t>
            </a:r>
            <a:endParaRPr lang="en-US" sz="2000"/>
          </a:p>
        </p:txBody>
      </p:sp>
      <p:sp>
        <p:nvSpPr>
          <p:cNvPr id="8" name="bad"/>
          <p:cNvSpPr txBox="1"/>
          <p:nvPr/>
        </p:nvSpPr>
        <p:spPr>
          <a:xfrm>
            <a:off x="762000" y="4318000"/>
            <a:ext cx="106680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000">
                <a:solidFill>
                  <a:srgbClr val="D84144"/>
                </a:solidFill>
                <a:latin typeface="MiSans"/>
                <a:ea typeface="MiSans"/>
              </a:rPr>
              <a:t>× </a:t>
            </a:r>
            <a:r>
              <a:rPr lang="en-US" sz="2000" b="1">
                <a:solidFill>
                  <a:srgbClr val="D84144"/>
                </a:solidFill>
                <a:latin typeface="MiSans"/>
                <a:ea typeface="MiSans"/>
              </a:rPr>
              <a:t>坏说法</a:t>
            </a: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："帮我把灯、屏幕、喇叭都搞上，做得酷一点。"</a:t>
            </a:r>
            <a:endParaRPr lang="en-US" sz="2000"/>
          </a:p>
          <a:p>
            <a:pPr algn="l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MiSans"/>
                <a:ea typeface="MiSans"/>
              </a:rPr>
              <a:t>三件事加一句"酷一点"，AI 只能瞎猜。</a:t>
            </a:r>
            <a:endParaRPr lang="en-US" sz="2000"/>
          </a:p>
        </p:txBody>
      </p:sp>
      <p:sp>
        <p:nvSpPr>
          <p:cNvPr id="9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13 / 23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跟 AI 说话的两句咒语</a:t>
            </a:r>
            <a:endParaRPr lang="en-US" sz="1500"/>
          </a:p>
        </p:txBody>
      </p:sp>
      <p:sp>
        <p:nvSpPr>
          <p:cNvPr id="4" name="z1"/>
          <p:cNvSpPr/>
          <p:nvPr/>
        </p:nvSpPr>
        <p:spPr>
          <a:xfrm>
            <a:off x="508000" y="1397000"/>
            <a:ext cx="5461000" cy="3683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5" name="z1-dot"/>
          <p:cNvSpPr/>
          <p:nvPr/>
        </p:nvSpPr>
        <p:spPr>
          <a:xfrm>
            <a:off x="889000" y="1752600"/>
            <a:ext cx="660400" cy="660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z1-num"/>
          <p:cNvSpPr txBox="1"/>
          <p:nvPr/>
        </p:nvSpPr>
        <p:spPr>
          <a:xfrm>
            <a:off x="889000" y="17526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1</a:t>
            </a:r>
            <a:endParaRPr lang="en-US" sz="2600"/>
          </a:p>
        </p:txBody>
      </p:sp>
      <p:sp>
        <p:nvSpPr>
          <p:cNvPr id="7" name="z1-t"/>
          <p:cNvSpPr txBox="1"/>
          <p:nvPr/>
        </p:nvSpPr>
        <p:spPr>
          <a:xfrm>
            <a:off x="812800" y="26670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000000"/>
                </a:solidFill>
                <a:latin typeface="MiSans"/>
                <a:ea typeface="MiSans"/>
              </a:rPr>
              <a:t>一次只说一件事。</a:t>
            </a:r>
            <a:endParaRPr lang="en-US" sz="3600"/>
          </a:p>
        </p:txBody>
      </p:sp>
      <p:sp>
        <p:nvSpPr>
          <p:cNvPr id="8" name="z1-x"/>
          <p:cNvSpPr txBox="1"/>
          <p:nvPr/>
        </p:nvSpPr>
        <p:spPr>
          <a:xfrm>
            <a:off x="812800" y="4064000"/>
            <a:ext cx="4851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Noto Sans SC"/>
                <a:ea typeface="Noto Sans SC"/>
              </a:rPr>
              <a:t>不说「帮我把灯、屏幕、喇叭都搞上」——一件事，说清楚，它就能做对。</a:t>
            </a:r>
            <a:endParaRPr lang="en-US" sz="1600"/>
          </a:p>
        </p:txBody>
      </p:sp>
      <p:sp>
        <p:nvSpPr>
          <p:cNvPr id="9" name="z2"/>
          <p:cNvSpPr/>
          <p:nvPr/>
        </p:nvSpPr>
        <p:spPr>
          <a:xfrm>
            <a:off x="6223000" y="1397000"/>
            <a:ext cx="5461000" cy="3683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0" name="z2-dot"/>
          <p:cNvSpPr/>
          <p:nvPr/>
        </p:nvSpPr>
        <p:spPr>
          <a:xfrm>
            <a:off x="6604000" y="1752600"/>
            <a:ext cx="660400" cy="660400"/>
          </a:xfrm>
          <a:prstGeom prst="ellipse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1" name="z2-num"/>
          <p:cNvSpPr txBox="1"/>
          <p:nvPr/>
        </p:nvSpPr>
        <p:spPr>
          <a:xfrm>
            <a:off x="6604000" y="1752600"/>
            <a:ext cx="6604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2</a:t>
            </a:r>
            <a:endParaRPr lang="en-US" sz="2600"/>
          </a:p>
        </p:txBody>
      </p:sp>
      <p:sp>
        <p:nvSpPr>
          <p:cNvPr id="12" name="z2-t"/>
          <p:cNvSpPr txBox="1"/>
          <p:nvPr/>
        </p:nvSpPr>
        <p:spPr>
          <a:xfrm>
            <a:off x="6527800" y="26670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b="1">
                <a:solidFill>
                  <a:srgbClr val="000000"/>
                </a:solidFill>
                <a:latin typeface="MiSans"/>
                <a:ea typeface="MiSans"/>
              </a:rPr>
              <a:t>不对，就往下补一句。</a:t>
            </a:r>
            <a:endParaRPr lang="en-US" sz="3600"/>
          </a:p>
        </p:txBody>
      </p:sp>
      <p:sp>
        <p:nvSpPr>
          <p:cNvPr id="13" name="z2-x"/>
          <p:cNvSpPr txBox="1"/>
          <p:nvPr/>
        </p:nvSpPr>
        <p:spPr>
          <a:xfrm>
            <a:off x="6527800" y="4064000"/>
            <a:ext cx="48514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>
                <a:solidFill>
                  <a:srgbClr val="000000"/>
                </a:solidFill>
                <a:latin typeface="Noto Sans SC"/>
                <a:ea typeface="Noto Sans SC"/>
              </a:rPr>
              <a:t>别删对话、别重开，在原来的对话里接着补——AI 记得你们前面聊的。</a:t>
            </a:r>
            <a:endParaRPr lang="en-US" sz="1600"/>
          </a:p>
        </p:txBody>
      </p:sp>
      <p:sp>
        <p:nvSpPr>
          <p:cNvPr id="14" name="bottom-note"/>
          <p:cNvSpPr txBox="1"/>
          <p:nvPr/>
        </p:nvSpPr>
        <p:spPr>
          <a:xfrm>
            <a:off x="1016000" y="55880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这两句也印在你们的学员文档上，忘了就翻。</a:t>
            </a:r>
            <a:endParaRPr lang="en-US" sz="1500"/>
          </a:p>
        </p:txBody>
      </p:sp>
      <p:sp>
        <p:nvSpPr>
          <p:cNvPr id="15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6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10 / 23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点亮课 · 你的第一个任务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让屏幕亮出你的名字</a:t>
            </a:r>
            <a:endParaRPr lang="en-US" sz="3800"/>
          </a:p>
        </p:txBody>
      </p:sp>
      <p:sp>
        <p:nvSpPr>
          <p:cNvPr id="5" name="steps"/>
          <p:cNvSpPr txBox="1"/>
          <p:nvPr/>
        </p:nvSpPr>
        <p:spPr>
          <a:xfrm>
            <a:off x="762000" y="1854200"/>
            <a:ext cx="10668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>
                <a:solidFill>
                  <a:srgbClr val="000000"/>
                </a:solidFill>
                <a:latin typeface="Noto Sans SC"/>
                <a:ea typeface="Noto Sans SC"/>
              </a:rPr>
              <a:t>① 输入这句话（把名字换成你自己的）</a:t>
            </a:r>
            <a:endParaRPr lang="en-US" sz="2000"/>
          </a:p>
          <a:p>
            <a:pPr algn="l">
              <a:lnSpc>
                <a:spcPct val="160000"/>
              </a:lnSpc>
            </a:pPr>
            <a:r>
              <a:rPr lang="en-US" sz="2000">
                <a:solidFill>
                  <a:srgbClr val="000000"/>
                </a:solidFill>
                <a:latin typeface="Noto Sans SC"/>
                <a:ea typeface="Noto Sans SC"/>
              </a:rPr>
              <a:t>② 点「生成」→ 等编译　　③ 点「烧录」→ 看屏幕</a:t>
            </a:r>
            <a:endParaRPr lang="en-US" sz="2000"/>
          </a:p>
        </p:txBody>
      </p:sp>
      <p:sp>
        <p:nvSpPr>
          <p:cNvPr id="6" name="prompt-card"/>
          <p:cNvSpPr/>
          <p:nvPr/>
        </p:nvSpPr>
        <p:spPr>
          <a:xfrm>
            <a:off x="762000" y="3327400"/>
            <a:ext cx="10668000" cy="8128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7" name="prompt-text"/>
          <p:cNvSpPr txBox="1"/>
          <p:nvPr/>
        </p:nvSpPr>
        <p:spPr>
          <a:xfrm>
            <a:off x="1117600" y="3327400"/>
            <a:ext cx="99568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在屏幕上用大字显示：</a:t>
            </a: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Hello, I’m ＿＿＿。</a:t>
            </a:r>
            <a:endParaRPr lang="en-US" sz="2200"/>
          </a:p>
        </p:txBody>
      </p:sp>
      <p:sp>
        <p:nvSpPr>
          <p:cNvPr id="8" name="vocab"/>
          <p:cNvSpPr txBox="1"/>
          <p:nvPr/>
        </p:nvSpPr>
        <p:spPr>
          <a:xfrm>
            <a:off x="762000" y="43942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>
                <a:solidFill>
                  <a:srgbClr val="000000"/>
                </a:solidFill>
                <a:latin typeface="MiSans"/>
                <a:ea typeface="MiSans"/>
              </a:rPr>
              <a:t>生成＝AI 写指令 ｜ 编译＝把指令翻译成板子听得懂的话 ｜ 烧录＝把指令搬进板子，拔线也记得</a:t>
            </a:r>
            <a:endParaRPr lang="en-US" sz="1300"/>
          </a:p>
        </p:txBody>
      </p:sp>
      <p:sp>
        <p:nvSpPr>
          <p:cNvPr id="9" name="hint-box"/>
          <p:cNvSpPr/>
          <p:nvPr/>
        </p:nvSpPr>
        <p:spPr>
          <a:xfrm>
            <a:off x="762000" y="4953000"/>
            <a:ext cx="10668000" cy="762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0" name="hint-text"/>
          <p:cNvSpPr txBox="1"/>
          <p:nvPr/>
        </p:nvSpPr>
        <p:spPr>
          <a:xfrm>
            <a:off x="1117600" y="4953000"/>
            <a:ext cx="99568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>
                <a:solidFill>
                  <a:srgbClr val="000000"/>
                </a:solidFill>
                <a:latin typeface="MiSans"/>
                <a:ea typeface="MiSans"/>
              </a:rPr>
              <a:t>屏幕亮出名字的同学，举手——助教给你桌上立一面小旗</a:t>
            </a:r>
            <a:endParaRPr lang="en-US" sz="1800"/>
          </a:p>
        </p:txBody>
      </p:sp>
      <p:sp>
        <p:nvSpPr>
          <p:cNvPr id="11" name="footer"/>
          <p:cNvSpPr txBox="1"/>
          <p:nvPr/>
        </p:nvSpPr>
        <p:spPr>
          <a:xfrm>
            <a:off x="508000" y="6451600"/>
            <a:ext cx="889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14 / 23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-title"/>
          <p:cNvSpPr txBox="1"/>
          <p:nvPr/>
        </p:nvSpPr>
        <p:spPr>
          <a:xfrm>
            <a:off x="1016000" y="2413000"/>
            <a:ext cx="101600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>
                <a:solidFill>
                  <a:srgbClr val="000000"/>
                </a:solidFill>
                <a:latin typeface="MiSans"/>
                <a:ea typeface="MiSans"/>
              </a:rPr>
              <a:t>把板子举起来！</a:t>
            </a:r>
            <a:endParaRPr lang="en-US" sz="4800"/>
          </a:p>
        </p:txBody>
      </p:sp>
      <p:sp>
        <p:nvSpPr>
          <p:cNvPr id="3" name="deco-line"/>
          <p:cNvSpPr/>
          <p:nvPr/>
        </p:nvSpPr>
        <p:spPr>
          <a:xfrm>
            <a:off x="5080000" y="3556000"/>
            <a:ext cx="2032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4" name="golden"/>
          <p:cNvSpPr txBox="1"/>
          <p:nvPr/>
        </p:nvSpPr>
        <p:spPr>
          <a:xfrm>
            <a:off x="1016000" y="3911600"/>
            <a:ext cx="10160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>
                <a:solidFill>
                  <a:srgbClr val="000000"/>
                </a:solidFill>
                <a:latin typeface="MiSans"/>
                <a:ea typeface="MiSans"/>
              </a:rPr>
              <a:t>从这一刻起，你们都是能让硬件听话的人了。</a:t>
            </a:r>
            <a:endParaRPr lang="en-US" sz="2400"/>
          </a:p>
        </p:txBody>
      </p:sp>
      <p:sp>
        <p:nvSpPr>
          <p:cNvPr id="5" name="photo-note"/>
          <p:cNvSpPr txBox="1"/>
          <p:nvPr/>
        </p:nvSpPr>
        <p:spPr>
          <a:xfrm>
            <a:off x="1016000" y="53340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>
                <a:solidFill>
                  <a:srgbClr val="000000"/>
                </a:solidFill>
                <a:latin typeface="Noto Sans SC"/>
                <a:ea typeface="Noto Sans SC"/>
              </a:rPr>
              <a:t>作品是主角——拍举起板子的手和屏幕</a:t>
            </a:r>
            <a:endParaRPr lang="en-US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自由轮 · 它是你的了</a:t>
            </a:r>
            <a:endParaRPr lang="en-US" sz="1500"/>
          </a:p>
        </p:txBody>
      </p:sp>
      <p:sp>
        <p:nvSpPr>
          <p:cNvPr id="4" name="task"/>
          <p:cNvSpPr txBox="1"/>
          <p:nvPr/>
        </p:nvSpPr>
        <p:spPr>
          <a:xfrm>
            <a:off x="508000" y="1524000"/>
            <a:ext cx="5334000" cy="279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给它加一个你想要的效果——</a:t>
            </a:r>
            <a:endParaRPr lang="en-US" sz="2600"/>
          </a:p>
          <a:p>
            <a:pPr algn="l">
              <a:lnSpc>
                <a:spcPct val="15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闪烁、提示音、表情、滚动，随你挑</a:t>
            </a:r>
            <a:endParaRPr lang="en-US" sz="2600"/>
          </a:p>
        </p:txBody>
      </p:sp>
      <p:sp>
        <p:nvSpPr>
          <p:cNvPr id="5" name="f1"/>
          <p:cNvSpPr/>
          <p:nvPr/>
        </p:nvSpPr>
        <p:spPr>
          <a:xfrm>
            <a:off x="6350000" y="1524000"/>
            <a:ext cx="533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f1-t"/>
          <p:cNvSpPr txBox="1"/>
          <p:nvPr/>
        </p:nvSpPr>
        <p:spPr>
          <a:xfrm>
            <a:off x="6350000" y="15240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"让名字每秒闪一次"</a:t>
            </a:r>
            <a:endParaRPr lang="en-US" sz="1800"/>
          </a:p>
        </p:txBody>
      </p:sp>
      <p:sp>
        <p:nvSpPr>
          <p:cNvPr id="7" name="f2"/>
          <p:cNvSpPr/>
          <p:nvPr/>
        </p:nvSpPr>
        <p:spPr>
          <a:xfrm>
            <a:off x="6350000" y="2362200"/>
            <a:ext cx="533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f2-t"/>
          <p:cNvSpPr txBox="1"/>
          <p:nvPr/>
        </p:nvSpPr>
        <p:spPr>
          <a:xfrm>
            <a:off x="6350000" y="23622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"显示名字时响一声"</a:t>
            </a:r>
            <a:endParaRPr lang="en-US" sz="1800"/>
          </a:p>
        </p:txBody>
      </p:sp>
      <p:sp>
        <p:nvSpPr>
          <p:cNvPr id="9" name="f3"/>
          <p:cNvSpPr/>
          <p:nvPr/>
        </p:nvSpPr>
        <p:spPr>
          <a:xfrm>
            <a:off x="6350000" y="3200400"/>
            <a:ext cx="5334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0" name="f3-t"/>
          <p:cNvSpPr txBox="1"/>
          <p:nvPr/>
        </p:nvSpPr>
        <p:spPr>
          <a:xfrm>
            <a:off x="6350000" y="3200400"/>
            <a:ext cx="5334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>
                <a:solidFill>
                  <a:srgbClr val="000000"/>
                </a:solidFill>
                <a:latin typeface="MiSans"/>
                <a:ea typeface="MiSans"/>
              </a:rPr>
              <a:t>"让名字从右往左滚动"</a:t>
            </a:r>
            <a:endParaRPr lang="en-US" sz="1800"/>
          </a:p>
        </p:txBody>
      </p:sp>
      <p:sp>
        <p:nvSpPr>
          <p:cNvPr id="11" name="card2-box"/>
          <p:cNvSpPr/>
          <p:nvPr/>
        </p:nvSpPr>
        <p:spPr>
          <a:xfrm>
            <a:off x="508000" y="4902200"/>
            <a:ext cx="11176000" cy="965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2" name="card2-text"/>
          <p:cNvSpPr txBox="1"/>
          <p:nvPr/>
        </p:nvSpPr>
        <p:spPr>
          <a:xfrm>
            <a:off x="863600" y="4902200"/>
            <a:ext cx="10464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咒语 2 ｜ 不对，就往下补一句</a:t>
            </a:r>
            <a:endParaRPr lang="en-US" sz="1900"/>
          </a:p>
          <a:p>
            <a:pPr algn="ctr">
              <a:lnSpc>
                <a:spcPct val="145000"/>
              </a:lnSpc>
            </a:pPr>
            <a:r>
              <a:rPr lang="en-US" sz="1900" b="1">
                <a:solidFill>
                  <a:srgbClr val="000000"/>
                </a:solidFill>
                <a:latin typeface="MiSans"/>
                <a:ea typeface="MiSans"/>
              </a:rPr>
              <a:t>别删、别重开，往下补一句。</a:t>
            </a: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AI 记得你们前面聊的。</a:t>
            </a:r>
            <a:endParaRPr lang="en-US" sz="1900"/>
          </a:p>
        </p:txBody>
      </p:sp>
      <p:sp>
        <p:nvSpPr>
          <p:cNvPr id="13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4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16 / 23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全场唯一的心智模型</a:t>
            </a:r>
            <a:endParaRPr lang="en-US" sz="1500"/>
          </a:p>
        </p:txBody>
      </p:sp>
      <p:sp>
        <p:nvSpPr>
          <p:cNvPr id="4" name="b1"/>
          <p:cNvSpPr/>
          <p:nvPr/>
        </p:nvSpPr>
        <p:spPr>
          <a:xfrm>
            <a:off x="508000" y="1651000"/>
            <a:ext cx="330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5" name="b1-t"/>
          <p:cNvSpPr txBox="1"/>
          <p:nvPr/>
        </p:nvSpPr>
        <p:spPr>
          <a:xfrm>
            <a:off x="508000" y="1651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>
                <a:solidFill>
                  <a:srgbClr val="333333"/>
                </a:solidFill>
                <a:latin typeface="MiSans"/>
                <a:ea typeface="MiSans"/>
              </a:rPr>
              <a:t>感知</a:t>
            </a:r>
            <a:endParaRPr lang="en-US" sz="1600"/>
          </a:p>
          <a:p>
            <a:pPr algn="ctr">
              <a:lnSpc>
                <a:spcPct val="13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它的眼睛和耳朵</a:t>
            </a:r>
            <a:endParaRPr lang="en-US" sz="1600"/>
          </a:p>
        </p:txBody>
      </p:sp>
      <p:sp>
        <p:nvSpPr>
          <p:cNvPr id="6" name="ar1"/>
          <p:cNvSpPr txBox="1"/>
          <p:nvPr/>
        </p:nvSpPr>
        <p:spPr>
          <a:xfrm>
            <a:off x="3835400" y="20955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3400"/>
          </a:p>
        </p:txBody>
      </p:sp>
      <p:sp>
        <p:nvSpPr>
          <p:cNvPr id="7" name="b2"/>
          <p:cNvSpPr/>
          <p:nvPr/>
        </p:nvSpPr>
        <p:spPr>
          <a:xfrm>
            <a:off x="4445000" y="1651000"/>
            <a:ext cx="330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b2-t"/>
          <p:cNvSpPr txBox="1"/>
          <p:nvPr/>
        </p:nvSpPr>
        <p:spPr>
          <a:xfrm>
            <a:off x="4445000" y="1651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>
                <a:solidFill>
                  <a:srgbClr val="333333"/>
                </a:solidFill>
                <a:latin typeface="MiSans"/>
                <a:ea typeface="MiSans"/>
              </a:rPr>
              <a:t>逻辑</a:t>
            </a:r>
            <a:endParaRPr lang="en-US" sz="1600"/>
          </a:p>
          <a:p>
            <a:pPr algn="ctr">
              <a:lnSpc>
                <a:spcPct val="13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你说了算</a:t>
            </a:r>
            <a:endParaRPr lang="en-US" sz="1600"/>
          </a:p>
        </p:txBody>
      </p:sp>
      <p:sp>
        <p:nvSpPr>
          <p:cNvPr id="9" name="ar2"/>
          <p:cNvSpPr txBox="1"/>
          <p:nvPr/>
        </p:nvSpPr>
        <p:spPr>
          <a:xfrm>
            <a:off x="7772400" y="2095500"/>
            <a:ext cx="58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400" b="1">
                <a:solidFill>
                  <a:srgbClr val="F3D230"/>
                </a:solidFill>
                <a:latin typeface="MiSans"/>
                <a:ea typeface="MiSans"/>
              </a:rPr>
              <a:t>→</a:t>
            </a:r>
            <a:endParaRPr lang="en-US" sz="3400"/>
          </a:p>
        </p:txBody>
      </p:sp>
      <p:sp>
        <p:nvSpPr>
          <p:cNvPr id="10" name="b3"/>
          <p:cNvSpPr/>
          <p:nvPr/>
        </p:nvSpPr>
        <p:spPr>
          <a:xfrm>
            <a:off x="8382000" y="1651000"/>
            <a:ext cx="330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b3-t"/>
          <p:cNvSpPr txBox="1"/>
          <p:nvPr/>
        </p:nvSpPr>
        <p:spPr>
          <a:xfrm>
            <a:off x="8382000" y="1651000"/>
            <a:ext cx="3302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3200" b="1">
                <a:solidFill>
                  <a:srgbClr val="333333"/>
                </a:solidFill>
                <a:latin typeface="MiSans"/>
                <a:ea typeface="MiSans"/>
              </a:rPr>
              <a:t>输出</a:t>
            </a:r>
            <a:endParaRPr lang="en-US" sz="1600"/>
          </a:p>
          <a:p>
            <a:pPr algn="ctr">
              <a:lnSpc>
                <a:spcPct val="13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它的脸和嗓子</a:t>
            </a:r>
            <a:endParaRPr lang="en-US" sz="1600"/>
          </a:p>
        </p:txBody>
      </p:sp>
      <p:sp>
        <p:nvSpPr>
          <p:cNvPr id="12" name="examples"/>
          <p:cNvSpPr txBox="1"/>
          <p:nvPr/>
        </p:nvSpPr>
        <p:spPr>
          <a:xfrm>
            <a:off x="762000" y="3454400"/>
            <a:ext cx="106680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Noto Sans SC"/>
                <a:ea typeface="Noto Sans SC"/>
              </a:rPr>
              <a:t>自动门：看到人（感知）→ 判断要不要开（逻辑）→ 门打开（输出）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Noto Sans SC"/>
                <a:ea typeface="Noto Sans SC"/>
              </a:rPr>
              <a:t>空调：测温度 → 比较 → 制冷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Noto Sans SC"/>
                <a:ea typeface="Noto Sans SC"/>
              </a:rPr>
              <a:t>你妈：看到你玩手机 → 判断该不该骂 → 喊你</a:t>
            </a:r>
            <a:endParaRPr lang="en-US" sz="1900"/>
          </a:p>
        </p:txBody>
      </p:sp>
      <p:sp>
        <p:nvSpPr>
          <p:cNvPr id="13" name="bottom-note"/>
          <p:cNvSpPr txBox="1"/>
          <p:nvPr/>
        </p:nvSpPr>
        <p:spPr>
          <a:xfrm>
            <a:off x="508000" y="56642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Noto Sans SC"/>
                <a:ea typeface="Noto Sans SC"/>
              </a:rPr>
              <a:t>板子的眼睛耳朵在这边，脸和嗓子在这边。中间的逻辑——你说了算。</a:t>
            </a:r>
            <a:endParaRPr lang="en-US" sz="1600"/>
          </a:p>
        </p:txBody>
      </p:sp>
      <p:sp>
        <p:nvSpPr>
          <p:cNvPr id="14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17 / 23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作品一 · 跟做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天黑亮灯</a:t>
            </a:r>
            <a:endParaRPr lang="en-US" sz="3800"/>
          </a:p>
        </p:txBody>
      </p:sp>
      <p:sp>
        <p:nvSpPr>
          <p:cNvPr id="5" name="prompt-card"/>
          <p:cNvSpPr/>
          <p:nvPr/>
        </p:nvSpPr>
        <p:spPr>
          <a:xfrm>
            <a:off x="1143000" y="1854200"/>
            <a:ext cx="99060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</a:ln>
        </p:spPr>
      </p:sp>
      <p:sp>
        <p:nvSpPr>
          <p:cNvPr id="6" name="prompt-text"/>
          <p:cNvSpPr txBox="1"/>
          <p:nvPr/>
        </p:nvSpPr>
        <p:spPr>
          <a:xfrm>
            <a:off x="1498600" y="1854200"/>
            <a:ext cx="91948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rgbClr val="000000"/>
                </a:solidFill>
                <a:latin typeface="MiSans"/>
                <a:ea typeface="MiSans"/>
              </a:rPr>
              <a:t>当光线变暗时，打开 LED 灯；变亮时，关闭。</a:t>
            </a:r>
            <a:endParaRPr lang="en-US" sz="2400"/>
          </a:p>
        </p:txBody>
      </p:sp>
      <p:sp>
        <p:nvSpPr>
          <p:cNvPr id="7" name="steps"/>
          <p:cNvSpPr txBox="1"/>
          <p:nvPr/>
        </p:nvSpPr>
        <p:spPr>
          <a:xfrm>
            <a:off x="1143000" y="3098800"/>
            <a:ext cx="99060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>
                <a:solidFill>
                  <a:srgbClr val="000000"/>
                </a:solidFill>
                <a:latin typeface="MiSans"/>
                <a:ea typeface="MiSans"/>
              </a:rPr>
              <a:t>① 输入句式 → ② 生成、编译、烧录 → ③ 用手捂住光线传感器</a:t>
            </a:r>
            <a:endParaRPr lang="en-US" sz="2200"/>
          </a:p>
        </p:txBody>
      </p:sp>
      <p:sp>
        <p:nvSpPr>
          <p:cNvPr id="8" name="act-box"/>
          <p:cNvSpPr/>
          <p:nvPr/>
        </p:nvSpPr>
        <p:spPr>
          <a:xfrm>
            <a:off x="1143000" y="3937000"/>
            <a:ext cx="9906000" cy="10160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9" name="act-text"/>
          <p:cNvSpPr txBox="1"/>
          <p:nvPr/>
        </p:nvSpPr>
        <p:spPr>
          <a:xfrm>
            <a:off x="1498600" y="3937000"/>
            <a:ext cx="9194800" cy="101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全班一起——三、二、一，捂！</a:t>
            </a:r>
            <a:endParaRPr lang="en-US" sz="2800"/>
          </a:p>
        </p:txBody>
      </p:sp>
      <p:sp>
        <p:nvSpPr>
          <p:cNvPr id="10" name="refill"/>
          <p:cNvSpPr txBox="1"/>
          <p:nvPr/>
        </p:nvSpPr>
        <p:spPr>
          <a:xfrm>
            <a:off x="1143000" y="5334000"/>
            <a:ext cx="990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三格回填：感知＝光线 ｜ 逻辑＝暗了就开 ｜ 输出＝LED 灯</a:t>
            </a:r>
            <a:endParaRPr lang="en-US" sz="1500"/>
          </a:p>
        </p:txBody>
      </p:sp>
      <p:sp>
        <p:nvSpPr>
          <p:cNvPr id="11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2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18 / 23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作品二 · 半自由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16000"/>
            <a:ext cx="11176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800" b="1">
                <a:solidFill>
                  <a:srgbClr val="000000"/>
                </a:solidFill>
                <a:latin typeface="Noto Sans SC"/>
                <a:ea typeface="Noto Sans SC"/>
              </a:rPr>
              <a:t>作品二：自选组合</a:t>
            </a:r>
            <a:endParaRPr lang="en-US" sz="3800"/>
          </a:p>
        </p:txBody>
      </p:sp>
      <p:sp>
        <p:nvSpPr>
          <p:cNvPr id="5" name="task"/>
          <p:cNvSpPr txBox="1"/>
          <p:nvPr/>
        </p:nvSpPr>
        <p:spPr>
          <a:xfrm>
            <a:off x="508000" y="1778000"/>
            <a:ext cx="11176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600" b="1">
                <a:solidFill>
                  <a:srgbClr val="000000"/>
                </a:solidFill>
                <a:latin typeface="MiSans"/>
                <a:ea typeface="MiSans"/>
              </a:rPr>
              <a:t>任选桌上一个传感器 + 一个输出，自己组合</a:t>
            </a:r>
            <a:endParaRPr lang="en-US" sz="2600"/>
          </a:p>
        </p:txBody>
      </p:sp>
      <p:sp>
        <p:nvSpPr>
          <p:cNvPr id="6" name="e1"/>
          <p:cNvSpPr/>
          <p:nvPr/>
        </p:nvSpPr>
        <p:spPr>
          <a:xfrm>
            <a:off x="508000" y="2667000"/>
            <a:ext cx="3556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e1-t"/>
          <p:cNvSpPr txBox="1"/>
          <p:nvPr/>
        </p:nvSpPr>
        <p:spPr>
          <a:xfrm>
            <a:off x="685800" y="2768600"/>
            <a:ext cx="32004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声控灯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有声音 → 判断够响 → 灯亮</a:t>
            </a:r>
            <a:endParaRPr lang="en-US" sz="1600"/>
          </a:p>
        </p:txBody>
      </p:sp>
      <p:sp>
        <p:nvSpPr>
          <p:cNvPr id="8" name="e2"/>
          <p:cNvSpPr/>
          <p:nvPr/>
        </p:nvSpPr>
        <p:spPr>
          <a:xfrm>
            <a:off x="4318000" y="2667000"/>
            <a:ext cx="3556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e2-t"/>
          <p:cNvSpPr txBox="1"/>
          <p:nvPr/>
        </p:nvSpPr>
        <p:spPr>
          <a:xfrm>
            <a:off x="4495800" y="2768600"/>
            <a:ext cx="32004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摇晃报警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检测到晃 → 判断在动 → 蜂鸣器叫</a:t>
            </a:r>
            <a:endParaRPr lang="en-US" sz="1600"/>
          </a:p>
        </p:txBody>
      </p:sp>
      <p:sp>
        <p:nvSpPr>
          <p:cNvPr id="10" name="e3"/>
          <p:cNvSpPr/>
          <p:nvPr/>
        </p:nvSpPr>
        <p:spPr>
          <a:xfrm>
            <a:off x="8128000" y="2667000"/>
            <a:ext cx="3556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e3-t"/>
          <p:cNvSpPr txBox="1"/>
          <p:nvPr/>
        </p:nvSpPr>
        <p:spPr>
          <a:xfrm>
            <a:off x="8305800" y="2768600"/>
            <a:ext cx="3200400" cy="1193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高温提醒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测温度 → 判断超标 → 屏幕警告</a:t>
            </a:r>
            <a:endParaRPr lang="en-US" sz="1600"/>
          </a:p>
        </p:txBody>
      </p:sp>
      <p:sp>
        <p:nvSpPr>
          <p:cNvPr id="12" name="rule-box"/>
          <p:cNvSpPr/>
          <p:nvPr/>
        </p:nvSpPr>
        <p:spPr>
          <a:xfrm>
            <a:off x="508000" y="4648200"/>
            <a:ext cx="11176000" cy="965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13" name="rule-text"/>
          <p:cNvSpPr txBox="1"/>
          <p:nvPr/>
        </p:nvSpPr>
        <p:spPr>
          <a:xfrm>
            <a:off x="863600" y="4648200"/>
            <a:ext cx="10464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5000"/>
              </a:lnSpc>
            </a:pPr>
            <a:r>
              <a:rPr lang="en-US" sz="2200" b="1">
                <a:solidFill>
                  <a:srgbClr val="000000"/>
                </a:solidFill>
                <a:latin typeface="MiSans"/>
                <a:ea typeface="MiSans"/>
              </a:rPr>
              <a:t>硬规矩：先跟同桌说出你的三格，再动手。</a:t>
            </a:r>
            <a:endParaRPr lang="en-US" sz="2200"/>
          </a:p>
          <a:p>
            <a:pPr algn="ctr">
              <a:lnSpc>
                <a:spcPct val="145000"/>
              </a:lnSpc>
            </a:pPr>
            <a:r>
              <a:rPr lang="en-US" sz="2200">
                <a:solidFill>
                  <a:srgbClr val="000000"/>
                </a:solidFill>
                <a:latin typeface="MiSans"/>
                <a:ea typeface="MiSans"/>
              </a:rPr>
              <a:t>说不出来不许碰键盘。</a:t>
            </a:r>
            <a:endParaRPr lang="en-US" sz="2200"/>
          </a:p>
        </p:txBody>
      </p:sp>
      <p:sp>
        <p:nvSpPr>
          <p:cNvPr id="14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5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19 / 23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报错的正确姿势</a:t>
            </a:r>
            <a:endParaRPr lang="en-US" sz="1500"/>
          </a:p>
        </p:txBody>
      </p:sp>
      <p:sp>
        <p:nvSpPr>
          <p:cNvPr id="4" name="golden"/>
          <p:cNvSpPr txBox="1"/>
          <p:nvPr/>
        </p:nvSpPr>
        <p:spPr>
          <a:xfrm>
            <a:off x="1016000" y="1524000"/>
            <a:ext cx="101600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400" b="1">
                <a:solidFill>
                  <a:srgbClr val="333333"/>
                </a:solidFill>
                <a:latin typeface="MiSans"/>
                <a:ea typeface="MiSans"/>
              </a:rPr>
              <a:t>报错不是坏了，</a:t>
            </a:r>
            <a:endParaRPr lang="en-US" sz="3400"/>
          </a:p>
          <a:p>
            <a:pPr algn="ctr">
              <a:lnSpc>
                <a:spcPct val="140000"/>
              </a:lnSpc>
            </a:pPr>
            <a:r>
              <a:rPr lang="en-US" sz="3400" b="1">
                <a:solidFill>
                  <a:srgbClr val="333333"/>
                </a:solidFill>
                <a:latin typeface="MiSans"/>
                <a:ea typeface="MiSans"/>
              </a:rPr>
              <a:t>是 AI 在跟你说话。</a:t>
            </a:r>
            <a:endParaRPr lang="en-US" sz="3400"/>
          </a:p>
        </p:txBody>
      </p:sp>
      <p:sp>
        <p:nvSpPr>
          <p:cNvPr id="5" name="s1"/>
          <p:cNvSpPr/>
          <p:nvPr/>
        </p:nvSpPr>
        <p:spPr>
          <a:xfrm>
            <a:off x="1270000" y="3556000"/>
            <a:ext cx="457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6" name="s1-t"/>
          <p:cNvSpPr txBox="1"/>
          <p:nvPr/>
        </p:nvSpPr>
        <p:spPr>
          <a:xfrm>
            <a:off x="1498600" y="3708400"/>
            <a:ext cx="4114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>
                <a:solidFill>
                  <a:srgbClr val="333333"/>
                </a:solidFill>
                <a:latin typeface="MiSans"/>
                <a:ea typeface="MiSans"/>
              </a:rPr>
              <a:t>① 报错全文复制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一字不改，原样复制</a:t>
            </a:r>
            <a:endParaRPr lang="en-US" sz="1600"/>
          </a:p>
        </p:txBody>
      </p:sp>
      <p:sp>
        <p:nvSpPr>
          <p:cNvPr id="7" name="s2"/>
          <p:cNvSpPr/>
          <p:nvPr/>
        </p:nvSpPr>
        <p:spPr>
          <a:xfrm>
            <a:off x="6350000" y="3556000"/>
            <a:ext cx="4572000" cy="139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8" name="s2-t"/>
          <p:cNvSpPr txBox="1"/>
          <p:nvPr/>
        </p:nvSpPr>
        <p:spPr>
          <a:xfrm>
            <a:off x="6578600" y="3708400"/>
            <a:ext cx="4114800" cy="1092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b="1">
                <a:solidFill>
                  <a:srgbClr val="333333"/>
                </a:solidFill>
                <a:latin typeface="MiSans"/>
                <a:ea typeface="MiSans"/>
              </a:rPr>
              <a:t>② 加一句"我刚才改了什么"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一起丢回给 AI</a:t>
            </a:r>
            <a:endParaRPr lang="en-US" sz="1600"/>
          </a:p>
        </p:txBody>
      </p:sp>
      <p:sp>
        <p:nvSpPr>
          <p:cNvPr id="9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20 / 23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作品三 · 全自由</a:t>
            </a:r>
            <a:endParaRPr lang="en-US" sz="1500"/>
          </a:p>
        </p:txBody>
      </p:sp>
      <p:sp>
        <p:nvSpPr>
          <p:cNvPr id="4" name="title"/>
          <p:cNvSpPr txBox="1"/>
          <p:nvPr/>
        </p:nvSpPr>
        <p:spPr>
          <a:xfrm>
            <a:off x="508000" y="1041400"/>
            <a:ext cx="11176000" cy="635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>
                <a:solidFill>
                  <a:srgbClr val="000000"/>
                </a:solidFill>
                <a:latin typeface="MiSans"/>
                <a:ea typeface="MiSans"/>
              </a:rPr>
              <a:t>做一个会反应的东西</a:t>
            </a:r>
            <a:endParaRPr lang="en-US" sz="3200"/>
          </a:p>
        </p:txBody>
      </p:sp>
      <p:sp>
        <p:nvSpPr>
          <p:cNvPr id="5" name="sub"/>
          <p:cNvSpPr txBox="1"/>
          <p:nvPr/>
        </p:nvSpPr>
        <p:spPr>
          <a:xfrm>
            <a:off x="508000" y="1752600"/>
            <a:ext cx="11176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对什么反应、怎么反应，全你定。</a:t>
            </a:r>
            <a:endParaRPr lang="en-US" sz="2000"/>
          </a:p>
        </p:txBody>
      </p:sp>
      <p:sp>
        <p:nvSpPr>
          <p:cNvPr id="6" name="e1"/>
          <p:cNvSpPr/>
          <p:nvPr/>
        </p:nvSpPr>
        <p:spPr>
          <a:xfrm>
            <a:off x="508000" y="24384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7" name="e1-t"/>
          <p:cNvSpPr txBox="1"/>
          <p:nvPr/>
        </p:nvSpPr>
        <p:spPr>
          <a:xfrm>
            <a:off x="685800" y="2540000"/>
            <a:ext cx="3200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拍手开灯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拍一下亮，再拍一下灭</a:t>
            </a:r>
            <a:endParaRPr lang="en-US" sz="1600"/>
          </a:p>
        </p:txBody>
      </p:sp>
      <p:sp>
        <p:nvSpPr>
          <p:cNvPr id="8" name="e2"/>
          <p:cNvSpPr/>
          <p:nvPr/>
        </p:nvSpPr>
        <p:spPr>
          <a:xfrm>
            <a:off x="4318000" y="24384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e2-t"/>
          <p:cNvSpPr txBox="1"/>
          <p:nvPr/>
        </p:nvSpPr>
        <p:spPr>
          <a:xfrm>
            <a:off x="4495800" y="2540000"/>
            <a:ext cx="3200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迷你报警器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一晃就叫，按住按钮 2 秒解除</a:t>
            </a:r>
            <a:endParaRPr lang="en-US" sz="1600"/>
          </a:p>
        </p:txBody>
      </p:sp>
      <p:sp>
        <p:nvSpPr>
          <p:cNvPr id="10" name="e3"/>
          <p:cNvSpPr/>
          <p:nvPr/>
        </p:nvSpPr>
        <p:spPr>
          <a:xfrm>
            <a:off x="8128000" y="2438400"/>
            <a:ext cx="3556000" cy="147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1" name="e3-t"/>
          <p:cNvSpPr txBox="1"/>
          <p:nvPr/>
        </p:nvSpPr>
        <p:spPr>
          <a:xfrm>
            <a:off x="8305800" y="2540000"/>
            <a:ext cx="32004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900" b="1">
                <a:solidFill>
                  <a:srgbClr val="333333"/>
                </a:solidFill>
                <a:latin typeface="MiSans"/>
                <a:ea typeface="MiSans"/>
              </a:rPr>
              <a:t>桌面气象站</a:t>
            </a:r>
            <a:endParaRPr lang="en-US" sz="1600"/>
          </a:p>
          <a:p>
            <a:pPr algn="ctr">
              <a:lnSpc>
                <a:spcPct val="140000"/>
              </a:lnSpc>
            </a:pPr>
            <a:r>
              <a:rPr lang="en-US" sz="1400">
                <a:solidFill>
                  <a:srgbClr val="333333"/>
                </a:solidFill>
                <a:latin typeface="MiSans"/>
                <a:ea typeface="MiSans"/>
              </a:rPr>
              <a:t>屏幕显示温湿度和光线，太暗亮灯、太热响一声</a:t>
            </a:r>
            <a:endParaRPr lang="en-US" sz="1600"/>
          </a:p>
        </p:txBody>
      </p:sp>
      <p:sp>
        <p:nvSpPr>
          <p:cNvPr id="12" name="k-bar"/>
          <p:cNvSpPr/>
          <p:nvPr/>
        </p:nvSpPr>
        <p:spPr>
          <a:xfrm>
            <a:off x="508000" y="4191000"/>
            <a:ext cx="76200" cy="838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3" name="k-box"/>
          <p:cNvSpPr/>
          <p:nvPr/>
        </p:nvSpPr>
        <p:spPr>
          <a:xfrm>
            <a:off x="584200" y="4191000"/>
            <a:ext cx="11099800" cy="838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4" name="k-text"/>
          <p:cNvSpPr txBox="1"/>
          <p:nvPr/>
        </p:nvSpPr>
        <p:spPr>
          <a:xfrm>
            <a:off x="838200" y="4241800"/>
            <a:ext cx="106426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做完了还嫌不够？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两个方向任选——① 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小游戏机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：打地鼠、反应力测试（按钮计分、屏幕显示得分）② </a:t>
            </a:r>
            <a:r>
              <a:rPr lang="en-US" sz="1400" b="1">
                <a:solidFill>
                  <a:srgbClr val="000000"/>
                </a:solidFill>
                <a:latin typeface="MiSans"/>
                <a:ea typeface="MiSans"/>
              </a:rPr>
              <a:t>板子当外设</a:t>
            </a:r>
            <a:r>
              <a:rPr lang="en-US" sz="1400">
                <a:solidFill>
                  <a:srgbClr val="000000"/>
                </a:solidFill>
                <a:latin typeface="MiSans"/>
                <a:ea typeface="MiSans"/>
              </a:rPr>
              <a:t>：用板子的按钮/旋钮控制电脑屏幕上的小游戏（以讲师预演跑通的为准）</a:t>
            </a:r>
            <a:endParaRPr lang="en-US" sz="1400"/>
          </a:p>
        </p:txBody>
      </p:sp>
      <p:sp>
        <p:nvSpPr>
          <p:cNvPr id="15" name="bottom-note"/>
          <p:cNvSpPr txBox="1"/>
          <p:nvPr/>
        </p:nvSpPr>
        <p:spPr>
          <a:xfrm>
            <a:off x="762000" y="5283200"/>
            <a:ext cx="106680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想把刚才的作品改得更厉害的，也可以接着做。</a:t>
            </a:r>
            <a:endParaRPr lang="en-US" sz="1500"/>
          </a:p>
          <a:p>
            <a:pPr algn="ctr">
              <a:lnSpc>
                <a:spcPct val="150000"/>
              </a:lnSpc>
            </a:pPr>
            <a:r>
              <a:rPr lang="en-US" sz="1500">
                <a:solidFill>
                  <a:srgbClr val="000000"/>
                </a:solidFill>
                <a:latin typeface="Noto Sans SC"/>
                <a:ea typeface="Noto Sans SC"/>
              </a:rPr>
              <a:t>√ 做对的标志：它会对你设定的那件事做出反应，而且你说得出它的三格。</a:t>
            </a:r>
            <a:endParaRPr lang="en-US" sz="1500"/>
          </a:p>
        </p:txBody>
      </p:sp>
      <p:sp>
        <p:nvSpPr>
          <p:cNvPr id="16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21 / 23</a:t>
            </a:r>
            <a:endParaRPr lang="en-US" sz="11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互展 + 日志</a:t>
            </a:r>
            <a:endParaRPr lang="en-US" sz="1500"/>
          </a:p>
        </p:txBody>
      </p:sp>
      <p:sp>
        <p:nvSpPr>
          <p:cNvPr id="4" name="left-card"/>
          <p:cNvSpPr/>
          <p:nvPr/>
        </p:nvSpPr>
        <p:spPr>
          <a:xfrm>
            <a:off x="508000" y="1397000"/>
            <a:ext cx="533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5" name="left-tag"/>
          <p:cNvSpPr/>
          <p:nvPr/>
        </p:nvSpPr>
        <p:spPr>
          <a:xfrm>
            <a:off x="812800" y="1701800"/>
            <a:ext cx="1778000" cy="457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6" name="left-tag-t"/>
          <p:cNvSpPr txBox="1"/>
          <p:nvPr/>
        </p:nvSpPr>
        <p:spPr>
          <a:xfrm>
            <a:off x="812800" y="1701800"/>
            <a:ext cx="1778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快闪互展</a:t>
            </a:r>
            <a:endParaRPr lang="en-US" sz="1700"/>
          </a:p>
        </p:txBody>
      </p:sp>
      <p:sp>
        <p:nvSpPr>
          <p:cNvPr id="7" name="left-t"/>
          <p:cNvSpPr txBox="1"/>
          <p:nvPr/>
        </p:nvSpPr>
        <p:spPr>
          <a:xfrm>
            <a:off x="863600" y="2463800"/>
            <a:ext cx="46228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2000">
                <a:solidFill>
                  <a:srgbClr val="000000"/>
                </a:solidFill>
                <a:latin typeface="MiSans"/>
                <a:ea typeface="MiSans"/>
              </a:rPr>
              <a:t>桌内每人 30 秒——</a:t>
            </a:r>
            <a:endParaRPr lang="en-US" sz="2000"/>
          </a:p>
          <a:p>
            <a:pPr algn="l">
              <a:lnSpc>
                <a:spcPct val="16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演示你的作品，说出它的三格</a:t>
            </a:r>
            <a:endParaRPr lang="en-US" sz="2000"/>
          </a:p>
        </p:txBody>
      </p:sp>
      <p:sp>
        <p:nvSpPr>
          <p:cNvPr id="8" name="right-card"/>
          <p:cNvSpPr/>
          <p:nvPr/>
        </p:nvSpPr>
        <p:spPr>
          <a:xfrm>
            <a:off x="6350000" y="1397000"/>
            <a:ext cx="5334000" cy="330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9" name="right-tag"/>
          <p:cNvSpPr/>
          <p:nvPr/>
        </p:nvSpPr>
        <p:spPr>
          <a:xfrm>
            <a:off x="6654800" y="1701800"/>
            <a:ext cx="2286000" cy="457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10" name="right-tag-t"/>
          <p:cNvSpPr txBox="1"/>
          <p:nvPr/>
        </p:nvSpPr>
        <p:spPr>
          <a:xfrm>
            <a:off x="6654800" y="1701800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700" b="1">
                <a:solidFill>
                  <a:srgbClr val="000000"/>
                </a:solidFill>
                <a:latin typeface="MiSans"/>
                <a:ea typeface="MiSans"/>
              </a:rPr>
              <a:t>日志四句话</a:t>
            </a:r>
            <a:endParaRPr lang="en-US" sz="1700"/>
          </a:p>
        </p:txBody>
      </p:sp>
      <p:sp>
        <p:nvSpPr>
          <p:cNvPr id="11" name="right-t"/>
          <p:cNvSpPr txBox="1"/>
          <p:nvPr/>
        </p:nvSpPr>
        <p:spPr>
          <a:xfrm>
            <a:off x="6705600" y="2362200"/>
            <a:ext cx="46228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今天我做了 ＿＿＿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卡在 ＿＿＿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后来 ＿＿＿</a:t>
            </a:r>
            <a:endParaRPr lang="en-US" sz="1900"/>
          </a:p>
          <a:p>
            <a:pPr algn="l">
              <a:lnSpc>
                <a:spcPct val="170000"/>
              </a:lnSpc>
            </a:pPr>
            <a:r>
              <a:rPr lang="en-US" sz="1900">
                <a:solidFill>
                  <a:srgbClr val="000000"/>
                </a:solidFill>
                <a:latin typeface="MiSans"/>
                <a:ea typeface="MiSans"/>
              </a:rPr>
              <a:t>下次想 ＿＿＿</a:t>
            </a:r>
            <a:endParaRPr lang="en-US" sz="1900"/>
          </a:p>
        </p:txBody>
      </p:sp>
      <p:sp>
        <p:nvSpPr>
          <p:cNvPr id="12" name="tell-ai"/>
          <p:cNvSpPr txBox="1"/>
          <p:nvPr/>
        </p:nvSpPr>
        <p:spPr>
          <a:xfrm>
            <a:off x="508000" y="4927600"/>
            <a:ext cx="11176000" cy="355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>
                <a:solidFill>
                  <a:srgbClr val="000000"/>
                </a:solidFill>
                <a:latin typeface="MiSans"/>
                <a:ea typeface="MiSans"/>
              </a:rPr>
              <a:t>发给 AI 的话：「帮我整理成日志，只许整理我说过的，不许加我没说的。」</a:t>
            </a:r>
            <a:endParaRPr lang="en-US" sz="1600"/>
          </a:p>
        </p:txBody>
      </p:sp>
      <p:sp>
        <p:nvSpPr>
          <p:cNvPr id="13" name="alertbar"/>
          <p:cNvSpPr/>
          <p:nvPr/>
        </p:nvSpPr>
        <p:spPr>
          <a:xfrm>
            <a:off x="508000" y="5435600"/>
            <a:ext cx="76200" cy="711200"/>
          </a:xfrm>
          <a:prstGeom prst="rect">
            <a:avLst/>
          </a:prstGeom>
          <a:solidFill>
            <a:srgbClr val="D84144"/>
          </a:solidFill>
          <a:ln>
            <a:noFill/>
          </a:ln>
        </p:spPr>
      </p:sp>
      <p:sp>
        <p:nvSpPr>
          <p:cNvPr id="14" name="alertcard"/>
          <p:cNvSpPr/>
          <p:nvPr/>
        </p:nvSpPr>
        <p:spPr>
          <a:xfrm>
            <a:off x="584200" y="5435600"/>
            <a:ext cx="110998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</p:sp>
      <p:sp>
        <p:nvSpPr>
          <p:cNvPr id="15" name="alerttext"/>
          <p:cNvSpPr txBox="1"/>
          <p:nvPr/>
        </p:nvSpPr>
        <p:spPr>
          <a:xfrm>
            <a:off x="889000" y="5435600"/>
            <a:ext cx="10541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AI 会一本正经地编——校对是你的事。</a:t>
            </a:r>
            <a:endParaRPr lang="en-US" sz="2000"/>
          </a:p>
        </p:txBody>
      </p:sp>
      <p:sp>
        <p:nvSpPr>
          <p:cNvPr id="16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7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22 / 23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bar"/>
          <p:cNvSpPr/>
          <p:nvPr/>
        </p:nvSpPr>
        <p:spPr>
          <a:xfrm>
            <a:off x="508000" y="533400"/>
            <a:ext cx="76200" cy="3810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3" name="seclabel"/>
          <p:cNvSpPr txBox="1"/>
          <p:nvPr/>
        </p:nvSpPr>
        <p:spPr>
          <a:xfrm>
            <a:off x="736600" y="5334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>
                <a:solidFill>
                  <a:srgbClr val="000000"/>
                </a:solidFill>
                <a:latin typeface="Noto Sans SC"/>
                <a:ea typeface="Noto Sans SC"/>
              </a:rPr>
              <a:t>下次预告</a:t>
            </a:r>
            <a:endParaRPr lang="en-US" sz="1500"/>
          </a:p>
        </p:txBody>
      </p:sp>
      <p:sp>
        <p:nvSpPr>
          <p:cNvPr id="4" name="grow-box"/>
          <p:cNvSpPr/>
          <p:nvPr/>
        </p:nvSpPr>
        <p:spPr>
          <a:xfrm>
            <a:off x="508000" y="1219200"/>
            <a:ext cx="11176000" cy="1219200"/>
          </a:xfrm>
          <a:prstGeom prst="rect">
            <a:avLst/>
          </a:prstGeom>
          <a:solidFill>
            <a:srgbClr val="F3D230">
              <a:alpha val="20000"/>
            </a:srgbClr>
          </a:solidFill>
          <a:ln>
            <a:noFill/>
          </a:ln>
        </p:spPr>
      </p:sp>
      <p:sp>
        <p:nvSpPr>
          <p:cNvPr id="5" name="grow-text"/>
          <p:cNvSpPr txBox="1"/>
          <p:nvPr/>
        </p:nvSpPr>
        <p:spPr>
          <a:xfrm>
            <a:off x="812800" y="1219200"/>
            <a:ext cx="10566400" cy="1219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日志存好了——那是你们作品的成长史，</a:t>
            </a:r>
            <a:endParaRPr lang="en-US" sz="2000"/>
          </a:p>
          <a:p>
            <a:pPr algn="ctr">
              <a:lnSpc>
                <a:spcPct val="150000"/>
              </a:lnSpc>
            </a:pPr>
            <a:r>
              <a:rPr lang="en-US" sz="2000" b="1">
                <a:solidFill>
                  <a:srgbClr val="000000"/>
                </a:solidFill>
                <a:latin typeface="MiSans"/>
                <a:ea typeface="MiSans"/>
              </a:rPr>
              <a:t>到结课时它比作品本身还值钱。</a:t>
            </a:r>
            <a:endParaRPr lang="en-US" sz="2000"/>
          </a:p>
        </p:txBody>
      </p:sp>
      <p:sp>
        <p:nvSpPr>
          <p:cNvPr id="6" name="next-title"/>
          <p:cNvSpPr txBox="1"/>
          <p:nvPr/>
        </p:nvSpPr>
        <p:spPr>
          <a:xfrm>
            <a:off x="1016000" y="3022600"/>
            <a:ext cx="1016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b="1">
                <a:solidFill>
                  <a:srgbClr val="000000"/>
                </a:solidFill>
                <a:latin typeface="MiSans"/>
                <a:ea typeface="MiSans"/>
              </a:rPr>
              <a:t>第 2 课：找到那个值得你一直做下去的题目</a:t>
            </a:r>
            <a:endParaRPr lang="en-US" sz="2800"/>
          </a:p>
        </p:txBody>
      </p:sp>
      <p:sp>
        <p:nvSpPr>
          <p:cNvPr id="7" name="deco-line"/>
          <p:cNvSpPr/>
          <p:nvPr/>
        </p:nvSpPr>
        <p:spPr>
          <a:xfrm>
            <a:off x="5080000" y="3886200"/>
            <a:ext cx="2032000" cy="76200"/>
          </a:xfrm>
          <a:prstGeom prst="rect">
            <a:avLst/>
          </a:prstGeom>
          <a:solidFill>
            <a:srgbClr val="F3D230"/>
          </a:solidFill>
          <a:ln>
            <a:noFill/>
          </a:ln>
        </p:spPr>
      </p:sp>
      <p:sp>
        <p:nvSpPr>
          <p:cNvPr id="8" name="question"/>
          <p:cNvSpPr txBox="1"/>
          <p:nvPr/>
        </p:nvSpPr>
        <p:spPr>
          <a:xfrm>
            <a:off x="1016000" y="4419600"/>
            <a:ext cx="10160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200" b="1">
                <a:solidFill>
                  <a:srgbClr val="000000"/>
                </a:solidFill>
                <a:latin typeface="MiSans"/>
                <a:ea typeface="MiSans"/>
              </a:rPr>
              <a:t>你身边，有什么小事让你烦</a:t>
            </a:r>
            <a:r>
              <a:rPr lang="en-US" sz="3200" b="1">
                <a:solidFill>
                  <a:srgbClr val="F3D230"/>
                </a:solidFill>
                <a:latin typeface="MiSans"/>
                <a:ea typeface="MiSans"/>
              </a:rPr>
              <a:t>？</a:t>
            </a:r>
            <a:endParaRPr lang="en-US" sz="3200"/>
          </a:p>
        </p:txBody>
      </p:sp>
      <p:sp>
        <p:nvSpPr>
          <p:cNvPr id="9" name="footer"/>
          <p:cNvSpPr txBox="1"/>
          <p:nvPr/>
        </p:nvSpPr>
        <p:spPr>
          <a:xfrm>
            <a:off x="508000" y="64516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柴火创客学园 M0 · 第 1 课 · 用 AI 点亮你的第一块硬件</a:t>
            </a:r>
            <a:endParaRPr lang="en-US" sz="1100"/>
          </a:p>
        </p:txBody>
      </p:sp>
      <p:sp>
        <p:nvSpPr>
          <p:cNvPr id="10" name="pagenum"/>
          <p:cNvSpPr txBox="1"/>
          <p:nvPr/>
        </p:nvSpPr>
        <p:spPr>
          <a:xfrm>
            <a:off x="10414000" y="64516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>
                <a:solidFill>
                  <a:srgbClr val="000000"/>
                </a:solidFill>
                <a:latin typeface="Noto Sans SC"/>
                <a:ea typeface="Noto Sans SC"/>
              </a:rPr>
              <a:t>23 / 23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3846</Words>
  <Application>WPS 文字</Application>
  <PresentationFormat/>
  <Paragraphs>427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50" baseType="lpstr">
      <vt:lpstr>Arial</vt:lpstr>
      <vt:lpstr>宋体</vt:lpstr>
      <vt:lpstr>Wingdings</vt:lpstr>
      <vt:lpstr>MiSans</vt:lpstr>
      <vt:lpstr>Thonburi</vt:lpstr>
      <vt:lpstr>Noto Sans SC</vt:lpstr>
      <vt:lpstr>JetBrains Mono</vt:lpstr>
      <vt:lpstr>Arial</vt:lpstr>
      <vt:lpstr>宋体</vt:lpstr>
      <vt:lpstr>汉仪书宋二KW</vt:lpstr>
      <vt:lpstr>微软雅黑</vt:lpstr>
      <vt:lpstr>汉仪旗黑</vt:lpstr>
      <vt:lpstr>Arial Unicode MS</vt:lpstr>
      <vt:lpstr>Calibri</vt:lpstr>
      <vt:lpstr>Helvetica Neue</vt:lpstr>
      <vt:lpstr>JetBrains Mono</vt:lpstr>
      <vt:lpstr>MiSans</vt:lpstr>
      <vt:lpstr>Noto Sans SC</vt:lpstr>
      <vt:lpstr>苹方-简</vt:lpstr>
      <vt:lpstr>Apple Color Emoji</vt:lpstr>
      <vt:lpstr>默认字体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冯磊</cp:lastModifiedBy>
  <cp:revision>1</cp:revision>
  <dcterms:created xsi:type="dcterms:W3CDTF">2026-07-27T01:14:07Z</dcterms:created>
  <dcterms:modified xsi:type="dcterms:W3CDTF">2026-07-27T01:14:07Z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2052-12.1.26026.26026</vt:lpwstr>
  </property>
  <property fmtid="{D5CDD505-2E9C-101B-9397-08002B2CF9AE}" pid="4" name="ICV">
    <vt:lpwstr>96FCA97F9F958099DFB0666AA299C2E0_42</vt:lpwstr>
  </property>
</Properties>
</file>