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4" r:id="rId100"/>
    <p:sldId id="270" r:id="rId17"/>
    <p:sldId id="271" r:id="rId18"/>
    <p:sldId id="272" r:id="rId19"/>
    <p:sldId id="273" r:id="rId20"/>
  </p:sldIdLst>
  <p:notesMasterIdLst>
    <p:notesMasterId r:id="rId21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100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（候场页，无讲稿。学员入座时屏幕常亮本页。）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【素材说明】右侧插画为 AI 生成的柴火风格矢量插画（media/cover_brain.png，透明底，已擦除生成水印）：创意从大脑喷涌而出——灯泡、齿轮、电路、卫星、火箭、无人机、扳手、音符，黑线＋主题黄，与本课"立项/创意从体验里长出来"呼应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「30 秒回顾：上次课你教板子认出了剪刀石头布，还让它认出之后干活——亮灯、响铃。你还发现了 AI 最大的秘密：它不笨，是你教得少。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今天三件事：一，把上次的作品做完——让 AI 当测试员，同桌互测，把毛病揪出来；二，一件大事：你的大作品今天正式立项——从第 2 课你贴在墙上的那个选题出发，走到'可以动手'；三，去备料池开开眼界，给你的大作品备料。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先说第一件。上节课联动没做完的举手——（点名记下）没关系：等会儿自检时间助教带你们用保底句式 5 分钟补通'认出剪刀亮灯'，然后照常参加互测。实在补不通，你和同桌共用他的作品互测，记录照写——今天的重点不是作品多漂亮，是你会不会挑毛病。」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（学员上节缺课、无模型的备份口径见策划附录"演示备份与降级口径"第 1 条：发讲师预训练模型部署到备用板，直接参加互测。）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「插上你的小眼睛板，出个剪刀——它还认识你吗？认得的，坐好等下一步；不认得的，想想上节课的归因：光线变了？座位变了？——快救：对着现在的光，补拍 10 张重新训练。这就是'改数据'，你们都会。」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（半数以上模型失效时不救场，顺势成刁难清单第一条活教材；快救补拍超 8 分钟记"本模型只在原座位有效"进互测——口径见策划附录"演示备份与降级口径"第 2 条。）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「上次课结尾我说过：今天让 AI 当测试员。还记得 Quinn 吗——第 4 课帮你把番茄钟玩坏的那个测试。这次是它的视觉版高光时刻。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把这段话发给 AI（投屏），括号换成你自己的作品：」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[动作：投屏句式代码框，逐句念。]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「拿到清单先别急着测——挑一遍：太泛的（'可能不准'）退回去要具体场景；和你作品无关的划掉。留下至少 3 条你真能动手试的。」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（时间崩在视觉下半时砍 AI 清单保互测：清单 3 条够用，互测一分钟不挪用；讲师口头发 3 条通用刁难兜底——口径见策划附录"演示备份与降级口径"第 3 条。）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「交换作品。你手里是同桌的板子 ＋ 他写的刁难清单。逐条实测，结果记在他的清单上：过了打勾，翻车写清怎么翻的。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规矩三条：一，刁难只限'给它看东西'——不碰线、不拆件、不遮镜头以外的部位；二，测出问题不要笑他——你递过去的是刀，也是勋章，你的清单被测出问题，说明你同桌够专业；三，测完他的，他测你的，两边都要写满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（互测不可压：时间再紧，互测一分钟不挪用——这是『做取舍』第三格的点亮条件。讲师侧口径，不上屏。）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「拿回自己的清单，看它现在的样子——上面全是你的作品的'罪状'。现在逐条定夺：接受还是拒绝。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拒绝的，现场改。三条路（板书）：改数据——回 SenseCraft 补拍翻车的那个场景；改逻辑——让 Codecraft 改条件，比如'连续认出两次才算数'；改阈值——把自信线从 70% 提到 85%。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拿不准走哪条路？别等我——把翻车现象发给 AI 问它：'我的模型在___情况下认错。改数据、改逻辑、改阈值，你建议走哪条？为什么？'建议归建议，走哪条还是你定。改逻辑和改阈值也是发给 AI 做，你只管老规矩：说清输入输出。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接受的，写一句'我知道它在___情况下会失手，我决定接受'——第 2 课你们做过这个决定，今天做得更专业。」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（SenseCraft 挂时模型已在板子里，互测照常；"改数据"路线停用，改进走"改逻辑/改阈值"两条路——口径见策划附录"演示备份与降级口径"第 4 条。）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「每桌选一条'最刁钻的误判 ＋ 我的对策'，30 秒说给全班。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然后写日志第一句。四句照旧，今天'做了'写：我让 AI 开了刁难清单，同桌帮我测出了___个毛病，我改了___、接受了___。」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（此处安排 10 分钟休息：设备不关机；选题墙就位，投屏定格本页或黑屏。）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「下半场开始。先听一个人说几句话——（指照片）这位是 Neil Gershenfeld，MIT Fab Academy 的创始人。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他说：学制造，不是去造商店里买得到的东西——那轮不到你；是造商店里买不到的东西——为你自己、为你在乎的人，个性化地造。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他还反复跟学生强调：项目创意不是想出来的'好点子'，是从你自己的体验里长出来的。网上抄来的炫酷点子，做不过三节课；体验里长出来的题，才扛得住四次马拉松。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Fab Academy 的学员，第一周就要立下自己的 Final Project，之后二十周，每周做的事都是在给它攒模块——你们今天，就是做这件事。」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「Neil 的课上学的是什么？传感器、电路、嵌入式、结构设计——跟你们手上这套差不多。看看往届学员用这套技能造出了什么（投屏，逐行扫过去）：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疫情里实验室造防护装备，孟买一个实验室协调了全印度的分布式生产；有人自制示波器、显微镜、光谱仪；有人在阿富汗、肯尼亚山区用抛物面天线拉出 10 公里的通信链路；有人造 CubeSat 教育卫星；有人做跳跃机器人、充气软体机器人；有人做无人机、复合材料自行车、小船；有人做水培系统、分布式环境监测；还有人做乐器和互动艺术装置。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注意：没有一个是'网上抄来的炫酷点子'——每一个，都是作者自己体验里的真问题。你的题，也可以从这些方向里长出来。」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【素材说明】内容为 Fab Academy 官方结课讲座（vimeo 949353）中的应用方向清单；图标为本课主题定制的极简线性矢量图标（media/icon_*.png），无外部图片依赖。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「方向有了，那什么样的作品算好？Neil 给了四条叮嘱（投屏）：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一，杰作的意思是技能熟练，不是宏大构想——一个做完的普通作品，胜过没做完的伟大构想。二，螺旋开发——每一圈都有一个能跑的版本：先做核心功能，跑通了再一圈一圈加。三，模块化——拆成独立的小块，分别做、分别测，坏了好找。四，边做边记——文档和作品一起长，测试数据随手记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听着耳熟吗？这四条你们其实已经会了：第 4 课的番茄钟，就是一圈一圈螺旋加出来的；你们的日志四句，就是文档。今天这张需求单，就是你作品文档的第一行。」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【素材说明】四条叮嘱整理自 Fab Academy 结课讲座（vimeo 949353）"最终项目要求＋项目管理建议"；与第 15 页"范围杀手"的取舍纪律互为呼应。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「全体起立，走到选题墙前。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刚才 Neil 的话记住了：好题目从体验里长出来。现在看你自己的——第 2 课，你在这里贴下一句话：我要为___做一个___，因为___。四周过去了——看着你自己写的那句话，我问你：这个选题，你还爱吗？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爱的，回到座位。不爱的、犹豫的——可以换，今天换不丢人，带着不爱做到第 10 课才丢人。换题规则：5 分钟，三连问自检——三个都答得出，换；答不出，回原题，卡住的举手让助教帮你过。注意第二条：换题不许换'抄来的好点子'，要换就换一个你体验里的真问题。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5 分钟还定不下的，来我这里——我有三个现成的保底题，做漂亮了照样是好作品，不丢人。」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（保底题 3 个讲师口头给；需求单允许改，划掉不删除——口径见策划附录"演示备份与降级口径"第 6 条。）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「回到座位，召唤你的产品经理——John，这角色你熟。今天把它谈深。开场白（投屏），注意：必须带上你第 2 课的真实用户名字——没有真名字的需求是假需求。John 追问的第一条就是'上一次发生是什么时候'——答得出具体哪一天的，才是真体验；答不出的，说明这题还只是想象。还是老纪律：就在你原来那段对话里接着聊，别新开窗口——一开新对话，前面的结论就全丢了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[动作：投屏句式代码框，逐句念。]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（讲师自律红线：只提问、不给答案——学员答案再普通也是他的题。此条永不上屏。Codecraft 挂/全断网时按降级口径：同伴互问 ＋ 手写模板——见策划附录第 5 条。）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「召唤体验设计师 Sally。产出一句话东西：使用情景描述——谁在什么地方怎么用。看我的示范（投屏）：'妈妈路过茶几，它检测到水杯两小时没动过，就闪三下灯，发出一声轻轻的叮。'——有人、有地方、有动作、有反应。照这个样子，写你的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[动作：投屏句式代码框，逐句念。]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「屏幕上这张表，是你大作品的开工许可证。它的大名叫需求单——工地上叫它 requirements.md，意思就一句：动手之前，把'做什么'写死。现在就填在你的学员文档里。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为什么写它？三个原因：一，下次课开始马拉松，每次开工先对它，防跑偏；二，它是活的——以后允许改，但划掉不删除，让所有人看见你改过主意；三，三段写完你还说不清的，说明没想清——写不下作文，只许三段，每段最多三句话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填吧。AI 可以帮你整理措辞，但事实必须来自你刚才两轮对话——抄 AI 编的，等于给你的作品上假户口。」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（本页模板文字与讲师版第六节、学员文档逐字一致；投屏版仅省去栏间空行使整单一页放下。后续任何一处修订需三处同步。）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「最后一步，请出'范围杀手'。规则：把需求单发给 AI，让它只许问一个问题：'这个不做会死吗？'——它不许说'这个功能不好'，否决权永远在你。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目标：核心功能只剩 1 个。被砍的，一条条抄进'以后再做'清单，写上砍它的理由。砍掉的东西有名有姓，取舍才算发生过。」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[动作：投屏句式代码框，逐句念。]</a:t>
            </a:r>
          </a:p>
          <a:p>
            <a:r>
              <a:rPr lang="en-US" sz="1200"/>
              <a:t/>
            </a:r>
          </a:p>
          <a:p>
            <a:r>
              <a:rPr lang="en-US" sz="1200"/>
              <a:t>（全断网降级：讲师人肉范围杀手，全场轮流公开过堂——见策划附录第 5 条。）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「需求单填好了，最后一个问题：你写的这些，手上的东西做得出来吗？——去备料池找答案。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巡礼不是逛街。任务单四件事（投屏）：① 勾出你需求单需要的模块，找到实物；② 池里没有的，对照四桌分类找替代；③ 开眼界三选——每桌摸 1 个你不认识的模块，猜一句它干嘛，问助教验证；④ 回到座位，硬件确认栏签字。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四组轮转，每桌 7 分钟，哨声换桌。」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【素材说明】IMG-13-01 备料池四桌分类示意已按策划直接矢量绘制在页面内（四张分类卡＋底部横条），无外部图片依赖；巡礼无网络依赖照常。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「全体拿一张便签，写下两行：你的作品名，核心功能一句话。写完排队——贴上立项墙。贴的时候大声念出来。」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[动作：学员依次写便签、贴、念。念不出的同桌帮念、本人点头——不跳过，点名参与是仪式的一部分。]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「需求单留在你的学员文档里——那是你的开工许可证，每次马拉松开工先对它。墙上这些便签是全班的对照物：可以改，但划掉不删除，让所有人看见你改过主意。」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「回顾一下你今天干成的三件事：把作品往死里整了一轮——还站着；每条毛病都做了决定——接受还是修，你拍的板；选题从一面墙走进了一张需求单——它今天立项了。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记住这句话：它不只是一件毕业作品，是人生项目的开始。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日志四句照旧，'做了'写：我的大作品今天立项，它叫___，核心功能是___，我砍掉了___。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下次课预告：大转折——给你的作品'搬家'，从网页搬进你自己的电脑，第一次看懂 AI 写的代码里住着什么。家安好了，第 8 课马拉松开跑。今天你说'我要做'，下次课给它安家，再下次课开始，你说'我在做'。」</a:t>
            </a:r>
          </a:p>
          <a:p>
            <a:r>
              <a:rPr lang="en-US" sz="1200"/>
              <a:t/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【页 15 · 工程师的需求单 · 约 2 分钟】</a:t>
            </a:r>
          </a:p>
          <a:p>
            <a:r>
              <a:rPr lang="en-US" sz="1200"/>
              <a:t/>
            </a:r>
          </a:p>
          <a:p>
            <a:r>
              <a:rPr lang="en-US" sz="1200"/>
              <a:t>时机：学员刚填完自己的需求单（页 14 之后）。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「你们刚填完需求单。来看看专业工程师开工前写的东西——Brandy，Seeed 的应用工程师，零代码做语音键盘的那位。她动手前写的是『输入/输出契约』：输入、约束、输出、成功标准，四行。」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「对照一下你刚写的：你的真实用户＝她为谁做；使用情景＝她的使用场景；输入·逻辑·输出＝她的输入和输出；核心功能加怎么算成功＝她的成功标准。」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落点（说慢）：「她写的叫契约，你写的叫需求单——是同一张东西。你已经在用工程师的方法了。马拉松开工后，每接一个新模块，都可以先写这四行。」</a:t>
            </a:r>
          </a:p>
          <a:p>
            <a:r>
              <a:rPr lang="en-US" sz="1200"/>
              <a:t/>
            </a:r>
          </a:p>
          <a:p>
            <a:r>
              <a:rPr lang="en-US" sz="1200"/>
              <a:t>【教学提示】</a:t>
            </a:r>
          </a:p>
          <a:p>
            <a:r>
              <a:rPr lang="en-US" sz="1200"/>
              <a:t>· 本页承上启下：承上＝给刚填完的需求单专业背书；启下＝第 8 课附录有四行规格与硬件 Prompt 模板，第 9 课接新模块时回指本页。</a:t>
            </a:r>
          </a:p>
          <a:p>
            <a:r>
              <a:rPr lang="en-US" sz="1200"/>
              <a:t>· 不展开语音键盘细节——第 8 课有完整附录。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Image1" Type="http://schemas.openxmlformats.org/officeDocument/2006/relationships/image" Target="../media/image1.png"/><Relationship Id="rIdNotes1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Notes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Notes3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Notes4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Notes5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Notes6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Notes7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Image2" Type="http://schemas.openxmlformats.org/officeDocument/2006/relationships/image" Target="../media/image2.jpg"/><Relationship Id="rIdNotes8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Image10" Type="http://schemas.openxmlformats.org/officeDocument/2006/relationships/image" Target="../media/image10.png"/><Relationship Id="rIdImage3" Type="http://schemas.openxmlformats.org/officeDocument/2006/relationships/image" Target="../media/image3.png"/><Relationship Id="rIdImage4" Type="http://schemas.openxmlformats.org/officeDocument/2006/relationships/image" Target="../media/image4.png"/><Relationship Id="rIdImage5" Type="http://schemas.openxmlformats.org/officeDocument/2006/relationships/image" Target="../media/image5.png"/><Relationship Id="rIdImage6" Type="http://schemas.openxmlformats.org/officeDocument/2006/relationships/image" Target="../media/image6.png"/><Relationship Id="rIdImage7" Type="http://schemas.openxmlformats.org/officeDocument/2006/relationships/image" Target="../media/image7.png"/><Relationship Id="rIdImage8" Type="http://schemas.openxmlformats.org/officeDocument/2006/relationships/image" Target="../media/image8.png"/><Relationship Id="rIdImage9" Type="http://schemas.openxmlformats.org/officeDocument/2006/relationships/image" Target="../media/image9.png"/><Relationship Id="rIdNotes9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Notes10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Notes11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Notes1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Notes13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Notes14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Notes15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Notes16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Notes17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Notes18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9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line"/>
          <p:cNvSpPr/>
          <p:nvPr/>
        </p:nvSpPr>
        <p:spPr>
          <a:xfrm>
            <a:off x="1016000" y="1905000"/>
            <a:ext cx="152400" cy="2794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main-title"/>
          <p:cNvSpPr txBox="1"/>
          <p:nvPr/>
        </p:nvSpPr>
        <p:spPr>
          <a:xfrm>
            <a:off x="1574800" y="2133600"/>
            <a:ext cx="5842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5000"/>
              </a:lnSpc>
            </a:pPr>
            <a:r>
              <a:rPr lang="en-US" sz="5200" b="1">
                <a:solidFill>
                  <a:srgbClr val="000000"/>
                </a:solidFill>
                <a:latin typeface="MiSans"/>
                <a:ea typeface="MiSans"/>
              </a:rPr>
              <a:t>为我的作品立项</a:t>
            </a:r>
            <a:endParaRPr lang="en-US" sz="5200"/>
          </a:p>
        </p:txBody>
      </p:sp>
      <p:sp>
        <p:nvSpPr>
          <p:cNvPr id="4" name="sub-title"/>
          <p:cNvSpPr txBox="1"/>
          <p:nvPr/>
        </p:nvSpPr>
        <p:spPr>
          <a:xfrm>
            <a:off x="1574800" y="3962400"/>
            <a:ext cx="584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第 7 课 ｜ 从"跟着做"到"做自己的"</a:t>
            </a:r>
            <a:endParaRPr lang="en-US" sz="2000"/>
          </a:p>
        </p:txBody>
      </p:sp>
      <p:sp>
        <p:nvSpPr>
          <p:cNvPr id="5" name="org"/>
          <p:cNvSpPr txBox="1"/>
          <p:nvPr/>
        </p:nvSpPr>
        <p:spPr>
          <a:xfrm>
            <a:off x="1574800" y="59436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柴火创客学园 M0 · CFG-5 学期班</a:t>
            </a:r>
            <a:endParaRPr lang="en-US" sz="1400"/>
          </a:p>
        </p:txBody>
      </p:sp>
      <p:pic>
        <p:nvPicPr>
          <p:cNvPr id="6" name="illust"/>
          <p:cNvPicPr/>
          <p:nvPr/>
        </p:nvPicPr>
        <p:blipFill>
          <a:blip r:embed="rIdImage1"/>
          <a:stretch>
            <a:fillRect/>
          </a:stretch>
        </p:blipFill>
        <p:spPr>
          <a:xfrm>
            <a:off x="7112000" y="762000"/>
            <a:ext cx="4572000" cy="533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视觉联动下半 · 衔接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今天三件事</a:t>
            </a:r>
            <a:endParaRPr lang="en-US" sz="3800"/>
          </a:p>
        </p:txBody>
      </p:sp>
      <p:sp>
        <p:nvSpPr>
          <p:cNvPr id="5" name="p1dot"/>
          <p:cNvSpPr/>
          <p:nvPr/>
        </p:nvSpPr>
        <p:spPr>
          <a:xfrm>
            <a:off x="508000" y="20447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6" name="p1txt"/>
          <p:cNvSpPr txBox="1"/>
          <p:nvPr/>
        </p:nvSpPr>
        <p:spPr>
          <a:xfrm>
            <a:off x="1092200" y="1879600"/>
            <a:ext cx="10591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① 把上次的作品做完——AI 当测试员，同桌互测，把毛病揪出来</a:t>
            </a:r>
            <a:endParaRPr lang="en-US" sz="1700"/>
          </a:p>
        </p:txBody>
      </p:sp>
      <p:sp>
        <p:nvSpPr>
          <p:cNvPr id="7" name="hl2"/>
          <p:cNvSpPr/>
          <p:nvPr/>
        </p:nvSpPr>
        <p:spPr>
          <a:xfrm>
            <a:off x="355600" y="2692400"/>
            <a:ext cx="11480800" cy="8128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8" name="p2dot"/>
          <p:cNvSpPr/>
          <p:nvPr/>
        </p:nvSpPr>
        <p:spPr>
          <a:xfrm>
            <a:off x="508000" y="29083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9" name="p2txt"/>
          <p:cNvSpPr txBox="1"/>
          <p:nvPr/>
        </p:nvSpPr>
        <p:spPr>
          <a:xfrm>
            <a:off x="1092200" y="2743200"/>
            <a:ext cx="10591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② 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一件大事：你的大作品，今天正式立项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——你的大作品，今天给它上户口</a:t>
            </a:r>
            <a:endParaRPr lang="en-US" sz="1700"/>
          </a:p>
        </p:txBody>
      </p:sp>
      <p:sp>
        <p:nvSpPr>
          <p:cNvPr id="10" name="p3dot"/>
          <p:cNvSpPr/>
          <p:nvPr/>
        </p:nvSpPr>
        <p:spPr>
          <a:xfrm>
            <a:off x="508000" y="37719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1" name="p3txt"/>
          <p:cNvSpPr txBox="1"/>
          <p:nvPr/>
        </p:nvSpPr>
        <p:spPr>
          <a:xfrm>
            <a:off x="1092200" y="3606800"/>
            <a:ext cx="10591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③ 去备料池开开眼界，给你的大作品备料</a:t>
            </a:r>
            <a:endParaRPr lang="en-US" sz="1700"/>
          </a:p>
        </p:txBody>
      </p:sp>
      <p:sp>
        <p:nvSpPr>
          <p:cNvPr id="12" name="hintbox"/>
          <p:cNvSpPr/>
          <p:nvPr/>
        </p:nvSpPr>
        <p:spPr>
          <a:xfrm>
            <a:off x="508000" y="4775200"/>
            <a:ext cx="11176000" cy="11176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3" name="hintbox-t"/>
          <p:cNvSpPr txBox="1"/>
          <p:nvPr/>
        </p:nvSpPr>
        <p:spPr>
          <a:xfrm>
            <a:off x="812800" y="4775200"/>
            <a:ext cx="10566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上节联动没做完的，向助教报到——自检时间 5 分钟补通"认出剪刀亮灯"，照常参加互测。</a:t>
            </a:r>
            <a:endParaRPr lang="en-US" sz="1400"/>
          </a:p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今天的重点不是作品多漂亮，是</a:t>
            </a: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你会不会挑毛病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400"/>
          </a:p>
        </p:txBody>
      </p:sp>
      <p:sp>
        <p:nvSpPr>
          <p:cNvPr id="14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5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02 / 19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视觉联动下半 · 自检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插上你的小眼睛板，出个剪刀——它还认识你吗？</a:t>
            </a:r>
            <a:endParaRPr lang="en-US" sz="3800"/>
          </a:p>
        </p:txBody>
      </p:sp>
      <p:sp>
        <p:nvSpPr>
          <p:cNvPr id="5" name="card1"/>
          <p:cNvSpPr/>
          <p:nvPr/>
        </p:nvSpPr>
        <p:spPr>
          <a:xfrm>
            <a:off x="508000" y="2032000"/>
            <a:ext cx="5461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6" name="card1-tag"/>
          <p:cNvSpPr/>
          <p:nvPr/>
        </p:nvSpPr>
        <p:spPr>
          <a:xfrm>
            <a:off x="812800" y="2286000"/>
            <a:ext cx="13970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7" name="card1-tag-t"/>
          <p:cNvSpPr txBox="1"/>
          <p:nvPr/>
        </p:nvSpPr>
        <p:spPr>
          <a:xfrm>
            <a:off x="812800" y="22860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认得的</a:t>
            </a:r>
            <a:endParaRPr lang="en-US" sz="1500"/>
          </a:p>
        </p:txBody>
      </p:sp>
      <p:sp>
        <p:nvSpPr>
          <p:cNvPr id="8" name="card1-arrow"/>
          <p:cNvSpPr txBox="1"/>
          <p:nvPr/>
        </p:nvSpPr>
        <p:spPr>
          <a:xfrm>
            <a:off x="812800" y="28702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3D230"/>
                </a:solidFill>
                <a:latin typeface="MiSans"/>
                <a:ea typeface="MiSans"/>
              </a:rPr>
              <a:t>→</a:t>
            </a:r>
            <a:endParaRPr lang="en-US" sz="2600"/>
          </a:p>
        </p:txBody>
      </p:sp>
      <p:sp>
        <p:nvSpPr>
          <p:cNvPr id="9" name="card1-t"/>
          <p:cNvSpPr txBox="1"/>
          <p:nvPr/>
        </p:nvSpPr>
        <p:spPr>
          <a:xfrm>
            <a:off x="1397000" y="28702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坐好，等下一步</a:t>
            </a:r>
            <a:endParaRPr lang="en-US" sz="2000"/>
          </a:p>
        </p:txBody>
      </p:sp>
      <p:sp>
        <p:nvSpPr>
          <p:cNvPr id="10" name="card2"/>
          <p:cNvSpPr/>
          <p:nvPr/>
        </p:nvSpPr>
        <p:spPr>
          <a:xfrm>
            <a:off x="6223000" y="2032000"/>
            <a:ext cx="5461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1" name="card2-tag"/>
          <p:cNvSpPr/>
          <p:nvPr/>
        </p:nvSpPr>
        <p:spPr>
          <a:xfrm>
            <a:off x="6527800" y="2286000"/>
            <a:ext cx="13970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2" name="card2-tag-t"/>
          <p:cNvSpPr txBox="1"/>
          <p:nvPr/>
        </p:nvSpPr>
        <p:spPr>
          <a:xfrm>
            <a:off x="6527800" y="22860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不认得的</a:t>
            </a:r>
            <a:endParaRPr lang="en-US" sz="1500"/>
          </a:p>
        </p:txBody>
      </p:sp>
      <p:sp>
        <p:nvSpPr>
          <p:cNvPr id="13" name="card2-arrow"/>
          <p:cNvSpPr txBox="1"/>
          <p:nvPr/>
        </p:nvSpPr>
        <p:spPr>
          <a:xfrm>
            <a:off x="6527800" y="2819400"/>
            <a:ext cx="50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F3D230"/>
                </a:solidFill>
                <a:latin typeface="MiSans"/>
                <a:ea typeface="MiSans"/>
              </a:rPr>
              <a:t>→</a:t>
            </a:r>
            <a:endParaRPr lang="en-US" sz="2400"/>
          </a:p>
        </p:txBody>
      </p:sp>
      <p:sp>
        <p:nvSpPr>
          <p:cNvPr id="14" name="card2-t"/>
          <p:cNvSpPr txBox="1"/>
          <p:nvPr/>
        </p:nvSpPr>
        <p:spPr>
          <a:xfrm>
            <a:off x="7061200" y="2768600"/>
            <a:ext cx="4318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想想上节课的归因：光线变了？座位变了？快救——对着现在的光，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补拍 10 张重新训练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（"改数据"，你们都会）</a:t>
            </a:r>
            <a:endParaRPr lang="en-US" sz="1500"/>
          </a:p>
        </p:txBody>
      </p:sp>
      <p:sp>
        <p:nvSpPr>
          <p:cNvPr id="15" name="okmark"/>
          <p:cNvSpPr txBox="1"/>
          <p:nvPr/>
        </p:nvSpPr>
        <p:spPr>
          <a:xfrm>
            <a:off x="508000" y="5080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做对的标志：√ 板子认出你的手势，或补拍重训已发出</a:t>
            </a:r>
            <a:endParaRPr lang="en-US" sz="1500"/>
          </a:p>
        </p:txBody>
      </p:sp>
      <p:sp>
        <p:nvSpPr>
          <p:cNvPr id="16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03 / 19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视觉联动收尾 · 刁难清单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让 AI 当你的测试员</a:t>
            </a:r>
            <a:endParaRPr lang="en-US" sz="3800"/>
          </a:p>
        </p:txBody>
      </p:sp>
      <p:sp>
        <p:nvSpPr>
          <p:cNvPr id="5" name="lead"/>
          <p:cNvSpPr txBox="1"/>
          <p:nvPr/>
        </p:nvSpPr>
        <p:spPr>
          <a:xfrm>
            <a:off x="508000" y="165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还记得 Quinn 吗——第 4 课帮你把番茄钟玩坏的那个测试，这次是它的视觉版高光时刻。把这段话发给 AI（换成你自己的作品）：</a:t>
            </a:r>
            <a:endParaRPr lang="en-US" sz="1400"/>
          </a:p>
        </p:txBody>
      </p:sp>
      <p:sp>
        <p:nvSpPr>
          <p:cNvPr id="6" name="codebox"/>
          <p:cNvSpPr/>
          <p:nvPr/>
        </p:nvSpPr>
        <p:spPr>
          <a:xfrm>
            <a:off x="508000" y="2133600"/>
            <a:ext cx="11176000" cy="2260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7" name="code-t"/>
          <p:cNvSpPr txBox="1"/>
          <p:nvPr/>
        </p:nvSpPr>
        <p:spPr>
          <a:xfrm>
            <a:off x="812800" y="2260600"/>
            <a:ext cx="105664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Quinn，我的作品：一块带摄像头的板子，能认出剪刀、石头、布。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认出剪刀会亮 LED，认出石头蜂鸣器会响，认不出就全灭。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你是挑剔的测试工程师，请给我 5 条"怎么让它误判/失灵"的测试，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每条要具体到：我该怎么操作、预期看到什么。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比如：背光时出手势？手只露一半？快速连续换手势？</a:t>
            </a:r>
            <a:endParaRPr lang="en-US" sz="1300"/>
          </a:p>
        </p:txBody>
      </p:sp>
      <p:sp>
        <p:nvSpPr>
          <p:cNvPr id="8" name="r1dot"/>
          <p:cNvSpPr/>
          <p:nvPr/>
        </p:nvSpPr>
        <p:spPr>
          <a:xfrm>
            <a:off x="508000" y="4622800"/>
            <a:ext cx="304800" cy="304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9" name="r1txt"/>
          <p:cNvSpPr txBox="1"/>
          <p:nvPr/>
        </p:nvSpPr>
        <p:spPr>
          <a:xfrm>
            <a:off x="990600" y="4597400"/>
            <a:ext cx="1069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太泛的（"可能不准"）退回去要具体场景</a:t>
            </a:r>
            <a:endParaRPr lang="en-US" sz="1500"/>
          </a:p>
        </p:txBody>
      </p:sp>
      <p:sp>
        <p:nvSpPr>
          <p:cNvPr id="10" name="r2dot"/>
          <p:cNvSpPr/>
          <p:nvPr/>
        </p:nvSpPr>
        <p:spPr>
          <a:xfrm>
            <a:off x="508000" y="5054600"/>
            <a:ext cx="304800" cy="304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1" name="r2txt"/>
          <p:cNvSpPr txBox="1"/>
          <p:nvPr/>
        </p:nvSpPr>
        <p:spPr>
          <a:xfrm>
            <a:off x="990600" y="5029200"/>
            <a:ext cx="1069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和你作品无关的划掉——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留下至少 3 条你真能动手试的，写下来</a:t>
            </a:r>
            <a:endParaRPr lang="en-US" sz="1500"/>
          </a:p>
        </p:txBody>
      </p:sp>
      <p:sp>
        <p:nvSpPr>
          <p:cNvPr id="12" name="okmark"/>
          <p:cNvSpPr txBox="1"/>
          <p:nvPr/>
        </p:nvSpPr>
        <p:spPr>
          <a:xfrm>
            <a:off x="508000" y="5638800"/>
            <a:ext cx="1117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做对的标志：√ 学员文档里有一份 ≥3 条的清单，每条都能说出"怎么操作、预期看到什么"</a:t>
            </a:r>
            <a:endParaRPr lang="en-US" sz="1400"/>
          </a:p>
        </p:txBody>
      </p:sp>
      <p:sp>
        <p:nvSpPr>
          <p:cNvPr id="13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04 / 19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视觉联动下半 · 互测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交换作品，逐条刁难</a:t>
            </a:r>
            <a:endParaRPr lang="en-US" sz="3800"/>
          </a:p>
        </p:txBody>
      </p:sp>
      <p:sp>
        <p:nvSpPr>
          <p:cNvPr id="5" name="task"/>
          <p:cNvSpPr txBox="1"/>
          <p:nvPr/>
        </p:nvSpPr>
        <p:spPr>
          <a:xfrm>
            <a:off x="508000" y="1778000"/>
            <a:ext cx="11176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你手里是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同桌的板子 ＋ 他写的刁难清单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。逐条实测，结果记在他的清单上：过了打勾，翻车写清怎么翻的。</a:t>
            </a:r>
            <a:endParaRPr lang="en-US" sz="1700"/>
          </a:p>
        </p:txBody>
      </p:sp>
      <p:sp>
        <p:nvSpPr>
          <p:cNvPr id="6" name="r1dot"/>
          <p:cNvSpPr/>
          <p:nvPr/>
        </p:nvSpPr>
        <p:spPr>
          <a:xfrm>
            <a:off x="508000" y="2844800"/>
            <a:ext cx="304800" cy="304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7" name="r1txt"/>
          <p:cNvSpPr txBox="1"/>
          <p:nvPr/>
        </p:nvSpPr>
        <p:spPr>
          <a:xfrm>
            <a:off x="990600" y="2819400"/>
            <a:ext cx="1069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一，测出问题不要笑他——你递过去的是刀，也是勋章：你的清单被测出问题，说明你同桌够专业</a:t>
            </a:r>
            <a:endParaRPr lang="en-US" sz="1500"/>
          </a:p>
        </p:txBody>
      </p:sp>
      <p:sp>
        <p:nvSpPr>
          <p:cNvPr id="8" name="r2dot"/>
          <p:cNvSpPr/>
          <p:nvPr/>
        </p:nvSpPr>
        <p:spPr>
          <a:xfrm>
            <a:off x="508000" y="3327400"/>
            <a:ext cx="304800" cy="304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9" name="r2txt"/>
          <p:cNvSpPr txBox="1"/>
          <p:nvPr/>
        </p:nvSpPr>
        <p:spPr>
          <a:xfrm>
            <a:off x="990600" y="3302000"/>
            <a:ext cx="1069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二，测完他的，他测你的，两边都要写满</a:t>
            </a:r>
            <a:endParaRPr lang="en-US" sz="1500"/>
          </a:p>
        </p:txBody>
      </p:sp>
      <p:sp>
        <p:nvSpPr>
          <p:cNvPr id="10" name="r3dot"/>
          <p:cNvSpPr/>
          <p:nvPr/>
        </p:nvSpPr>
        <p:spPr>
          <a:xfrm>
            <a:off x="508000" y="3810000"/>
            <a:ext cx="304800" cy="304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1" name="r3txt"/>
          <p:cNvSpPr txBox="1"/>
          <p:nvPr/>
        </p:nvSpPr>
        <p:spPr>
          <a:xfrm>
            <a:off x="990600" y="3759200"/>
            <a:ext cx="10693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D84144"/>
                </a:solidFill>
                <a:latin typeface="MiSans"/>
                <a:ea typeface="MiSans"/>
              </a:rPr>
              <a:t>三，刁难只限"给它看东西"——不碰线、不拆件 ×</a:t>
            </a:r>
            <a:endParaRPr lang="en-US" sz="1700"/>
          </a:p>
        </p:txBody>
      </p:sp>
      <p:sp>
        <p:nvSpPr>
          <p:cNvPr id="12" name="okmark"/>
          <p:cNvSpPr txBox="1"/>
          <p:nvPr/>
        </p:nvSpPr>
        <p:spPr>
          <a:xfrm>
            <a:off x="508000" y="5080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做对的标志：√ 两人的清单上都写满了实测记录（勾 ＋ 翻车现象）</a:t>
            </a:r>
            <a:endParaRPr lang="en-US" sz="1500"/>
          </a:p>
        </p:txBody>
      </p:sp>
      <p:sp>
        <p:nvSpPr>
          <p:cNvPr id="13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05 / 19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视觉联动收尾 · 定夺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拿回你的清单——逐条定夺：接受，还是拒绝</a:t>
            </a:r>
            <a:endParaRPr lang="en-US" sz="3800"/>
          </a:p>
        </p:txBody>
      </p:sp>
      <p:sp>
        <p:nvSpPr>
          <p:cNvPr id="5" name="colL-label"/>
          <p:cNvSpPr txBox="1"/>
          <p:nvPr/>
        </p:nvSpPr>
        <p:spPr>
          <a:xfrm>
            <a:off x="508000" y="1752600"/>
            <a:ext cx="546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拒绝的，现场改（三条路）</a:t>
            </a:r>
            <a:endParaRPr lang="en-US" sz="1500"/>
          </a:p>
        </p:txBody>
      </p:sp>
      <p:sp>
        <p:nvSpPr>
          <p:cNvPr id="6" name="c1"/>
          <p:cNvSpPr/>
          <p:nvPr/>
        </p:nvSpPr>
        <p:spPr>
          <a:xfrm>
            <a:off x="508000" y="2184400"/>
            <a:ext cx="546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7" name="c1-tag"/>
          <p:cNvSpPr/>
          <p:nvPr/>
        </p:nvSpPr>
        <p:spPr>
          <a:xfrm>
            <a:off x="736600" y="2387600"/>
            <a:ext cx="1143000" cy="3556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8" name="c1-tag-t"/>
          <p:cNvSpPr txBox="1"/>
          <p:nvPr/>
        </p:nvSpPr>
        <p:spPr>
          <a:xfrm>
            <a:off x="736600" y="23876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改数据</a:t>
            </a:r>
            <a:endParaRPr lang="en-US" sz="1400"/>
          </a:p>
        </p:txBody>
      </p:sp>
      <p:sp>
        <p:nvSpPr>
          <p:cNvPr id="9" name="c1-t"/>
          <p:cNvSpPr txBox="1"/>
          <p:nvPr/>
        </p:nvSpPr>
        <p:spPr>
          <a:xfrm>
            <a:off x="2032000" y="2387600"/>
            <a:ext cx="3759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回 SenseCraft 补拍翻车的那个场景</a:t>
            </a:r>
            <a:endParaRPr lang="en-US" sz="1400"/>
          </a:p>
        </p:txBody>
      </p:sp>
      <p:sp>
        <p:nvSpPr>
          <p:cNvPr id="10" name="c2"/>
          <p:cNvSpPr/>
          <p:nvPr/>
        </p:nvSpPr>
        <p:spPr>
          <a:xfrm>
            <a:off x="508000" y="3378200"/>
            <a:ext cx="546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1" name="c2-tag"/>
          <p:cNvSpPr/>
          <p:nvPr/>
        </p:nvSpPr>
        <p:spPr>
          <a:xfrm>
            <a:off x="736600" y="3581400"/>
            <a:ext cx="1143000" cy="3556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2" name="c2-tag-t"/>
          <p:cNvSpPr txBox="1"/>
          <p:nvPr/>
        </p:nvSpPr>
        <p:spPr>
          <a:xfrm>
            <a:off x="736600" y="35814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改逻辑</a:t>
            </a:r>
            <a:endParaRPr lang="en-US" sz="1400"/>
          </a:p>
        </p:txBody>
      </p:sp>
      <p:sp>
        <p:nvSpPr>
          <p:cNvPr id="13" name="c2-t"/>
          <p:cNvSpPr txBox="1"/>
          <p:nvPr/>
        </p:nvSpPr>
        <p:spPr>
          <a:xfrm>
            <a:off x="2032000" y="3581400"/>
            <a:ext cx="3759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让 Codecraft 改条件，比如"连续认出两次才算数"</a:t>
            </a:r>
            <a:endParaRPr lang="en-US" sz="1400"/>
          </a:p>
        </p:txBody>
      </p:sp>
      <p:sp>
        <p:nvSpPr>
          <p:cNvPr id="14" name="c3"/>
          <p:cNvSpPr/>
          <p:nvPr/>
        </p:nvSpPr>
        <p:spPr>
          <a:xfrm>
            <a:off x="508000" y="4572000"/>
            <a:ext cx="546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5" name="c3-tag"/>
          <p:cNvSpPr/>
          <p:nvPr/>
        </p:nvSpPr>
        <p:spPr>
          <a:xfrm>
            <a:off x="736600" y="4775200"/>
            <a:ext cx="1143000" cy="3556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6" name="c3-tag-t"/>
          <p:cNvSpPr txBox="1"/>
          <p:nvPr/>
        </p:nvSpPr>
        <p:spPr>
          <a:xfrm>
            <a:off x="736600" y="47752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改阈值</a:t>
            </a:r>
            <a:endParaRPr lang="en-US" sz="1400"/>
          </a:p>
        </p:txBody>
      </p:sp>
      <p:sp>
        <p:nvSpPr>
          <p:cNvPr id="17" name="c3-t"/>
          <p:cNvSpPr txBox="1"/>
          <p:nvPr/>
        </p:nvSpPr>
        <p:spPr>
          <a:xfrm>
            <a:off x="2032000" y="4775200"/>
            <a:ext cx="3759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把自信线从 70% 提到 85%</a:t>
            </a:r>
            <a:endParaRPr lang="en-US" sz="1400"/>
          </a:p>
        </p:txBody>
      </p:sp>
      <p:sp>
        <p:nvSpPr>
          <p:cNvPr id="18" name="colR-label"/>
          <p:cNvSpPr txBox="1"/>
          <p:nvPr/>
        </p:nvSpPr>
        <p:spPr>
          <a:xfrm>
            <a:off x="6477000" y="1752600"/>
            <a:ext cx="520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接受的，写一句声明</a:t>
            </a:r>
            <a:endParaRPr lang="en-US" sz="1500"/>
          </a:p>
        </p:txBody>
      </p:sp>
      <p:sp>
        <p:nvSpPr>
          <p:cNvPr id="19" name="acceptbox"/>
          <p:cNvSpPr/>
          <p:nvPr/>
        </p:nvSpPr>
        <p:spPr>
          <a:xfrm>
            <a:off x="6477000" y="2184400"/>
            <a:ext cx="5207000" cy="3429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acceptbox-t"/>
          <p:cNvSpPr txBox="1"/>
          <p:nvPr/>
        </p:nvSpPr>
        <p:spPr>
          <a:xfrm>
            <a:off x="6807200" y="2438400"/>
            <a:ext cx="4546600" cy="292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「我知道它在 ___ 情况下会失手，我决定接受。」</a:t>
            </a:r>
            <a:endParaRPr lang="en-US" sz="1600"/>
          </a:p>
          <a:p>
            <a:pPr algn="l">
              <a:lnSpc>
                <a:spcPct val="16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 </a:t>
            </a:r>
            <a:endParaRPr lang="en-US" sz="1600"/>
          </a:p>
          <a:p>
            <a:pPr algn="l">
              <a:lnSpc>
                <a:spcPct val="16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——第 2 课你做过这个决定，今天做得更专业</a:t>
            </a:r>
            <a:endParaRPr lang="en-US" sz="1600"/>
          </a:p>
        </p:txBody>
      </p:sp>
      <p:sp>
        <p:nvSpPr>
          <p:cNvPr id="21" name="askbar"/>
          <p:cNvSpPr/>
          <p:nvPr/>
        </p:nvSpPr>
        <p:spPr>
          <a:xfrm>
            <a:off x="508000" y="5715000"/>
            <a:ext cx="76200" cy="3302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22" name="askai"/>
          <p:cNvSpPr txBox="1"/>
          <p:nvPr/>
        </p:nvSpPr>
        <p:spPr>
          <a:xfrm>
            <a:off x="736600" y="5689600"/>
            <a:ext cx="10947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拿不准走哪条路？把翻车现象发给 AI：「我的模型在 ___ 情况下认错，三条路你建议走哪条？为什么？」——建议归建议，</a:t>
            </a: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走哪条还是你定</a:t>
            </a:r>
            <a:endParaRPr lang="en-US" sz="1300"/>
          </a:p>
        </p:txBody>
      </p:sp>
      <p:sp>
        <p:nvSpPr>
          <p:cNvPr id="23" name="okmark"/>
          <p:cNvSpPr txBox="1"/>
          <p:nvPr/>
        </p:nvSpPr>
        <p:spPr>
          <a:xfrm>
            <a:off x="508000" y="61214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做对的标志：√ 至少拒绝 1 条并现场改 ＋ 其余接受项都写了声明</a:t>
            </a:r>
            <a:endParaRPr lang="en-US" sz="1300"/>
          </a:p>
        </p:txBody>
      </p:sp>
      <p:sp>
        <p:nvSpPr>
          <p:cNvPr id="24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25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06 / 19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视觉联动下半 · 收束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每桌一条：最刁钻的误判 ＋ 我的对策</a:t>
            </a:r>
            <a:endParaRPr lang="en-US" sz="3800"/>
          </a:p>
        </p:txBody>
      </p:sp>
      <p:sp>
        <p:nvSpPr>
          <p:cNvPr id="5" name="share"/>
          <p:cNvSpPr txBox="1"/>
          <p:nvPr/>
        </p:nvSpPr>
        <p:spPr>
          <a:xfrm>
            <a:off x="508000" y="1803400"/>
            <a:ext cx="1117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30 秒说给全班——哪条误判最刁钻，你怎么对付它的</a:t>
            </a:r>
            <a:endParaRPr lang="en-US" sz="1800"/>
          </a:p>
        </p:txBody>
      </p:sp>
      <p:sp>
        <p:nvSpPr>
          <p:cNvPr id="6" name="logcard"/>
          <p:cNvSpPr/>
          <p:nvPr/>
        </p:nvSpPr>
        <p:spPr>
          <a:xfrm>
            <a:off x="508000" y="2540000"/>
            <a:ext cx="1117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7" name="logcard-tag"/>
          <p:cNvSpPr/>
          <p:nvPr/>
        </p:nvSpPr>
        <p:spPr>
          <a:xfrm>
            <a:off x="812800" y="2794000"/>
            <a:ext cx="13970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8" name="logcard-tag-t"/>
          <p:cNvSpPr txBox="1"/>
          <p:nvPr/>
        </p:nvSpPr>
        <p:spPr>
          <a:xfrm>
            <a:off x="812800" y="27940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日志第一句</a:t>
            </a:r>
            <a:endParaRPr lang="en-US" sz="1500"/>
          </a:p>
        </p:txBody>
      </p:sp>
      <p:sp>
        <p:nvSpPr>
          <p:cNvPr id="9" name="logcard-t1"/>
          <p:cNvSpPr txBox="1"/>
          <p:nvPr/>
        </p:nvSpPr>
        <p:spPr>
          <a:xfrm>
            <a:off x="812800" y="3352800"/>
            <a:ext cx="10566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四句照旧；今天"做了"写——</a:t>
            </a:r>
            <a:endParaRPr lang="en-US" sz="1500"/>
          </a:p>
        </p:txBody>
      </p:sp>
      <p:sp>
        <p:nvSpPr>
          <p:cNvPr id="10" name="logcard-hl"/>
          <p:cNvSpPr/>
          <p:nvPr/>
        </p:nvSpPr>
        <p:spPr>
          <a:xfrm>
            <a:off x="812800" y="3810000"/>
            <a:ext cx="10566400" cy="6096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logcard-t2"/>
          <p:cNvSpPr txBox="1"/>
          <p:nvPr/>
        </p:nvSpPr>
        <p:spPr>
          <a:xfrm>
            <a:off x="1016000" y="38100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我让 AI 开了刁难清单，同桌帮我测出了 ___ 个毛病，我改了 ___、接受了 ___</a:t>
            </a:r>
            <a:endParaRPr lang="en-US" sz="1600"/>
          </a:p>
        </p:txBody>
      </p:sp>
      <p:sp>
        <p:nvSpPr>
          <p:cNvPr id="12" name="okmark"/>
          <p:cNvSpPr txBox="1"/>
          <p:nvPr/>
        </p:nvSpPr>
        <p:spPr>
          <a:xfrm>
            <a:off x="508000" y="5207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做对的标志：√ 日志第一句写完，空格都填上了数</a:t>
            </a:r>
            <a:endParaRPr lang="en-US" sz="1500"/>
          </a:p>
        </p:txBody>
      </p:sp>
      <p:sp>
        <p:nvSpPr>
          <p:cNvPr id="13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07 / 19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选题墙 · 先听一个人说</a:t>
            </a:r>
            <a:endParaRPr lang="en-US" sz="1500"/>
          </a:p>
        </p:txBody>
      </p:sp>
      <p:sp>
        <p:nvSpPr>
          <p:cNvPr id="4" name="qbar"/>
          <p:cNvSpPr/>
          <p:nvPr/>
        </p:nvSpPr>
        <p:spPr>
          <a:xfrm>
            <a:off x="1016000" y="1422400"/>
            <a:ext cx="101600" cy="20066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5" name="quote"/>
          <p:cNvSpPr txBox="1"/>
          <p:nvPr/>
        </p:nvSpPr>
        <p:spPr>
          <a:xfrm>
            <a:off x="1422400" y="1422400"/>
            <a:ext cx="63500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「学制造，不是造商店里买得到的东西——</a:t>
            </a:r>
            <a:endParaRPr lang="en-US" sz="2200"/>
          </a:p>
          <a:p>
            <a:pPr algn="l">
              <a:lnSpc>
                <a:spcPct val="15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是造</a:t>
            </a:r>
            <a:r>
              <a:rPr lang="en-US" sz="2200" b="1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商店里买不到</a:t>
            </a: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的东西：</a:t>
            </a:r>
            <a:endParaRPr lang="en-US" sz="2200"/>
          </a:p>
          <a:p>
            <a:pPr algn="l">
              <a:lnSpc>
                <a:spcPct val="15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为你自己、为你在乎的人。」</a:t>
            </a:r>
            <a:endParaRPr lang="en-US" sz="2200"/>
          </a:p>
        </p:txBody>
      </p:sp>
      <p:sp>
        <p:nvSpPr>
          <p:cNvPr id="6" name="quote2"/>
          <p:cNvSpPr txBox="1"/>
          <p:nvPr/>
        </p:nvSpPr>
        <p:spPr>
          <a:xfrm>
            <a:off x="1422400" y="3708400"/>
            <a:ext cx="635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好题目从你自己的体验里长出来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，不从网上抄。</a:t>
            </a:r>
            <a:endParaRPr lang="en-US" sz="1800"/>
          </a:p>
        </p:txBody>
      </p:sp>
      <p:sp>
        <p:nvSpPr>
          <p:cNvPr id="7" name="attrib"/>
          <p:cNvSpPr txBox="1"/>
          <p:nvPr/>
        </p:nvSpPr>
        <p:spPr>
          <a:xfrm>
            <a:off x="1422400" y="44704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—— Neil Gershenfeld · MIT Fab Academy 创始人</a:t>
            </a:r>
            <a:endParaRPr lang="en-US" sz="1350"/>
          </a:p>
        </p:txBody>
      </p:sp>
      <p:sp>
        <p:nvSpPr>
          <p:cNvPr id="8" name="photo-frame"/>
          <p:cNvSpPr/>
          <p:nvPr/>
        </p:nvSpPr>
        <p:spPr>
          <a:xfrm>
            <a:off x="8280400" y="1320800"/>
            <a:ext cx="2895600" cy="289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9" name="photo-accent"/>
          <p:cNvSpPr/>
          <p:nvPr/>
        </p:nvSpPr>
        <p:spPr>
          <a:xfrm>
            <a:off x="8178800" y="1219200"/>
            <a:ext cx="2895600" cy="28956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pic>
        <p:nvPicPr>
          <p:cNvPr id="10" name="photo"/>
          <p:cNvPicPr/>
          <p:nvPr/>
        </p:nvPicPr>
        <p:blipFill>
          <a:blip r:embed="rIdImage2"/>
          <a:stretch>
            <a:fillRect/>
          </a:stretch>
        </p:blipFill>
        <p:spPr>
          <a:xfrm>
            <a:off x="8280400" y="1320800"/>
            <a:ext cx="2895600" cy="2895600"/>
          </a:xfrm>
          <a:prstGeom prst="rect">
            <a:avLst/>
          </a:prstGeom>
          <a:ln>
            <a:noFill/>
          </a:ln>
        </p:spPr>
      </p:pic>
      <p:sp>
        <p:nvSpPr>
          <p:cNvPr id="11" name="photo-frame-top"/>
          <p:cNvSpPr/>
          <p:nvPr/>
        </p:nvSpPr>
        <p:spPr>
          <a:xfrm>
            <a:off x="8280400" y="1320800"/>
            <a:ext cx="2895600" cy="2895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2" name="photo-cap"/>
          <p:cNvSpPr txBox="1"/>
          <p:nvPr/>
        </p:nvSpPr>
        <p:spPr>
          <a:xfrm>
            <a:off x="8178800" y="4318000"/>
            <a:ext cx="3098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Neil Gershenfeld</a:t>
            </a:r>
            <a:endParaRPr lang="en-US" sz="1200"/>
          </a:p>
        </p:txBody>
      </p:sp>
      <p:sp>
        <p:nvSpPr>
          <p:cNvPr id="13" name="mechbox"/>
          <p:cNvSpPr/>
          <p:nvPr/>
        </p:nvSpPr>
        <p:spPr>
          <a:xfrm>
            <a:off x="1016000" y="5232400"/>
            <a:ext cx="10160000" cy="7112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4" name="mechbox-t"/>
          <p:cNvSpPr txBox="1"/>
          <p:nvPr/>
        </p:nvSpPr>
        <p:spPr>
          <a:xfrm>
            <a:off x="1320800" y="5232400"/>
            <a:ext cx="9550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Fab Academy 的学员，第一周就立下自己的 Final Project——之后二十周，每周做的事，都是在给它攒模块。今天，轮到你。</a:t>
            </a:r>
            <a:endParaRPr lang="en-US" sz="1400"/>
          </a:p>
        </p:txBody>
      </p:sp>
      <p:sp>
        <p:nvSpPr>
          <p:cNvPr id="15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6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08 / 19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开眼界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同一套技能，他们造出了什么？</a:t>
            </a:r>
            <a:endParaRPr lang="en-US" sz="3800"/>
          </a:p>
        </p:txBody>
      </p:sp>
      <p:sp>
        <p:nvSpPr>
          <p:cNvPr id="5" name="lead"/>
          <p:cNvSpPr txBox="1"/>
          <p:nvPr/>
        </p:nvSpPr>
        <p:spPr>
          <a:xfrm>
            <a:off x="508000" y="16256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Fab Academy 往届学员的作品——技能和你手上的差不多，题都是从自己的体验里长出来的。</a:t>
            </a:r>
            <a:endParaRPr lang="en-US" sz="1300"/>
          </a:p>
        </p:txBody>
      </p:sp>
      <p:sp>
        <p:nvSpPr>
          <p:cNvPr id="6" name="g1"/>
          <p:cNvSpPr/>
          <p:nvPr/>
        </p:nvSpPr>
        <p:spPr>
          <a:xfrm>
            <a:off x="508000" y="2082800"/>
            <a:ext cx="269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pic>
        <p:nvPicPr>
          <p:cNvPr id="7" name="g1-icon"/>
          <p:cNvPicPr/>
          <p:nvPr/>
        </p:nvPicPr>
        <p:blipFill>
          <a:blip r:embed="rIdImage3"/>
          <a:stretch>
            <a:fillRect/>
          </a:stretch>
        </p:blipFill>
        <p:spPr>
          <a:xfrm>
            <a:off x="685800" y="2235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8" name="g1-title"/>
          <p:cNvSpPr txBox="1"/>
          <p:nvPr/>
        </p:nvSpPr>
        <p:spPr>
          <a:xfrm>
            <a:off x="1270000" y="2235200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医疗与辅助</a:t>
            </a:r>
            <a:endParaRPr lang="en-US" sz="1400"/>
          </a:p>
        </p:txBody>
      </p:sp>
      <p:sp>
        <p:nvSpPr>
          <p:cNvPr id="9" name="g1-t"/>
          <p:cNvSpPr txBox="1"/>
          <p:nvPr/>
        </p:nvSpPr>
        <p:spPr>
          <a:xfrm>
            <a:off x="685800" y="27686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疫情里造防护装备；3D 打印假肢</a:t>
            </a:r>
            <a:endParaRPr lang="en-US" sz="1200"/>
          </a:p>
        </p:txBody>
      </p:sp>
      <p:sp>
        <p:nvSpPr>
          <p:cNvPr id="10" name="g2"/>
          <p:cNvSpPr/>
          <p:nvPr/>
        </p:nvSpPr>
        <p:spPr>
          <a:xfrm>
            <a:off x="3352800" y="2082800"/>
            <a:ext cx="269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pic>
        <p:nvPicPr>
          <p:cNvPr id="11" name="g2-icon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3530600" y="2235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12" name="g2-title"/>
          <p:cNvSpPr txBox="1"/>
          <p:nvPr/>
        </p:nvSpPr>
        <p:spPr>
          <a:xfrm>
            <a:off x="4114800" y="2235200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科学仪器</a:t>
            </a:r>
            <a:endParaRPr lang="en-US" sz="1400"/>
          </a:p>
        </p:txBody>
      </p:sp>
      <p:sp>
        <p:nvSpPr>
          <p:cNvPr id="13" name="g2-t"/>
          <p:cNvSpPr txBox="1"/>
          <p:nvPr/>
        </p:nvSpPr>
        <p:spPr>
          <a:xfrm>
            <a:off x="3530600" y="27686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自制示波器、显微镜、光谱仪</a:t>
            </a:r>
            <a:endParaRPr lang="en-US" sz="1200"/>
          </a:p>
        </p:txBody>
      </p:sp>
      <p:sp>
        <p:nvSpPr>
          <p:cNvPr id="14" name="g3"/>
          <p:cNvSpPr/>
          <p:nvPr/>
        </p:nvSpPr>
        <p:spPr>
          <a:xfrm>
            <a:off x="6197600" y="2082800"/>
            <a:ext cx="269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pic>
        <p:nvPicPr>
          <p:cNvPr id="15" name="g3-icon"/>
          <p:cNvPicPr/>
          <p:nvPr/>
        </p:nvPicPr>
        <p:blipFill>
          <a:blip r:embed="rIdImage5"/>
          <a:stretch>
            <a:fillRect/>
          </a:stretch>
        </p:blipFill>
        <p:spPr>
          <a:xfrm>
            <a:off x="6375400" y="2235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16" name="g3-title"/>
          <p:cNvSpPr txBox="1"/>
          <p:nvPr/>
        </p:nvSpPr>
        <p:spPr>
          <a:xfrm>
            <a:off x="6959600" y="2235200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通信网络</a:t>
            </a:r>
            <a:endParaRPr lang="en-US" sz="1400"/>
          </a:p>
        </p:txBody>
      </p:sp>
      <p:sp>
        <p:nvSpPr>
          <p:cNvPr id="17" name="g3-t"/>
          <p:cNvSpPr txBox="1"/>
          <p:nvPr/>
        </p:nvSpPr>
        <p:spPr>
          <a:xfrm>
            <a:off x="6375400" y="27686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山区 10 公里抛物面天线链路</a:t>
            </a:r>
            <a:endParaRPr lang="en-US" sz="1200"/>
          </a:p>
        </p:txBody>
      </p:sp>
      <p:sp>
        <p:nvSpPr>
          <p:cNvPr id="18" name="g4"/>
          <p:cNvSpPr/>
          <p:nvPr/>
        </p:nvSpPr>
        <p:spPr>
          <a:xfrm>
            <a:off x="9042400" y="2082800"/>
            <a:ext cx="2641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pic>
        <p:nvPicPr>
          <p:cNvPr id="19" name="g4-icon"/>
          <p:cNvPicPr/>
          <p:nvPr/>
        </p:nvPicPr>
        <p:blipFill>
          <a:blip r:embed="rIdImage6"/>
          <a:stretch>
            <a:fillRect/>
          </a:stretch>
        </p:blipFill>
        <p:spPr>
          <a:xfrm>
            <a:off x="9220200" y="2235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20" name="g4-title"/>
          <p:cNvSpPr txBox="1"/>
          <p:nvPr/>
        </p:nvSpPr>
        <p:spPr>
          <a:xfrm>
            <a:off x="9804400" y="2235200"/>
            <a:ext cx="1701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卫星</a:t>
            </a:r>
            <a:endParaRPr lang="en-US" sz="1400"/>
          </a:p>
        </p:txBody>
      </p:sp>
      <p:sp>
        <p:nvSpPr>
          <p:cNvPr id="21" name="g4-t"/>
          <p:cNvSpPr txBox="1"/>
          <p:nvPr/>
        </p:nvSpPr>
        <p:spPr>
          <a:xfrm>
            <a:off x="9220200" y="27686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CubeSat 教育小卫星</a:t>
            </a:r>
            <a:endParaRPr lang="en-US" sz="1200"/>
          </a:p>
        </p:txBody>
      </p:sp>
      <p:sp>
        <p:nvSpPr>
          <p:cNvPr id="22" name="g5"/>
          <p:cNvSpPr/>
          <p:nvPr/>
        </p:nvSpPr>
        <p:spPr>
          <a:xfrm>
            <a:off x="508000" y="3606800"/>
            <a:ext cx="269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pic>
        <p:nvPicPr>
          <p:cNvPr id="23" name="g5-icon"/>
          <p:cNvPicPr/>
          <p:nvPr/>
        </p:nvPicPr>
        <p:blipFill>
          <a:blip r:embed="rIdImage7"/>
          <a:stretch>
            <a:fillRect/>
          </a:stretch>
        </p:blipFill>
        <p:spPr>
          <a:xfrm>
            <a:off x="685800" y="3759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24" name="g5-title"/>
          <p:cNvSpPr txBox="1"/>
          <p:nvPr/>
        </p:nvSpPr>
        <p:spPr>
          <a:xfrm>
            <a:off x="1270000" y="3759200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机器人</a:t>
            </a:r>
            <a:endParaRPr lang="en-US" sz="1400"/>
          </a:p>
        </p:txBody>
      </p:sp>
      <p:sp>
        <p:nvSpPr>
          <p:cNvPr id="25" name="g5-t"/>
          <p:cNvSpPr txBox="1"/>
          <p:nvPr/>
        </p:nvSpPr>
        <p:spPr>
          <a:xfrm>
            <a:off x="685800" y="42926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跳跃机器人、充气软体机器人</a:t>
            </a:r>
            <a:endParaRPr lang="en-US" sz="1200"/>
          </a:p>
        </p:txBody>
      </p:sp>
      <p:sp>
        <p:nvSpPr>
          <p:cNvPr id="26" name="g6"/>
          <p:cNvSpPr/>
          <p:nvPr/>
        </p:nvSpPr>
        <p:spPr>
          <a:xfrm>
            <a:off x="3352800" y="3606800"/>
            <a:ext cx="269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pic>
        <p:nvPicPr>
          <p:cNvPr id="27" name="g6-icon"/>
          <p:cNvPicPr/>
          <p:nvPr/>
        </p:nvPicPr>
        <p:blipFill>
          <a:blip r:embed="rIdImage8"/>
          <a:stretch>
            <a:fillRect/>
          </a:stretch>
        </p:blipFill>
        <p:spPr>
          <a:xfrm>
            <a:off x="3530600" y="3759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28" name="g6-title"/>
          <p:cNvSpPr txBox="1"/>
          <p:nvPr/>
        </p:nvSpPr>
        <p:spPr>
          <a:xfrm>
            <a:off x="4114800" y="3759200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交通工具</a:t>
            </a:r>
            <a:endParaRPr lang="en-US" sz="1400"/>
          </a:p>
        </p:txBody>
      </p:sp>
      <p:sp>
        <p:nvSpPr>
          <p:cNvPr id="29" name="g6-t"/>
          <p:cNvSpPr txBox="1"/>
          <p:nvPr/>
        </p:nvSpPr>
        <p:spPr>
          <a:xfrm>
            <a:off x="3530600" y="42926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无人机、复合材料自行车、小船</a:t>
            </a:r>
            <a:endParaRPr lang="en-US" sz="1200"/>
          </a:p>
        </p:txBody>
      </p:sp>
      <p:sp>
        <p:nvSpPr>
          <p:cNvPr id="30" name="g7"/>
          <p:cNvSpPr/>
          <p:nvPr/>
        </p:nvSpPr>
        <p:spPr>
          <a:xfrm>
            <a:off x="6197600" y="3606800"/>
            <a:ext cx="269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pic>
        <p:nvPicPr>
          <p:cNvPr id="31" name="g7-icon"/>
          <p:cNvPicPr/>
          <p:nvPr/>
        </p:nvPicPr>
        <p:blipFill>
          <a:blip r:embed="rIdImage9"/>
          <a:stretch>
            <a:fillRect/>
          </a:stretch>
        </p:blipFill>
        <p:spPr>
          <a:xfrm>
            <a:off x="6375400" y="3759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32" name="g7-title"/>
          <p:cNvSpPr txBox="1"/>
          <p:nvPr/>
        </p:nvSpPr>
        <p:spPr>
          <a:xfrm>
            <a:off x="6959600" y="3759200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农业与环境</a:t>
            </a:r>
            <a:endParaRPr lang="en-US" sz="1400"/>
          </a:p>
        </p:txBody>
      </p:sp>
      <p:sp>
        <p:nvSpPr>
          <p:cNvPr id="33" name="g7-t"/>
          <p:cNvSpPr txBox="1"/>
          <p:nvPr/>
        </p:nvSpPr>
        <p:spPr>
          <a:xfrm>
            <a:off x="6375400" y="4292600"/>
            <a:ext cx="233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水培系统、分布式环境监测</a:t>
            </a:r>
            <a:endParaRPr lang="en-US" sz="1200"/>
          </a:p>
        </p:txBody>
      </p:sp>
      <p:sp>
        <p:nvSpPr>
          <p:cNvPr id="34" name="g8"/>
          <p:cNvSpPr/>
          <p:nvPr/>
        </p:nvSpPr>
        <p:spPr>
          <a:xfrm>
            <a:off x="9042400" y="3606800"/>
            <a:ext cx="2641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pic>
        <p:nvPicPr>
          <p:cNvPr id="35" name="g8-icon"/>
          <p:cNvPicPr/>
          <p:nvPr/>
        </p:nvPicPr>
        <p:blipFill>
          <a:blip r:embed="rIdImage10"/>
          <a:stretch>
            <a:fillRect/>
          </a:stretch>
        </p:blipFill>
        <p:spPr>
          <a:xfrm>
            <a:off x="9220200" y="3759200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36" name="g8-title"/>
          <p:cNvSpPr txBox="1"/>
          <p:nvPr/>
        </p:nvSpPr>
        <p:spPr>
          <a:xfrm>
            <a:off x="9804400" y="3759200"/>
            <a:ext cx="1701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艺术与乐器</a:t>
            </a:r>
            <a:endParaRPr lang="en-US" sz="1400"/>
          </a:p>
        </p:txBody>
      </p:sp>
      <p:sp>
        <p:nvSpPr>
          <p:cNvPr id="37" name="g8-t"/>
          <p:cNvSpPr txBox="1"/>
          <p:nvPr/>
        </p:nvSpPr>
        <p:spPr>
          <a:xfrm>
            <a:off x="9220200" y="4292600"/>
            <a:ext cx="228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000000"/>
                </a:solidFill>
                <a:latin typeface="MiSans"/>
                <a:ea typeface="MiSans"/>
              </a:rPr>
              <a:t>自制乐器、互动艺术装置</a:t>
            </a:r>
            <a:endParaRPr lang="en-US" sz="1200"/>
          </a:p>
        </p:txBody>
      </p:sp>
      <p:sp>
        <p:nvSpPr>
          <p:cNvPr id="38" name="takeaway"/>
          <p:cNvSpPr/>
          <p:nvPr/>
        </p:nvSpPr>
        <p:spPr>
          <a:xfrm>
            <a:off x="508000" y="5181600"/>
            <a:ext cx="11176000" cy="762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9" name="takeaway-t"/>
          <p:cNvSpPr txBox="1"/>
          <p:nvPr/>
        </p:nvSpPr>
        <p:spPr>
          <a:xfrm>
            <a:off x="812800" y="5181600"/>
            <a:ext cx="10566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没有一个是"网上抄来的炫酷点子"——每一个，都是作者自己体验里的真问题。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你的题，也可以从这些方向里长出来。</a:t>
            </a:r>
            <a:endParaRPr lang="en-US" sz="1500"/>
          </a:p>
        </p:txBody>
      </p:sp>
      <p:sp>
        <p:nvSpPr>
          <p:cNvPr id="40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41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09 / 19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怎么才算好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好作品怎么长出来？Neil 的四条叮嘱</a:t>
            </a:r>
            <a:endParaRPr lang="en-US" sz="3800"/>
          </a:p>
        </p:txBody>
      </p:sp>
      <p:sp>
        <p:nvSpPr>
          <p:cNvPr id="5" name="r1"/>
          <p:cNvSpPr/>
          <p:nvPr/>
        </p:nvSpPr>
        <p:spPr>
          <a:xfrm>
            <a:off x="508000" y="1803400"/>
            <a:ext cx="5461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6" name="r1-dot"/>
          <p:cNvSpPr/>
          <p:nvPr/>
        </p:nvSpPr>
        <p:spPr>
          <a:xfrm>
            <a:off x="762000" y="20066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7" name="r1-num"/>
          <p:cNvSpPr txBox="1"/>
          <p:nvPr/>
        </p:nvSpPr>
        <p:spPr>
          <a:xfrm>
            <a:off x="762000" y="2006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①</a:t>
            </a:r>
            <a:endParaRPr lang="en-US" sz="1500"/>
          </a:p>
        </p:txBody>
      </p:sp>
      <p:sp>
        <p:nvSpPr>
          <p:cNvPr id="8" name="r1-t"/>
          <p:cNvSpPr txBox="1"/>
          <p:nvPr/>
        </p:nvSpPr>
        <p:spPr>
          <a:xfrm>
            <a:off x="1320800" y="1905000"/>
            <a:ext cx="44196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杰作 = 技能熟练，不是宏大构想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一个做完的普通作品，胜过没做完的伟大构想。</a:t>
            </a:r>
            <a:endParaRPr lang="en-US" sz="1300"/>
          </a:p>
        </p:txBody>
      </p:sp>
      <p:sp>
        <p:nvSpPr>
          <p:cNvPr id="9" name="r2"/>
          <p:cNvSpPr/>
          <p:nvPr/>
        </p:nvSpPr>
        <p:spPr>
          <a:xfrm>
            <a:off x="6223000" y="1803400"/>
            <a:ext cx="5461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0" name="r2-dot"/>
          <p:cNvSpPr/>
          <p:nvPr/>
        </p:nvSpPr>
        <p:spPr>
          <a:xfrm>
            <a:off x="6477000" y="20066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1" name="r2-num"/>
          <p:cNvSpPr txBox="1"/>
          <p:nvPr/>
        </p:nvSpPr>
        <p:spPr>
          <a:xfrm>
            <a:off x="6477000" y="2006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②</a:t>
            </a:r>
            <a:endParaRPr lang="en-US" sz="1500"/>
          </a:p>
        </p:txBody>
      </p:sp>
      <p:sp>
        <p:nvSpPr>
          <p:cNvPr id="12" name="r2-t"/>
          <p:cNvSpPr txBox="1"/>
          <p:nvPr/>
        </p:nvSpPr>
        <p:spPr>
          <a:xfrm>
            <a:off x="7035800" y="1905000"/>
            <a:ext cx="44196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螺旋开发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每一圈都有一个能跑的版本——先做核心功能，跑通了，再一圈一圈加。</a:t>
            </a:r>
            <a:endParaRPr lang="en-US" sz="1300"/>
          </a:p>
        </p:txBody>
      </p:sp>
      <p:sp>
        <p:nvSpPr>
          <p:cNvPr id="13" name="r3"/>
          <p:cNvSpPr/>
          <p:nvPr/>
        </p:nvSpPr>
        <p:spPr>
          <a:xfrm>
            <a:off x="508000" y="3454400"/>
            <a:ext cx="5461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4" name="r3-dot"/>
          <p:cNvSpPr/>
          <p:nvPr/>
        </p:nvSpPr>
        <p:spPr>
          <a:xfrm>
            <a:off x="762000" y="36576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5" name="r3-num"/>
          <p:cNvSpPr txBox="1"/>
          <p:nvPr/>
        </p:nvSpPr>
        <p:spPr>
          <a:xfrm>
            <a:off x="7620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③</a:t>
            </a:r>
            <a:endParaRPr lang="en-US" sz="1500"/>
          </a:p>
        </p:txBody>
      </p:sp>
      <p:sp>
        <p:nvSpPr>
          <p:cNvPr id="16" name="r3-t"/>
          <p:cNvSpPr txBox="1"/>
          <p:nvPr/>
        </p:nvSpPr>
        <p:spPr>
          <a:xfrm>
            <a:off x="1320800" y="3556000"/>
            <a:ext cx="44196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模块化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拆成独立的小块，分别做、分别测——哪里坏了，一眼找得到。</a:t>
            </a:r>
            <a:endParaRPr lang="en-US" sz="1300"/>
          </a:p>
        </p:txBody>
      </p:sp>
      <p:sp>
        <p:nvSpPr>
          <p:cNvPr id="17" name="r4"/>
          <p:cNvSpPr/>
          <p:nvPr/>
        </p:nvSpPr>
        <p:spPr>
          <a:xfrm>
            <a:off x="6223000" y="3454400"/>
            <a:ext cx="5461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8" name="r4-dot"/>
          <p:cNvSpPr/>
          <p:nvPr/>
        </p:nvSpPr>
        <p:spPr>
          <a:xfrm>
            <a:off x="6477000" y="3657600"/>
            <a:ext cx="381000" cy="3810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9" name="r4-num"/>
          <p:cNvSpPr txBox="1"/>
          <p:nvPr/>
        </p:nvSpPr>
        <p:spPr>
          <a:xfrm>
            <a:off x="6477000" y="3657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④</a:t>
            </a:r>
            <a:endParaRPr lang="en-US" sz="1500"/>
          </a:p>
        </p:txBody>
      </p:sp>
      <p:sp>
        <p:nvSpPr>
          <p:cNvPr id="20" name="r4-t"/>
          <p:cNvSpPr txBox="1"/>
          <p:nvPr/>
        </p:nvSpPr>
        <p:spPr>
          <a:xfrm>
            <a:off x="7035800" y="3556000"/>
            <a:ext cx="44196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边做边记</a:t>
            </a:r>
            <a:endParaRPr lang="en-US" sz="1300"/>
          </a:p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文档和作品一起长——测试数据随手记，问题和解决办法都留下。</a:t>
            </a:r>
            <a:endParaRPr lang="en-US" sz="1300"/>
          </a:p>
        </p:txBody>
      </p:sp>
      <p:sp>
        <p:nvSpPr>
          <p:cNvPr id="21" name="linkbox"/>
          <p:cNvSpPr/>
          <p:nvPr/>
        </p:nvSpPr>
        <p:spPr>
          <a:xfrm>
            <a:off x="508000" y="5156200"/>
            <a:ext cx="11176000" cy="7874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linkbox-t"/>
          <p:cNvSpPr txBox="1"/>
          <p:nvPr/>
        </p:nvSpPr>
        <p:spPr>
          <a:xfrm>
            <a:off x="812800" y="5156200"/>
            <a:ext cx="10566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这四条你们已经会了：第 4 课的番茄钟就是</a:t>
            </a: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一圈一圈螺旋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加出来的；日志四句就是</a:t>
            </a: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文档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今天这张需求单，就是你作品文档的第一行。</a:t>
            </a:r>
            <a:endParaRPr lang="en-US" sz="1400"/>
          </a:p>
        </p:txBody>
      </p:sp>
      <p:sp>
        <p:nvSpPr>
          <p:cNvPr id="23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2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10 / 19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选题墙</a:t>
            </a:r>
            <a:endParaRPr lang="en-US" sz="1500"/>
          </a:p>
        </p:txBody>
      </p:sp>
      <p:sp>
        <p:nvSpPr>
          <p:cNvPr id="4" name="bigq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4200" b="1">
                <a:solidFill>
                  <a:srgbClr val="000000"/>
                </a:solidFill>
                <a:latin typeface="MiSans"/>
                <a:ea typeface="MiSans"/>
              </a:rPr>
              <a:t>这个选题，你还爱吗？</a:t>
            </a:r>
            <a:endParaRPr lang="en-US" sz="4200"/>
          </a:p>
        </p:txBody>
      </p:sp>
      <p:sp>
        <p:nvSpPr>
          <p:cNvPr id="5" name="guide"/>
          <p:cNvSpPr txBox="1"/>
          <p:nvPr/>
        </p:nvSpPr>
        <p:spPr>
          <a:xfrm>
            <a:off x="1016000" y="21336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第 2 课你贴下一句话：我要为 ___ 做一个 ___，因为 ___。四周过去了——看着你自己写的那句话。</a:t>
            </a:r>
            <a:endParaRPr lang="en-US" sz="1400"/>
          </a:p>
        </p:txBody>
      </p:sp>
      <p:sp>
        <p:nvSpPr>
          <p:cNvPr id="6" name="leadin"/>
          <p:cNvSpPr txBox="1"/>
          <p:nvPr/>
        </p:nvSpPr>
        <p:spPr>
          <a:xfrm>
            <a:off x="1016000" y="25400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可以换，今天换不丢人，带着不爱做到第 10 课才丢人。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——5 分钟自检：</a:t>
            </a:r>
            <a:endParaRPr lang="en-US" sz="1400"/>
          </a:p>
        </p:txBody>
      </p:sp>
      <p:sp>
        <p:nvSpPr>
          <p:cNvPr id="7" name="q1"/>
          <p:cNvSpPr/>
          <p:nvPr/>
        </p:nvSpPr>
        <p:spPr>
          <a:xfrm>
            <a:off x="508000" y="3048000"/>
            <a:ext cx="3556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8" name="q1-dot"/>
          <p:cNvSpPr/>
          <p:nvPr/>
        </p:nvSpPr>
        <p:spPr>
          <a:xfrm>
            <a:off x="762000" y="3225800"/>
            <a:ext cx="355600" cy="3556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9" name="q1-num"/>
          <p:cNvSpPr txBox="1"/>
          <p:nvPr/>
        </p:nvSpPr>
        <p:spPr>
          <a:xfrm>
            <a:off x="762000" y="32258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①</a:t>
            </a:r>
            <a:endParaRPr lang="en-US" sz="1400"/>
          </a:p>
        </p:txBody>
      </p:sp>
      <p:sp>
        <p:nvSpPr>
          <p:cNvPr id="10" name="q1-t"/>
          <p:cNvSpPr txBox="1"/>
          <p:nvPr/>
        </p:nvSpPr>
        <p:spPr>
          <a:xfrm>
            <a:off x="762000" y="36830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我真的不爱它了吗，还是只是卡住了？</a:t>
            </a:r>
            <a:endParaRPr lang="en-US" sz="1300"/>
          </a:p>
        </p:txBody>
      </p:sp>
      <p:sp>
        <p:nvSpPr>
          <p:cNvPr id="11" name="q2"/>
          <p:cNvSpPr/>
          <p:nvPr/>
        </p:nvSpPr>
        <p:spPr>
          <a:xfrm>
            <a:off x="4318000" y="3048000"/>
            <a:ext cx="3556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2" name="q2-dot"/>
          <p:cNvSpPr/>
          <p:nvPr/>
        </p:nvSpPr>
        <p:spPr>
          <a:xfrm>
            <a:off x="4572000" y="3225800"/>
            <a:ext cx="355600" cy="3556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3" name="q2-num"/>
          <p:cNvSpPr txBox="1"/>
          <p:nvPr/>
        </p:nvSpPr>
        <p:spPr>
          <a:xfrm>
            <a:off x="4572000" y="32258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②</a:t>
            </a:r>
            <a:endParaRPr lang="en-US" sz="1400"/>
          </a:p>
        </p:txBody>
      </p:sp>
      <p:sp>
        <p:nvSpPr>
          <p:cNvPr id="14" name="q2-t"/>
          <p:cNvSpPr txBox="1"/>
          <p:nvPr/>
        </p:nvSpPr>
        <p:spPr>
          <a:xfrm>
            <a:off x="4572000" y="36576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新题是从我自己的体验里来的吗——给谁做，说得出真人名字、说得出 TA 哪次真的烦过？</a:t>
            </a:r>
            <a:endParaRPr lang="en-US" sz="1250"/>
          </a:p>
        </p:txBody>
      </p:sp>
      <p:sp>
        <p:nvSpPr>
          <p:cNvPr id="15" name="q3"/>
          <p:cNvSpPr/>
          <p:nvPr/>
        </p:nvSpPr>
        <p:spPr>
          <a:xfrm>
            <a:off x="8128000" y="3048000"/>
            <a:ext cx="3556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6" name="q3-dot"/>
          <p:cNvSpPr/>
          <p:nvPr/>
        </p:nvSpPr>
        <p:spPr>
          <a:xfrm>
            <a:off x="8382000" y="3225800"/>
            <a:ext cx="355600" cy="3556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7" name="q3-num"/>
          <p:cNvSpPr txBox="1"/>
          <p:nvPr/>
        </p:nvSpPr>
        <p:spPr>
          <a:xfrm>
            <a:off x="8382000" y="3225800"/>
            <a:ext cx="355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③</a:t>
            </a:r>
            <a:endParaRPr lang="en-US" sz="1400"/>
          </a:p>
        </p:txBody>
      </p:sp>
      <p:sp>
        <p:nvSpPr>
          <p:cNvPr id="18" name="q3-t"/>
          <p:cNvSpPr txBox="1"/>
          <p:nvPr/>
        </p:nvSpPr>
        <p:spPr>
          <a:xfrm>
            <a:off x="8382000" y="36830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手上的板子做得出来吗？</a:t>
            </a:r>
            <a:endParaRPr lang="en-US" sz="1300"/>
          </a:p>
        </p:txBody>
      </p:sp>
      <p:sp>
        <p:nvSpPr>
          <p:cNvPr id="19" name="hintbox"/>
          <p:cNvSpPr/>
          <p:nvPr/>
        </p:nvSpPr>
        <p:spPr>
          <a:xfrm>
            <a:off x="508000" y="4902200"/>
            <a:ext cx="11176000" cy="1143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hintbox-t"/>
          <p:cNvSpPr txBox="1"/>
          <p:nvPr/>
        </p:nvSpPr>
        <p:spPr>
          <a:xfrm>
            <a:off x="812800" y="4902200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三个都答得出，换；答不出，回原题，卡住的举手让助教帮你过。</a:t>
            </a:r>
            <a:endParaRPr lang="en-US" sz="1350"/>
          </a:p>
          <a:p>
            <a:pPr algn="l">
              <a:lnSpc>
                <a:spcPct val="150000"/>
              </a:lnSpc>
            </a:pPr>
            <a:r>
              <a:rPr lang="en-US" sz="1350" b="1">
                <a:solidFill>
                  <a:srgbClr val="000000"/>
                </a:solidFill>
                <a:latin typeface="MiSans"/>
                <a:ea typeface="MiSans"/>
              </a:rPr>
              <a:t>换题不许换"抄来的好点子"</a:t>
            </a: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——要换，就换一个你体验里的真问题。</a:t>
            </a:r>
            <a:endParaRPr lang="en-US" sz="1350"/>
          </a:p>
          <a:p>
            <a:pPr algn="l">
              <a:lnSpc>
                <a:spcPct val="150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5 分钟还定不下，来领</a:t>
            </a:r>
            <a:r>
              <a:rPr lang="en-US" sz="1350" b="1">
                <a:solidFill>
                  <a:srgbClr val="000000"/>
                </a:solidFill>
                <a:latin typeface="MiSans"/>
                <a:ea typeface="MiSans"/>
              </a:rPr>
              <a:t>保底题</a:t>
            </a: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——现成的，不丢人。</a:t>
            </a:r>
            <a:endParaRPr lang="en-US" sz="1350"/>
          </a:p>
        </p:txBody>
      </p:sp>
      <p:sp>
        <p:nvSpPr>
          <p:cNvPr id="21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22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11 / 19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PM 对话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召唤你的产品经理 John，把选题谈深</a:t>
            </a:r>
            <a:endParaRPr lang="en-US" sz="3800"/>
          </a:p>
        </p:txBody>
      </p:sp>
      <p:sp>
        <p:nvSpPr>
          <p:cNvPr id="5" name="rulebox"/>
          <p:cNvSpPr/>
          <p:nvPr/>
        </p:nvSpPr>
        <p:spPr>
          <a:xfrm>
            <a:off x="508000" y="1701800"/>
            <a:ext cx="11176000" cy="7366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rulebox-t"/>
          <p:cNvSpPr txBox="1"/>
          <p:nvPr/>
        </p:nvSpPr>
        <p:spPr>
          <a:xfrm>
            <a:off x="812800" y="1701800"/>
            <a:ext cx="105664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开场白</a:t>
            </a: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必须带上你第 2 课的真实用户名字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——没有真名字的需求是假需求</a:t>
            </a:r>
            <a:endParaRPr lang="en-US" sz="1400"/>
          </a:p>
          <a:p>
            <a:pPr algn="ctr">
              <a:lnSpc>
                <a:spcPct val="15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John 问"上一次发生是什么时候"——</a:t>
            </a: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答得出具体哪一天的，才是真体验</a:t>
            </a:r>
            <a:endParaRPr lang="en-US" sz="1400"/>
          </a:p>
        </p:txBody>
      </p:sp>
      <p:sp>
        <p:nvSpPr>
          <p:cNvPr id="7" name="codebox"/>
          <p:cNvSpPr/>
          <p:nvPr/>
        </p:nvSpPr>
        <p:spPr>
          <a:xfrm>
            <a:off x="508000" y="2616200"/>
            <a:ext cx="11176000" cy="248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8" name="code-t"/>
          <p:cNvSpPr txBox="1"/>
          <p:nvPr/>
        </p:nvSpPr>
        <p:spPr>
          <a:xfrm>
            <a:off x="812800" y="2743200"/>
            <a:ext cx="105664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John，我的选题是"我要为</a:t>
            </a:r>
            <a:r>
              <a:rPr lang="en-US" sz="1250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（真人名字）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做一个</a:t>
            </a:r>
            <a:r>
              <a:rPr lang="en-US" sz="1250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（什么）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，</a:t>
            </a:r>
            <a:endParaRPr lang="en-US" sz="1250"/>
          </a:p>
          <a:p>
            <a:pPr algn="l">
              <a:lnSpc>
                <a:spcPct val="15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因为</a:t>
            </a:r>
            <a:r>
              <a:rPr lang="en-US" sz="1250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（他/她遇到的真实问题）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"。</a:t>
            </a:r>
            <a:endParaRPr lang="en-US" sz="1250"/>
          </a:p>
          <a:p>
            <a:pPr algn="l">
              <a:lnSpc>
                <a:spcPct val="15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你现在是我的产品经理。请追问我，把这件事谈深：</a:t>
            </a:r>
            <a:endParaRPr lang="en-US" sz="1250"/>
          </a:p>
          <a:p>
            <a:pPr algn="l">
              <a:lnSpc>
                <a:spcPct val="15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1. 这个问题在什么场景下发生？上一次发生是什么时候？</a:t>
            </a:r>
            <a:endParaRPr lang="en-US" sz="1250"/>
          </a:p>
          <a:p>
            <a:pPr algn="l">
              <a:lnSpc>
                <a:spcPct val="15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2. 现在没有这个东西，他/她是怎么凑合的？</a:t>
            </a:r>
            <a:endParaRPr lang="en-US" sz="1250"/>
          </a:p>
          <a:p>
            <a:pPr algn="l">
              <a:lnSpc>
                <a:spcPct val="15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3. 我做的这个东西，他/她会在什么时候、什么地方用？</a:t>
            </a:r>
            <a:endParaRPr lang="en-US" sz="1250"/>
          </a:p>
          <a:p>
            <a:pPr algn="l">
              <a:lnSpc>
                <a:spcPct val="15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问我完，帮我把答案整理成三句话。</a:t>
            </a:r>
            <a:endParaRPr lang="en-US" sz="1250"/>
          </a:p>
        </p:txBody>
      </p:sp>
      <p:sp>
        <p:nvSpPr>
          <p:cNvPr id="9" name="discipline"/>
          <p:cNvSpPr txBox="1"/>
          <p:nvPr/>
        </p:nvSpPr>
        <p:spPr>
          <a:xfrm>
            <a:off x="508000" y="52070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纪律：就在你原来那段对话里接着聊，别新开窗口——一开新对话，前面的结论全丢</a:t>
            </a:r>
            <a:endParaRPr lang="en-US" sz="1300"/>
          </a:p>
        </p:txBody>
      </p:sp>
      <p:sp>
        <p:nvSpPr>
          <p:cNvPr id="10" name="okmark"/>
          <p:cNvSpPr txBox="1"/>
          <p:nvPr/>
        </p:nvSpPr>
        <p:spPr>
          <a:xfrm>
            <a:off x="508000" y="5562600"/>
            <a:ext cx="1117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做对的标志：√ AI 整理出的三句话里有真人名字、有真实场景，抄在学员文档里</a:t>
            </a:r>
            <a:endParaRPr lang="en-US" sz="1400"/>
          </a:p>
        </p:txBody>
      </p:sp>
      <p:sp>
        <p:nvSpPr>
          <p:cNvPr id="11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12 / 19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UX 对话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召唤体验设计师 Sally——写"使用情景描述"</a:t>
            </a:r>
            <a:endParaRPr lang="en-US" sz="3800"/>
          </a:p>
        </p:txBody>
      </p:sp>
      <p:sp>
        <p:nvSpPr>
          <p:cNvPr id="5" name="demo-bar"/>
          <p:cNvSpPr/>
          <p:nvPr/>
        </p:nvSpPr>
        <p:spPr>
          <a:xfrm>
            <a:off x="508000" y="1701800"/>
            <a:ext cx="76200" cy="11684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6" name="demo-card"/>
          <p:cNvSpPr/>
          <p:nvPr/>
        </p:nvSpPr>
        <p:spPr>
          <a:xfrm>
            <a:off x="584200" y="1701800"/>
            <a:ext cx="110998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7" name="demo-t"/>
          <p:cNvSpPr txBox="1"/>
          <p:nvPr/>
        </p:nvSpPr>
        <p:spPr>
          <a:xfrm>
            <a:off x="889000" y="1701800"/>
            <a:ext cx="104902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「妈妈路过茶几，它检测到水杯两小时没动过，就闪三下灯，发出一声轻轻的叮。」</a:t>
            </a:r>
            <a:endParaRPr lang="en-US" sz="1500"/>
          </a:p>
          <a:p>
            <a:pPr algn="l">
              <a:lnSpc>
                <a:spcPct val="15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——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有人、有地方、有动作、有反应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。照这个样子，写你的。</a:t>
            </a:r>
            <a:endParaRPr lang="en-US" sz="1500"/>
          </a:p>
        </p:txBody>
      </p:sp>
      <p:sp>
        <p:nvSpPr>
          <p:cNvPr id="8" name="codebox"/>
          <p:cNvSpPr/>
          <p:nvPr/>
        </p:nvSpPr>
        <p:spPr>
          <a:xfrm>
            <a:off x="508000" y="3098800"/>
            <a:ext cx="11176000" cy="193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9" name="code-t"/>
          <p:cNvSpPr txBox="1"/>
          <p:nvPr/>
        </p:nvSpPr>
        <p:spPr>
          <a:xfrm>
            <a:off x="812800" y="3225800"/>
            <a:ext cx="105664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Sally，基于上一轮的结论：</a:t>
            </a:r>
            <a:r>
              <a:rPr lang="en-US" sz="1300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（把 John 整理的三句话贴上）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你现在是我的体验设计师。请帮我写一段"使用情景描述"：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谁在什么地方、怎么用它、它怎么反应。要有具体的人和地点，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不超过四句话。然后告诉我：这个东西长什么样、放在哪里合适。</a:t>
            </a:r>
            <a:endParaRPr lang="en-US" sz="1300"/>
          </a:p>
        </p:txBody>
      </p:sp>
      <p:sp>
        <p:nvSpPr>
          <p:cNvPr id="10" name="okmark"/>
          <p:cNvSpPr txBox="1"/>
          <p:nvPr/>
        </p:nvSpPr>
        <p:spPr>
          <a:xfrm>
            <a:off x="508000" y="5308600"/>
            <a:ext cx="1117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做对的标志：√ 你的情景描述里能指出"谁、在哪、怎么用、它怎么反应"四样</a:t>
            </a:r>
            <a:endParaRPr lang="en-US" sz="1400"/>
          </a:p>
        </p:txBody>
      </p:sp>
      <p:sp>
        <p:nvSpPr>
          <p:cNvPr id="11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13 / 19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需求单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屏幕上这张表，是你大作品的开工许可证</a:t>
            </a:r>
            <a:endParaRPr lang="en-US" sz="3400"/>
          </a:p>
        </p:txBody>
      </p:sp>
      <p:sp>
        <p:nvSpPr>
          <p:cNvPr id="5" name="lead"/>
          <p:cNvSpPr txBox="1"/>
          <p:nvPr/>
        </p:nvSpPr>
        <p:spPr>
          <a:xfrm>
            <a:off x="508000" y="16002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它的大名叫需求单——工地上叫它 requirements.md。现在就填在你的学员文档里，动手之前，把"做什么"写死。</a:t>
            </a:r>
            <a:endParaRPr lang="en-US" sz="1300"/>
          </a:p>
        </p:txBody>
      </p:sp>
      <p:sp>
        <p:nvSpPr>
          <p:cNvPr id="6" name="codebox"/>
          <p:cNvSpPr/>
          <p:nvPr/>
        </p:nvSpPr>
        <p:spPr>
          <a:xfrm>
            <a:off x="508000" y="1955800"/>
            <a:ext cx="111760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7" name="code-t"/>
          <p:cNvSpPr txBox="1"/>
          <p:nvPr/>
        </p:nvSpPr>
        <p:spPr>
          <a:xfrm>
            <a:off x="812800" y="2032000"/>
            <a:ext cx="105664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 我的作品需求单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名字：______  日期：______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## 它帮谁解决什么问题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（一句话，要有真人名字）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## 使用情景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（谁在什么地方怎么用，≤4 句）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## 输入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（它感知什么，≤3 句）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## 逻辑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（什么条件做什么，≤3 句；含一条：没信号/认不出时怎么办）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## 输出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（它怎么表现，≤3 句）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## 核心功能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（只许写 1 个）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## 以后再做清单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（被砍掉的在这里留名，至少 1 条）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1. ______（砍它的理由：______）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 b="1">
                <a:solidFill>
                  <a:srgbClr val="000000"/>
                </a:solidFill>
                <a:latin typeface="MiSans"/>
                <a:ea typeface="MiSans"/>
              </a:rPr>
              <a:t>## 硬件确认</a:t>
            </a: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（巡礼之后填）</a:t>
            </a:r>
            <a:endParaRPr lang="en-US" sz="1250"/>
          </a:p>
          <a:p>
            <a:pPr algn="l">
              <a:lnSpc>
                <a:spcPct val="135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需要的模块：______ ｜ 池里有 / 用什么替代：______ ｜ 签字：______</a:t>
            </a:r>
            <a:endParaRPr lang="en-US" sz="1250"/>
          </a:p>
        </p:txBody>
      </p:sp>
      <p:sp>
        <p:nvSpPr>
          <p:cNvPr id="8" name="rules"/>
          <p:cNvSpPr txBox="1"/>
          <p:nvPr/>
        </p:nvSpPr>
        <p:spPr>
          <a:xfrm>
            <a:off x="508000" y="52324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填写纪律：一，防跑偏——下次课起每次开工先对它；二，它是活的——允许改，但划掉不删除；三，每段最多三句话——写不下，说明没想清</a:t>
            </a:r>
            <a:endParaRPr lang="en-US" sz="1250"/>
          </a:p>
        </p:txBody>
      </p:sp>
      <p:sp>
        <p:nvSpPr>
          <p:cNvPr id="9" name="okmark"/>
          <p:cNvSpPr txBox="1"/>
          <p:nvPr/>
        </p:nvSpPr>
        <p:spPr>
          <a:xfrm>
            <a:off x="508000" y="56642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000000"/>
                </a:solidFill>
                <a:latin typeface="MiSans"/>
                <a:ea typeface="MiSans"/>
              </a:rPr>
              <a:t>做对的标志：√ 前六栏填完（硬件确认栏留空巡礼后填），事实全部来自你刚才两轮对话——抄 AI 编的，等于给作品上假户口</a:t>
            </a:r>
            <a:endParaRPr lang="en-US" sz="1200"/>
          </a:p>
        </p:txBody>
      </p:sp>
      <p:sp>
        <p:nvSpPr>
          <p:cNvPr id="10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1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14 / 19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砍一刀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请出"范围杀手"——核心功能只留 1 个</a:t>
            </a:r>
            <a:endParaRPr lang="en-US" sz="3800"/>
          </a:p>
        </p:txBody>
      </p:sp>
      <p:sp>
        <p:nvSpPr>
          <p:cNvPr id="5" name="rule"/>
          <p:cNvSpPr txBox="1"/>
          <p:nvPr/>
        </p:nvSpPr>
        <p:spPr>
          <a:xfrm>
            <a:off x="508000" y="16764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50">
                <a:solidFill>
                  <a:srgbClr val="000000"/>
                </a:solidFill>
                <a:latin typeface="MiSans"/>
                <a:ea typeface="MiSans"/>
              </a:rPr>
              <a:t>让 AI </a:t>
            </a:r>
            <a:r>
              <a:rPr lang="en-US" sz="1450" b="1">
                <a:solidFill>
                  <a:srgbClr val="000000"/>
                </a:solidFill>
                <a:latin typeface="MiSans"/>
                <a:ea typeface="MiSans"/>
              </a:rPr>
              <a:t>只许问一个问题</a:t>
            </a:r>
            <a:r>
              <a:rPr lang="en-US" sz="1450">
                <a:solidFill>
                  <a:srgbClr val="000000"/>
                </a:solidFill>
                <a:latin typeface="MiSans"/>
                <a:ea typeface="MiSans"/>
              </a:rPr>
              <a:t>："这个不做会死吗？"——它不许说"这个功能不好"；</a:t>
            </a:r>
            <a:r>
              <a:rPr lang="en-US" sz="1450" b="1">
                <a:solidFill>
                  <a:srgbClr val="D84144"/>
                </a:solidFill>
                <a:latin typeface="MiSans"/>
                <a:ea typeface="MiSans"/>
              </a:rPr>
              <a:t>它替你下结论，打断它 ×——否决权永远在你</a:t>
            </a:r>
            <a:endParaRPr lang="en-US" sz="1450"/>
          </a:p>
        </p:txBody>
      </p:sp>
      <p:sp>
        <p:nvSpPr>
          <p:cNvPr id="6" name="codebox"/>
          <p:cNvSpPr/>
          <p:nvPr/>
        </p:nvSpPr>
        <p:spPr>
          <a:xfrm>
            <a:off x="508000" y="2209800"/>
            <a:ext cx="11176000" cy="2006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7" name="code-t"/>
          <p:cNvSpPr txBox="1"/>
          <p:nvPr/>
        </p:nvSpPr>
        <p:spPr>
          <a:xfrm>
            <a:off x="812800" y="2336800"/>
            <a:ext cx="10566400" cy="175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这是我的需求单：</a:t>
            </a:r>
            <a:r>
              <a:rPr lang="en-US" sz="1300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（贴上全文）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请你当"范围杀手"：对我写的每一个功能，只问一句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"这个不做会死吗？"，逐个问我，一次问一个。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不许替我下结论，最后由我决定砍谁。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被砍的帮我整理成"以后再做"清单。</a:t>
            </a:r>
            <a:endParaRPr lang="en-US" sz="1300"/>
          </a:p>
        </p:txBody>
      </p:sp>
      <p:sp>
        <p:nvSpPr>
          <p:cNvPr id="8" name="gold-bar"/>
          <p:cNvSpPr/>
          <p:nvPr/>
        </p:nvSpPr>
        <p:spPr>
          <a:xfrm>
            <a:off x="508000" y="4445000"/>
            <a:ext cx="76200" cy="8382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9" name="gold-card"/>
          <p:cNvSpPr/>
          <p:nvPr/>
        </p:nvSpPr>
        <p:spPr>
          <a:xfrm>
            <a:off x="584200" y="4445000"/>
            <a:ext cx="110998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0" name="gold-t"/>
          <p:cNvSpPr txBox="1"/>
          <p:nvPr/>
        </p:nvSpPr>
        <p:spPr>
          <a:xfrm>
            <a:off x="889000" y="4445000"/>
            <a:ext cx="10490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被砍的，一条条抄进"以后再做"清单，写上砍它的理由——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砍掉的东西有名有姓，取舍才算发生过。</a:t>
            </a:r>
            <a:endParaRPr lang="en-US" sz="1500"/>
          </a:p>
        </p:txBody>
      </p:sp>
      <p:sp>
        <p:nvSpPr>
          <p:cNvPr id="11" name="okmark"/>
          <p:cNvSpPr txBox="1"/>
          <p:nvPr/>
        </p:nvSpPr>
        <p:spPr>
          <a:xfrm>
            <a:off x="508000" y="5562600"/>
            <a:ext cx="1117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做对的标志：√ 核心功能栏只剩 1 个 ＋"以后再做"清单至少 1 条（带砍它的理由）</a:t>
            </a:r>
            <a:endParaRPr lang="en-US" sz="1400"/>
          </a:p>
        </p:txBody>
      </p:sp>
      <p:sp>
        <p:nvSpPr>
          <p:cNvPr id="12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3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16 / 19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巡礼 · 备料 · 本页常亮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你写的这些，手上的东西做得出来吗？</a:t>
            </a:r>
            <a:endParaRPr lang="en-US" sz="3800"/>
          </a:p>
        </p:txBody>
      </p:sp>
      <p:sp>
        <p:nvSpPr>
          <p:cNvPr id="5" name="taskcard"/>
          <p:cNvSpPr/>
          <p:nvPr/>
        </p:nvSpPr>
        <p:spPr>
          <a:xfrm>
            <a:off x="508000" y="1778000"/>
            <a:ext cx="6350000" cy="26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6" name="taskcard-tag"/>
          <p:cNvSpPr/>
          <p:nvPr/>
        </p:nvSpPr>
        <p:spPr>
          <a:xfrm>
            <a:off x="762000" y="1981200"/>
            <a:ext cx="1524000" cy="3556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7" name="taskcard-tag-t"/>
          <p:cNvSpPr txBox="1"/>
          <p:nvPr/>
        </p:nvSpPr>
        <p:spPr>
          <a:xfrm>
            <a:off x="762000" y="19812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巡礼任务单</a:t>
            </a:r>
            <a:endParaRPr lang="en-US" sz="1400"/>
          </a:p>
        </p:txBody>
      </p:sp>
      <p:sp>
        <p:nvSpPr>
          <p:cNvPr id="8" name="taskcard-t"/>
          <p:cNvSpPr txBox="1"/>
          <p:nvPr/>
        </p:nvSpPr>
        <p:spPr>
          <a:xfrm>
            <a:off x="762000" y="2438400"/>
            <a:ext cx="58420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□ ① 勾出你需求单需要的模块，找到实物</a:t>
            </a:r>
            <a:endParaRPr lang="en-US" sz="1350"/>
          </a:p>
          <a:p>
            <a:pPr algn="l">
              <a:lnSpc>
                <a:spcPct val="155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□ ② 池里没有的，对照四桌分类找替代（问老师）</a:t>
            </a:r>
            <a:endParaRPr lang="en-US" sz="1350"/>
          </a:p>
          <a:p>
            <a:pPr algn="l">
              <a:lnSpc>
                <a:spcPct val="155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□ ③ 开眼界三选——每桌摸 1 个你不认识的模块，猜一句它干嘛，问助教验证</a:t>
            </a:r>
            <a:endParaRPr lang="en-US" sz="1350"/>
          </a:p>
          <a:p>
            <a:pPr algn="l">
              <a:lnSpc>
                <a:spcPct val="155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□ ④ 回到座位，硬件确认栏签字</a:t>
            </a:r>
            <a:endParaRPr lang="en-US" sz="1350"/>
          </a:p>
        </p:txBody>
      </p:sp>
      <p:sp>
        <p:nvSpPr>
          <p:cNvPr id="9" name="t1"/>
          <p:cNvSpPr/>
          <p:nvPr/>
        </p:nvSpPr>
        <p:spPr>
          <a:xfrm>
            <a:off x="7239000" y="1778000"/>
            <a:ext cx="2159000" cy="124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0" name="t1-tag"/>
          <p:cNvSpPr/>
          <p:nvPr/>
        </p:nvSpPr>
        <p:spPr>
          <a:xfrm>
            <a:off x="7683500" y="2184400"/>
            <a:ext cx="12700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1" name="t1-t"/>
          <p:cNvSpPr txBox="1"/>
          <p:nvPr/>
        </p:nvSpPr>
        <p:spPr>
          <a:xfrm>
            <a:off x="7683500" y="21844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感知类</a:t>
            </a:r>
            <a:endParaRPr lang="en-US" sz="1600"/>
          </a:p>
        </p:txBody>
      </p:sp>
      <p:sp>
        <p:nvSpPr>
          <p:cNvPr id="12" name="t2"/>
          <p:cNvSpPr/>
          <p:nvPr/>
        </p:nvSpPr>
        <p:spPr>
          <a:xfrm>
            <a:off x="9525000" y="1778000"/>
            <a:ext cx="2159000" cy="124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3" name="t2-tag"/>
          <p:cNvSpPr/>
          <p:nvPr/>
        </p:nvSpPr>
        <p:spPr>
          <a:xfrm>
            <a:off x="9969500" y="2184400"/>
            <a:ext cx="12700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4" name="t2-t"/>
          <p:cNvSpPr txBox="1"/>
          <p:nvPr/>
        </p:nvSpPr>
        <p:spPr>
          <a:xfrm>
            <a:off x="9969500" y="21844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输出类</a:t>
            </a:r>
            <a:endParaRPr lang="en-US" sz="1600"/>
          </a:p>
        </p:txBody>
      </p:sp>
      <p:sp>
        <p:nvSpPr>
          <p:cNvPr id="15" name="t3"/>
          <p:cNvSpPr/>
          <p:nvPr/>
        </p:nvSpPr>
        <p:spPr>
          <a:xfrm>
            <a:off x="7239000" y="3175000"/>
            <a:ext cx="2159000" cy="124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6" name="t3-tag"/>
          <p:cNvSpPr/>
          <p:nvPr/>
        </p:nvSpPr>
        <p:spPr>
          <a:xfrm>
            <a:off x="7683500" y="3581400"/>
            <a:ext cx="12700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7" name="t3-t"/>
          <p:cNvSpPr txBox="1"/>
          <p:nvPr/>
        </p:nvSpPr>
        <p:spPr>
          <a:xfrm>
            <a:off x="7683500" y="35814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执行类</a:t>
            </a:r>
            <a:endParaRPr lang="en-US" sz="1600"/>
          </a:p>
        </p:txBody>
      </p:sp>
      <p:sp>
        <p:nvSpPr>
          <p:cNvPr id="18" name="t4"/>
          <p:cNvSpPr/>
          <p:nvPr/>
        </p:nvSpPr>
        <p:spPr>
          <a:xfrm>
            <a:off x="9525000" y="3175000"/>
            <a:ext cx="2159000" cy="124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9" name="t4-tag"/>
          <p:cNvSpPr/>
          <p:nvPr/>
        </p:nvSpPr>
        <p:spPr>
          <a:xfrm>
            <a:off x="9969500" y="3581400"/>
            <a:ext cx="12700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20" name="t4-t"/>
          <p:cNvSpPr txBox="1"/>
          <p:nvPr/>
        </p:nvSpPr>
        <p:spPr>
          <a:xfrm>
            <a:off x="9969500" y="35814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混合类</a:t>
            </a:r>
            <a:endParaRPr lang="en-US" sz="1600"/>
          </a:p>
        </p:txBody>
      </p:sp>
      <p:sp>
        <p:nvSpPr>
          <p:cNvPr id="21" name="deskbar"/>
          <p:cNvSpPr txBox="1"/>
          <p:nvPr/>
        </p:nvSpPr>
        <p:spPr>
          <a:xfrm>
            <a:off x="508000" y="45974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250">
                <a:solidFill>
                  <a:srgbClr val="000000"/>
                </a:solidFill>
                <a:latin typeface="MiSans"/>
                <a:ea typeface="MiSans"/>
              </a:rPr>
              <a:t>四桌分类：桌1 感知类（传感器/摄像头）｜桌2 输出类（灯/铃/屏）｜桌3 执行类（舵机/电机）｜桌4 混合类</a:t>
            </a:r>
            <a:endParaRPr lang="en-US" sz="1250"/>
          </a:p>
        </p:txBody>
      </p:sp>
      <p:sp>
        <p:nvSpPr>
          <p:cNvPr id="22" name="rotation"/>
          <p:cNvSpPr txBox="1"/>
          <p:nvPr/>
        </p:nvSpPr>
        <p:spPr>
          <a:xfrm>
            <a:off x="508000" y="49530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轮转规则：四组轮转，每桌 7 分钟，哨声换桌</a:t>
            </a:r>
            <a:endParaRPr lang="en-US" sz="1400"/>
          </a:p>
        </p:txBody>
      </p:sp>
      <p:sp>
        <p:nvSpPr>
          <p:cNvPr id="23" name="redline"/>
          <p:cNvSpPr txBox="1"/>
          <p:nvPr/>
        </p:nvSpPr>
        <p:spPr>
          <a:xfrm>
            <a:off x="508000" y="5334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50" b="1">
                <a:solidFill>
                  <a:srgbClr val="D84144"/>
                </a:solidFill>
                <a:latin typeface="MiSans"/>
                <a:ea typeface="MiSans"/>
              </a:rPr>
              <a:t>池里没有 → 找替代，或写进"以后再做"——改需求，不改采购。</a:t>
            </a:r>
            <a:r>
              <a:rPr lang="en-US" sz="1450" b="1">
                <a:solidFill>
                  <a:srgbClr val="333333"/>
                </a:solidFill>
                <a:latin typeface="MiSans"/>
                <a:ea typeface="MiSans"/>
              </a:rPr>
              <a:t>今天只看、只摸、只登记，领料是下次课的事</a:t>
            </a:r>
            <a:endParaRPr lang="en-US" sz="1450"/>
          </a:p>
        </p:txBody>
      </p:sp>
      <p:sp>
        <p:nvSpPr>
          <p:cNvPr id="24" name="okmark"/>
          <p:cNvSpPr txBox="1"/>
          <p:nvPr/>
        </p:nvSpPr>
        <p:spPr>
          <a:xfrm>
            <a:off x="508000" y="57912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350" b="1">
                <a:solidFill>
                  <a:srgbClr val="000000"/>
                </a:solidFill>
                <a:latin typeface="MiSans"/>
                <a:ea typeface="MiSans"/>
              </a:rPr>
              <a:t>做对的标志：√ 任务单四件全勾 ＋ 需求单"硬件确认"栏有签字</a:t>
            </a:r>
            <a:endParaRPr lang="en-US" sz="1350"/>
          </a:p>
        </p:txBody>
      </p:sp>
      <p:sp>
        <p:nvSpPr>
          <p:cNvPr id="25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26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17 / 19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line"/>
          <p:cNvSpPr/>
          <p:nvPr/>
        </p:nvSpPr>
        <p:spPr>
          <a:xfrm>
            <a:off x="5080000" y="1498600"/>
            <a:ext cx="2032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big-title"/>
          <p:cNvSpPr txBox="1"/>
          <p:nvPr/>
        </p:nvSpPr>
        <p:spPr>
          <a:xfrm>
            <a:off x="1016000" y="1854200"/>
            <a:ext cx="10160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4800" b="1">
                <a:solidFill>
                  <a:srgbClr val="000000"/>
                </a:solidFill>
                <a:latin typeface="MiSans"/>
                <a:ea typeface="MiSans"/>
              </a:rPr>
              <a:t>我的作品，今天立项。</a:t>
            </a:r>
            <a:endParaRPr lang="en-US" sz="4800"/>
          </a:p>
        </p:txBody>
      </p:sp>
      <p:sp>
        <p:nvSpPr>
          <p:cNvPr id="4" name="s1-dot"/>
          <p:cNvSpPr/>
          <p:nvPr/>
        </p:nvSpPr>
        <p:spPr>
          <a:xfrm>
            <a:off x="2006600" y="33274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5" name="s1-num"/>
          <p:cNvSpPr txBox="1"/>
          <p:nvPr/>
        </p:nvSpPr>
        <p:spPr>
          <a:xfrm>
            <a:off x="2006600" y="3327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①</a:t>
            </a:r>
            <a:endParaRPr lang="en-US" sz="1600"/>
          </a:p>
        </p:txBody>
      </p:sp>
      <p:sp>
        <p:nvSpPr>
          <p:cNvPr id="6" name="s1-t"/>
          <p:cNvSpPr txBox="1"/>
          <p:nvPr/>
        </p:nvSpPr>
        <p:spPr>
          <a:xfrm>
            <a:off x="1016000" y="38862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拿一张便签，写下：作品名＋核心功能一句话</a:t>
            </a:r>
            <a:endParaRPr lang="en-US" sz="1500"/>
          </a:p>
        </p:txBody>
      </p:sp>
      <p:sp>
        <p:nvSpPr>
          <p:cNvPr id="7" name="s2-dot"/>
          <p:cNvSpPr/>
          <p:nvPr/>
        </p:nvSpPr>
        <p:spPr>
          <a:xfrm>
            <a:off x="5880100" y="33274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8" name="s2-num"/>
          <p:cNvSpPr txBox="1"/>
          <p:nvPr/>
        </p:nvSpPr>
        <p:spPr>
          <a:xfrm>
            <a:off x="5880100" y="3327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②</a:t>
            </a:r>
            <a:endParaRPr lang="en-US" sz="1600"/>
          </a:p>
        </p:txBody>
      </p:sp>
      <p:sp>
        <p:nvSpPr>
          <p:cNvPr id="9" name="s2-t"/>
          <p:cNvSpPr txBox="1"/>
          <p:nvPr/>
        </p:nvSpPr>
        <p:spPr>
          <a:xfrm>
            <a:off x="5080000" y="3886200"/>
            <a:ext cx="2032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贴上立项墙</a:t>
            </a:r>
            <a:endParaRPr lang="en-US" sz="1500"/>
          </a:p>
        </p:txBody>
      </p:sp>
      <p:sp>
        <p:nvSpPr>
          <p:cNvPr id="10" name="s3-dot"/>
          <p:cNvSpPr/>
          <p:nvPr/>
        </p:nvSpPr>
        <p:spPr>
          <a:xfrm>
            <a:off x="9753600" y="33274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1" name="s3-num"/>
          <p:cNvSpPr txBox="1"/>
          <p:nvPr/>
        </p:nvSpPr>
        <p:spPr>
          <a:xfrm>
            <a:off x="9753600" y="3327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③</a:t>
            </a:r>
            <a:endParaRPr lang="en-US" sz="1600"/>
          </a:p>
        </p:txBody>
      </p:sp>
      <p:sp>
        <p:nvSpPr>
          <p:cNvPr id="12" name="s3-t"/>
          <p:cNvSpPr txBox="1"/>
          <p:nvPr/>
        </p:nvSpPr>
        <p:spPr>
          <a:xfrm>
            <a:off x="8953500" y="3886200"/>
            <a:ext cx="2032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大声念出来</a:t>
            </a:r>
            <a:endParaRPr lang="en-US" sz="1500"/>
          </a:p>
        </p:txBody>
      </p:sp>
      <p:sp>
        <p:nvSpPr>
          <p:cNvPr id="13" name="gold-bar"/>
          <p:cNvSpPr/>
          <p:nvPr/>
        </p:nvSpPr>
        <p:spPr>
          <a:xfrm>
            <a:off x="1270000" y="5105400"/>
            <a:ext cx="76200" cy="9398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4" name="gold-card"/>
          <p:cNvSpPr/>
          <p:nvPr/>
        </p:nvSpPr>
        <p:spPr>
          <a:xfrm>
            <a:off x="1346200" y="5105400"/>
            <a:ext cx="95758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5" name="gold-t"/>
          <p:cNvSpPr txBox="1"/>
          <p:nvPr/>
        </p:nvSpPr>
        <p:spPr>
          <a:xfrm>
            <a:off x="1625600" y="5105400"/>
            <a:ext cx="9017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需求单留在你的学员文档里——那是你的</a:t>
            </a:r>
            <a:r>
              <a:rPr lang="en-US" sz="1350" b="1">
                <a:solidFill>
                  <a:srgbClr val="000000"/>
                </a:solidFill>
                <a:latin typeface="MiSans"/>
                <a:ea typeface="MiSans"/>
              </a:rPr>
              <a:t>开工许可证</a:t>
            </a: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，每次马拉松开工先对它。</a:t>
            </a:r>
            <a:endParaRPr lang="en-US" sz="1350"/>
          </a:p>
          <a:p>
            <a:pPr algn="l">
              <a:lnSpc>
                <a:spcPct val="150000"/>
              </a:lnSpc>
            </a:pP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墙上这些便签是全班的对照物：可以改，但</a:t>
            </a:r>
            <a:r>
              <a:rPr lang="en-US" sz="1350" b="1">
                <a:solidFill>
                  <a:srgbClr val="000000"/>
                </a:solidFill>
                <a:latin typeface="MiSans"/>
                <a:ea typeface="MiSans"/>
              </a:rPr>
              <a:t>划掉不删除</a:t>
            </a:r>
            <a:r>
              <a:rPr lang="en-US" sz="1350">
                <a:solidFill>
                  <a:srgbClr val="000000"/>
                </a:solidFill>
                <a:latin typeface="MiSans"/>
                <a:ea typeface="MiSans"/>
              </a:rPr>
              <a:t>，让所有人看见你改过主意。</a:t>
            </a:r>
            <a:endParaRPr 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18 / 19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收尾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今天，你干成了三件事</a:t>
            </a:r>
            <a:endParaRPr lang="en-US" sz="3800"/>
          </a:p>
        </p:txBody>
      </p:sp>
      <p:sp>
        <p:nvSpPr>
          <p:cNvPr id="5" name="cardA"/>
          <p:cNvSpPr/>
          <p:nvPr/>
        </p:nvSpPr>
        <p:spPr>
          <a:xfrm>
            <a:off x="508000" y="1778000"/>
            <a:ext cx="5461000" cy="238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6" name="cardA-tag"/>
          <p:cNvSpPr/>
          <p:nvPr/>
        </p:nvSpPr>
        <p:spPr>
          <a:xfrm>
            <a:off x="762000" y="1981200"/>
            <a:ext cx="1651000" cy="3556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7" name="cardA-tag-t"/>
          <p:cNvSpPr txBox="1"/>
          <p:nvPr/>
        </p:nvSpPr>
        <p:spPr>
          <a:xfrm>
            <a:off x="762000" y="19812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成果回顾</a:t>
            </a:r>
            <a:endParaRPr lang="en-US" sz="1400"/>
          </a:p>
        </p:txBody>
      </p:sp>
      <p:sp>
        <p:nvSpPr>
          <p:cNvPr id="8" name="cardA-t"/>
          <p:cNvSpPr txBox="1"/>
          <p:nvPr/>
        </p:nvSpPr>
        <p:spPr>
          <a:xfrm>
            <a:off x="762000" y="2463800"/>
            <a:ext cx="4953000" cy="154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√ 把作品往死里整了一轮——还站着</a:t>
            </a:r>
            <a:endParaRPr lang="en-US" sz="1400"/>
          </a:p>
          <a:p>
            <a:pPr algn="l">
              <a:lnSpc>
                <a:spcPct val="16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√ 每条毛病做了决定——接受还是修，你拍的板</a:t>
            </a:r>
            <a:endParaRPr lang="en-US" sz="1400"/>
          </a:p>
          <a:p>
            <a:pPr algn="l">
              <a:lnSpc>
                <a:spcPct val="16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√ 选题从一面墙，走进了一张需求单</a:t>
            </a:r>
            <a:endParaRPr lang="en-US" sz="1400"/>
          </a:p>
        </p:txBody>
      </p:sp>
      <p:sp>
        <p:nvSpPr>
          <p:cNvPr id="9" name="goldbar"/>
          <p:cNvSpPr/>
          <p:nvPr/>
        </p:nvSpPr>
        <p:spPr>
          <a:xfrm>
            <a:off x="508000" y="4368800"/>
            <a:ext cx="76200" cy="7620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0" name="goldbox"/>
          <p:cNvSpPr/>
          <p:nvPr/>
        </p:nvSpPr>
        <p:spPr>
          <a:xfrm>
            <a:off x="584200" y="4368800"/>
            <a:ext cx="5384800" cy="762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1" name="goldbox-t"/>
          <p:cNvSpPr txBox="1"/>
          <p:nvPr/>
        </p:nvSpPr>
        <p:spPr>
          <a:xfrm>
            <a:off x="787400" y="4368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它不只是一件毕业作品，是人生项目的开始。</a:t>
            </a:r>
            <a:endParaRPr lang="en-US" sz="1500"/>
          </a:p>
        </p:txBody>
      </p:sp>
      <p:sp>
        <p:nvSpPr>
          <p:cNvPr id="12" name="logcard"/>
          <p:cNvSpPr/>
          <p:nvPr/>
        </p:nvSpPr>
        <p:spPr>
          <a:xfrm>
            <a:off x="6477000" y="1778000"/>
            <a:ext cx="5207000" cy="238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13" name="logcard-tag"/>
          <p:cNvSpPr/>
          <p:nvPr/>
        </p:nvSpPr>
        <p:spPr>
          <a:xfrm>
            <a:off x="6731000" y="1981200"/>
            <a:ext cx="1143000" cy="3556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txBody>
          <a:bodyPr/>
          <a:p/>
        </p:txBody>
      </p:sp>
      <p:sp>
        <p:nvSpPr>
          <p:cNvPr id="14" name="logcard-tag-t"/>
          <p:cNvSpPr txBox="1"/>
          <p:nvPr/>
        </p:nvSpPr>
        <p:spPr>
          <a:xfrm>
            <a:off x="6731000" y="19812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日志</a:t>
            </a:r>
            <a:endParaRPr lang="en-US" sz="1400"/>
          </a:p>
        </p:txBody>
      </p:sp>
      <p:sp>
        <p:nvSpPr>
          <p:cNvPr id="15" name="logcard-t"/>
          <p:cNvSpPr txBox="1"/>
          <p:nvPr/>
        </p:nvSpPr>
        <p:spPr>
          <a:xfrm>
            <a:off x="6731000" y="2463800"/>
            <a:ext cx="4699000" cy="154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四句照旧，"做了"写——</a:t>
            </a:r>
            <a:endParaRPr lang="en-US" sz="1300"/>
          </a:p>
          <a:p>
            <a:pPr algn="l">
              <a:lnSpc>
                <a:spcPct val="155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我的大作品今天立项，它叫 ___，核心功能是 ___，我砍掉了 ___</a:t>
            </a:r>
            <a:endParaRPr lang="en-US" sz="1300"/>
          </a:p>
        </p:txBody>
      </p:sp>
      <p:sp>
        <p:nvSpPr>
          <p:cNvPr id="16" name="nextbox"/>
          <p:cNvSpPr/>
          <p:nvPr/>
        </p:nvSpPr>
        <p:spPr>
          <a:xfrm>
            <a:off x="6477000" y="4368800"/>
            <a:ext cx="5207000" cy="13208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7" name="nextbox-t"/>
          <p:cNvSpPr txBox="1"/>
          <p:nvPr/>
        </p:nvSpPr>
        <p:spPr>
          <a:xfrm>
            <a:off x="6731000" y="4470400"/>
            <a:ext cx="4699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下次预告：给作品"搬家"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——从网页搬进你自己的电脑，第一次看懂 AI 写的代码。家安好了，第 8 课马拉松开跑。今天你说"我要做"，下次课给它</a:t>
            </a: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安家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，再下次课你说"</a:t>
            </a:r>
            <a:r>
              <a:rPr lang="en-US" sz="1300" b="1">
                <a:solidFill>
                  <a:srgbClr val="000000"/>
                </a:solidFill>
                <a:latin typeface="MiSans"/>
                <a:ea typeface="MiSans"/>
              </a:rPr>
              <a:t>我在做</a:t>
            </a: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"。</a:t>
            </a:r>
            <a:endParaRPr lang="en-US" sz="1300"/>
          </a:p>
        </p:txBody>
      </p:sp>
      <p:sp>
        <p:nvSpPr>
          <p:cNvPr id="18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1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19 / 19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立项 · 工程师的需求单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000000"/>
                </a:solidFill>
                <a:latin typeface="MiSans"/>
                <a:ea typeface="MiSans"/>
              </a:rPr>
              <a:t>专业工程师开工前，也写这张纸</a:t>
            </a:r>
            <a:endParaRPr lang="en-US" sz="3200"/>
          </a:p>
        </p:txBody>
      </p:sp>
      <p:sp>
        <p:nvSpPr>
          <p:cNvPr id="5" name="cardbg762000"/>
          <p:cNvSpPr/>
          <p:nvPr/>
        </p:nvSpPr>
        <p:spPr>
          <a:xfrm>
            <a:off x="762000" y="1500000"/>
            <a:ext cx="5000000" cy="3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cardhead762000"/>
          <p:cNvSpPr/>
          <p:nvPr/>
        </p:nvSpPr>
        <p:spPr>
          <a:xfrm>
            <a:off x="762000" y="1500000"/>
            <a:ext cx="5000000" cy="5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7" name="cardheadt762000"/>
          <p:cNvSpPr txBox="1"/>
          <p:nvPr/>
        </p:nvSpPr>
        <p:spPr>
          <a:xfrm>
            <a:off x="1016000" y="1500000"/>
            <a:ext cx="4492000" cy="56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FFFFFF"/>
                </a:solidFill>
                <a:latin typeface="Noto Sans SC"/>
                <a:ea typeface="Noto Sans SC"/>
              </a:rPr>
              <a:t>Brandy 的「输入 / 输出契约」</a:t>
            </a:r>
            <a:endParaRPr lang="en-US" sz="1700"/>
          </a:p>
        </p:txBody>
      </p:sp>
      <p:sp>
        <p:nvSpPr>
          <p:cNvPr id="8" name="rowt7620000"/>
          <p:cNvSpPr txBox="1"/>
          <p:nvPr/>
        </p:nvSpPr>
        <p:spPr>
          <a:xfrm>
            <a:off x="1016000" y="2060000"/>
            <a:ext cx="4492000" cy="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输入：按下、松开、长按、人的声音</a:t>
            </a:r>
            <a:endParaRPr lang="en-US" sz="1500"/>
          </a:p>
        </p:txBody>
      </p:sp>
      <p:sp>
        <p:nvSpPr>
          <p:cNvPr id="9" name="rowt7620001"/>
          <p:cNvSpPr txBox="1"/>
          <p:nvPr/>
        </p:nvSpPr>
        <p:spPr>
          <a:xfrm>
            <a:off x="1016000" y="2770000"/>
            <a:ext cx="4492000" cy="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约束：USB 连接｜桌面使用｜不能持续监听</a:t>
            </a:r>
            <a:endParaRPr lang="en-US" sz="1500"/>
          </a:p>
        </p:txBody>
      </p:sp>
      <p:sp>
        <p:nvSpPr>
          <p:cNvPr id="10" name="rowt7620002"/>
          <p:cNvSpPr txBox="1"/>
          <p:nvPr/>
        </p:nvSpPr>
        <p:spPr>
          <a:xfrm>
            <a:off x="1016000" y="3480000"/>
            <a:ext cx="4492000" cy="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输出：灯光反馈、录音、识别文字、发送 Prompt</a:t>
            </a:r>
            <a:endParaRPr lang="en-US" sz="1500"/>
          </a:p>
        </p:txBody>
      </p:sp>
      <p:sp>
        <p:nvSpPr>
          <p:cNvPr id="11" name="rowhl7620003"/>
          <p:cNvSpPr/>
          <p:nvPr/>
        </p:nvSpPr>
        <p:spPr>
          <a:xfrm>
            <a:off x="762000" y="4190000"/>
            <a:ext cx="5000000" cy="710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rowt7620003"/>
          <p:cNvSpPr txBox="1"/>
          <p:nvPr/>
        </p:nvSpPr>
        <p:spPr>
          <a:xfrm>
            <a:off x="1016000" y="4190000"/>
            <a:ext cx="4492000" cy="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成功标准：一次按压完成一次语音输入，不切窗口</a:t>
            </a:r>
            <a:endParaRPr lang="en-US" sz="1500"/>
          </a:p>
        </p:txBody>
      </p:sp>
      <p:sp>
        <p:nvSpPr>
          <p:cNvPr id="13" name="cardbg6553200"/>
          <p:cNvSpPr/>
          <p:nvPr/>
        </p:nvSpPr>
        <p:spPr>
          <a:xfrm>
            <a:off x="6553200" y="1500000"/>
            <a:ext cx="4876800" cy="3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4" name="cardhead6553200"/>
          <p:cNvSpPr/>
          <p:nvPr/>
        </p:nvSpPr>
        <p:spPr>
          <a:xfrm>
            <a:off x="6553200" y="1500000"/>
            <a:ext cx="4876800" cy="5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" name="cardheadt6553200"/>
          <p:cNvSpPr txBox="1"/>
          <p:nvPr/>
        </p:nvSpPr>
        <p:spPr>
          <a:xfrm>
            <a:off x="6807200" y="1500000"/>
            <a:ext cx="4368800" cy="56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FFFFFF"/>
                </a:solidFill>
                <a:latin typeface="Noto Sans SC"/>
                <a:ea typeface="Noto Sans SC"/>
              </a:rPr>
              <a:t>你的需求单（刚填的）</a:t>
            </a:r>
            <a:endParaRPr lang="en-US" sz="1700"/>
          </a:p>
        </p:txBody>
      </p:sp>
      <p:sp>
        <p:nvSpPr>
          <p:cNvPr id="16" name="rowt65532000"/>
          <p:cNvSpPr txBox="1"/>
          <p:nvPr/>
        </p:nvSpPr>
        <p:spPr>
          <a:xfrm>
            <a:off x="6807200" y="2060000"/>
            <a:ext cx="4368800" cy="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为谁做：真实用户（有名字，不是「大家」）</a:t>
            </a:r>
            <a:endParaRPr lang="en-US" sz="1500"/>
          </a:p>
        </p:txBody>
      </p:sp>
      <p:sp>
        <p:nvSpPr>
          <p:cNvPr id="17" name="rowt65532001"/>
          <p:cNvSpPr txBox="1"/>
          <p:nvPr/>
        </p:nvSpPr>
        <p:spPr>
          <a:xfrm>
            <a:off x="6807200" y="2770000"/>
            <a:ext cx="4368800" cy="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使用情景：一句话，谁在什么时候怎么用它</a:t>
            </a:r>
            <a:endParaRPr lang="en-US" sz="1500"/>
          </a:p>
        </p:txBody>
      </p:sp>
      <p:sp>
        <p:nvSpPr>
          <p:cNvPr id="18" name="rowt65532002"/>
          <p:cNvSpPr txBox="1"/>
          <p:nvPr/>
        </p:nvSpPr>
        <p:spPr>
          <a:xfrm>
            <a:off x="6807200" y="3480000"/>
            <a:ext cx="4368800" cy="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输入 · 逻辑 · 输出：感知什么→什么条件做什么→做出什么</a:t>
            </a:r>
            <a:endParaRPr lang="en-US" sz="1500"/>
          </a:p>
        </p:txBody>
      </p:sp>
      <p:sp>
        <p:nvSpPr>
          <p:cNvPr id="19" name="rowhl65532003"/>
          <p:cNvSpPr/>
          <p:nvPr/>
        </p:nvSpPr>
        <p:spPr>
          <a:xfrm>
            <a:off x="6553200" y="4190000"/>
            <a:ext cx="4876800" cy="710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0" name="rowt65532003"/>
          <p:cNvSpPr txBox="1"/>
          <p:nvPr/>
        </p:nvSpPr>
        <p:spPr>
          <a:xfrm>
            <a:off x="6807200" y="4190000"/>
            <a:ext cx="4368800" cy="7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核心功能 1 个＋怎么算成功</a:t>
            </a:r>
            <a:endParaRPr lang="en-US" sz="1500"/>
          </a:p>
        </p:txBody>
      </p:sp>
      <p:sp>
        <p:nvSpPr>
          <p:cNvPr id="21" name="bottombar"/>
          <p:cNvSpPr/>
          <p:nvPr/>
        </p:nvSpPr>
        <p:spPr>
          <a:xfrm>
            <a:off x="762000" y="5664200"/>
            <a:ext cx="106680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2" name="bottombart"/>
          <p:cNvSpPr txBox="1"/>
          <p:nvPr/>
        </p:nvSpPr>
        <p:spPr>
          <a:xfrm>
            <a:off x="1117600" y="5664200"/>
            <a:ext cx="995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900" b="1">
                <a:solidFill>
                  <a:srgbClr val="000000"/>
                </a:solidFill>
                <a:latin typeface="Noto Sans SC"/>
                <a:ea typeface="Noto Sans SC"/>
              </a:rPr>
              <a:t>她写的叫「契约」，你写的叫「需求单」——是同一张东西。</a:t>
            </a:r>
            <a:endParaRPr lang="en-US" sz="1900"/>
          </a:p>
        </p:txBody>
      </p:sp>
      <p:sp>
        <p:nvSpPr>
          <p:cNvPr id="23" name="footl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7 课 · 为我的作品立项</a:t>
            </a:r>
            <a:endParaRPr lang="en-US" sz="1100"/>
          </a:p>
        </p:txBody>
      </p:sp>
      <p:sp>
        <p:nvSpPr>
          <p:cNvPr id="24" name="footr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15 / 19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18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