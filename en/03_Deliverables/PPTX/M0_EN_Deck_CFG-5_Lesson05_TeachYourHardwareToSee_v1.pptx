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 loops before class. Open with one welcome line — 'Welcome to Lesson 5. Last session you built a complete Pomodoro timer with the BMAD five roles — today your hardware learns a brand-new skill: to see.' — then go straight to slide 02; the cover is not a talking page. XIAO photo on the right (thumb-size, camera side up, next to a thumb for scale — line-art placeholder until the rehearsal photo), yellow rule under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open today — let's see how it 'sees'. (point at the flow) A camera captures an image and turns it into numbers — the photo goes in, 'experience' comes out. The algorithm in the middle has a big name — you don't need to memorize it. (point at the three cards) Tesla runs eight cameras looking at a full 360° of road. In a huge forest, one camera watches over one mountain — when it spots a panda, it reports the location. A hummingbird feeder — when it recognizes a hummingbird, it notes what time it came to eat. Spot the common thread? None of them talks or writes. They see. Today, your board learns to do the same. Skim the example cards — don't linger. 'What is feature extraction / CNN?' — an algorithm that finds patterns in photos. You don't need the name — just remember: photo in, experience out. Three examples dragging — only the hummingbird; Tesla and panda get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third board. The first one, the Grove kit — that's skin: it feels hot, cold, motion. The second one, the Wio — that's the face: it has a screen and buttons. This thumb-sized little board is the eyes — it has a camera, and a microphone too. It can see and hear. So far you've used one kind of AI: you tell it, it builds — you tell Codecraft what you want and it writes the instructions for you. Today you meet a second kind: you show it, it learns — you don't say a word; you show it photos, lots of them, and it learns to recognize on its own. The website is called SenseCraft AI — it's where you teach boards to recognize things. First half of today: no typing. You talk with photos. 'Is this the same AI as ChatGPT?' — both learn from lots of examples, but one learns text and the other learns images. Want the deep version, find me at break.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name is XIAO ESP32S3 Sense — you don't need to memorize it; call it the little eye board. It has a whole family of siblings, all different models; today we use the one with the camera. (point at the anatomy diagram, walk the class around it) What's on it: this is the camera — its eye. This is the microphone — its ear. These two little buttons — reset and boot; you'll use them when flashing. And here: a tiny LED, an SD card slot, the charging port. Don't memorize all of it — just recognize the eye and the two little buttons. The most special thing: AI lives inside the board. Once the trained model is loaded in, it recognizes your gestures with no internet at all. Students pass a XIAO around; find the camera and the two buttons on the anatomy diagram. [Assets: XIAO thumb-size photo + anatomy diagram — line-art placeholder until re-crop from the V3 deck]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pros. One: it's small. Two: it's cheap — about the price of a lunch. Three: the AI runs on the board — no internet needed, and your photos never leave this little board. Three cons — and you'll hit all of them today. One: small computing power — it 'thinks' about half a second slower; normal. Two: it makes mistakes — 'what to do when it can't recognize' is part of your design. Three: no screen — it talks through lights, buzzers, or the computer. Remember one line: small computer, small jobs. 'How is this different from photo recognition on my phone?' — the phone sends the photo to a faraway computer to recognize it. This board recognizes it on itself — slower, but no internet, and it doesn't hand your photos to anyone. 'No screen is weak' — right, that's why it usually teams up with the Wio: one sees, one shows. Today, lights and buzzers speak for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today's weapon: sensecraft.seeed.cc/ai — don't write it down; the tabs are already open on every machine once the boards go out. Collecting last session's work: last time, you took a complete project — your Pomodoro timer — from requirements, to screens, to code, to breaking it, with the BMAD five roles. (pick up the teacher machine; point the camera at the badge on screen — it shows SIGNED IN; point at something else — nothing.) How does it know the badge? It's not face-recognizing. It's that someone taught it. Not by writing, not by talking — by showing it lots and lots of photos. Today, each of you teaches one with your own hands — teaching it to recognize your own gestures. If the demo model gets it wrong live — don't panic, that's today's lesson: 'See? It makes mistakes too — by the end of class you'll know why it does.' No badge — project any high-contrast, stable image (logo / course mark / big English word — CHAIHUO / M0). Collecting: hard 5-minute timer; no individual feedback; note who's missing, due before class ends. [Asset: sign-in demo screenshot — placeholder card until rehearsal capture]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Boards out. Assemble and plug in first — both ends of the cable pushed all the way in. Connect to the computer, click 'connect device', see your board's name. Once connected, don't rush to photograph. First, load a model someone else already taught into the board. In SenseCraft, pick face detection, click 'deploy' — it travels down the cable into the board. Now give it a 'trigger': face detected → turn on the onboard LED. Watch the LED's spot — point at my face — on! Congratulations — you just deployed an AI-driven automation system. And watch this: add the Grove expansion board, plug in a light strip — target recognized, the strip lights up directly. Not one line of code. The vision model drives the peripheral directly. That's 'recognized → moves'. You'll build one of these yourselves in the second half. This is the class's #1 failure-prone block: all three TAs push in. One student can't connect in 3 minutes — swap board, swap cable, don't linger (swap, don't repair). Login fails — TA A hands over a spare account on the spot. Black/blurry image — first question 'is the lens film off?', second move swap the board. Compliance: face detection recognizes only the teacher's own face or the on-screen photo — students don't photograph each other's faces. State the rule now: 'When you collect your own data later — hands and objects only. No faces.' Short on time — trigger config becomes a teacher demo; students only get 'deployed + recognized.' Output anchor: every board runs a ready-made model — recognized target lights the onboard LED. [Asset: AI Blink trigger-config screenshot — live demo is primary]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 teach it your gestures: scissors, rock, paper. For each one, take 25 to 30 photos with your board. (teacher demonstrates, on screen) Watch me — this one, hand straight on. Next, further away. Another, different angle. Another, other hand. — For every photo, give the gesture its 'answer name': this is 'rock', this is 'scissors'. That answer name has a formal word — a label. It's the standard answer for each photo. When it learns, it's checking its answers. (deliberately demonstrate bad data, don't explain yet) Now a few more — background switched to the window, half a hand, ten shots all at the same angle. Done. Are these photos good? Not saying yet. We'll see. Rule repeated: hands and objects only — no faces. Not yours, not anyone's. If a face sneaks in, delete it on the spot. Chaotic collection (unsure how many / wrong labels) — TA circulation, three questions: 'How many do you have?' 'Label correct?' 'Changed the angle?' A student wants to train after only 10 — let them! Don't say a word — when it fails later, it's the teaching material (designed contrast). A face gets photographed — TA C watches it get deleted, restates the rule once, no scolding. Output anchor: everyone's three-class photo dataset (in the workbook's 'data collection record' zone).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Collected enough? Click 'train'. What's it doing? Plain-English version: it's turning your hundred-plus photos into 'experience' — what do rock photos have in common, what do scissors photos have in common; it figures that out itself and stores it as an experience book. That process is called training — you're the teacher, it's the student. (during the wait) Training queues — whoever collected first trains first. While you wait, think: what kind of student would my weird photos from earlier produce? Trained? Click 'deploy' — the experience book travels down the USB cable into your board. Once it's in, it remembers — unplug the cable, still remembers. Now — show your board a scissors. See if it recognizes its teacher. Queue jam — TA A batches (collectors first); anyone waiting over 5 minutes goes to the board and sticks a 'when I predict it will get it wrong' sticky (warms up the attribution talk). Platform slow — run the two-track 'batch + teacher rescue model': anyone who can't finish trains deploys the teacher's pretrained model, keeps their data, retrains after class (rescue only). A student recognizes nothing — check 'did it deploy?' first, then data size — odds are it's the 10-photo student; keep them as discussion material. Output anchor: self-trained model deployed on the board; record in md or handwriting (how many classes, how many photos each, how long the wait). [Asset: training/deploy interface screenshot — optional, live demo is primary]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fun part: swap boards with your neighbor. Your model — does it recognize their hand? Rules: only scissors-rock-paper, and vary it — further, faster, other hand. Recognized = 1 point. Got it wrong = ... write it down too. That's treasure. We'll tally the class failure rate in a minute. Widespread failure is designed, not an accident — the teacher never 'rescues': only 'Write it down — under which move did your model fail?' Rare class with too-high accuracy — the teacher becomes the trap: gloved hand, toy scissors, back of hand to the lens — manufacture attribution material. The test turns into roughhousing — boards back to owners; switch to 'test your own, in three different lighting conditions.' Output anchor: swap-test score + the specific failing situation noted.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Failure-rate tally — hands up if your model got it wrong more than 3 times. (a sea of hands) Congratulations. You just earned today's most important textbook. One sticky per person: write when your model gets it wrong — the more specific the better. 'Low light' passes. 'It's not accurate' doesn't. Stick it on the left side of the board. (read the stickies, group them) Light changed, background changed, someone else's hand, only a dozen photos… see the pattern? It's not dumb. You taught it too little. Want it smarter? Feed it more, more different examples. Remember my weird photos from before class — one angle only, messy background? A student taught by that teacher only knows how to sit in the front row. One loop back: you've learned that talking to AI needs examples. Today you saw it — for an AI that recognizes things, the examples ARE everything. Telling it isn't enough. You have to show it. If it goes cold — call on someone who raised their hand: 'Which move got it wrong for you?' Two or three of those warms it up. A student writes 'the board is dumb' — throw it back to the class: 'Same board — why did it recognize YOUR rock?' — let them answer 'the data.' Output anchor: the attribution sticky up on the board + one line in the log.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time — four lines as usual. For 'did', write: I trained a model that recognizes rock-paper-scissors. 'Stuck at' is required today: when does my model get it wrong. Leave the model on the board — second half, it does something after it recognizes. Output anchor: the four-line log in the workbook (md or handwriting).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half done. Your board is no longer an ordinary board — a deployed XIAO is a vision AI sensor. Just like the light sensor and the buttons you've used — except what it 'senses' is a picture. Once a sensor recognizes something, the result needs an exit. It speaks several 'languages': UART — the serial port; when it's connected to a computer, the recognition results you see on screen travel over it. I2C and SPI — for boards talking to boards. WiFi/MQTT — we play with that in the networking lessons, later. Look — two boards joined by I2C: this one watches, that one works. SPI's the same idea — a few jumper wires, and the 'eyes' and the 'hands' split apart. We don't run two boards today — but hold onto this feeling: recognized → output → something else catches it and does the work. The build in a minute is making that output light your LED and ring your buzzer. 'What's the difference between I2C and SPI?' — both are ways boards talk to each other — you don't need to tell them apart today. Remember UART — the serial port — that's what we use in a minute. Pure cognition, no hands-on; a student itching to wire — 'Note it down. Today's output runs through the serial port; two-board play is a later lesson.' [Asset: serial-port output screenshot — optional, live demo is primary]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Second-half brief, one sentence: recognize it → make it move. Scissors → red light on. Rock → buzzer beeps. Paper → all off. That's my demo — your rules are yours to set. Change the meaning if you want: scissors = my sister's secret signal — recognized, play the song she likes. Your model, your call. (hand out output hardware) Every table gets LED and buzzer as base pieces. Servo and light strip: only two per table, first-come-first-served. Didn't grab one? Don't sweat it — making the light and the buzzer do something interesting is just as much of a skill. Set expectations now: it 'thinks' on a thumbnail-sized board — half a second of lag is normal. Making it fast and smart enough to run a building is a later lesson. Today: it watches, and takes care of this one thing. 'I want it to recognize my Gundam model and fire!' — great idea — put it on the 'later' list. Today, use what your board already knows — rock-paper-scissors. That recognition step already won; don't re-fight it. Actuator argument — first-come-first-served + the agreement 'if nobody's using it after 16:20, it rotates.'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building — the usual three-box sheet: sense, logic, output. Today's three boxes have a new member. Sense: the class the camera recognizes (scissors / rock / paper). Logic: recognized what, do what. Output: the light, the buzzer, or the servo you grabbed. The new member lives in the logic box, one more column: 'What if it can't recognize it — or isn't sure?' Earlier projects never had this situation — a button is either pressed or not. But 'seeing' hesitates: it might say 'I'm not sure if that's scissors or paper.' This column must be filled. Writing 'do nothing' is a valid answer — but it has to be your decision, not its accident. The 'can't recognize' column left blank — send it back: 'That column is today's required question.' 'How sure is sure?' — good question, one line: every time, it reports how confident it is — a percentage. That number is its confidence. Your rule: below 70% confidence, treat it as not recognized. Output anchor: the three-box sheet (vision edition), with the 'can't recognize' column filled; shown to a TA before building.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how I plug the 'recognition result' into a conversation. Note this prompt — you're now the boss of two AIs: the one SenseCraft taught handles 'recognize', the one Codecraft runs handles 'do'. (type on screen, read it line by line — or point at this page) See — the old discipline: one thing at a time. Get 'scissors → light on' running first, then rock, then paper. In 30 minutes I'll call across the room and check your three-box sheets. 'It's slow / doesn't work' — point back to the expectation-setting: 'Half a second of lag is normal. Actually wrong? Think back to the first half — what makes it wrong? Write that situation down — it's the first item on next lesson's trouble list.' After moving / changing light, everything fails — teach on the spot: 'This is a scenario the data never saw. Quick rescue: back to SenseCraft, re-shoot 10 photos in the current light, retrain (the change-the-data route, demo live); OR write on your three-box sheet: this model only works at the window desk — that's a professional answer too.' It works but the action is too weak (a blink you barely see) — upgrade sheet on the board: LED → RGB strip; one beep → rhythm pattern; one servo swing → continuous waving. Lost between the two platforms — 'Left SenseCraft, right Codecraft. Don't merge them.' TAs correct it class-wide. At 16:31, some still have nothing running — TA B hands out the fallback prompt (slide 17); continue from the fallback. At 16:41, everyone stops and moves to the buffer. Output anchor: working vision-to-action project (at least 1 class → at least 1 action); log progress update ('did' = I made my model ___ after recognizing ___).</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Used at the 16:31 check: 'Not running yet — raise your hand. TA, start with the fallback prompt. Running? Keep going — extend rock and paper, or upgrade your output.' The fallback does only the onboard LED — no extra wiring: first build confidence, then add the light and buzzer. Output anchor: the fallback version running (one class → onboard LED).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buffer is not free time. Not running yet: TA B concentrates on getting them to 'one class → one action' (the acceptance floor). Running: (1) try your neighbor's project once; (2) log progress; (3) spare time: the 'three scenarios' line on the back of the three-box sheet. The teacher: tally acceptance (running / total), fill the reflection page sections A and B. Output anchor (running students): the log progress line; the 'three scenarios' note for next lesson.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 did two things nobody ever walked you through: you taught a board to know the world with your own hands — collecting photos, training a model, deploying it to the board. Then you made the knowing decide for you — your gesture makes a light turn on, a buzzer ring. In the whole course, this is the only time you touch 'how AI gets made.'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lesson preview: bring your model back. First, AI becomes your tester and hands you a trouble list; then you and your neighbor try to wreck each other's projects. Today you said 'not recognized → do nothing.' Next time you'll answer: that decision — accept or reject? Boards into the bag with your name on it. Output hardware back in place. Three-box sheet and log go with you (md or handwriting — hand to the teacher after class: link or photo). 'Can I take my model home?' — the model lives in the board, and the board lives here. Missing it? Read your log — first thing next lesson, we use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01 / 20</a:t>
            </a:r>
          </a:p>
        </p:txBody>
      </p:sp>
      <p:sp>
        <p:nvSpPr>
          <p:cNvPr id="4" name="TextBox 3"/>
          <p:cNvSpPr txBox="1"/>
          <p:nvPr/>
        </p:nvSpPr>
        <p:spPr>
          <a:xfrm>
            <a:off x="566928" y="1097280"/>
            <a:ext cx="6035040" cy="27432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Chaihuo Maker Academy · Smart Hardware Fundamentals (M0)</a:t>
            </a:r>
          </a:p>
        </p:txBody>
      </p:sp>
      <p:sp>
        <p:nvSpPr>
          <p:cNvPr id="5" name="TextBox 4"/>
          <p:cNvSpPr txBox="1"/>
          <p:nvPr/>
        </p:nvSpPr>
        <p:spPr>
          <a:xfrm>
            <a:off x="566928" y="1417320"/>
            <a:ext cx="8010144" cy="68580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Teach Your Hardware to See</a:t>
            </a:r>
          </a:p>
        </p:txBody>
      </p:sp>
      <p:sp>
        <p:nvSpPr>
          <p:cNvPr id="6" name="Rectangle 5"/>
          <p:cNvSpPr/>
          <p:nvPr/>
        </p:nvSpPr>
        <p:spPr>
          <a:xfrm>
            <a:off x="566928" y="2286000"/>
            <a:ext cx="146304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450592"/>
            <a:ext cx="5852160" cy="50292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Hand-Train Your First Vision Model · Chaihuo Maker Academy · M0 Lesson 5</a:t>
            </a:r>
          </a:p>
        </p:txBody>
      </p:sp>
      <p:sp>
        <p:nvSpPr>
          <p:cNvPr id="8" name="TextBox 7"/>
          <p:cNvSpPr txBox="1"/>
          <p:nvPr/>
        </p:nvSpPr>
        <p:spPr>
          <a:xfrm>
            <a:off x="566928" y="3200400"/>
            <a:ext cx="5852160" cy="411480"/>
          </a:xfrm>
          <a:prstGeom prst="rect">
            <a:avLst/>
          </a:prstGeom>
          <a:noFill/>
        </p:spPr>
        <p:txBody>
          <a:bodyPr wrap="square" anchor="t" lIns="0" rIns="0" tIns="0" bIns="0">
            <a:spAutoFit/>
          </a:bodyPr>
          <a:lstStyle/>
          <a:p>
            <a:pPr algn="l">
              <a:lnSpc>
                <a:spcPct val="100000"/>
              </a:lnSpc>
            </a:pPr>
            <a:r>
              <a:rPr sz="1800" b="1">
                <a:solidFill>
                  <a:srgbClr val="000000"/>
                </a:solidFill>
                <a:latin typeface="Source Han Sans SC"/>
              </a:rPr>
              <a:t>Today your board learns a brand-new skill.</a:t>
            </a:r>
          </a:p>
        </p:txBody>
      </p:sp>
      <p:sp>
        <p:nvSpPr>
          <p:cNvPr id="9" name="Rectangle 8"/>
          <p:cNvSpPr/>
          <p:nvPr/>
        </p:nvSpPr>
        <p:spPr>
          <a:xfrm>
            <a:off x="6400800" y="3063240"/>
            <a:ext cx="2103120" cy="1463040"/>
          </a:xfrm>
          <a:prstGeom prst="rect">
            <a:avLst/>
          </a:prstGeom>
          <a:solidFill>
            <a:srgbClr val="FFFF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276795" y="3238804"/>
            <a:ext cx="351129" cy="351129"/>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75111" y="3337121"/>
            <a:ext cx="154497" cy="154497"/>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11112" y="3361700"/>
            <a:ext cx="77248" cy="77248"/>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83296" y="3361700"/>
            <a:ext cx="77248" cy="77248"/>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79361" y="3911803"/>
            <a:ext cx="357530" cy="117043"/>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67827" y="3911803"/>
            <a:ext cx="357530" cy="117043"/>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79361" y="4233672"/>
            <a:ext cx="672998" cy="10241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62671" y="4233672"/>
            <a:ext cx="420623" cy="102412"/>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572000"/>
            <a:ext cx="2103120" cy="182880"/>
          </a:xfrm>
          <a:prstGeom prst="rect">
            <a:avLst/>
          </a:prstGeom>
          <a:noFill/>
        </p:spPr>
        <p:txBody>
          <a:bodyPr wrap="square" anchor="t" lIns="0" rIns="0" tIns="0" bIns="0">
            <a:spAutoFit/>
          </a:bodyPr>
          <a:lstStyle/>
          <a:p>
            <a:pPr algn="ctr">
              <a:lnSpc>
                <a:spcPct val="100000"/>
              </a:lnSpc>
            </a:pPr>
            <a:r>
              <a:rPr sz="950" b="0">
                <a:solidFill>
                  <a:srgbClr val="000000"/>
                </a:solidFill>
                <a:latin typeface="Source Han Sans SC"/>
              </a:rPr>
              <a:t>XIAO ESP32S3 Sense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How Does a Machine "See"?</a:t>
            </a:r>
          </a:p>
        </p:txBody>
      </p:sp>
      <p:sp>
        <p:nvSpPr>
          <p:cNvPr id="6" name="Rectangle 5"/>
          <p:cNvSpPr/>
          <p:nvPr/>
        </p:nvSpPr>
        <p:spPr>
          <a:xfrm>
            <a:off x="566928" y="1188720"/>
            <a:ext cx="2286000"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188720"/>
            <a:ext cx="2286000" cy="640080"/>
          </a:xfrm>
          <a:prstGeom prst="rect">
            <a:avLst/>
          </a:prstGeom>
          <a:noFill/>
        </p:spPr>
        <p:txBody>
          <a:bodyPr wrap="square" anchor="ctr" lIns="0" rIns="0" tIns="0" bIns="0">
            <a:spAutoFit/>
          </a:bodyPr>
          <a:lstStyle/>
          <a:p>
            <a:pPr algn="ctr">
              <a:lnSpc>
                <a:spcPct val="100000"/>
              </a:lnSpc>
            </a:pPr>
            <a:r>
              <a:rPr sz="1500" b="1">
                <a:solidFill>
                  <a:srgbClr val="000000"/>
                </a:solidFill>
                <a:latin typeface="Source Han Sans SC"/>
              </a:rPr>
              <a:t>PHOTO IN</a:t>
            </a:r>
          </a:p>
        </p:txBody>
      </p:sp>
      <p:sp>
        <p:nvSpPr>
          <p:cNvPr id="8" name="TextBox 7"/>
          <p:cNvSpPr txBox="1"/>
          <p:nvPr/>
        </p:nvSpPr>
        <p:spPr>
          <a:xfrm>
            <a:off x="2944368" y="1207008"/>
            <a:ext cx="457200" cy="603504"/>
          </a:xfrm>
          <a:prstGeom prst="rect">
            <a:avLst/>
          </a:prstGeom>
          <a:noFill/>
        </p:spPr>
        <p:txBody>
          <a:bodyPr wrap="square" anchor="ctr" lIns="0" rIns="0" tIns="0" bIns="0">
            <a:spAutoFit/>
          </a:bodyPr>
          <a:lstStyle/>
          <a:p>
            <a:pPr algn="ctr">
              <a:lnSpc>
                <a:spcPct val="100000"/>
              </a:lnSpc>
            </a:pPr>
            <a:r>
              <a:rPr sz="2600" b="1">
                <a:solidFill>
                  <a:srgbClr val="F3D230"/>
                </a:solidFill>
                <a:latin typeface="Source Han Sans SC"/>
              </a:rPr>
              <a:t>→</a:t>
            </a:r>
          </a:p>
        </p:txBody>
      </p:sp>
      <p:sp>
        <p:nvSpPr>
          <p:cNvPr id="9" name="Rectangle 8"/>
          <p:cNvSpPr/>
          <p:nvPr/>
        </p:nvSpPr>
        <p:spPr>
          <a:xfrm>
            <a:off x="3474720" y="1188720"/>
            <a:ext cx="2194560" cy="64008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74720" y="1188720"/>
            <a:ext cx="2194560" cy="640080"/>
          </a:xfrm>
          <a:prstGeom prst="rect">
            <a:avLst/>
          </a:prstGeom>
          <a:noFill/>
        </p:spPr>
        <p:txBody>
          <a:bodyPr wrap="square" anchor="ctr" lIns="0" rIns="0" tIns="0" bIns="0">
            <a:spAutoFit/>
          </a:bodyPr>
          <a:lstStyle/>
          <a:p>
            <a:pPr algn="ctr">
              <a:lnSpc>
                <a:spcPct val="100000"/>
              </a:lnSpc>
            </a:pPr>
            <a:r>
              <a:rPr sz="1400" b="0">
                <a:solidFill>
                  <a:srgbClr val="000000"/>
                </a:solidFill>
                <a:latin typeface="Source Code Pro"/>
              </a:rPr>
              <a:t>algorithm</a:t>
            </a:r>
          </a:p>
        </p:txBody>
      </p:sp>
      <p:sp>
        <p:nvSpPr>
          <p:cNvPr id="11" name="TextBox 10"/>
          <p:cNvSpPr txBox="1"/>
          <p:nvPr/>
        </p:nvSpPr>
        <p:spPr>
          <a:xfrm>
            <a:off x="5760720" y="1207008"/>
            <a:ext cx="457200" cy="603504"/>
          </a:xfrm>
          <a:prstGeom prst="rect">
            <a:avLst/>
          </a:prstGeom>
          <a:noFill/>
        </p:spPr>
        <p:txBody>
          <a:bodyPr wrap="square" anchor="ctr" lIns="0" rIns="0" tIns="0" bIns="0">
            <a:spAutoFit/>
          </a:bodyPr>
          <a:lstStyle/>
          <a:p>
            <a:pPr algn="ctr">
              <a:lnSpc>
                <a:spcPct val="100000"/>
              </a:lnSpc>
            </a:pPr>
            <a:r>
              <a:rPr sz="2600" b="1">
                <a:solidFill>
                  <a:srgbClr val="F3D230"/>
                </a:solidFill>
                <a:latin typeface="Source Han Sans SC"/>
              </a:rPr>
              <a:t>→</a:t>
            </a:r>
          </a:p>
        </p:txBody>
      </p:sp>
      <p:sp>
        <p:nvSpPr>
          <p:cNvPr id="12" name="Rectangle 11"/>
          <p:cNvSpPr/>
          <p:nvPr/>
        </p:nvSpPr>
        <p:spPr>
          <a:xfrm>
            <a:off x="6291072" y="1188720"/>
            <a:ext cx="2286000" cy="6400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1072" y="1188720"/>
            <a:ext cx="2286000" cy="640080"/>
          </a:xfrm>
          <a:prstGeom prst="rect">
            <a:avLst/>
          </a:prstGeom>
          <a:noFill/>
        </p:spPr>
        <p:txBody>
          <a:bodyPr wrap="square" anchor="ctr" lIns="0" rIns="0" tIns="0" bIns="0">
            <a:spAutoFit/>
          </a:bodyPr>
          <a:lstStyle/>
          <a:p>
            <a:pPr algn="ctr">
              <a:lnSpc>
                <a:spcPct val="100000"/>
              </a:lnSpc>
            </a:pPr>
            <a:r>
              <a:rPr sz="1400" b="1">
                <a:solidFill>
                  <a:srgbClr val="000000"/>
                </a:solidFill>
                <a:latin typeface="Source Han Sans SC"/>
              </a:rPr>
              <a:t>EXPERIENCE OUT</a:t>
            </a:r>
          </a:p>
        </p:txBody>
      </p:sp>
      <p:sp>
        <p:nvSpPr>
          <p:cNvPr id="14" name="Rectangle 13"/>
          <p:cNvSpPr/>
          <p:nvPr/>
        </p:nvSpPr>
        <p:spPr>
          <a:xfrm>
            <a:off x="566928" y="214884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258568"/>
            <a:ext cx="2304288"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TESLA</a:t>
            </a:r>
          </a:p>
        </p:txBody>
      </p:sp>
      <p:sp>
        <p:nvSpPr>
          <p:cNvPr id="16" name="TextBox 15"/>
          <p:cNvSpPr txBox="1"/>
          <p:nvPr/>
        </p:nvSpPr>
        <p:spPr>
          <a:xfrm>
            <a:off x="713232" y="2578608"/>
            <a:ext cx="2304288" cy="100584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eight cameras, a full 360° of road</a:t>
            </a:r>
          </a:p>
        </p:txBody>
      </p:sp>
      <p:sp>
        <p:nvSpPr>
          <p:cNvPr id="17" name="Rectangle 16"/>
          <p:cNvSpPr/>
          <p:nvPr/>
        </p:nvSpPr>
        <p:spPr>
          <a:xfrm>
            <a:off x="3273552" y="214884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19856" y="2258568"/>
            <a:ext cx="2304288"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PANDA WATCH</a:t>
            </a:r>
          </a:p>
        </p:txBody>
      </p:sp>
      <p:sp>
        <p:nvSpPr>
          <p:cNvPr id="19" name="TextBox 18"/>
          <p:cNvSpPr txBox="1"/>
          <p:nvPr/>
        </p:nvSpPr>
        <p:spPr>
          <a:xfrm>
            <a:off x="3419856" y="2578608"/>
            <a:ext cx="2304288" cy="100584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one camera over one mountain; spots a panda, reports the location</a:t>
            </a:r>
          </a:p>
        </p:txBody>
      </p:sp>
      <p:sp>
        <p:nvSpPr>
          <p:cNvPr id="20" name="Rectangle 19"/>
          <p:cNvSpPr/>
          <p:nvPr/>
        </p:nvSpPr>
        <p:spPr>
          <a:xfrm>
            <a:off x="5980176" y="2148840"/>
            <a:ext cx="2596896" cy="15544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0" y="2258568"/>
            <a:ext cx="2304288" cy="256032"/>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HUMMINGBIRD FEEDER</a:t>
            </a:r>
          </a:p>
        </p:txBody>
      </p:sp>
      <p:sp>
        <p:nvSpPr>
          <p:cNvPr id="22" name="TextBox 21"/>
          <p:cNvSpPr txBox="1"/>
          <p:nvPr/>
        </p:nvSpPr>
        <p:spPr>
          <a:xfrm>
            <a:off x="6126480" y="2578608"/>
            <a:ext cx="2304288" cy="100584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recognizes a hummingbird, notes when it came to eat</a:t>
            </a:r>
          </a:p>
        </p:txBody>
      </p:sp>
      <p:sp>
        <p:nvSpPr>
          <p:cNvPr id="23" name="Rectangle 22"/>
          <p:cNvSpPr/>
          <p:nvPr/>
        </p:nvSpPr>
        <p:spPr>
          <a:xfrm>
            <a:off x="566928" y="3931920"/>
            <a:ext cx="8010144" cy="56692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4023359"/>
            <a:ext cx="7680960" cy="384048"/>
          </a:xfrm>
          <a:prstGeom prst="rect">
            <a:avLst/>
          </a:prstGeom>
          <a:noFill/>
        </p:spPr>
        <p:txBody>
          <a:bodyPr wrap="square" anchor="t" lIns="0" rIns="0" tIns="0" bIns="0">
            <a:spAutoFit/>
          </a:bodyPr>
          <a:lstStyle/>
          <a:p>
            <a:pPr algn="l">
              <a:lnSpc>
                <a:spcPct val="120000"/>
              </a:lnSpc>
            </a:pPr>
            <a:r>
              <a:rPr sz="1500" b="0">
                <a:solidFill>
                  <a:srgbClr val="000000"/>
                </a:solidFill>
                <a:latin typeface="Source Code Pro"/>
              </a:rPr>
              <a:t>None of them talks or writes. They see.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Your Third Board — The Eyes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(and the second kind of AI)</a:t>
            </a:r>
          </a:p>
        </p:txBody>
      </p:sp>
      <p:sp>
        <p:nvSpPr>
          <p:cNvPr id="7" name="Rectangle 6"/>
          <p:cNvSpPr/>
          <p:nvPr/>
        </p:nvSpPr>
        <p:spPr>
          <a:xfrm>
            <a:off x="566928" y="1280160"/>
            <a:ext cx="3794760" cy="65836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362456"/>
            <a:ext cx="3520440" cy="512063"/>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GROVE KIT = SKIN</a:t>
            </a:r>
          </a:p>
          <a:p>
            <a:pPr algn="l">
              <a:lnSpc>
                <a:spcPct val="120000"/>
              </a:lnSpc>
            </a:pPr>
            <a:r>
              <a:rPr sz="1100" b="0">
                <a:solidFill>
                  <a:srgbClr val="000000"/>
                </a:solidFill>
                <a:latin typeface="Source Han Sans SC"/>
              </a:rPr>
              <a:t>feels hot, cold, motion</a:t>
            </a:r>
          </a:p>
        </p:txBody>
      </p:sp>
      <p:sp>
        <p:nvSpPr>
          <p:cNvPr id="9" name="Rectangle 8"/>
          <p:cNvSpPr/>
          <p:nvPr/>
        </p:nvSpPr>
        <p:spPr>
          <a:xfrm>
            <a:off x="566928" y="2212848"/>
            <a:ext cx="3794760" cy="65836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295144"/>
            <a:ext cx="3520440" cy="512063"/>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WIO = FACE</a:t>
            </a:r>
          </a:p>
          <a:p>
            <a:pPr algn="l">
              <a:lnSpc>
                <a:spcPct val="120000"/>
              </a:lnSpc>
            </a:pPr>
            <a:r>
              <a:rPr sz="1100" b="0">
                <a:solidFill>
                  <a:srgbClr val="000000"/>
                </a:solidFill>
                <a:latin typeface="Source Han Sans SC"/>
              </a:rPr>
              <a:t>has a screen and buttons</a:t>
            </a:r>
          </a:p>
        </p:txBody>
      </p:sp>
      <p:sp>
        <p:nvSpPr>
          <p:cNvPr id="11" name="Rectangle 10"/>
          <p:cNvSpPr/>
          <p:nvPr/>
        </p:nvSpPr>
        <p:spPr>
          <a:xfrm>
            <a:off x="566928" y="3145536"/>
            <a:ext cx="3794760" cy="86868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227832"/>
            <a:ext cx="3520440" cy="722375"/>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XIAO = EYES</a:t>
            </a:r>
          </a:p>
          <a:p>
            <a:pPr algn="l">
              <a:lnSpc>
                <a:spcPct val="120000"/>
              </a:lnSpc>
            </a:pPr>
            <a:r>
              <a:rPr sz="1100" b="0">
                <a:solidFill>
                  <a:srgbClr val="000000"/>
                </a:solidFill>
                <a:latin typeface="Source Han Sans SC"/>
              </a:rPr>
              <a:t>has a camera (and a microphone): it can see and hear</a:t>
            </a:r>
          </a:p>
        </p:txBody>
      </p:sp>
      <p:sp>
        <p:nvSpPr>
          <p:cNvPr id="13" name="TextBox 12"/>
          <p:cNvSpPr txBox="1"/>
          <p:nvPr/>
        </p:nvSpPr>
        <p:spPr>
          <a:xfrm>
            <a:off x="2240280" y="1947672"/>
            <a:ext cx="457200" cy="274320"/>
          </a:xfrm>
          <a:prstGeom prst="rect">
            <a:avLst/>
          </a:prstGeom>
          <a:noFill/>
        </p:spPr>
        <p:txBody>
          <a:bodyPr wrap="square" anchor="t" lIns="0" rIns="0" tIns="0" bIns="0">
            <a:spAutoFit/>
          </a:bodyPr>
          <a:lstStyle/>
          <a:p>
            <a:pPr algn="ctr">
              <a:lnSpc>
                <a:spcPct val="100000"/>
              </a:lnSpc>
            </a:pPr>
            <a:r>
              <a:rPr sz="1700" b="1">
                <a:solidFill>
                  <a:srgbClr val="F3D230"/>
                </a:solidFill>
                <a:latin typeface="Source Han Sans SC"/>
              </a:rPr>
              <a:t>↓</a:t>
            </a:r>
          </a:p>
        </p:txBody>
      </p:sp>
      <p:sp>
        <p:nvSpPr>
          <p:cNvPr id="14" name="TextBox 13"/>
          <p:cNvSpPr txBox="1"/>
          <p:nvPr/>
        </p:nvSpPr>
        <p:spPr>
          <a:xfrm>
            <a:off x="2240280" y="2880360"/>
            <a:ext cx="457200" cy="274320"/>
          </a:xfrm>
          <a:prstGeom prst="rect">
            <a:avLst/>
          </a:prstGeom>
          <a:noFill/>
        </p:spPr>
        <p:txBody>
          <a:bodyPr wrap="square" anchor="t" lIns="0" rIns="0" tIns="0" bIns="0">
            <a:spAutoFit/>
          </a:bodyPr>
          <a:lstStyle/>
          <a:p>
            <a:pPr algn="ctr">
              <a:lnSpc>
                <a:spcPct val="100000"/>
              </a:lnSpc>
            </a:pPr>
            <a:r>
              <a:rPr sz="1700" b="1">
                <a:solidFill>
                  <a:srgbClr val="F3D230"/>
                </a:solidFill>
                <a:latin typeface="Source Han Sans SC"/>
              </a:rPr>
              <a:t>↓</a:t>
            </a:r>
          </a:p>
        </p:txBody>
      </p:sp>
      <p:sp>
        <p:nvSpPr>
          <p:cNvPr id="15" name="Rectangle 14"/>
          <p:cNvSpPr/>
          <p:nvPr/>
        </p:nvSpPr>
        <p:spPr>
          <a:xfrm>
            <a:off x="4617720" y="1280160"/>
            <a:ext cx="3959352" cy="12801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1371600"/>
            <a:ext cx="3685032" cy="1097280"/>
          </a:xfrm>
          <a:prstGeom prst="rect">
            <a:avLst/>
          </a:prstGeom>
          <a:noFill/>
        </p:spPr>
        <p:txBody>
          <a:bodyPr wrap="square" anchor="t" lIns="0" rIns="0" tIns="0" bIns="0">
            <a:spAutoFit/>
          </a:bodyPr>
          <a:lstStyle/>
          <a:p>
            <a:pPr algn="l">
              <a:lnSpc>
                <a:spcPct val="125000"/>
              </a:lnSpc>
            </a:pPr>
            <a:r>
              <a:rPr sz="1300" b="1">
                <a:solidFill>
                  <a:srgbClr val="000000"/>
                </a:solidFill>
                <a:latin typeface="Source Han Sans SC"/>
              </a:rPr>
              <a:t>YOU TELL IT, IT BUILDS</a:t>
            </a:r>
          </a:p>
          <a:p>
            <a:pPr algn="l">
              <a:lnSpc>
                <a:spcPct val="125000"/>
              </a:lnSpc>
            </a:pPr>
            <a:r>
              <a:rPr sz="1000" b="0">
                <a:solidFill>
                  <a:srgbClr val="000000"/>
                </a:solidFill>
                <a:latin typeface="Source Han Sans SC"/>
              </a:rPr>
              <a:t>(the AI you've been using)</a:t>
            </a:r>
          </a:p>
          <a:p>
            <a:pPr algn="l">
              <a:lnSpc>
                <a:spcPct val="125000"/>
              </a:lnSpc>
            </a:pPr>
            <a:r>
              <a:rPr sz="1100" b="0">
                <a:solidFill>
                  <a:srgbClr val="000000"/>
                </a:solidFill>
                <a:latin typeface="Source Han Sans SC"/>
              </a:rPr>
              <a:t>tell Codecraft what you want → it writes the instructions</a:t>
            </a:r>
          </a:p>
        </p:txBody>
      </p:sp>
      <p:sp>
        <p:nvSpPr>
          <p:cNvPr id="17" name="Rectangle 16"/>
          <p:cNvSpPr/>
          <p:nvPr/>
        </p:nvSpPr>
        <p:spPr>
          <a:xfrm>
            <a:off x="4617720" y="2670048"/>
            <a:ext cx="3959352"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743200"/>
            <a:ext cx="3685032" cy="1298448"/>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YOU SHOW IT, IT LEARNS</a:t>
            </a:r>
          </a:p>
          <a:p>
            <a:pPr algn="l">
              <a:lnSpc>
                <a:spcPct val="120000"/>
              </a:lnSpc>
            </a:pPr>
            <a:r>
              <a:rPr sz="1000" b="0">
                <a:solidFill>
                  <a:srgbClr val="000000"/>
                </a:solidFill>
                <a:latin typeface="Source Han Sans SC"/>
              </a:rPr>
              <a:t>(new today)</a:t>
            </a:r>
          </a:p>
          <a:p>
            <a:pPr algn="l">
              <a:lnSpc>
                <a:spcPct val="120000"/>
              </a:lnSpc>
            </a:pPr>
            <a:r>
              <a:rPr sz="1050" b="0">
                <a:solidFill>
                  <a:srgbClr val="000000"/>
                </a:solidFill>
                <a:latin typeface="Source Han Sans SC"/>
              </a:rPr>
              <a:t>say nothing; show it photos, lots of them → it learns to recognize on its own</a:t>
            </a:r>
          </a:p>
          <a:p>
            <a:pPr algn="l">
              <a:lnSpc>
                <a:spcPct val="120000"/>
              </a:lnSpc>
            </a:pPr>
            <a:r>
              <a:rPr sz="950" b="0">
                <a:solidFill>
                  <a:srgbClr val="000000"/>
                </a:solidFill>
                <a:latin typeface="Source Han Sans SC"/>
              </a:rPr>
              <a:t>the website: SenseCraft AI — where you teach boards to recognize things</a:t>
            </a:r>
          </a:p>
        </p:txBody>
      </p:sp>
      <p:sp>
        <p:nvSpPr>
          <p:cNvPr id="19" name="Rectangle 18"/>
          <p:cNvSpPr/>
          <p:nvPr/>
        </p:nvSpPr>
        <p:spPr>
          <a:xfrm>
            <a:off x="566928" y="4224528"/>
            <a:ext cx="8010144" cy="47548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15968"/>
            <a:ext cx="7680960" cy="292608"/>
          </a:xfrm>
          <a:prstGeom prst="rect">
            <a:avLst/>
          </a:prstGeom>
          <a:noFill/>
        </p:spPr>
        <p:txBody>
          <a:bodyPr wrap="square" anchor="t" lIns="0" rIns="0" tIns="0" bIns="0">
            <a:spAutoFit/>
          </a:bodyPr>
          <a:lstStyle/>
          <a:p>
            <a:pPr algn="l">
              <a:lnSpc>
                <a:spcPct val="120000"/>
              </a:lnSpc>
            </a:pPr>
            <a:r>
              <a:rPr sz="1400" b="0">
                <a:solidFill>
                  <a:srgbClr val="000000"/>
                </a:solidFill>
                <a:latin typeface="Source Code Pro"/>
              </a:rPr>
              <a:t>First half of today: no typing. You talk with photos.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Meet the XIAO — the Little Eye Board</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XIAO ESP32S3 Sense · anatomy</a:t>
            </a:r>
          </a:p>
        </p:txBody>
      </p:sp>
      <p:sp>
        <p:nvSpPr>
          <p:cNvPr id="7" name="Rectangle 6"/>
          <p:cNvSpPr/>
          <p:nvPr/>
        </p:nvSpPr>
        <p:spPr>
          <a:xfrm>
            <a:off x="822960" y="1325880"/>
            <a:ext cx="3017520" cy="2286000"/>
          </a:xfrm>
          <a:prstGeom prst="rect">
            <a:avLst/>
          </a:prstGeom>
          <a:solidFill>
            <a:srgbClr val="FFFFFF"/>
          </a:solidFill>
          <a:ln w="254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057400" y="1600200"/>
            <a:ext cx="548640" cy="548640"/>
          </a:xfrm>
          <a:prstGeom prst="ellipse">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211019" y="1753819"/>
            <a:ext cx="241401" cy="241401"/>
          </a:xfrm>
          <a:prstGeom prst="ellipse">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792224"/>
            <a:ext cx="120700" cy="120700"/>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236976" y="1792224"/>
            <a:ext cx="120700" cy="120700"/>
          </a:xfrm>
          <a:prstGeom prst="ellipse">
            <a:avLst/>
          </a:prstGeom>
          <a:solidFill>
            <a:srgbClr val="F3D23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366113" y="2651760"/>
            <a:ext cx="512978" cy="1828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84348" y="2651760"/>
            <a:ext cx="512978" cy="18288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66113" y="3154680"/>
            <a:ext cx="965606" cy="1600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633472" y="3154680"/>
            <a:ext cx="603504" cy="160020"/>
          </a:xfrm>
          <a:prstGeom prst="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00200" y="1380744"/>
            <a:ext cx="1463040" cy="182880"/>
          </a:xfrm>
          <a:prstGeom prst="rect">
            <a:avLst/>
          </a:prstGeom>
          <a:noFill/>
        </p:spPr>
        <p:txBody>
          <a:bodyPr wrap="square" anchor="t" lIns="0" rIns="0" tIns="0" bIns="0">
            <a:spAutoFit/>
          </a:bodyPr>
          <a:lstStyle/>
          <a:p>
            <a:pPr algn="ctr">
              <a:lnSpc>
                <a:spcPct val="100000"/>
              </a:lnSpc>
            </a:pPr>
            <a:r>
              <a:rPr sz="800" b="1">
                <a:solidFill>
                  <a:srgbClr val="000000"/>
                </a:solidFill>
                <a:latin typeface="Source Han Sans SC"/>
              </a:rPr>
              <a:t>CAMERA</a:t>
            </a:r>
          </a:p>
        </p:txBody>
      </p:sp>
      <p:sp>
        <p:nvSpPr>
          <p:cNvPr id="17" name="TextBox 16"/>
          <p:cNvSpPr txBox="1"/>
          <p:nvPr/>
        </p:nvSpPr>
        <p:spPr>
          <a:xfrm>
            <a:off x="1219809" y="2843784"/>
            <a:ext cx="805586" cy="164592"/>
          </a:xfrm>
          <a:prstGeom prst="rect">
            <a:avLst/>
          </a:prstGeom>
          <a:noFill/>
        </p:spPr>
        <p:txBody>
          <a:bodyPr wrap="square" anchor="t" lIns="0" rIns="0" tIns="0" bIns="0">
            <a:spAutoFit/>
          </a:bodyPr>
          <a:lstStyle/>
          <a:p>
            <a:pPr algn="ctr">
              <a:lnSpc>
                <a:spcPct val="100000"/>
              </a:lnSpc>
            </a:pPr>
            <a:r>
              <a:rPr sz="750" b="0">
                <a:solidFill>
                  <a:srgbClr val="000000"/>
                </a:solidFill>
                <a:latin typeface="Source Han Sans SC"/>
              </a:rPr>
              <a:t>RST</a:t>
            </a:r>
          </a:p>
        </p:txBody>
      </p:sp>
      <p:sp>
        <p:nvSpPr>
          <p:cNvPr id="18" name="TextBox 17"/>
          <p:cNvSpPr txBox="1"/>
          <p:nvPr/>
        </p:nvSpPr>
        <p:spPr>
          <a:xfrm>
            <a:off x="2619756" y="2843784"/>
            <a:ext cx="842162" cy="164592"/>
          </a:xfrm>
          <a:prstGeom prst="rect">
            <a:avLst/>
          </a:prstGeom>
          <a:noFill/>
        </p:spPr>
        <p:txBody>
          <a:bodyPr wrap="square" anchor="t" lIns="0" rIns="0" tIns="0" bIns="0">
            <a:spAutoFit/>
          </a:bodyPr>
          <a:lstStyle/>
          <a:p>
            <a:pPr algn="ctr">
              <a:lnSpc>
                <a:spcPct val="100000"/>
              </a:lnSpc>
            </a:pPr>
            <a:r>
              <a:rPr sz="750" b="0">
                <a:solidFill>
                  <a:srgbClr val="000000"/>
                </a:solidFill>
                <a:latin typeface="Source Han Sans SC"/>
              </a:rPr>
              <a:t>BOOT</a:t>
            </a:r>
          </a:p>
        </p:txBody>
      </p:sp>
      <p:sp>
        <p:nvSpPr>
          <p:cNvPr id="19" name="TextBox 18"/>
          <p:cNvSpPr txBox="1"/>
          <p:nvPr/>
        </p:nvSpPr>
        <p:spPr>
          <a:xfrm>
            <a:off x="1183233" y="3332988"/>
            <a:ext cx="1331366" cy="164592"/>
          </a:xfrm>
          <a:prstGeom prst="rect">
            <a:avLst/>
          </a:prstGeom>
          <a:noFill/>
        </p:spPr>
        <p:txBody>
          <a:bodyPr wrap="square" anchor="t" lIns="0" rIns="0" tIns="0" bIns="0">
            <a:spAutoFit/>
          </a:bodyPr>
          <a:lstStyle/>
          <a:p>
            <a:pPr algn="ctr">
              <a:lnSpc>
                <a:spcPct val="100000"/>
              </a:lnSpc>
            </a:pPr>
            <a:r>
              <a:rPr sz="750" b="0">
                <a:solidFill>
                  <a:srgbClr val="000000"/>
                </a:solidFill>
                <a:latin typeface="Source Han Sans SC"/>
              </a:rPr>
              <a:t>SD CARD</a:t>
            </a:r>
          </a:p>
        </p:txBody>
      </p:sp>
      <p:sp>
        <p:nvSpPr>
          <p:cNvPr id="20" name="TextBox 19"/>
          <p:cNvSpPr txBox="1"/>
          <p:nvPr/>
        </p:nvSpPr>
        <p:spPr>
          <a:xfrm>
            <a:off x="2414015" y="3332988"/>
            <a:ext cx="1042416" cy="164592"/>
          </a:xfrm>
          <a:prstGeom prst="rect">
            <a:avLst/>
          </a:prstGeom>
          <a:noFill/>
        </p:spPr>
        <p:txBody>
          <a:bodyPr wrap="square" anchor="t" lIns="0" rIns="0" tIns="0" bIns="0">
            <a:spAutoFit/>
          </a:bodyPr>
          <a:lstStyle/>
          <a:p>
            <a:pPr algn="ctr">
              <a:lnSpc>
                <a:spcPct val="100000"/>
              </a:lnSpc>
            </a:pPr>
            <a:r>
              <a:rPr sz="750" b="0">
                <a:solidFill>
                  <a:srgbClr val="000000"/>
                </a:solidFill>
                <a:latin typeface="Source Han Sans SC"/>
              </a:rPr>
              <a:t>CHARGE</a:t>
            </a:r>
          </a:p>
        </p:txBody>
      </p:sp>
      <p:sp>
        <p:nvSpPr>
          <p:cNvPr id="21" name="TextBox 20"/>
          <p:cNvSpPr txBox="1"/>
          <p:nvPr/>
        </p:nvSpPr>
        <p:spPr>
          <a:xfrm>
            <a:off x="731520" y="1709928"/>
            <a:ext cx="941832" cy="164592"/>
          </a:xfrm>
          <a:prstGeom prst="rect">
            <a:avLst/>
          </a:prstGeom>
          <a:noFill/>
        </p:spPr>
        <p:txBody>
          <a:bodyPr wrap="square" anchor="t" lIns="0" rIns="0" tIns="0" bIns="0">
            <a:spAutoFit/>
          </a:bodyPr>
          <a:lstStyle/>
          <a:p>
            <a:pPr algn="r">
              <a:lnSpc>
                <a:spcPct val="100000"/>
              </a:lnSpc>
            </a:pPr>
            <a:r>
              <a:rPr sz="750" b="0">
                <a:solidFill>
                  <a:srgbClr val="000000"/>
                </a:solidFill>
                <a:latin typeface="Source Han Sans SC"/>
              </a:rPr>
              <a:t>MIC</a:t>
            </a:r>
          </a:p>
        </p:txBody>
      </p:sp>
      <p:sp>
        <p:nvSpPr>
          <p:cNvPr id="22" name="TextBox 21"/>
          <p:cNvSpPr txBox="1"/>
          <p:nvPr/>
        </p:nvSpPr>
        <p:spPr>
          <a:xfrm>
            <a:off x="2962656" y="1709928"/>
            <a:ext cx="941832" cy="164592"/>
          </a:xfrm>
          <a:prstGeom prst="rect">
            <a:avLst/>
          </a:prstGeom>
          <a:noFill/>
        </p:spPr>
        <p:txBody>
          <a:bodyPr wrap="square" anchor="t" lIns="0" rIns="0" tIns="0" bIns="0">
            <a:spAutoFit/>
          </a:bodyPr>
          <a:lstStyle/>
          <a:p>
            <a:pPr algn="l">
              <a:lnSpc>
                <a:spcPct val="100000"/>
              </a:lnSpc>
            </a:pPr>
            <a:r>
              <a:rPr sz="750" b="0">
                <a:solidFill>
                  <a:srgbClr val="000000"/>
                </a:solidFill>
                <a:latin typeface="Source Han Sans SC"/>
              </a:rPr>
              <a:t>LED</a:t>
            </a:r>
          </a:p>
        </p:txBody>
      </p:sp>
      <p:sp>
        <p:nvSpPr>
          <p:cNvPr id="23" name="Oval 22"/>
          <p:cNvSpPr/>
          <p:nvPr/>
        </p:nvSpPr>
        <p:spPr>
          <a:xfrm>
            <a:off x="4206240" y="150876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52544" y="1417320"/>
            <a:ext cx="4224528" cy="54864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Camera — its eye</a:t>
            </a:r>
          </a:p>
        </p:txBody>
      </p:sp>
      <p:sp>
        <p:nvSpPr>
          <p:cNvPr id="25" name="Oval 24"/>
          <p:cNvSpPr/>
          <p:nvPr/>
        </p:nvSpPr>
        <p:spPr>
          <a:xfrm>
            <a:off x="4206240" y="210312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52544" y="2011680"/>
            <a:ext cx="4224528" cy="54864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Microphone — its ear</a:t>
            </a:r>
          </a:p>
        </p:txBody>
      </p:sp>
      <p:sp>
        <p:nvSpPr>
          <p:cNvPr id="27" name="Oval 26"/>
          <p:cNvSpPr/>
          <p:nvPr/>
        </p:nvSpPr>
        <p:spPr>
          <a:xfrm>
            <a:off x="4206240" y="269748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52544" y="2606040"/>
            <a:ext cx="4224528" cy="54864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Two little buttons — reset and boot (you'll use them when flashing)</a:t>
            </a:r>
          </a:p>
        </p:txBody>
      </p:sp>
      <p:sp>
        <p:nvSpPr>
          <p:cNvPr id="29" name="Oval 28"/>
          <p:cNvSpPr/>
          <p:nvPr/>
        </p:nvSpPr>
        <p:spPr>
          <a:xfrm>
            <a:off x="4206240" y="3401568"/>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52544" y="3310128"/>
            <a:ext cx="4224528" cy="548640"/>
          </a:xfrm>
          <a:prstGeom prst="rect">
            <a:avLst/>
          </a:prstGeom>
          <a:noFill/>
        </p:spPr>
        <p:txBody>
          <a:bodyPr wrap="square" anchor="t" lIns="0" rIns="0" tIns="0" bIns="0">
            <a:spAutoFit/>
          </a:bodyPr>
          <a:lstStyle/>
          <a:p>
            <a:pPr algn="l">
              <a:lnSpc>
                <a:spcPct val="115000"/>
              </a:lnSpc>
            </a:pPr>
            <a:r>
              <a:rPr sz="1250" b="0">
                <a:solidFill>
                  <a:srgbClr val="000000"/>
                </a:solidFill>
                <a:latin typeface="Source Han Sans SC"/>
              </a:rPr>
              <a:t>Tiny LED · SD card slot · charging port (just know they exist)</a:t>
            </a:r>
          </a:p>
        </p:txBody>
      </p:sp>
      <p:sp>
        <p:nvSpPr>
          <p:cNvPr id="31" name="Rectangle 30"/>
          <p:cNvSpPr/>
          <p:nvPr/>
        </p:nvSpPr>
        <p:spPr>
          <a:xfrm>
            <a:off x="566928" y="3931920"/>
            <a:ext cx="8010144" cy="77724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041648"/>
            <a:ext cx="7680960" cy="557784"/>
          </a:xfrm>
          <a:prstGeom prst="rect">
            <a:avLst/>
          </a:prstGeom>
          <a:noFill/>
        </p:spPr>
        <p:txBody>
          <a:bodyPr wrap="square" anchor="t" lIns="0" rIns="0" tIns="0" bIns="0">
            <a:spAutoFit/>
          </a:bodyPr>
          <a:lstStyle/>
          <a:p>
            <a:pPr algn="l">
              <a:lnSpc>
                <a:spcPct val="125000"/>
              </a:lnSpc>
            </a:pPr>
            <a:r>
              <a:rPr sz="1300" b="0">
                <a:solidFill>
                  <a:srgbClr val="000000"/>
                </a:solidFill>
                <a:latin typeface="Source Han Sans SC"/>
              </a:rPr>
              <a:t>The most special thing: AI lives inside the board. Once the trained model is loaded in, it recognizes your gestures with NO internet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Three Pros, Three Cons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you'll hit them all today</a:t>
            </a:r>
          </a:p>
        </p:txBody>
      </p:sp>
      <p:sp>
        <p:nvSpPr>
          <p:cNvPr id="7" name="Rectangle 6"/>
          <p:cNvSpPr/>
          <p:nvPr/>
        </p:nvSpPr>
        <p:spPr>
          <a:xfrm>
            <a:off x="566928" y="1325880"/>
            <a:ext cx="3931920" cy="24231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35607"/>
            <a:ext cx="3602736"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PROS</a:t>
            </a:r>
          </a:p>
        </p:txBody>
      </p:sp>
      <p:sp>
        <p:nvSpPr>
          <p:cNvPr id="9" name="TextBox 8"/>
          <p:cNvSpPr txBox="1"/>
          <p:nvPr/>
        </p:nvSpPr>
        <p:spPr>
          <a:xfrm>
            <a:off x="731520" y="1764791"/>
            <a:ext cx="3602736" cy="1837944"/>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SMALL — thumb-size, fits anywhere</a:t>
            </a:r>
          </a:p>
          <a:p>
            <a:pPr algn="l">
              <a:lnSpc>
                <a:spcPct val="125000"/>
              </a:lnSpc>
            </a:pPr>
            <a:r>
              <a:rPr sz="1200" b="0">
                <a:solidFill>
                  <a:srgbClr val="000000"/>
                </a:solidFill>
                <a:latin typeface="Source Han Sans SC"/>
              </a:rPr>
              <a:t>CHEAP — about the price of a lunch</a:t>
            </a:r>
          </a:p>
          <a:p>
            <a:pPr algn="l">
              <a:lnSpc>
                <a:spcPct val="125000"/>
              </a:lnSpc>
            </a:pPr>
            <a:r>
              <a:rPr sz="1200" b="0">
                <a:solidFill>
                  <a:srgbClr val="000000"/>
                </a:solidFill>
                <a:latin typeface="Source Han Sans SC"/>
              </a:rPr>
              <a:t>AI RUNS ON THE BOARD — no internet; your photos never leave this little board</a:t>
            </a:r>
          </a:p>
        </p:txBody>
      </p:sp>
      <p:sp>
        <p:nvSpPr>
          <p:cNvPr id="10" name="Rectangle 9"/>
          <p:cNvSpPr/>
          <p:nvPr/>
        </p:nvSpPr>
        <p:spPr>
          <a:xfrm>
            <a:off x="4645152" y="1325880"/>
            <a:ext cx="3931920" cy="242316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9744" y="1435608"/>
            <a:ext cx="3602736"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CONS</a:t>
            </a:r>
          </a:p>
        </p:txBody>
      </p:sp>
      <p:sp>
        <p:nvSpPr>
          <p:cNvPr id="12" name="TextBox 11"/>
          <p:cNvSpPr txBox="1"/>
          <p:nvPr/>
        </p:nvSpPr>
        <p:spPr>
          <a:xfrm>
            <a:off x="4809744" y="1764792"/>
            <a:ext cx="3602736" cy="1874519"/>
          </a:xfrm>
          <a:prstGeom prst="rect">
            <a:avLst/>
          </a:prstGeom>
          <a:noFill/>
        </p:spPr>
        <p:txBody>
          <a:bodyPr wrap="square" anchor="t" lIns="0" rIns="0" tIns="0" bIns="0">
            <a:spAutoFit/>
          </a:bodyPr>
          <a:lstStyle/>
          <a:p>
            <a:pPr algn="l">
              <a:lnSpc>
                <a:spcPct val="125000"/>
              </a:lnSpc>
            </a:pPr>
            <a:r>
              <a:rPr sz="1200" b="0">
                <a:solidFill>
                  <a:srgbClr val="000000"/>
                </a:solidFill>
                <a:latin typeface="Source Han Sans SC"/>
              </a:rPr>
              <a:t>SMALL COMPUTING POWER — it 'thinks' half a second slower; normal</a:t>
            </a:r>
          </a:p>
          <a:p>
            <a:pPr algn="l">
              <a:lnSpc>
                <a:spcPct val="125000"/>
              </a:lnSpc>
            </a:pPr>
            <a:r>
              <a:rPr sz="1200" b="0">
                <a:solidFill>
                  <a:srgbClr val="000000"/>
                </a:solidFill>
                <a:latin typeface="Source Han Sans SC"/>
              </a:rPr>
              <a:t>IT MAKES MISTAKES — 'what to do when it can't recognize' is part of your design</a:t>
            </a:r>
          </a:p>
          <a:p>
            <a:pPr algn="l">
              <a:lnSpc>
                <a:spcPct val="125000"/>
              </a:lnSpc>
            </a:pPr>
            <a:r>
              <a:rPr sz="1200" b="0">
                <a:solidFill>
                  <a:srgbClr val="000000"/>
                </a:solidFill>
                <a:latin typeface="Source Han Sans SC"/>
              </a:rPr>
              <a:t>NO SCREEN — it talks through lights, buzzers, or the computer</a:t>
            </a:r>
          </a:p>
        </p:txBody>
      </p:sp>
      <p:sp>
        <p:nvSpPr>
          <p:cNvPr id="13" name="Rectangle 12"/>
          <p:cNvSpPr/>
          <p:nvPr/>
        </p:nvSpPr>
        <p:spPr>
          <a:xfrm>
            <a:off x="566928" y="3977639"/>
            <a:ext cx="8010144" cy="548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069079"/>
            <a:ext cx="7680960" cy="365759"/>
          </a:xfrm>
          <a:prstGeom prst="rect">
            <a:avLst/>
          </a:prstGeom>
          <a:noFill/>
        </p:spPr>
        <p:txBody>
          <a:bodyPr wrap="square" anchor="t" lIns="0" rIns="0" tIns="0" bIns="0">
            <a:spAutoFit/>
          </a:bodyPr>
          <a:lstStyle/>
          <a:p>
            <a:pPr algn="l">
              <a:lnSpc>
                <a:spcPct val="120000"/>
              </a:lnSpc>
            </a:pPr>
            <a:r>
              <a:rPr sz="1600" b="0">
                <a:solidFill>
                  <a:srgbClr val="000000"/>
                </a:solidFill>
                <a:latin typeface="Source Code Pro"/>
              </a:rPr>
              <a:t>Small computer, small jobs.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Today's Tool + the Sign-In Demo</a:t>
            </a:r>
          </a:p>
        </p:txBody>
      </p:sp>
      <p:sp>
        <p:nvSpPr>
          <p:cNvPr id="6" name="Rectangle 5"/>
          <p:cNvSpPr/>
          <p:nvPr/>
        </p:nvSpPr>
        <p:spPr>
          <a:xfrm>
            <a:off x="566928" y="1234440"/>
            <a:ext cx="3840480" cy="5486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3511296" cy="365759"/>
          </a:xfrm>
          <a:prstGeom prst="rect">
            <a:avLst/>
          </a:prstGeom>
          <a:noFill/>
        </p:spPr>
        <p:txBody>
          <a:bodyPr wrap="square" anchor="t" lIns="0" rIns="0" tIns="0" bIns="0">
            <a:spAutoFit/>
          </a:bodyPr>
          <a:lstStyle/>
          <a:p>
            <a:pPr algn="l">
              <a:lnSpc>
                <a:spcPct val="120000"/>
              </a:lnSpc>
            </a:pPr>
            <a:r>
              <a:rPr sz="1500" b="0">
                <a:solidFill>
                  <a:srgbClr val="000000"/>
                </a:solidFill>
                <a:latin typeface="Source Code Pro"/>
              </a:rPr>
              <a:t>sensecraft.seeed.cc/ai</a:t>
            </a:r>
          </a:p>
        </p:txBody>
      </p:sp>
      <p:sp>
        <p:nvSpPr>
          <p:cNvPr id="8" name="TextBox 7"/>
          <p:cNvSpPr txBox="1"/>
          <p:nvPr/>
        </p:nvSpPr>
        <p:spPr>
          <a:xfrm>
            <a:off x="566928" y="1920240"/>
            <a:ext cx="3840480" cy="548640"/>
          </a:xfrm>
          <a:prstGeom prst="rect">
            <a:avLst/>
          </a:prstGeom>
          <a:noFill/>
        </p:spPr>
        <p:txBody>
          <a:bodyPr wrap="square" anchor="t" lIns="0" rIns="0" tIns="0" bIns="0">
            <a:spAutoFit/>
          </a:bodyPr>
          <a:lstStyle/>
          <a:p>
            <a:pPr algn="l">
              <a:lnSpc>
                <a:spcPct val="120000"/>
              </a:lnSpc>
            </a:pPr>
            <a:r>
              <a:rPr sz="1050" b="0">
                <a:solidFill>
                  <a:srgbClr val="000000"/>
                </a:solidFill>
                <a:latin typeface="Source Han Sans SC"/>
              </a:rPr>
              <a:t>don't write it down; the tabs are already open on every machine once the boards go out.</a:t>
            </a:r>
          </a:p>
        </p:txBody>
      </p:sp>
      <p:sp>
        <p:nvSpPr>
          <p:cNvPr id="9" name="Rectangle 8"/>
          <p:cNvSpPr/>
          <p:nvPr/>
        </p:nvSpPr>
        <p:spPr>
          <a:xfrm>
            <a:off x="4645152" y="1234440"/>
            <a:ext cx="3931920" cy="16002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91456" y="1371600"/>
            <a:ext cx="3639312" cy="320040"/>
          </a:xfrm>
          <a:prstGeom prst="rect">
            <a:avLst/>
          </a:prstGeom>
          <a:noFill/>
        </p:spPr>
        <p:txBody>
          <a:bodyPr wrap="square" anchor="t" lIns="0" rIns="0" tIns="0" bIns="0">
            <a:spAutoFit/>
          </a:bodyPr>
          <a:lstStyle/>
          <a:p>
            <a:pPr algn="ctr">
              <a:lnSpc>
                <a:spcPct val="100000"/>
              </a:lnSpc>
            </a:pPr>
            <a:r>
              <a:rPr sz="1000" b="0">
                <a:solidFill>
                  <a:srgbClr val="000000"/>
                </a:solidFill>
                <a:latin typeface="Source Code Pro"/>
              </a:rPr>
              <a:t>[ sign-in demo screenshot — camera at the badge ]</a:t>
            </a:r>
          </a:p>
        </p:txBody>
      </p:sp>
      <p:sp>
        <p:nvSpPr>
          <p:cNvPr id="11" name="TextBox 10"/>
          <p:cNvSpPr txBox="1"/>
          <p:nvPr/>
        </p:nvSpPr>
        <p:spPr>
          <a:xfrm>
            <a:off x="4791456" y="1874519"/>
            <a:ext cx="3639312" cy="502920"/>
          </a:xfrm>
          <a:prstGeom prst="rect">
            <a:avLst/>
          </a:prstGeom>
          <a:noFill/>
        </p:spPr>
        <p:txBody>
          <a:bodyPr wrap="square" anchor="t" lIns="0" rIns="0" tIns="0" bIns="0">
            <a:spAutoFit/>
          </a:bodyPr>
          <a:lstStyle/>
          <a:p>
            <a:pPr algn="ctr">
              <a:lnSpc>
                <a:spcPct val="100000"/>
              </a:lnSpc>
            </a:pPr>
            <a:r>
              <a:rPr sz="2400" b="1">
                <a:solidFill>
                  <a:srgbClr val="8AA88A"/>
                </a:solidFill>
                <a:latin typeface="Source Han Sans SC"/>
              </a:rPr>
              <a:t>SIGNED IN</a:t>
            </a:r>
          </a:p>
        </p:txBody>
      </p:sp>
      <p:sp>
        <p:nvSpPr>
          <p:cNvPr id="12" name="TextBox 11"/>
          <p:cNvSpPr txBox="1"/>
          <p:nvPr/>
        </p:nvSpPr>
        <p:spPr>
          <a:xfrm>
            <a:off x="4791456" y="2450592"/>
            <a:ext cx="3639312" cy="228600"/>
          </a:xfrm>
          <a:prstGeom prst="rect">
            <a:avLst/>
          </a:prstGeom>
          <a:noFill/>
        </p:spPr>
        <p:txBody>
          <a:bodyPr wrap="square" anchor="t" lIns="0" rIns="0" tIns="0" bIns="0">
            <a:spAutoFit/>
          </a:bodyPr>
          <a:lstStyle/>
          <a:p>
            <a:pPr algn="ctr">
              <a:lnSpc>
                <a:spcPct val="100000"/>
              </a:lnSpc>
            </a:pPr>
            <a:r>
              <a:rPr sz="950" b="0">
                <a:solidFill>
                  <a:srgbClr val="000000"/>
                </a:solidFill>
                <a:latin typeface="Source Han Sans SC"/>
              </a:rPr>
              <a:t>what the board shows</a:t>
            </a:r>
          </a:p>
        </p:txBody>
      </p:sp>
      <p:sp>
        <p:nvSpPr>
          <p:cNvPr id="13" name="Oval 12"/>
          <p:cNvSpPr/>
          <p:nvPr/>
        </p:nvSpPr>
        <p:spPr>
          <a:xfrm>
            <a:off x="566928" y="315468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063240"/>
            <a:ext cx="7863840"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Not face-recognition — someone taught it</a:t>
            </a:r>
          </a:p>
        </p:txBody>
      </p:sp>
      <p:sp>
        <p:nvSpPr>
          <p:cNvPr id="15" name="Oval 14"/>
          <p:cNvSpPr/>
          <p:nvPr/>
        </p:nvSpPr>
        <p:spPr>
          <a:xfrm>
            <a:off x="566928" y="361188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520440"/>
            <a:ext cx="7863840"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How? By showing it lots and lots of photos</a:t>
            </a:r>
          </a:p>
        </p:txBody>
      </p:sp>
      <p:sp>
        <p:nvSpPr>
          <p:cNvPr id="17" name="Oval 16"/>
          <p:cNvSpPr/>
          <p:nvPr/>
        </p:nvSpPr>
        <p:spPr>
          <a:xfrm>
            <a:off x="566928" y="4069079"/>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977639"/>
            <a:ext cx="7863840"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Today, each of you teaches one with your own hands — your own gestures</a:t>
            </a:r>
          </a:p>
        </p:txBody>
      </p:sp>
      <p:sp>
        <p:nvSpPr>
          <p:cNvPr id="19" name="TextBox 18"/>
          <p:cNvSpPr txBox="1"/>
          <p:nvPr/>
        </p:nvSpPr>
        <p:spPr>
          <a:xfrm>
            <a:off x="566928" y="4526280"/>
            <a:ext cx="8010144" cy="219456"/>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Collecting Lesson 4: Pomodoro timer record — md link or photo.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Experience 1 — The AI Blink</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use a model someone else taught</a:t>
            </a:r>
          </a:p>
        </p:txBody>
      </p:sp>
      <p:sp>
        <p:nvSpPr>
          <p:cNvPr id="7" name="Rectangle 6"/>
          <p:cNvSpPr/>
          <p:nvPr/>
        </p:nvSpPr>
        <p:spPr>
          <a:xfrm>
            <a:off x="566928" y="132588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36245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97280" y="1307592"/>
            <a:ext cx="7223760" cy="502920"/>
          </a:xfrm>
          <a:prstGeom prst="rect">
            <a:avLst/>
          </a:prstGeom>
          <a:noFill/>
        </p:spPr>
        <p:txBody>
          <a:bodyPr wrap="square" anchor="t" lIns="0" rIns="0" tIns="0" bIns="0">
            <a:spAutoFit/>
          </a:bodyPr>
          <a:lstStyle/>
          <a:p>
            <a:pPr algn="l">
              <a:lnSpc>
                <a:spcPct val="120000"/>
              </a:lnSpc>
            </a:pPr>
            <a:r>
              <a:rPr sz="1200" b="0">
                <a:solidFill>
                  <a:srgbClr val="000000"/>
                </a:solidFill>
                <a:latin typeface="Source Han Sans SC"/>
              </a:rPr>
              <a:t>Assemble &amp; connect — cable pushed all the way in; 'connect device', see your board's name</a:t>
            </a:r>
          </a:p>
        </p:txBody>
      </p:sp>
      <p:sp>
        <p:nvSpPr>
          <p:cNvPr id="10" name="Rectangle 9"/>
          <p:cNvSpPr/>
          <p:nvPr/>
        </p:nvSpPr>
        <p:spPr>
          <a:xfrm>
            <a:off x="566928" y="1892807"/>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929384"/>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2" name="TextBox 11"/>
          <p:cNvSpPr txBox="1"/>
          <p:nvPr/>
        </p:nvSpPr>
        <p:spPr>
          <a:xfrm>
            <a:off x="1097280" y="1874519"/>
            <a:ext cx="7223760" cy="502920"/>
          </a:xfrm>
          <a:prstGeom prst="rect">
            <a:avLst/>
          </a:prstGeom>
          <a:noFill/>
        </p:spPr>
        <p:txBody>
          <a:bodyPr wrap="square" anchor="t" lIns="0" rIns="0" tIns="0" bIns="0">
            <a:spAutoFit/>
          </a:bodyPr>
          <a:lstStyle/>
          <a:p>
            <a:pPr algn="l">
              <a:lnSpc>
                <a:spcPct val="120000"/>
              </a:lnSpc>
            </a:pPr>
            <a:r>
              <a:rPr sz="1200" b="0">
                <a:solidFill>
                  <a:srgbClr val="000000"/>
                </a:solidFill>
                <a:latin typeface="Source Han Sans SC"/>
              </a:rPr>
              <a:t>Pick FACE DETECTION in SenseCraft → click DEPLOY — the model travels down the cable into the board</a:t>
            </a:r>
          </a:p>
        </p:txBody>
      </p:sp>
      <p:sp>
        <p:nvSpPr>
          <p:cNvPr id="13" name="Rectangle 12"/>
          <p:cNvSpPr/>
          <p:nvPr/>
        </p:nvSpPr>
        <p:spPr>
          <a:xfrm>
            <a:off x="566928" y="2459736"/>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2496312"/>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3</a:t>
            </a:r>
          </a:p>
        </p:txBody>
      </p:sp>
      <p:sp>
        <p:nvSpPr>
          <p:cNvPr id="15" name="TextBox 14"/>
          <p:cNvSpPr txBox="1"/>
          <p:nvPr/>
        </p:nvSpPr>
        <p:spPr>
          <a:xfrm>
            <a:off x="1097280" y="2441448"/>
            <a:ext cx="7223760" cy="502920"/>
          </a:xfrm>
          <a:prstGeom prst="rect">
            <a:avLst/>
          </a:prstGeom>
          <a:noFill/>
        </p:spPr>
        <p:txBody>
          <a:bodyPr wrap="square" anchor="t" lIns="0" rIns="0" tIns="0" bIns="0">
            <a:spAutoFit/>
          </a:bodyPr>
          <a:lstStyle/>
          <a:p>
            <a:pPr algn="l">
              <a:lnSpc>
                <a:spcPct val="120000"/>
              </a:lnSpc>
            </a:pPr>
            <a:r>
              <a:rPr sz="1200" b="0">
                <a:solidFill>
                  <a:srgbClr val="000000"/>
                </a:solidFill>
                <a:latin typeface="Source Han Sans SC"/>
              </a:rPr>
              <a:t>Give it a trigger: FACE DETECTED → TURN ON THE ONBOARD LED — point at it, it lights up</a:t>
            </a:r>
          </a:p>
        </p:txBody>
      </p:sp>
      <p:sp>
        <p:nvSpPr>
          <p:cNvPr id="16" name="Rectangle 15"/>
          <p:cNvSpPr/>
          <p:nvPr/>
        </p:nvSpPr>
        <p:spPr>
          <a:xfrm>
            <a:off x="566928" y="3063240"/>
            <a:ext cx="8010144"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063240"/>
            <a:ext cx="6309360" cy="566928"/>
          </a:xfrm>
          <a:prstGeom prst="rect">
            <a:avLst/>
          </a:prstGeom>
          <a:noFill/>
        </p:spPr>
        <p:txBody>
          <a:bodyPr wrap="square" anchor="ctr" lIns="0" rIns="0" tIns="0" bIns="0">
            <a:spAutoFit/>
          </a:bodyPr>
          <a:lstStyle/>
          <a:p>
            <a:pPr algn="l">
              <a:lnSpc>
                <a:spcPct val="100000"/>
              </a:lnSpc>
            </a:pPr>
            <a:r>
              <a:rPr sz="1100" b="0">
                <a:solidFill>
                  <a:srgbClr val="000000"/>
                </a:solidFill>
                <a:latin typeface="Source Code Pro"/>
              </a:rPr>
              <a:t>[ LIVE DEMO — point at the teacher's face: LED on · point at something else: off ]</a:t>
            </a:r>
          </a:p>
        </p:txBody>
      </p:sp>
      <p:sp>
        <p:nvSpPr>
          <p:cNvPr id="18" name="Oval 17"/>
          <p:cNvSpPr/>
          <p:nvPr/>
        </p:nvSpPr>
        <p:spPr>
          <a:xfrm>
            <a:off x="7269480" y="3264408"/>
            <a:ext cx="164592" cy="164592"/>
          </a:xfrm>
          <a:prstGeom prst="ellipse">
            <a:avLst/>
          </a:prstGeom>
          <a:solidFill>
            <a:srgbClr val="8AA8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726679" y="3264408"/>
            <a:ext cx="164592" cy="164592"/>
          </a:xfrm>
          <a:prstGeom prst="ellipse">
            <a:avLst/>
          </a:prstGeom>
          <a:solidFill>
            <a:srgbClr val="C4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3794760"/>
            <a:ext cx="8010144"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904488"/>
            <a:ext cx="7680960" cy="51206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Congratulations — you just deployed an AI-driven automation system.</a:t>
            </a:r>
          </a:p>
          <a:p>
            <a:pPr algn="l">
              <a:lnSpc>
                <a:spcPct val="125000"/>
              </a:lnSpc>
            </a:pPr>
            <a:r>
              <a:rPr sz="1250" b="0">
                <a:solidFill>
                  <a:srgbClr val="000000"/>
                </a:solidFill>
                <a:latin typeface="Source Han Sans SC"/>
              </a:rPr>
              <a:t>Not one line of code. The vision model drives the peripheral directly.</a:t>
            </a:r>
          </a:p>
        </p:txBody>
      </p:sp>
      <p:sp>
        <p:nvSpPr>
          <p:cNvPr id="22" name="TextBox 21"/>
          <p:cNvSpPr txBox="1"/>
          <p:nvPr/>
        </p:nvSpPr>
        <p:spPr>
          <a:xfrm>
            <a:off x="566928" y="4590288"/>
            <a:ext cx="8010144" cy="18288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The demo recognizes the teacher's face or an on-screen photo — nobody photographs anyone's face.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08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Experience 2 — Collect Data</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25 to 30 photos per gesture · hands only</a:t>
            </a:r>
          </a:p>
        </p:txBody>
      </p:sp>
      <p:sp>
        <p:nvSpPr>
          <p:cNvPr id="7" name="Oval 6"/>
          <p:cNvSpPr/>
          <p:nvPr/>
        </p:nvSpPr>
        <p:spPr>
          <a:xfrm>
            <a:off x="566928" y="141732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25880"/>
            <a:ext cx="7863840" cy="548640"/>
          </a:xfrm>
          <a:prstGeom prst="rect">
            <a:avLst/>
          </a:prstGeom>
          <a:noFill/>
        </p:spPr>
        <p:txBody>
          <a:bodyPr wrap="square" anchor="t" lIns="0" rIns="0" tIns="0" bIns="0">
            <a:spAutoFit/>
          </a:bodyPr>
          <a:lstStyle/>
          <a:p>
            <a:pPr algn="l">
              <a:lnSpc>
                <a:spcPct val="110000"/>
              </a:lnSpc>
            </a:pPr>
            <a:r>
              <a:rPr sz="1300" b="0">
                <a:solidFill>
                  <a:srgbClr val="000000"/>
                </a:solidFill>
                <a:latin typeface="Source Han Sans SC"/>
              </a:rPr>
              <a:t>Hand straight on — then further away, different angle, other hand</a:t>
            </a:r>
          </a:p>
        </p:txBody>
      </p:sp>
      <p:sp>
        <p:nvSpPr>
          <p:cNvPr id="9" name="TextBox 8"/>
          <p:cNvSpPr txBox="1"/>
          <p:nvPr/>
        </p:nvSpPr>
        <p:spPr>
          <a:xfrm>
            <a:off x="713232" y="1828800"/>
            <a:ext cx="7863840" cy="566928"/>
          </a:xfrm>
          <a:prstGeom prst="rect">
            <a:avLst/>
          </a:prstGeom>
          <a:noFill/>
        </p:spPr>
        <p:txBody>
          <a:bodyPr wrap="square" anchor="t" lIns="0" rIns="0" tIns="0" bIns="0">
            <a:spAutoFit/>
          </a:bodyPr>
          <a:lstStyle/>
          <a:p>
            <a:pPr algn="l">
              <a:lnSpc>
                <a:spcPct val="125000"/>
              </a:lnSpc>
            </a:pPr>
            <a:r>
              <a:rPr sz="1200" b="1">
                <a:solidFill>
                  <a:srgbClr val="000000"/>
                </a:solidFill>
                <a:latin typeface="Source Han Sans SC"/>
              </a:rPr>
              <a:t>For every photo, give the gesture its "answer name" — the formal word is a LABEL:</a:t>
            </a:r>
          </a:p>
          <a:p>
            <a:pPr algn="l">
              <a:lnSpc>
                <a:spcPct val="125000"/>
              </a:lnSpc>
            </a:pPr>
            <a:r>
              <a:rPr sz="1200" b="0">
                <a:solidFill>
                  <a:srgbClr val="000000"/>
                </a:solidFill>
                <a:latin typeface="Source Han Sans SC"/>
              </a:rPr>
              <a:t>the standard answer for each photo. When it learns, it's checking its answers.</a:t>
            </a:r>
          </a:p>
        </p:txBody>
      </p:sp>
      <p:sp>
        <p:nvSpPr>
          <p:cNvPr id="10" name="TextBox 9"/>
          <p:cNvSpPr txBox="1"/>
          <p:nvPr/>
        </p:nvSpPr>
        <p:spPr>
          <a:xfrm>
            <a:off x="566928" y="2578608"/>
            <a:ext cx="8010144" cy="219456"/>
          </a:xfrm>
          <a:prstGeom prst="rect">
            <a:avLst/>
          </a:prstGeom>
          <a:noFill/>
        </p:spPr>
        <p:txBody>
          <a:bodyPr wrap="square" anchor="t" lIns="0" rIns="0" tIns="0" bIns="0">
            <a:spAutoFit/>
          </a:bodyPr>
          <a:lstStyle/>
          <a:p>
            <a:pPr algn="l">
              <a:lnSpc>
                <a:spcPct val="100000"/>
              </a:lnSpc>
            </a:pPr>
            <a:r>
              <a:rPr sz="1050" b="1">
                <a:solidFill>
                  <a:srgbClr val="000000"/>
                </a:solidFill>
                <a:latin typeface="Source Han Sans SC"/>
              </a:rPr>
              <a:t>CLASS NAMES — English only</a:t>
            </a:r>
          </a:p>
        </p:txBody>
      </p:sp>
      <p:sp>
        <p:nvSpPr>
          <p:cNvPr id="11" name="Rectangle 10"/>
          <p:cNvSpPr/>
          <p:nvPr/>
        </p:nvSpPr>
        <p:spPr>
          <a:xfrm>
            <a:off x="566928" y="2834640"/>
            <a:ext cx="3931920"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834640"/>
            <a:ext cx="3931920" cy="566928"/>
          </a:xfrm>
          <a:prstGeom prst="rect">
            <a:avLst/>
          </a:prstGeom>
          <a:noFill/>
        </p:spPr>
        <p:txBody>
          <a:bodyPr wrap="square" anchor="ctr" lIns="0" rIns="0" tIns="0" bIns="0">
            <a:spAutoFit/>
          </a:bodyPr>
          <a:lstStyle/>
          <a:p>
            <a:pPr algn="ctr">
              <a:lnSpc>
                <a:spcPct val="100000"/>
              </a:lnSpc>
            </a:pPr>
            <a:r>
              <a:rPr sz="2200" b="1">
                <a:solidFill>
                  <a:srgbClr val="000000"/>
                </a:solidFill>
                <a:latin typeface="Source Han Sans SC"/>
              </a:rPr>
              <a:t>scissors · rock · paper</a:t>
            </a:r>
          </a:p>
        </p:txBody>
      </p:sp>
      <p:sp>
        <p:nvSpPr>
          <p:cNvPr id="13" name="Rectangle 12"/>
          <p:cNvSpPr/>
          <p:nvPr/>
        </p:nvSpPr>
        <p:spPr>
          <a:xfrm>
            <a:off x="566928" y="3639312"/>
            <a:ext cx="64008" cy="777240"/>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6384" y="3730752"/>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3675887"/>
            <a:ext cx="7552944" cy="274320"/>
          </a:xfrm>
          <a:prstGeom prst="rect">
            <a:avLst/>
          </a:prstGeom>
          <a:noFill/>
        </p:spPr>
        <p:txBody>
          <a:bodyPr wrap="square" anchor="t" lIns="0" rIns="0" tIns="0" bIns="0">
            <a:spAutoFit/>
          </a:bodyPr>
          <a:lstStyle/>
          <a:p>
            <a:pPr algn="l">
              <a:lnSpc>
                <a:spcPct val="100000"/>
              </a:lnSpc>
            </a:pPr>
            <a:r>
              <a:rPr sz="1500" b="1">
                <a:solidFill>
                  <a:srgbClr val="D84144"/>
                </a:solidFill>
                <a:latin typeface="Source Han Sans SC"/>
              </a:rPr>
              <a:t>HANDS AND OBJECTS ONLY — NO FACES.</a:t>
            </a:r>
          </a:p>
        </p:txBody>
      </p:sp>
      <p:sp>
        <p:nvSpPr>
          <p:cNvPr id="16" name="TextBox 15"/>
          <p:cNvSpPr txBox="1"/>
          <p:nvPr/>
        </p:nvSpPr>
        <p:spPr>
          <a:xfrm>
            <a:off x="1024128" y="4023360"/>
            <a:ext cx="7552944" cy="256032"/>
          </a:xfrm>
          <a:prstGeom prst="rect">
            <a:avLst/>
          </a:prstGeom>
          <a:noFill/>
        </p:spPr>
        <p:txBody>
          <a:bodyPr wrap="square" anchor="t" lIns="0" rIns="0" tIns="0" bIns="0">
            <a:spAutoFit/>
          </a:bodyPr>
          <a:lstStyle/>
          <a:p>
            <a:pPr algn="l">
              <a:lnSpc>
                <a:spcPct val="100000"/>
              </a:lnSpc>
            </a:pPr>
            <a:r>
              <a:rPr sz="1150" b="0">
                <a:solidFill>
                  <a:srgbClr val="000000"/>
                </a:solidFill>
                <a:latin typeface="Source Han Sans SC"/>
              </a:rPr>
              <a:t>Not yours, not anyone's. If a face sneaks in — delete it on the spot.</a:t>
            </a:r>
          </a:p>
        </p:txBody>
      </p:sp>
      <p:sp>
        <p:nvSpPr>
          <p:cNvPr id="17" name="TextBox 16"/>
          <p:cNvSpPr txBox="1"/>
          <p:nvPr/>
        </p:nvSpPr>
        <p:spPr>
          <a:xfrm>
            <a:off x="566928" y="4553712"/>
            <a:ext cx="8010144" cy="219456"/>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Write in your workbook — the data collection record: how many per class, what angles / lighting.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09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Train + Deploy</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you're the teacher, it's the student</a:t>
            </a:r>
          </a:p>
        </p:txBody>
      </p:sp>
      <p:sp>
        <p:nvSpPr>
          <p:cNvPr id="7" name="Rectangle 6"/>
          <p:cNvSpPr/>
          <p:nvPr/>
        </p:nvSpPr>
        <p:spPr>
          <a:xfrm>
            <a:off x="566928" y="1280160"/>
            <a:ext cx="2487168"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80160"/>
            <a:ext cx="2487168" cy="1188720"/>
          </a:xfrm>
          <a:prstGeom prst="rect">
            <a:avLst/>
          </a:prstGeom>
          <a:noFill/>
        </p:spPr>
        <p:txBody>
          <a:bodyPr wrap="square" anchor="ctr" lIns="0" rIns="0" tIns="0" bIns="0">
            <a:spAutoFit/>
          </a:bodyPr>
          <a:lstStyle/>
          <a:p>
            <a:pPr algn="ctr">
              <a:lnSpc>
                <a:spcPct val="100000"/>
              </a:lnSpc>
            </a:pPr>
            <a:r>
              <a:rPr sz="1500" b="1">
                <a:solidFill>
                  <a:srgbClr val="000000"/>
                </a:solidFill>
                <a:latin typeface="Source Han Sans SC"/>
              </a:rPr>
              <a:t>100+ PHOTOS</a:t>
            </a:r>
          </a:p>
        </p:txBody>
      </p:sp>
      <p:sp>
        <p:nvSpPr>
          <p:cNvPr id="9" name="Rectangle 8"/>
          <p:cNvSpPr/>
          <p:nvPr/>
        </p:nvSpPr>
        <p:spPr>
          <a:xfrm>
            <a:off x="3328416" y="1280160"/>
            <a:ext cx="2487168"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5576" y="1371600"/>
            <a:ext cx="2212848" cy="1005840"/>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click TRAIN</a:t>
            </a:r>
          </a:p>
          <a:p>
            <a:pPr algn="l">
              <a:lnSpc>
                <a:spcPct val="120000"/>
              </a:lnSpc>
            </a:pPr>
            <a:r>
              <a:rPr sz="1050" b="0">
                <a:solidFill>
                  <a:srgbClr val="000000"/>
                </a:solidFill>
                <a:latin typeface="Source Han Sans SC"/>
              </a:rPr>
              <a:t>it finds the common ground, stores it as an EXPERIENCE BOOK</a:t>
            </a:r>
          </a:p>
        </p:txBody>
      </p:sp>
      <p:sp>
        <p:nvSpPr>
          <p:cNvPr id="11" name="Rectangle 10"/>
          <p:cNvSpPr/>
          <p:nvPr/>
        </p:nvSpPr>
        <p:spPr>
          <a:xfrm>
            <a:off x="6089904" y="1280160"/>
            <a:ext cx="2487168" cy="11887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7064" y="1371600"/>
            <a:ext cx="2212848" cy="1005840"/>
          </a:xfrm>
          <a:prstGeom prst="rect">
            <a:avLst/>
          </a:prstGeom>
          <a:noFill/>
        </p:spPr>
        <p:txBody>
          <a:bodyPr wrap="square" anchor="t" lIns="0" rIns="0" tIns="0" bIns="0">
            <a:spAutoFit/>
          </a:bodyPr>
          <a:lstStyle/>
          <a:p>
            <a:pPr algn="l">
              <a:lnSpc>
                <a:spcPct val="120000"/>
              </a:lnSpc>
            </a:pPr>
            <a:r>
              <a:rPr sz="1300" b="1">
                <a:solidFill>
                  <a:srgbClr val="000000"/>
                </a:solidFill>
                <a:latin typeface="Source Han Sans SC"/>
              </a:rPr>
              <a:t>click DEPLOY</a:t>
            </a:r>
          </a:p>
          <a:p>
            <a:pPr algn="l">
              <a:lnSpc>
                <a:spcPct val="120000"/>
              </a:lnSpc>
            </a:pPr>
            <a:r>
              <a:rPr sz="1050" b="0">
                <a:solidFill>
                  <a:srgbClr val="000000"/>
                </a:solidFill>
                <a:latin typeface="Source Han Sans SC"/>
              </a:rPr>
              <a:t>the experience book travels down the USB cable into the board</a:t>
            </a:r>
          </a:p>
        </p:txBody>
      </p:sp>
      <p:sp>
        <p:nvSpPr>
          <p:cNvPr id="13" name="TextBox 12"/>
          <p:cNvSpPr txBox="1"/>
          <p:nvPr/>
        </p:nvSpPr>
        <p:spPr>
          <a:xfrm>
            <a:off x="3072384" y="1600200"/>
            <a:ext cx="256032" cy="548640"/>
          </a:xfrm>
          <a:prstGeom prst="rect">
            <a:avLst/>
          </a:prstGeom>
          <a:noFill/>
        </p:spPr>
        <p:txBody>
          <a:bodyPr wrap="square" anchor="ctr" lIns="0" rIns="0" tIns="0" bIns="0">
            <a:spAutoFit/>
          </a:bodyPr>
          <a:lstStyle/>
          <a:p>
            <a:pPr algn="ctr">
              <a:lnSpc>
                <a:spcPct val="100000"/>
              </a:lnSpc>
            </a:pPr>
            <a:r>
              <a:rPr sz="2000" b="1">
                <a:solidFill>
                  <a:srgbClr val="F3D230"/>
                </a:solidFill>
                <a:latin typeface="Source Han Sans SC"/>
              </a:rPr>
              <a:t>→</a:t>
            </a:r>
          </a:p>
        </p:txBody>
      </p:sp>
      <p:sp>
        <p:nvSpPr>
          <p:cNvPr id="14" name="TextBox 13"/>
          <p:cNvSpPr txBox="1"/>
          <p:nvPr/>
        </p:nvSpPr>
        <p:spPr>
          <a:xfrm>
            <a:off x="5833872" y="1600200"/>
            <a:ext cx="256032" cy="548640"/>
          </a:xfrm>
          <a:prstGeom prst="rect">
            <a:avLst/>
          </a:prstGeom>
          <a:noFill/>
        </p:spPr>
        <p:txBody>
          <a:bodyPr wrap="square" anchor="ctr" lIns="0" rIns="0" tIns="0" bIns="0">
            <a:spAutoFit/>
          </a:bodyPr>
          <a:lstStyle/>
          <a:p>
            <a:pPr algn="ctr">
              <a:lnSpc>
                <a:spcPct val="100000"/>
              </a:lnSpc>
            </a:pPr>
            <a:r>
              <a:rPr sz="2000" b="1">
                <a:solidFill>
                  <a:srgbClr val="F3D230"/>
                </a:solidFill>
                <a:latin typeface="Source Han Sans SC"/>
              </a:rPr>
              <a:t>→</a:t>
            </a:r>
          </a:p>
        </p:txBody>
      </p:sp>
      <p:sp>
        <p:nvSpPr>
          <p:cNvPr id="15" name="Rectangle 14"/>
          <p:cNvSpPr/>
          <p:nvPr/>
        </p:nvSpPr>
        <p:spPr>
          <a:xfrm>
            <a:off x="566928" y="2697480"/>
            <a:ext cx="8010144" cy="9144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88920"/>
            <a:ext cx="7680960" cy="731520"/>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Training = it turns your photos into "experience": what do rock photos have in common, what do scissors photos have in common. Unplug the cable — it still remembers.</a:t>
            </a:r>
          </a:p>
        </p:txBody>
      </p:sp>
      <p:sp>
        <p:nvSpPr>
          <p:cNvPr id="17" name="TextBox 16"/>
          <p:cNvSpPr txBox="1"/>
          <p:nvPr/>
        </p:nvSpPr>
        <p:spPr>
          <a:xfrm>
            <a:off x="566928" y="3794760"/>
            <a:ext cx="8010144" cy="566928"/>
          </a:xfrm>
          <a:prstGeom prst="rect">
            <a:avLst/>
          </a:prstGeom>
          <a:noFill/>
        </p:spPr>
        <p:txBody>
          <a:bodyPr wrap="square" anchor="t" lIns="0" rIns="0" tIns="0" bIns="0">
            <a:spAutoFit/>
          </a:bodyPr>
          <a:lstStyle/>
          <a:p>
            <a:pPr algn="l">
              <a:lnSpc>
                <a:spcPct val="130000"/>
              </a:lnSpc>
            </a:pPr>
            <a:r>
              <a:rPr sz="1100" b="1">
                <a:solidFill>
                  <a:srgbClr val="000000"/>
                </a:solidFill>
                <a:latin typeface="Source Han Sans SC"/>
              </a:rPr>
              <a:t>Training queues — whoever collected first trains first.</a:t>
            </a:r>
          </a:p>
          <a:p>
            <a:pPr algn="l">
              <a:lnSpc>
                <a:spcPct val="130000"/>
              </a:lnSpc>
            </a:pPr>
            <a:r>
              <a:rPr sz="1100" b="0">
                <a:solidFill>
                  <a:srgbClr val="000000"/>
                </a:solidFill>
                <a:latin typeface="Source Han Sans SC"/>
              </a:rPr>
              <a:t>While you wait: what kind of student would my weird photos produce?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Swap Test</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does it know your neighbor's hand?</a:t>
            </a:r>
          </a:p>
        </p:txBody>
      </p:sp>
      <p:sp>
        <p:nvSpPr>
          <p:cNvPr id="7" name="Oval 6"/>
          <p:cNvSpPr/>
          <p:nvPr/>
        </p:nvSpPr>
        <p:spPr>
          <a:xfrm>
            <a:off x="566928" y="141732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25880"/>
            <a:ext cx="7863840" cy="54864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Only scissors-rock-paper — and vary it: further, faster, other hand</a:t>
            </a:r>
          </a:p>
        </p:txBody>
      </p:sp>
      <p:sp>
        <p:nvSpPr>
          <p:cNvPr id="9" name="Oval 8"/>
          <p:cNvSpPr/>
          <p:nvPr/>
        </p:nvSpPr>
        <p:spPr>
          <a:xfrm>
            <a:off x="566928" y="1947672"/>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856231"/>
            <a:ext cx="7863840" cy="54864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Recognized = 1 point</a:t>
            </a:r>
          </a:p>
        </p:txBody>
      </p:sp>
      <p:sp>
        <p:nvSpPr>
          <p:cNvPr id="11" name="Oval 10"/>
          <p:cNvSpPr/>
          <p:nvPr/>
        </p:nvSpPr>
        <p:spPr>
          <a:xfrm>
            <a:off x="566928" y="2478024"/>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386584"/>
            <a:ext cx="7863840" cy="54864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Got it wrong = ... write it down too. That's treasure.</a:t>
            </a:r>
          </a:p>
        </p:txBody>
      </p:sp>
      <p:sp>
        <p:nvSpPr>
          <p:cNvPr id="13" name="Oval 12"/>
          <p:cNvSpPr/>
          <p:nvPr/>
        </p:nvSpPr>
        <p:spPr>
          <a:xfrm>
            <a:off x="566928" y="3008376"/>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916936"/>
            <a:ext cx="7863840" cy="548640"/>
          </a:xfrm>
          <a:prstGeom prst="rect">
            <a:avLst/>
          </a:prstGeom>
          <a:noFill/>
        </p:spPr>
        <p:txBody>
          <a:bodyPr wrap="square" anchor="t" lIns="0" rIns="0" tIns="0" bIns="0">
            <a:spAutoFit/>
          </a:bodyPr>
          <a:lstStyle/>
          <a:p>
            <a:pPr algn="l">
              <a:lnSpc>
                <a:spcPct val="110000"/>
              </a:lnSpc>
            </a:pPr>
            <a:r>
              <a:rPr sz="1400" b="0">
                <a:solidFill>
                  <a:srgbClr val="000000"/>
                </a:solidFill>
                <a:latin typeface="Source Han Sans SC"/>
              </a:rPr>
              <a:t>We'll tally the class failure rate in a minute.</a:t>
            </a:r>
          </a:p>
        </p:txBody>
      </p:sp>
      <p:sp>
        <p:nvSpPr>
          <p:cNvPr id="15" name="Rectangle 14"/>
          <p:cNvSpPr/>
          <p:nvPr/>
        </p:nvSpPr>
        <p:spPr>
          <a:xfrm>
            <a:off x="566928" y="3520440"/>
            <a:ext cx="8010144" cy="6858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611880"/>
            <a:ext cx="7680960" cy="502920"/>
          </a:xfrm>
          <a:prstGeom prst="rect">
            <a:avLst/>
          </a:prstGeom>
          <a:noFill/>
        </p:spPr>
        <p:txBody>
          <a:bodyPr wrap="square" anchor="t" lIns="0" rIns="0" tIns="0" bIns="0">
            <a:spAutoFit/>
          </a:bodyPr>
          <a:lstStyle/>
          <a:p>
            <a:pPr algn="l">
              <a:lnSpc>
                <a:spcPct val="120000"/>
              </a:lnSpc>
            </a:pPr>
            <a:r>
              <a:rPr sz="1200" b="0">
                <a:solidFill>
                  <a:srgbClr val="000000"/>
                </a:solidFill>
                <a:latin typeface="Source Code Pro"/>
              </a:rPr>
              <a:t>"Breaking" is limited to showing it things — no touching hardware, no covering the lens, no pulling cables.</a:t>
            </a:r>
          </a:p>
        </p:txBody>
      </p:sp>
      <p:sp>
        <p:nvSpPr>
          <p:cNvPr id="17" name="Rectangle 16"/>
          <p:cNvSpPr/>
          <p:nvPr/>
        </p:nvSpPr>
        <p:spPr>
          <a:xfrm>
            <a:off x="566928" y="4343400"/>
            <a:ext cx="8010144" cy="4572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453128"/>
            <a:ext cx="7680960" cy="23774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Write in your workbook — under which move did your neighbor's model fail?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11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The Attribution</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300" b="0">
                <a:solidFill>
                  <a:srgbClr val="000000"/>
                </a:solidFill>
                <a:latin typeface="Source Han Sans SC"/>
              </a:rPr>
              <a:t>it's not dumb — you taught it too little</a:t>
            </a:r>
          </a:p>
        </p:txBody>
      </p:sp>
      <p:sp>
        <p:nvSpPr>
          <p:cNvPr id="7" name="TextBox 6"/>
          <p:cNvSpPr txBox="1"/>
          <p:nvPr/>
        </p:nvSpPr>
        <p:spPr>
          <a:xfrm>
            <a:off x="566928" y="1298448"/>
            <a:ext cx="8010144" cy="237744"/>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Failure-rate tally — hands up if your model got it wrong more than 3 times.</a:t>
            </a:r>
          </a:p>
        </p:txBody>
      </p:sp>
      <p:sp>
        <p:nvSpPr>
          <p:cNvPr id="8" name="TextBox 7"/>
          <p:cNvSpPr txBox="1"/>
          <p:nvPr/>
        </p:nvSpPr>
        <p:spPr>
          <a:xfrm>
            <a:off x="566928" y="1645920"/>
            <a:ext cx="8010144" cy="566928"/>
          </a:xfrm>
          <a:prstGeom prst="rect">
            <a:avLst/>
          </a:prstGeom>
          <a:noFill/>
        </p:spPr>
        <p:txBody>
          <a:bodyPr wrap="square" anchor="t" lIns="0" rIns="0" tIns="0" bIns="0">
            <a:spAutoFit/>
          </a:bodyPr>
          <a:lstStyle/>
          <a:p>
            <a:pPr algn="l">
              <a:lnSpc>
                <a:spcPct val="100000"/>
              </a:lnSpc>
            </a:pPr>
            <a:r>
              <a:rPr sz="4000" b="1">
                <a:solidFill>
                  <a:srgbClr val="000000"/>
                </a:solidFill>
                <a:latin typeface="Source Han Sans SC"/>
              </a:rPr>
              <a:t>IT'S NOT DUMB.</a:t>
            </a:r>
          </a:p>
        </p:txBody>
      </p:sp>
      <p:sp>
        <p:nvSpPr>
          <p:cNvPr id="9" name="TextBox 8"/>
          <p:cNvSpPr txBox="1"/>
          <p:nvPr/>
        </p:nvSpPr>
        <p:spPr>
          <a:xfrm>
            <a:off x="566928" y="2212848"/>
            <a:ext cx="8010144" cy="566928"/>
          </a:xfrm>
          <a:prstGeom prst="rect">
            <a:avLst/>
          </a:prstGeom>
          <a:noFill/>
        </p:spPr>
        <p:txBody>
          <a:bodyPr wrap="square" anchor="t" lIns="0" rIns="0" tIns="0" bIns="0">
            <a:spAutoFit/>
          </a:bodyPr>
          <a:lstStyle/>
          <a:p>
            <a:pPr algn="l">
              <a:lnSpc>
                <a:spcPct val="100000"/>
              </a:lnSpc>
            </a:pPr>
            <a:r>
              <a:rPr sz="4000" b="1">
                <a:solidFill>
                  <a:srgbClr val="000000"/>
                </a:solidFill>
                <a:latin typeface="Source Han Sans SC"/>
              </a:rPr>
              <a:t>YOU TAUGHT IT TOO LITTLE.</a:t>
            </a:r>
          </a:p>
        </p:txBody>
      </p:sp>
      <p:sp>
        <p:nvSpPr>
          <p:cNvPr id="10" name="Rectangle 9"/>
          <p:cNvSpPr/>
          <p:nvPr/>
        </p:nvSpPr>
        <p:spPr>
          <a:xfrm>
            <a:off x="566928" y="2834640"/>
            <a:ext cx="2011680" cy="5486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999232"/>
            <a:ext cx="8010144" cy="274320"/>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Want it smarter? Feed it more — and more different — examples.</a:t>
            </a:r>
          </a:p>
        </p:txBody>
      </p:sp>
      <p:sp>
        <p:nvSpPr>
          <p:cNvPr id="12" name="Rectangle 11"/>
          <p:cNvSpPr/>
          <p:nvPr/>
        </p:nvSpPr>
        <p:spPr>
          <a:xfrm>
            <a:off x="566928" y="3401568"/>
            <a:ext cx="8010144" cy="658368"/>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493008"/>
            <a:ext cx="7680960" cy="475488"/>
          </a:xfrm>
          <a:prstGeom prst="rect">
            <a:avLst/>
          </a:prstGeom>
          <a:noFill/>
        </p:spPr>
        <p:txBody>
          <a:bodyPr wrap="square" anchor="t" lIns="0" rIns="0" tIns="0" bIns="0">
            <a:spAutoFit/>
          </a:bodyPr>
          <a:lstStyle/>
          <a:p>
            <a:pPr algn="l">
              <a:lnSpc>
                <a:spcPct val="120000"/>
              </a:lnSpc>
            </a:pPr>
            <a:r>
              <a:rPr sz="1300" b="0">
                <a:solidFill>
                  <a:srgbClr val="000000"/>
                </a:solidFill>
                <a:latin typeface="Source Code Pro"/>
              </a:rPr>
              <a:t>For an AI that recognizes things, the examples ARE everything. Telling it isn't enough. You have to show it.</a:t>
            </a:r>
          </a:p>
        </p:txBody>
      </p:sp>
      <p:sp>
        <p:nvSpPr>
          <p:cNvPr id="14" name="Rectangle 13"/>
          <p:cNvSpPr/>
          <p:nvPr/>
        </p:nvSpPr>
        <p:spPr>
          <a:xfrm>
            <a:off x="566928" y="4160520"/>
            <a:ext cx="801014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270248"/>
            <a:ext cx="7680960" cy="347472"/>
          </a:xfrm>
          <a:prstGeom prst="rect">
            <a:avLst/>
          </a:prstGeom>
          <a:noFill/>
        </p:spPr>
        <p:txBody>
          <a:bodyPr wrap="square" anchor="t" lIns="0" rIns="0" tIns="0" bIns="0">
            <a:spAutoFit/>
          </a:bodyPr>
          <a:lstStyle/>
          <a:p>
            <a:pPr algn="l">
              <a:lnSpc>
                <a:spcPct val="125000"/>
              </a:lnSpc>
            </a:pPr>
            <a:r>
              <a:rPr sz="1150" b="0">
                <a:solidFill>
                  <a:srgbClr val="000000"/>
                </a:solidFill>
                <a:latin typeface="Source Han Sans SC"/>
              </a:rPr>
              <a:t>One sticky per person: "my model gets it wrong when ___" — specific beats vague:</a:t>
            </a:r>
          </a:p>
          <a:p>
            <a:pPr algn="l">
              <a:lnSpc>
                <a:spcPct val="125000"/>
              </a:lnSpc>
            </a:pPr>
            <a:r>
              <a:rPr sz="1150" b="0">
                <a:solidFill>
                  <a:srgbClr val="000000"/>
                </a:solidFill>
                <a:latin typeface="Source Han Sans SC"/>
              </a:rPr>
              <a:t>'low light' passes; 'it's not accurate' doesn't. Stick it on the left side of the board.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12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First-Half Log — Four Lines, As Usual</a:t>
            </a:r>
          </a:p>
        </p:txBody>
      </p:sp>
      <p:sp>
        <p:nvSpPr>
          <p:cNvPr id="6" name="Oval 5"/>
          <p:cNvSpPr/>
          <p:nvPr/>
        </p:nvSpPr>
        <p:spPr>
          <a:xfrm>
            <a:off x="566928" y="13716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80160"/>
            <a:ext cx="7863840" cy="548640"/>
          </a:xfrm>
          <a:prstGeom prst="rect">
            <a:avLst/>
          </a:prstGeom>
          <a:noFill/>
        </p:spPr>
        <p:txBody>
          <a:bodyPr wrap="square" anchor="t" lIns="0" rIns="0" tIns="0" bIns="0">
            <a:spAutoFit/>
          </a:bodyPr>
          <a:lstStyle/>
          <a:p>
            <a:pPr algn="l">
              <a:lnSpc>
                <a:spcPct val="110000"/>
              </a:lnSpc>
            </a:pPr>
            <a:r>
              <a:rPr sz="1400" b="1">
                <a:solidFill>
                  <a:srgbClr val="000000"/>
                </a:solidFill>
                <a:latin typeface="Source Han Sans SC"/>
              </a:rPr>
              <a:t>Today I made ___</a:t>
            </a:r>
          </a:p>
        </p:txBody>
      </p:sp>
      <p:sp>
        <p:nvSpPr>
          <p:cNvPr id="8" name="TextBox 7"/>
          <p:cNvSpPr txBox="1"/>
          <p:nvPr/>
        </p:nvSpPr>
        <p:spPr>
          <a:xfrm>
            <a:off x="713232" y="1554480"/>
            <a:ext cx="7863840" cy="23774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(today: I trained a model that recognizes rock-paper-scissors)</a:t>
            </a:r>
          </a:p>
        </p:txBody>
      </p:sp>
      <p:sp>
        <p:nvSpPr>
          <p:cNvPr id="9" name="Oval 8"/>
          <p:cNvSpPr/>
          <p:nvPr/>
        </p:nvSpPr>
        <p:spPr>
          <a:xfrm>
            <a:off x="566928" y="201168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920240"/>
            <a:ext cx="7863840" cy="548640"/>
          </a:xfrm>
          <a:prstGeom prst="rect">
            <a:avLst/>
          </a:prstGeom>
          <a:noFill/>
        </p:spPr>
        <p:txBody>
          <a:bodyPr wrap="square" anchor="t" lIns="0" rIns="0" tIns="0" bIns="0">
            <a:spAutoFit/>
          </a:bodyPr>
          <a:lstStyle/>
          <a:p>
            <a:pPr algn="l">
              <a:lnSpc>
                <a:spcPct val="110000"/>
              </a:lnSpc>
            </a:pPr>
            <a:r>
              <a:rPr sz="1400" b="1">
                <a:solidFill>
                  <a:srgbClr val="000000"/>
                </a:solidFill>
                <a:latin typeface="Source Han Sans SC"/>
              </a:rPr>
              <a:t>I got stuck at ___</a:t>
            </a:r>
          </a:p>
        </p:txBody>
      </p:sp>
      <p:sp>
        <p:nvSpPr>
          <p:cNvPr id="11" name="TextBox 10"/>
          <p:cNvSpPr txBox="1"/>
          <p:nvPr/>
        </p:nvSpPr>
        <p:spPr>
          <a:xfrm>
            <a:off x="713232" y="2194560"/>
            <a:ext cx="7863840" cy="23774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(required today: WHEN DOES MY MODEL GET IT WRONG?)</a:t>
            </a:r>
          </a:p>
        </p:txBody>
      </p:sp>
      <p:sp>
        <p:nvSpPr>
          <p:cNvPr id="12" name="Oval 11"/>
          <p:cNvSpPr/>
          <p:nvPr/>
        </p:nvSpPr>
        <p:spPr>
          <a:xfrm>
            <a:off x="566928" y="265176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560320"/>
            <a:ext cx="7863840" cy="548640"/>
          </a:xfrm>
          <a:prstGeom prst="rect">
            <a:avLst/>
          </a:prstGeom>
          <a:noFill/>
        </p:spPr>
        <p:txBody>
          <a:bodyPr wrap="square" anchor="t" lIns="0" rIns="0" tIns="0" bIns="0">
            <a:spAutoFit/>
          </a:bodyPr>
          <a:lstStyle/>
          <a:p>
            <a:pPr algn="l">
              <a:lnSpc>
                <a:spcPct val="110000"/>
              </a:lnSpc>
            </a:pPr>
            <a:r>
              <a:rPr sz="1400" b="1">
                <a:solidFill>
                  <a:srgbClr val="000000"/>
                </a:solidFill>
                <a:latin typeface="Source Han Sans SC"/>
              </a:rPr>
              <a:t>Then ___</a:t>
            </a:r>
          </a:p>
        </p:txBody>
      </p:sp>
      <p:sp>
        <p:nvSpPr>
          <p:cNvPr id="14" name="Oval 13"/>
          <p:cNvSpPr/>
          <p:nvPr/>
        </p:nvSpPr>
        <p:spPr>
          <a:xfrm>
            <a:off x="566928" y="306324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2971800"/>
            <a:ext cx="7863840" cy="548640"/>
          </a:xfrm>
          <a:prstGeom prst="rect">
            <a:avLst/>
          </a:prstGeom>
          <a:noFill/>
        </p:spPr>
        <p:txBody>
          <a:bodyPr wrap="square" anchor="t" lIns="0" rIns="0" tIns="0" bIns="0">
            <a:spAutoFit/>
          </a:bodyPr>
          <a:lstStyle/>
          <a:p>
            <a:pPr algn="l">
              <a:lnSpc>
                <a:spcPct val="110000"/>
              </a:lnSpc>
            </a:pPr>
            <a:r>
              <a:rPr sz="1400" b="1">
                <a:solidFill>
                  <a:srgbClr val="000000"/>
                </a:solidFill>
                <a:latin typeface="Source Han Sans SC"/>
              </a:rPr>
              <a:t>Next time I want ___</a:t>
            </a:r>
          </a:p>
        </p:txBody>
      </p:sp>
      <p:sp>
        <p:nvSpPr>
          <p:cNvPr id="16" name="TextBox 15"/>
          <p:cNvSpPr txBox="1"/>
          <p:nvPr/>
        </p:nvSpPr>
        <p:spPr>
          <a:xfrm>
            <a:off x="713232" y="3246120"/>
            <a:ext cx="7863840" cy="237744"/>
          </a:xfrm>
          <a:prstGeom prst="rect">
            <a:avLst/>
          </a:prstGeom>
          <a:noFill/>
        </p:spPr>
        <p:txBody>
          <a:bodyPr wrap="square" anchor="t" lIns="0" rIns="0" tIns="0" bIns="0">
            <a:spAutoFit/>
          </a:bodyPr>
          <a:lstStyle/>
          <a:p>
            <a:pPr algn="l">
              <a:lnSpc>
                <a:spcPct val="100000"/>
              </a:lnSpc>
            </a:pPr>
            <a:r>
              <a:rPr sz="1050" b="0">
                <a:solidFill>
                  <a:srgbClr val="000000"/>
                </a:solidFill>
                <a:latin typeface="Source Han Sans SC"/>
              </a:rPr>
              <a:t>(e.g. feed it more data / change the angles)</a:t>
            </a:r>
          </a:p>
        </p:txBody>
      </p:sp>
      <p:sp>
        <p:nvSpPr>
          <p:cNvPr id="17" name="Rectangle 16"/>
          <p:cNvSpPr/>
          <p:nvPr/>
        </p:nvSpPr>
        <p:spPr>
          <a:xfrm>
            <a:off x="566928" y="3794760"/>
            <a:ext cx="8010144" cy="8229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904488"/>
            <a:ext cx="7680960" cy="60350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Photograph your board — hands and board only.</a:t>
            </a:r>
          </a:p>
          <a:p>
            <a:pPr algn="l">
              <a:lnSpc>
                <a:spcPct val="125000"/>
              </a:lnSpc>
            </a:pPr>
            <a:r>
              <a:rPr sz="1250" b="0">
                <a:solidFill>
                  <a:srgbClr val="000000"/>
                </a:solidFill>
                <a:latin typeface="Source Han Sans SC"/>
              </a:rPr>
              <a:t>Leave the model on the board — second half, it does something after it recognizes.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13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Sensor Output — Where Does the Result Go?</a:t>
            </a:r>
          </a:p>
        </p:txBody>
      </p:sp>
      <p:sp>
        <p:nvSpPr>
          <p:cNvPr id="6" name="TextBox 5"/>
          <p:cNvSpPr txBox="1"/>
          <p:nvPr/>
        </p:nvSpPr>
        <p:spPr>
          <a:xfrm>
            <a:off x="566928" y="1042415"/>
            <a:ext cx="8010144" cy="256032"/>
          </a:xfrm>
          <a:prstGeom prst="rect">
            <a:avLst/>
          </a:prstGeom>
          <a:noFill/>
        </p:spPr>
        <p:txBody>
          <a:bodyPr wrap="square" anchor="t" lIns="0" rIns="0" tIns="0" bIns="0">
            <a:spAutoFit/>
          </a:bodyPr>
          <a:lstStyle/>
          <a:p>
            <a:pPr algn="l">
              <a:lnSpc>
                <a:spcPct val="100000"/>
              </a:lnSpc>
            </a:pPr>
            <a:r>
              <a:rPr sz="1350" b="1">
                <a:solidFill>
                  <a:srgbClr val="000000"/>
                </a:solidFill>
                <a:latin typeface="Source Han Sans SC"/>
              </a:rPr>
              <a:t>A deployed XIAO is a VISION AI SENSOR —</a:t>
            </a:r>
          </a:p>
        </p:txBody>
      </p:sp>
      <p:sp>
        <p:nvSpPr>
          <p:cNvPr id="7" name="TextBox 6"/>
          <p:cNvSpPr txBox="1"/>
          <p:nvPr/>
        </p:nvSpPr>
        <p:spPr>
          <a:xfrm>
            <a:off x="566928" y="1335024"/>
            <a:ext cx="8010144" cy="256032"/>
          </a:xfrm>
          <a:prstGeom prst="rect">
            <a:avLst/>
          </a:prstGeom>
          <a:noFill/>
        </p:spPr>
        <p:txBody>
          <a:bodyPr wrap="square" anchor="t" lIns="0" rIns="0" tIns="0" bIns="0">
            <a:spAutoFit/>
          </a:bodyPr>
          <a:lstStyle/>
          <a:p>
            <a:pPr algn="l">
              <a:lnSpc>
                <a:spcPct val="100000"/>
              </a:lnSpc>
            </a:pPr>
            <a:r>
              <a:rPr sz="1200" b="0">
                <a:solidFill>
                  <a:srgbClr val="000000"/>
                </a:solidFill>
                <a:latin typeface="Source Han Sans SC"/>
              </a:rPr>
              <a:t>like the light sensor and buttons you've used — except what it "senses" is a picture.</a:t>
            </a:r>
          </a:p>
        </p:txBody>
      </p:sp>
      <p:sp>
        <p:nvSpPr>
          <p:cNvPr id="8" name="Rectangle 7"/>
          <p:cNvSpPr/>
          <p:nvPr/>
        </p:nvSpPr>
        <p:spPr>
          <a:xfrm>
            <a:off x="566928" y="1783080"/>
            <a:ext cx="3950208"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56231"/>
            <a:ext cx="246888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UART — the serial port</a:t>
            </a:r>
          </a:p>
        </p:txBody>
      </p:sp>
      <p:sp>
        <p:nvSpPr>
          <p:cNvPr id="10" name="TextBox 9"/>
          <p:cNvSpPr txBox="1"/>
          <p:nvPr/>
        </p:nvSpPr>
        <p:spPr>
          <a:xfrm>
            <a:off x="713232" y="2121408"/>
            <a:ext cx="3639312" cy="502920"/>
          </a:xfrm>
          <a:prstGeom prst="rect">
            <a:avLst/>
          </a:prstGeom>
          <a:noFill/>
        </p:spPr>
        <p:txBody>
          <a:bodyPr wrap="square" anchor="t" lIns="0" rIns="0" tIns="0" bIns="0">
            <a:spAutoFit/>
          </a:bodyPr>
          <a:lstStyle/>
          <a:p>
            <a:pPr algn="l">
              <a:lnSpc>
                <a:spcPct val="115000"/>
              </a:lnSpc>
            </a:pPr>
            <a:r>
              <a:rPr sz="1050" b="0">
                <a:solidFill>
                  <a:srgbClr val="000000"/>
                </a:solidFill>
                <a:latin typeface="Source Han Sans SC"/>
              </a:rPr>
              <a:t>when it's connected to a computer, the recognition results you see on screen travel over it</a:t>
            </a:r>
          </a:p>
        </p:txBody>
      </p:sp>
      <p:sp>
        <p:nvSpPr>
          <p:cNvPr id="11" name="Rectangle 10"/>
          <p:cNvSpPr/>
          <p:nvPr/>
        </p:nvSpPr>
        <p:spPr>
          <a:xfrm>
            <a:off x="3529584" y="1856231"/>
            <a:ext cx="896112" cy="21945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9584" y="1874519"/>
            <a:ext cx="896112" cy="182880"/>
          </a:xfrm>
          <a:prstGeom prst="rect">
            <a:avLst/>
          </a:prstGeom>
          <a:noFill/>
        </p:spPr>
        <p:txBody>
          <a:bodyPr wrap="square" anchor="t" lIns="0" rIns="0" tIns="0" bIns="0">
            <a:spAutoFit/>
          </a:bodyPr>
          <a:lstStyle/>
          <a:p>
            <a:pPr algn="ctr">
              <a:lnSpc>
                <a:spcPct val="100000"/>
              </a:lnSpc>
            </a:pPr>
            <a:r>
              <a:rPr sz="800" b="1">
                <a:solidFill>
                  <a:srgbClr val="000000"/>
                </a:solidFill>
                <a:latin typeface="Source Han Sans SC"/>
              </a:rPr>
              <a:t>TODAY'S ONE</a:t>
            </a:r>
          </a:p>
        </p:txBody>
      </p:sp>
      <p:sp>
        <p:nvSpPr>
          <p:cNvPr id="13" name="Rectangle 12"/>
          <p:cNvSpPr/>
          <p:nvPr/>
        </p:nvSpPr>
        <p:spPr>
          <a:xfrm>
            <a:off x="4608576" y="1783080"/>
            <a:ext cx="3950208"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856231"/>
            <a:ext cx="3657600" cy="777240"/>
          </a:xfrm>
          <a:prstGeom prst="rect">
            <a:avLst/>
          </a:prstGeom>
          <a:noFill/>
        </p:spPr>
        <p:txBody>
          <a:bodyPr wrap="square" anchor="t" lIns="0" rIns="0" tIns="0" bIns="0">
            <a:spAutoFit/>
          </a:bodyPr>
          <a:lstStyle/>
          <a:p>
            <a:pPr algn="l">
              <a:lnSpc>
                <a:spcPct val="120000"/>
              </a:lnSpc>
            </a:pPr>
            <a:r>
              <a:rPr sz="1250" b="1">
                <a:solidFill>
                  <a:srgbClr val="000000"/>
                </a:solidFill>
                <a:latin typeface="Source Han Sans SC"/>
              </a:rPr>
              <a:t>I2C</a:t>
            </a:r>
          </a:p>
          <a:p>
            <a:pPr algn="l">
              <a:lnSpc>
                <a:spcPct val="120000"/>
              </a:lnSpc>
            </a:pPr>
            <a:r>
              <a:rPr sz="1050" b="0">
                <a:solidFill>
                  <a:srgbClr val="000000"/>
                </a:solidFill>
                <a:latin typeface="Source Han Sans SC"/>
              </a:rPr>
              <a:t>boards talking to boards</a:t>
            </a:r>
          </a:p>
        </p:txBody>
      </p:sp>
      <p:sp>
        <p:nvSpPr>
          <p:cNvPr id="15" name="Rectangle 14"/>
          <p:cNvSpPr/>
          <p:nvPr/>
        </p:nvSpPr>
        <p:spPr>
          <a:xfrm>
            <a:off x="566928" y="2788920"/>
            <a:ext cx="3950208"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862072"/>
            <a:ext cx="3657600" cy="777240"/>
          </a:xfrm>
          <a:prstGeom prst="rect">
            <a:avLst/>
          </a:prstGeom>
          <a:noFill/>
        </p:spPr>
        <p:txBody>
          <a:bodyPr wrap="square" anchor="t" lIns="0" rIns="0" tIns="0" bIns="0">
            <a:spAutoFit/>
          </a:bodyPr>
          <a:lstStyle/>
          <a:p>
            <a:pPr algn="l">
              <a:lnSpc>
                <a:spcPct val="120000"/>
              </a:lnSpc>
            </a:pPr>
            <a:r>
              <a:rPr sz="1250" b="1">
                <a:solidFill>
                  <a:srgbClr val="000000"/>
                </a:solidFill>
                <a:latin typeface="Source Han Sans SC"/>
              </a:rPr>
              <a:t>SPI</a:t>
            </a:r>
          </a:p>
          <a:p>
            <a:pPr algn="l">
              <a:lnSpc>
                <a:spcPct val="120000"/>
              </a:lnSpc>
            </a:pPr>
            <a:r>
              <a:rPr sz="1050" b="0">
                <a:solidFill>
                  <a:srgbClr val="000000"/>
                </a:solidFill>
                <a:latin typeface="Source Han Sans SC"/>
              </a:rPr>
              <a:t>the same idea, a few jumper wires: "eyes" and "hands" split apart</a:t>
            </a:r>
          </a:p>
        </p:txBody>
      </p:sp>
      <p:sp>
        <p:nvSpPr>
          <p:cNvPr id="17" name="Rectangle 16"/>
          <p:cNvSpPr/>
          <p:nvPr/>
        </p:nvSpPr>
        <p:spPr>
          <a:xfrm>
            <a:off x="4608576" y="2788920"/>
            <a:ext cx="3950208" cy="914400"/>
          </a:xfrm>
          <a:prstGeom prst="rect">
            <a:avLst/>
          </a:prstGeom>
          <a:solidFill>
            <a:srgbClr val="F5F5F5"/>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2862072"/>
            <a:ext cx="3657600" cy="777240"/>
          </a:xfrm>
          <a:prstGeom prst="rect">
            <a:avLst/>
          </a:prstGeom>
          <a:noFill/>
        </p:spPr>
        <p:txBody>
          <a:bodyPr wrap="square" anchor="t" lIns="0" rIns="0" tIns="0" bIns="0">
            <a:spAutoFit/>
          </a:bodyPr>
          <a:lstStyle/>
          <a:p>
            <a:pPr algn="l">
              <a:lnSpc>
                <a:spcPct val="120000"/>
              </a:lnSpc>
            </a:pPr>
            <a:r>
              <a:rPr sz="1250" b="1">
                <a:solidFill>
                  <a:srgbClr val="000000"/>
                </a:solidFill>
                <a:latin typeface="Source Han Sans SC"/>
              </a:rPr>
              <a:t>WiFi/MQTT</a:t>
            </a:r>
          </a:p>
          <a:p>
            <a:pPr algn="l">
              <a:lnSpc>
                <a:spcPct val="120000"/>
              </a:lnSpc>
            </a:pPr>
            <a:r>
              <a:rPr sz="1050" b="0">
                <a:solidFill>
                  <a:srgbClr val="000000"/>
                </a:solidFill>
                <a:latin typeface="Source Han Sans SC"/>
              </a:rPr>
              <a:t>the networking lessons, later</a:t>
            </a:r>
          </a:p>
        </p:txBody>
      </p:sp>
      <p:sp>
        <p:nvSpPr>
          <p:cNvPr id="19" name="Rectangle 18"/>
          <p:cNvSpPr/>
          <p:nvPr/>
        </p:nvSpPr>
        <p:spPr>
          <a:xfrm>
            <a:off x="566928" y="3886200"/>
            <a:ext cx="8010144" cy="77724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977639"/>
            <a:ext cx="7680960" cy="594359"/>
          </a:xfrm>
          <a:prstGeom prst="rect">
            <a:avLst/>
          </a:prstGeom>
          <a:noFill/>
        </p:spPr>
        <p:txBody>
          <a:bodyPr wrap="square" anchor="t" lIns="0" rIns="0" tIns="0" bIns="0">
            <a:spAutoFit/>
          </a:bodyPr>
          <a:lstStyle/>
          <a:p>
            <a:pPr algn="l">
              <a:lnSpc>
                <a:spcPct val="120000"/>
              </a:lnSpc>
            </a:pPr>
            <a:r>
              <a:rPr sz="1250" b="0">
                <a:solidFill>
                  <a:srgbClr val="000000"/>
                </a:solidFill>
                <a:latin typeface="Source Code Pro"/>
              </a:rPr>
              <a:t>recognized → output → something else catches it and does the work. The build in a minute is making that output light your LED and ring your buzzer.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14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Second-Half Brief</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recognize it → make it move</a:t>
            </a:r>
          </a:p>
        </p:txBody>
      </p:sp>
      <p:sp>
        <p:nvSpPr>
          <p:cNvPr id="7" name="TextBox 6"/>
          <p:cNvSpPr txBox="1"/>
          <p:nvPr/>
        </p:nvSpPr>
        <p:spPr>
          <a:xfrm>
            <a:off x="566928" y="1353312"/>
            <a:ext cx="3566160" cy="548640"/>
          </a:xfrm>
          <a:prstGeom prst="rect">
            <a:avLst/>
          </a:prstGeom>
          <a:noFill/>
        </p:spPr>
        <p:txBody>
          <a:bodyPr wrap="square" anchor="t" lIns="0" rIns="0" tIns="0" bIns="0">
            <a:spAutoFit/>
          </a:bodyPr>
          <a:lstStyle/>
          <a:p>
            <a:pPr algn="ctr">
              <a:lnSpc>
                <a:spcPct val="100000"/>
              </a:lnSpc>
            </a:pPr>
            <a:r>
              <a:rPr sz="3000" b="1">
                <a:solidFill>
                  <a:srgbClr val="000000"/>
                </a:solidFill>
                <a:latin typeface="Source Han Sans SC"/>
              </a:rPr>
              <a:t>RECOGNIZE IT</a:t>
            </a:r>
          </a:p>
        </p:txBody>
      </p:sp>
      <p:sp>
        <p:nvSpPr>
          <p:cNvPr id="8" name="TextBox 7"/>
          <p:cNvSpPr txBox="1"/>
          <p:nvPr/>
        </p:nvSpPr>
        <p:spPr>
          <a:xfrm>
            <a:off x="4160520" y="1353312"/>
            <a:ext cx="822960" cy="548640"/>
          </a:xfrm>
          <a:prstGeom prst="rect">
            <a:avLst/>
          </a:prstGeom>
          <a:noFill/>
        </p:spPr>
        <p:txBody>
          <a:bodyPr wrap="square" anchor="t" lIns="0" rIns="0" tIns="0" bIns="0">
            <a:spAutoFit/>
          </a:bodyPr>
          <a:lstStyle/>
          <a:p>
            <a:pPr algn="ctr">
              <a:lnSpc>
                <a:spcPct val="100000"/>
              </a:lnSpc>
            </a:pPr>
            <a:r>
              <a:rPr sz="3000" b="1">
                <a:solidFill>
                  <a:srgbClr val="F3D230"/>
                </a:solidFill>
                <a:latin typeface="Source Han Sans SC"/>
              </a:rPr>
              <a:t>→</a:t>
            </a:r>
          </a:p>
        </p:txBody>
      </p:sp>
      <p:sp>
        <p:nvSpPr>
          <p:cNvPr id="9" name="TextBox 8"/>
          <p:cNvSpPr txBox="1"/>
          <p:nvPr/>
        </p:nvSpPr>
        <p:spPr>
          <a:xfrm>
            <a:off x="5010912" y="1353312"/>
            <a:ext cx="3566160" cy="548640"/>
          </a:xfrm>
          <a:prstGeom prst="rect">
            <a:avLst/>
          </a:prstGeom>
          <a:noFill/>
        </p:spPr>
        <p:txBody>
          <a:bodyPr wrap="square" anchor="t" lIns="0" rIns="0" tIns="0" bIns="0">
            <a:spAutoFit/>
          </a:bodyPr>
          <a:lstStyle/>
          <a:p>
            <a:pPr algn="ctr">
              <a:lnSpc>
                <a:spcPct val="100000"/>
              </a:lnSpc>
            </a:pPr>
            <a:r>
              <a:rPr sz="3000" b="1">
                <a:solidFill>
                  <a:srgbClr val="000000"/>
                </a:solidFill>
                <a:latin typeface="Source Han Sans SC"/>
              </a:rPr>
              <a:t>MAKE IT MOVE</a:t>
            </a:r>
          </a:p>
        </p:txBody>
      </p:sp>
      <p:sp>
        <p:nvSpPr>
          <p:cNvPr id="10" name="Rectangle 9"/>
          <p:cNvSpPr/>
          <p:nvPr/>
        </p:nvSpPr>
        <p:spPr>
          <a:xfrm>
            <a:off x="566928" y="2194560"/>
            <a:ext cx="8010144" cy="7315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286000"/>
            <a:ext cx="7680960" cy="566928"/>
          </a:xfrm>
          <a:prstGeom prst="rect">
            <a:avLst/>
          </a:prstGeom>
          <a:noFill/>
        </p:spPr>
        <p:txBody>
          <a:bodyPr wrap="square" anchor="t" lIns="0" rIns="0" tIns="0" bIns="0">
            <a:spAutoFit/>
          </a:bodyPr>
          <a:lstStyle/>
          <a:p>
            <a:pPr algn="l">
              <a:lnSpc>
                <a:spcPct val="125000"/>
              </a:lnSpc>
            </a:pPr>
            <a:r>
              <a:rPr sz="1300" b="0">
                <a:solidFill>
                  <a:srgbClr val="000000"/>
                </a:solidFill>
                <a:latin typeface="Source Code Pro"/>
              </a:rPr>
              <a:t>scissors → red light on  ·  rock → buzzer beeps  ·  paper → all off</a:t>
            </a:r>
          </a:p>
          <a:p>
            <a:pPr algn="l">
              <a:lnSpc>
                <a:spcPct val="125000"/>
              </a:lnSpc>
            </a:pPr>
            <a:r>
              <a:rPr sz="1000" b="0">
                <a:solidFill>
                  <a:srgbClr val="000000"/>
                </a:solidFill>
                <a:latin typeface="Source Han Sans SC"/>
              </a:rPr>
              <a:t>(that's my demo — your rules are yours to set)</a:t>
            </a:r>
          </a:p>
        </p:txBody>
      </p:sp>
      <p:sp>
        <p:nvSpPr>
          <p:cNvPr id="12" name="Rectangle 11"/>
          <p:cNvSpPr/>
          <p:nvPr/>
        </p:nvSpPr>
        <p:spPr>
          <a:xfrm>
            <a:off x="566928" y="3063240"/>
            <a:ext cx="8010144" cy="73152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72968"/>
            <a:ext cx="7680960" cy="512064"/>
          </a:xfrm>
          <a:prstGeom prst="rect">
            <a:avLst/>
          </a:prstGeom>
          <a:noFill/>
        </p:spPr>
        <p:txBody>
          <a:bodyPr wrap="square" anchor="t" lIns="0" rIns="0" tIns="0" bIns="0">
            <a:spAutoFit/>
          </a:bodyPr>
          <a:lstStyle/>
          <a:p>
            <a:pPr algn="l">
              <a:lnSpc>
                <a:spcPct val="125000"/>
              </a:lnSpc>
            </a:pPr>
            <a:r>
              <a:rPr sz="1250" b="0">
                <a:solidFill>
                  <a:srgbClr val="000000"/>
                </a:solidFill>
                <a:latin typeface="Source Han Sans SC"/>
              </a:rPr>
              <a:t>MEANING-SWAP — scissors = my sister's secret signal:</a:t>
            </a:r>
          </a:p>
          <a:p>
            <a:pPr algn="l">
              <a:lnSpc>
                <a:spcPct val="125000"/>
              </a:lnSpc>
            </a:pPr>
            <a:r>
              <a:rPr sz="1250" b="0">
                <a:solidFill>
                  <a:srgbClr val="000000"/>
                </a:solidFill>
                <a:latin typeface="Source Han Sans SC"/>
              </a:rPr>
              <a:t>recognized, play the song she likes. Your model, your call.</a:t>
            </a:r>
          </a:p>
        </p:txBody>
      </p:sp>
      <p:sp>
        <p:nvSpPr>
          <p:cNvPr id="14" name="Rectangle 13"/>
          <p:cNvSpPr/>
          <p:nvPr/>
        </p:nvSpPr>
        <p:spPr>
          <a:xfrm>
            <a:off x="566928" y="3931920"/>
            <a:ext cx="8010144" cy="56692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05072"/>
            <a:ext cx="7680960" cy="438912"/>
          </a:xfrm>
          <a:prstGeom prst="rect">
            <a:avLst/>
          </a:prstGeom>
          <a:noFill/>
        </p:spPr>
        <p:txBody>
          <a:bodyPr wrap="square" anchor="t" lIns="0" rIns="0" tIns="0" bIns="0">
            <a:spAutoFit/>
          </a:bodyPr>
          <a:lstStyle/>
          <a:p>
            <a:pPr algn="l">
              <a:lnSpc>
                <a:spcPct val="120000"/>
              </a:lnSpc>
            </a:pPr>
            <a:r>
              <a:rPr sz="1150" b="0">
                <a:solidFill>
                  <a:srgbClr val="000000"/>
                </a:solidFill>
                <a:latin typeface="Source Han Sans SC"/>
              </a:rPr>
              <a:t>OUTPUT HARDWARE — LED + buzzer: every table's base. Servo + light strip: two per table, first-come-first-served.</a:t>
            </a:r>
          </a:p>
        </p:txBody>
      </p:sp>
      <p:sp>
        <p:nvSpPr>
          <p:cNvPr id="16" name="TextBox 15"/>
          <p:cNvSpPr txBox="1"/>
          <p:nvPr/>
        </p:nvSpPr>
        <p:spPr>
          <a:xfrm>
            <a:off x="566928" y="4572000"/>
            <a:ext cx="8010144" cy="182880"/>
          </a:xfrm>
          <a:prstGeom prst="rect">
            <a:avLst/>
          </a:prstGeom>
          <a:noFill/>
        </p:spPr>
        <p:txBody>
          <a:bodyPr wrap="square" anchor="t" lIns="0" rIns="0" tIns="0" bIns="0">
            <a:spAutoFit/>
          </a:bodyPr>
          <a:lstStyle/>
          <a:p>
            <a:pPr algn="l">
              <a:lnSpc>
                <a:spcPct val="100000"/>
              </a:lnSpc>
            </a:pPr>
            <a:r>
              <a:rPr sz="950" b="0">
                <a:solidFill>
                  <a:srgbClr val="000000"/>
                </a:solidFill>
                <a:latin typeface="Source Han Sans SC"/>
              </a:rPr>
              <a:t>It "thinks" half a second slower — normal. Today: it watches, and takes care of this one thing.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15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800" b="1">
                <a:solidFill>
                  <a:srgbClr val="000000"/>
                </a:solidFill>
                <a:latin typeface="Source Han Sans SC"/>
              </a:rPr>
              <a:t>Three-Box Sheet — One New Member Today</a:t>
            </a:r>
          </a:p>
        </p:txBody>
      </p:sp>
      <p:sp>
        <p:nvSpPr>
          <p:cNvPr id="6" name="Rectangle 5"/>
          <p:cNvSpPr/>
          <p:nvPr/>
        </p:nvSpPr>
        <p:spPr>
          <a:xfrm>
            <a:off x="566928" y="1188720"/>
            <a:ext cx="2596896"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80160"/>
            <a:ext cx="2596896" cy="274320"/>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SENSE</a:t>
            </a:r>
          </a:p>
        </p:txBody>
      </p:sp>
      <p:sp>
        <p:nvSpPr>
          <p:cNvPr id="8" name="TextBox 7"/>
          <p:cNvSpPr txBox="1"/>
          <p:nvPr/>
        </p:nvSpPr>
        <p:spPr>
          <a:xfrm>
            <a:off x="704088" y="1591056"/>
            <a:ext cx="2322576" cy="502920"/>
          </a:xfrm>
          <a:prstGeom prst="rect">
            <a:avLst/>
          </a:prstGeom>
          <a:noFill/>
        </p:spPr>
        <p:txBody>
          <a:bodyPr wrap="square" anchor="t" lIns="0" rIns="0" tIns="0" bIns="0">
            <a:spAutoFit/>
          </a:bodyPr>
          <a:lstStyle/>
          <a:p>
            <a:pPr algn="ctr">
              <a:lnSpc>
                <a:spcPct val="115000"/>
              </a:lnSpc>
            </a:pPr>
            <a:r>
              <a:rPr sz="1050" b="0">
                <a:solidFill>
                  <a:srgbClr val="000000"/>
                </a:solidFill>
                <a:latin typeface="Source Han Sans SC"/>
              </a:rPr>
              <a:t>the class the camera recognizes (scissors / rock / paper)</a:t>
            </a:r>
          </a:p>
        </p:txBody>
      </p:sp>
      <p:sp>
        <p:nvSpPr>
          <p:cNvPr id="9" name="Rectangle 8"/>
          <p:cNvSpPr/>
          <p:nvPr/>
        </p:nvSpPr>
        <p:spPr>
          <a:xfrm>
            <a:off x="3273552" y="1188720"/>
            <a:ext cx="2596896"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73552" y="1280160"/>
            <a:ext cx="2596896" cy="274320"/>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LOGIC</a:t>
            </a:r>
          </a:p>
        </p:txBody>
      </p:sp>
      <p:sp>
        <p:nvSpPr>
          <p:cNvPr id="11" name="TextBox 10"/>
          <p:cNvSpPr txBox="1"/>
          <p:nvPr/>
        </p:nvSpPr>
        <p:spPr>
          <a:xfrm>
            <a:off x="3410712" y="1591056"/>
            <a:ext cx="2322576" cy="502920"/>
          </a:xfrm>
          <a:prstGeom prst="rect">
            <a:avLst/>
          </a:prstGeom>
          <a:noFill/>
        </p:spPr>
        <p:txBody>
          <a:bodyPr wrap="square" anchor="t" lIns="0" rIns="0" tIns="0" bIns="0">
            <a:spAutoFit/>
          </a:bodyPr>
          <a:lstStyle/>
          <a:p>
            <a:pPr algn="ctr">
              <a:lnSpc>
                <a:spcPct val="115000"/>
              </a:lnSpc>
            </a:pPr>
            <a:r>
              <a:rPr sz="1050" b="0">
                <a:solidFill>
                  <a:srgbClr val="000000"/>
                </a:solidFill>
                <a:latin typeface="Source Han Sans SC"/>
              </a:rPr>
              <a:t>recognized what, do what</a:t>
            </a:r>
          </a:p>
        </p:txBody>
      </p:sp>
      <p:sp>
        <p:nvSpPr>
          <p:cNvPr id="12" name="Rectangle 11"/>
          <p:cNvSpPr/>
          <p:nvPr/>
        </p:nvSpPr>
        <p:spPr>
          <a:xfrm>
            <a:off x="5980176" y="1188720"/>
            <a:ext cx="2596896" cy="9601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0176" y="1280160"/>
            <a:ext cx="2596896" cy="274320"/>
          </a:xfrm>
          <a:prstGeom prst="rect">
            <a:avLst/>
          </a:prstGeom>
          <a:noFill/>
        </p:spPr>
        <p:txBody>
          <a:bodyPr wrap="square" anchor="t" lIns="0" rIns="0" tIns="0" bIns="0">
            <a:spAutoFit/>
          </a:bodyPr>
          <a:lstStyle/>
          <a:p>
            <a:pPr algn="ctr">
              <a:lnSpc>
                <a:spcPct val="100000"/>
              </a:lnSpc>
            </a:pPr>
            <a:r>
              <a:rPr sz="1400" b="1">
                <a:solidFill>
                  <a:srgbClr val="000000"/>
                </a:solidFill>
                <a:latin typeface="Source Han Sans SC"/>
              </a:rPr>
              <a:t>OUTPUT</a:t>
            </a:r>
          </a:p>
        </p:txBody>
      </p:sp>
      <p:sp>
        <p:nvSpPr>
          <p:cNvPr id="14" name="TextBox 13"/>
          <p:cNvSpPr txBox="1"/>
          <p:nvPr/>
        </p:nvSpPr>
        <p:spPr>
          <a:xfrm>
            <a:off x="6117336" y="1591056"/>
            <a:ext cx="2322576" cy="502920"/>
          </a:xfrm>
          <a:prstGeom prst="rect">
            <a:avLst/>
          </a:prstGeom>
          <a:noFill/>
        </p:spPr>
        <p:txBody>
          <a:bodyPr wrap="square" anchor="t" lIns="0" rIns="0" tIns="0" bIns="0">
            <a:spAutoFit/>
          </a:bodyPr>
          <a:lstStyle/>
          <a:p>
            <a:pPr algn="ctr">
              <a:lnSpc>
                <a:spcPct val="115000"/>
              </a:lnSpc>
            </a:pPr>
            <a:r>
              <a:rPr sz="1050" b="0">
                <a:solidFill>
                  <a:srgbClr val="000000"/>
                </a:solidFill>
                <a:latin typeface="Source Han Sans SC"/>
              </a:rPr>
              <a:t>the light, the buzzer, or the servo you grabbed</a:t>
            </a:r>
          </a:p>
        </p:txBody>
      </p:sp>
      <p:sp>
        <p:nvSpPr>
          <p:cNvPr id="15" name="Rectangle 14"/>
          <p:cNvSpPr/>
          <p:nvPr/>
        </p:nvSpPr>
        <p:spPr>
          <a:xfrm>
            <a:off x="4562856" y="2148840"/>
            <a:ext cx="18288" cy="34747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0" y="2496312"/>
            <a:ext cx="64008" cy="1078992"/>
          </a:xfrm>
          <a:prstGeom prst="rect">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231136" y="2606040"/>
            <a:ext cx="109728" cy="109728"/>
          </a:xfrm>
          <a:prstGeom prst="ellipse">
            <a:avLst/>
          </a:prstGeom>
          <a:solidFill>
            <a:srgbClr val="D841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0" y="2560320"/>
            <a:ext cx="6035040" cy="274320"/>
          </a:xfrm>
          <a:prstGeom prst="rect">
            <a:avLst/>
          </a:prstGeom>
          <a:noFill/>
        </p:spPr>
        <p:txBody>
          <a:bodyPr wrap="square" anchor="t" lIns="0" rIns="0" tIns="0" bIns="0">
            <a:spAutoFit/>
          </a:bodyPr>
          <a:lstStyle/>
          <a:p>
            <a:pPr algn="l">
              <a:lnSpc>
                <a:spcPct val="100000"/>
              </a:lnSpc>
            </a:pPr>
            <a:r>
              <a:rPr sz="1600" b="1">
                <a:solidFill>
                  <a:srgbClr val="D84144"/>
                </a:solidFill>
                <a:latin typeface="Source Han Sans SC"/>
              </a:rPr>
              <a:t>WHAT IF IT CAN'T RECOGNIZE IT — OR ISN'T SURE?</a:t>
            </a:r>
          </a:p>
        </p:txBody>
      </p:sp>
      <p:sp>
        <p:nvSpPr>
          <p:cNvPr id="19" name="TextBox 18"/>
          <p:cNvSpPr txBox="1"/>
          <p:nvPr/>
        </p:nvSpPr>
        <p:spPr>
          <a:xfrm>
            <a:off x="2468880" y="2907792"/>
            <a:ext cx="6035040" cy="566928"/>
          </a:xfrm>
          <a:prstGeom prst="rect">
            <a:avLst/>
          </a:prstGeom>
          <a:noFill/>
        </p:spPr>
        <p:txBody>
          <a:bodyPr wrap="square" anchor="t" lIns="0" rIns="0" tIns="0" bIns="0">
            <a:spAutoFit/>
          </a:bodyPr>
          <a:lstStyle/>
          <a:p>
            <a:pPr algn="l">
              <a:lnSpc>
                <a:spcPct val="120000"/>
              </a:lnSpc>
            </a:pPr>
            <a:r>
              <a:rPr sz="1200" b="0">
                <a:solidFill>
                  <a:srgbClr val="000000"/>
                </a:solidFill>
                <a:latin typeface="Source Han Sans SC"/>
              </a:rPr>
              <a:t>THIS COLUMN IS REQUIRED. Writing "do nothing" is a valid answer —</a:t>
            </a:r>
          </a:p>
          <a:p>
            <a:pPr algn="l">
              <a:lnSpc>
                <a:spcPct val="120000"/>
              </a:lnSpc>
            </a:pPr>
            <a:r>
              <a:rPr sz="1200" b="0">
                <a:solidFill>
                  <a:srgbClr val="000000"/>
                </a:solidFill>
                <a:latin typeface="Source Han Sans SC"/>
              </a:rPr>
              <a:t>but it has to be YOUR decision, not its accident.</a:t>
            </a:r>
          </a:p>
        </p:txBody>
      </p:sp>
      <p:sp>
        <p:nvSpPr>
          <p:cNvPr id="20" name="Rectangle 19"/>
          <p:cNvSpPr/>
          <p:nvPr/>
        </p:nvSpPr>
        <p:spPr>
          <a:xfrm>
            <a:off x="566928" y="3794760"/>
            <a:ext cx="8010144" cy="914400"/>
          </a:xfrm>
          <a:prstGeom prst="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886200"/>
            <a:ext cx="7680960" cy="731520"/>
          </a:xfrm>
          <a:prstGeom prst="rect">
            <a:avLst/>
          </a:prstGeom>
          <a:noFill/>
        </p:spPr>
        <p:txBody>
          <a:bodyPr wrap="square" anchor="t" lIns="0" rIns="0" tIns="0" bIns="0">
            <a:spAutoFit/>
          </a:bodyPr>
          <a:lstStyle/>
          <a:p>
            <a:pPr algn="l">
              <a:lnSpc>
                <a:spcPct val="120000"/>
              </a:lnSpc>
            </a:pPr>
            <a:r>
              <a:rPr sz="1150" b="0">
                <a:solidFill>
                  <a:srgbClr val="000000"/>
                </a:solidFill>
                <a:latin typeface="Source Code Pro"/>
              </a:rPr>
              <a:t>It reports how confident it is — a percentage (its CONFIDENCE).
Your rule: below 70% confidence, treat it as not recognized.
Show a TA your three boxes before you build.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16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Vision → Action — You're the Boss of Two AIs</a:t>
            </a:r>
          </a:p>
        </p:txBody>
      </p:sp>
      <p:sp>
        <p:nvSpPr>
          <p:cNvPr id="6" name="Rectangle 5"/>
          <p:cNvSpPr/>
          <p:nvPr/>
        </p:nvSpPr>
        <p:spPr>
          <a:xfrm>
            <a:off x="566928" y="896112"/>
            <a:ext cx="8010144" cy="402336"/>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960120"/>
            <a:ext cx="7680960" cy="274320"/>
          </a:xfrm>
          <a:prstGeom prst="rect">
            <a:avLst/>
          </a:prstGeom>
          <a:noFill/>
        </p:spPr>
        <p:txBody>
          <a:bodyPr wrap="square" anchor="t" lIns="0" rIns="0" tIns="0" bIns="0">
            <a:spAutoFit/>
          </a:bodyPr>
          <a:lstStyle/>
          <a:p>
            <a:pPr algn="l">
              <a:lnSpc>
                <a:spcPct val="100000"/>
              </a:lnSpc>
            </a:pPr>
            <a:r>
              <a:rPr sz="1150" b="1">
                <a:solidFill>
                  <a:srgbClr val="000000"/>
                </a:solidFill>
                <a:latin typeface="Source Han Sans SC"/>
              </a:rPr>
              <a:t>The model SenseCraft taught handles "recognize" — the program Codecraft runs handles "do".</a:t>
            </a:r>
          </a:p>
        </p:txBody>
      </p:sp>
      <p:sp>
        <p:nvSpPr>
          <p:cNvPr id="8" name="Rectangle 7"/>
          <p:cNvSpPr/>
          <p:nvPr/>
        </p:nvSpPr>
        <p:spPr>
          <a:xfrm>
            <a:off x="566928" y="1389888"/>
            <a:ext cx="8010144" cy="2542032"/>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508760"/>
            <a:ext cx="7571231" cy="2304287"/>
          </a:xfrm>
          <a:prstGeom prst="rect">
            <a:avLst/>
          </a:prstGeom>
          <a:noFill/>
        </p:spPr>
        <p:txBody>
          <a:bodyPr wrap="square" anchor="t" lIns="0" rIns="0" tIns="0" bIns="0">
            <a:spAutoFit/>
          </a:bodyPr>
          <a:lstStyle/>
          <a:p>
            <a:pPr algn="l">
              <a:lnSpc>
                <a:spcPct val="135000"/>
              </a:lnSpc>
            </a:pPr>
            <a:r>
              <a:rPr sz="1050" b="0">
                <a:solidFill>
                  <a:srgbClr val="000000"/>
                </a:solidFill>
                <a:latin typeface="Source Code Pro"/>
              </a:rPr>
              <a:t>My XIAO ESP32S3 Sense has an image-classification model deployed on it</a:t>
            </a:r>
          </a:p>
          <a:p>
            <a:pPr algn="l">
              <a:lnSpc>
                <a:spcPct val="135000"/>
              </a:lnSpc>
            </a:pPr>
            <a:r>
              <a:rPr sz="1050" b="0">
                <a:solidFill>
                  <a:srgbClr val="000000"/>
                </a:solidFill>
                <a:latin typeface="Source Code Pro"/>
              </a:rPr>
              <a:t>that recognizes three classes: scissors, rock, paper.</a:t>
            </a:r>
          </a:p>
          <a:p>
            <a:pPr algn="l">
              <a:lnSpc>
                <a:spcPct val="135000"/>
              </a:lnSpc>
            </a:pPr>
            <a:r>
              <a:rPr sz="1050" b="0">
                <a:solidFill>
                  <a:srgbClr val="000000"/>
                </a:solidFill>
                <a:latin typeface="Source Code Pro"/>
              </a:rPr>
              <a:t>The recognition result and its confidence come out of the serial port.</a:t>
            </a:r>
          </a:p>
          <a:p>
            <a:pPr algn="l">
              <a:lnSpc>
                <a:spcPct val="135000"/>
              </a:lnSpc>
            </a:pPr>
            <a:r>
              <a:rPr sz="1050" b="0">
                <a:solidFill>
                  <a:srgbClr val="000000"/>
                </a:solidFill>
                <a:latin typeface="Source Code Pro"/>
              </a:rPr>
              <a:t>Please write me a program:</a:t>
            </a:r>
          </a:p>
          <a:p>
            <a:pPr algn="l">
              <a:lnSpc>
                <a:spcPct val="135000"/>
              </a:lnSpc>
            </a:pPr>
            <a:r>
              <a:rPr sz="1050" b="0">
                <a:solidFill>
                  <a:srgbClr val="000000"/>
                </a:solidFill>
                <a:latin typeface="Source Code Pro"/>
              </a:rPr>
              <a:t>1. When the result is "scissors" AND confidence is above 70% → turn on the LED;</a:t>
            </a:r>
          </a:p>
          <a:p>
            <a:pPr algn="l">
              <a:lnSpc>
                <a:spcPct val="135000"/>
              </a:lnSpc>
            </a:pPr>
            <a:r>
              <a:rPr sz="1050" b="0">
                <a:solidFill>
                  <a:srgbClr val="000000"/>
                </a:solidFill>
                <a:latin typeface="Source Code Pro"/>
              </a:rPr>
              <a:t>2. When the result is "rock" AND confidence is above 70% → make the buzzer beep once;</a:t>
            </a:r>
          </a:p>
          <a:p>
            <a:pPr algn="l">
              <a:lnSpc>
                <a:spcPct val="135000"/>
              </a:lnSpc>
            </a:pPr>
            <a:r>
              <a:rPr sz="1050" b="0">
                <a:solidFill>
                  <a:srgbClr val="000000"/>
                </a:solidFill>
                <a:latin typeface="Source Code Pro"/>
              </a:rPr>
              <a:t>3. When the result is "paper", or confidence is below 70% → turn everything off</a:t>
            </a:r>
          </a:p>
          <a:p>
            <a:pPr algn="l">
              <a:lnSpc>
                <a:spcPct val="135000"/>
              </a:lnSpc>
            </a:pPr>
            <a:r>
              <a:rPr sz="1050" b="0">
                <a:solidFill>
                  <a:srgbClr val="000000"/>
                </a:solidFill>
                <a:latin typeface="Source Code Pro"/>
              </a:rPr>
              <a:t>   (this is the "what if it can't recognize it" handling).</a:t>
            </a:r>
          </a:p>
          <a:p>
            <a:pPr algn="l">
              <a:lnSpc>
                <a:spcPct val="135000"/>
              </a:lnSpc>
            </a:pPr>
            <a:r>
              <a:rPr sz="1050" b="0">
                <a:solidFill>
                  <a:srgbClr val="000000"/>
                </a:solidFill>
                <a:latin typeface="Source Code Pro"/>
              </a:rPr>
              <a:t>Implement only item 1 first. Once it runs, I'll ask for items 2 and 3.</a:t>
            </a:r>
          </a:p>
        </p:txBody>
      </p:sp>
      <p:sp>
        <p:nvSpPr>
          <p:cNvPr id="10" name="Rectangle 9"/>
          <p:cNvSpPr/>
          <p:nvPr/>
        </p:nvSpPr>
        <p:spPr>
          <a:xfrm>
            <a:off x="566928" y="4041648"/>
            <a:ext cx="64008" cy="68580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078224"/>
            <a:ext cx="7589520" cy="621792"/>
          </a:xfrm>
          <a:prstGeom prst="rect">
            <a:avLst/>
          </a:prstGeom>
          <a:noFill/>
        </p:spPr>
        <p:txBody>
          <a:bodyPr wrap="square" anchor="t" lIns="0" rIns="0" tIns="0" bIns="0">
            <a:spAutoFit/>
          </a:bodyPr>
          <a:lstStyle/>
          <a:p>
            <a:pPr algn="l">
              <a:lnSpc>
                <a:spcPct val="125000"/>
              </a:lnSpc>
            </a:pPr>
            <a:r>
              <a:rPr sz="1000" b="1">
                <a:solidFill>
                  <a:srgbClr val="000000"/>
                </a:solidFill>
                <a:latin typeface="Source Han Sans SC"/>
              </a:rPr>
              <a:t>The old discipline: one thing at a time. Item 1 running, then items 2 and 3.</a:t>
            </a:r>
          </a:p>
          <a:p>
            <a:pPr algn="l">
              <a:lnSpc>
                <a:spcPct val="125000"/>
              </a:lnSpc>
            </a:pPr>
            <a:r>
              <a:rPr sz="1000" b="0">
                <a:solidFill>
                  <a:srgbClr val="000000"/>
                </a:solidFill>
                <a:latin typeface="Source Han Sans SC"/>
              </a:rPr>
              <a:t>Error? Paste the error back — it fixes it.</a:t>
            </a:r>
          </a:p>
          <a:p>
            <a:pPr algn="l">
              <a:lnSpc>
                <a:spcPct val="125000"/>
              </a:lnSpc>
            </a:pPr>
            <a:r>
              <a:rPr sz="1000" b="0">
                <a:solidFill>
                  <a:srgbClr val="000000"/>
                </a:solidFill>
                <a:latin typeface="Source Han Sans SC"/>
              </a:rPr>
              <a:t>Left tab: SenseCraft. Right tab: Codecraft. Don't merge them. Class names stay English.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17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2600" b="1">
                <a:solidFill>
                  <a:srgbClr val="000000"/>
                </a:solidFill>
                <a:latin typeface="Source Han Sans SC"/>
              </a:rPr>
              <a:t>Not Running? Start With the Board's Own LED</a:t>
            </a:r>
          </a:p>
        </p:txBody>
      </p:sp>
      <p:sp>
        <p:nvSpPr>
          <p:cNvPr id="6" name="Rectangle 5"/>
          <p:cNvSpPr/>
          <p:nvPr/>
        </p:nvSpPr>
        <p:spPr>
          <a:xfrm>
            <a:off x="566928" y="1188720"/>
            <a:ext cx="8010144" cy="16002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307592"/>
            <a:ext cx="7571231" cy="1362456"/>
          </a:xfrm>
          <a:prstGeom prst="rect">
            <a:avLst/>
          </a:prstGeom>
          <a:noFill/>
        </p:spPr>
        <p:txBody>
          <a:bodyPr wrap="square" anchor="t" lIns="0" rIns="0" tIns="0" bIns="0">
            <a:spAutoFit/>
          </a:bodyPr>
          <a:lstStyle/>
          <a:p>
            <a:pPr algn="l">
              <a:lnSpc>
                <a:spcPct val="135000"/>
              </a:lnSpc>
            </a:pPr>
            <a:r>
              <a:rPr sz="1150" b="0">
                <a:solidFill>
                  <a:srgbClr val="000000"/>
                </a:solidFill>
                <a:latin typeface="Source Code Pro"/>
              </a:rPr>
              <a:t>My XIAO ESP32S3 Sense has an image-classification model deployed on it</a:t>
            </a:r>
          </a:p>
          <a:p>
            <a:pPr algn="l">
              <a:lnSpc>
                <a:spcPct val="135000"/>
              </a:lnSpc>
            </a:pPr>
            <a:r>
              <a:rPr sz="1150" b="0">
                <a:solidFill>
                  <a:srgbClr val="000000"/>
                </a:solidFill>
                <a:latin typeface="Source Code Pro"/>
              </a:rPr>
              <a:t>that recognizes three classes: scissors, rock, paper.</a:t>
            </a:r>
          </a:p>
          <a:p>
            <a:pPr algn="l">
              <a:lnSpc>
                <a:spcPct val="135000"/>
              </a:lnSpc>
            </a:pPr>
            <a:r>
              <a:rPr sz="1150" b="0">
                <a:solidFill>
                  <a:srgbClr val="000000"/>
                </a:solidFill>
                <a:latin typeface="Source Code Pro"/>
              </a:rPr>
              <a:t>The recognition result comes out of the serial port.</a:t>
            </a:r>
          </a:p>
          <a:p>
            <a:pPr algn="l">
              <a:lnSpc>
                <a:spcPct val="135000"/>
              </a:lnSpc>
            </a:pPr>
            <a:r>
              <a:rPr sz="1150" b="0">
                <a:solidFill>
                  <a:srgbClr val="000000"/>
                </a:solidFill>
                <a:latin typeface="Source Code Pro"/>
              </a:rPr>
              <a:t>Please write me the simplest program:</a:t>
            </a:r>
          </a:p>
          <a:p>
            <a:pPr algn="l">
              <a:lnSpc>
                <a:spcPct val="135000"/>
              </a:lnSpc>
            </a:pPr>
            <a:r>
              <a:rPr sz="1150" b="0">
                <a:solidFill>
                  <a:srgbClr val="000000"/>
                </a:solidFill>
                <a:latin typeface="Source Code Pro"/>
              </a:rPr>
              <a:t>when the result is "scissors" → turn on the onboard LED.</a:t>
            </a:r>
          </a:p>
        </p:txBody>
      </p:sp>
      <p:sp>
        <p:nvSpPr>
          <p:cNvPr id="8" name="Rectangle 7"/>
          <p:cNvSpPr/>
          <p:nvPr/>
        </p:nvSpPr>
        <p:spPr>
          <a:xfrm>
            <a:off x="566928" y="2971800"/>
            <a:ext cx="8010144" cy="141732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32004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108960"/>
            <a:ext cx="7534656" cy="548640"/>
          </a:xfrm>
          <a:prstGeom prst="rect">
            <a:avLst/>
          </a:prstGeom>
          <a:noFill/>
        </p:spPr>
        <p:txBody>
          <a:bodyPr wrap="square" anchor="t" lIns="0" rIns="0" tIns="0" bIns="0">
            <a:spAutoFit/>
          </a:bodyPr>
          <a:lstStyle/>
          <a:p>
            <a:pPr algn="l">
              <a:lnSpc>
                <a:spcPct val="110000"/>
              </a:lnSpc>
            </a:pPr>
            <a:r>
              <a:rPr sz="1250" b="1">
                <a:solidFill>
                  <a:srgbClr val="000000"/>
                </a:solidFill>
                <a:latin typeface="Source Han Sans SC"/>
              </a:rPr>
              <a:t>Error? Paste the error back to AI, verbatim.</a:t>
            </a:r>
          </a:p>
        </p:txBody>
      </p:sp>
      <p:sp>
        <p:nvSpPr>
          <p:cNvPr id="11" name="Oval 10"/>
          <p:cNvSpPr/>
          <p:nvPr/>
        </p:nvSpPr>
        <p:spPr>
          <a:xfrm>
            <a:off x="731520" y="36576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3566160"/>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Image black or blurry? Is the lens film off? → swap the board, don't repair.</a:t>
            </a:r>
          </a:p>
        </p:txBody>
      </p:sp>
      <p:sp>
        <p:nvSpPr>
          <p:cNvPr id="13" name="Oval 12"/>
          <p:cNvSpPr/>
          <p:nvPr/>
        </p:nvSpPr>
        <p:spPr>
          <a:xfrm>
            <a:off x="731520" y="41148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4023360"/>
            <a:ext cx="7534656" cy="548640"/>
          </a:xfrm>
          <a:prstGeom prst="rect">
            <a:avLst/>
          </a:prstGeom>
          <a:noFill/>
        </p:spPr>
        <p:txBody>
          <a:bodyPr wrap="square" anchor="t" lIns="0" rIns="0" tIns="0" bIns="0">
            <a:spAutoFit/>
          </a:bodyPr>
          <a:lstStyle/>
          <a:p>
            <a:pPr algn="l">
              <a:lnSpc>
                <a:spcPct val="110000"/>
              </a:lnSpc>
            </a:pPr>
            <a:r>
              <a:rPr sz="1250" b="0">
                <a:solidFill>
                  <a:srgbClr val="000000"/>
                </a:solidFill>
                <a:latin typeface="Source Han Sans SC"/>
              </a:rPr>
              <a:t>Once the fallback runs, extend from there — add the light, the buzzer, the servo.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18 / 20</a:t>
            </a:r>
          </a:p>
        </p:txBody>
      </p:sp>
      <p:sp>
        <p:nvSpPr>
          <p:cNvPr id="4" name="TextBox 3"/>
          <p:cNvSpPr txBox="1"/>
          <p:nvPr/>
        </p:nvSpPr>
        <p:spPr>
          <a:xfrm>
            <a:off x="566928" y="868680"/>
            <a:ext cx="2743200" cy="1645920"/>
          </a:xfrm>
          <a:prstGeom prst="rect">
            <a:avLst/>
          </a:prstGeom>
          <a:noFill/>
        </p:spPr>
        <p:txBody>
          <a:bodyPr wrap="square" anchor="t" lIns="0" rIns="0" tIns="0" bIns="0">
            <a:spAutoFit/>
          </a:bodyPr>
          <a:lstStyle/>
          <a:p>
            <a:pPr algn="ctr">
              <a:lnSpc>
                <a:spcPct val="100000"/>
              </a:lnSpc>
            </a:pPr>
            <a:r>
              <a:rPr sz="9600" b="1">
                <a:solidFill>
                  <a:srgbClr val="000000"/>
                </a:solidFill>
                <a:latin typeface="Source Han Sans SC"/>
              </a:rPr>
              <a:t>9</a:t>
            </a:r>
          </a:p>
        </p:txBody>
      </p:sp>
      <p:sp>
        <p:nvSpPr>
          <p:cNvPr id="5" name="TextBox 4"/>
          <p:cNvSpPr txBox="1"/>
          <p:nvPr/>
        </p:nvSpPr>
        <p:spPr>
          <a:xfrm>
            <a:off x="566928" y="2542032"/>
            <a:ext cx="2743200" cy="457200"/>
          </a:xfrm>
          <a:prstGeom prst="rect">
            <a:avLst/>
          </a:prstGeom>
          <a:noFill/>
        </p:spPr>
        <p:txBody>
          <a:bodyPr wrap="square" anchor="t" lIns="0" rIns="0" tIns="0" bIns="0">
            <a:spAutoFit/>
          </a:bodyPr>
          <a:lstStyle/>
          <a:p>
            <a:pPr algn="ctr">
              <a:lnSpc>
                <a:spcPct val="100000"/>
              </a:lnSpc>
            </a:pPr>
            <a:r>
              <a:rPr sz="2600" b="1">
                <a:solidFill>
                  <a:srgbClr val="000000"/>
                </a:solidFill>
                <a:latin typeface="Source Han Sans SC"/>
              </a:rPr>
              <a:t>minutes</a:t>
            </a:r>
          </a:p>
        </p:txBody>
      </p:sp>
      <p:sp>
        <p:nvSpPr>
          <p:cNvPr id="6" name="Rectangle 5"/>
          <p:cNvSpPr/>
          <p:nvPr/>
        </p:nvSpPr>
        <p:spPr>
          <a:xfrm>
            <a:off x="3566160" y="960120"/>
            <a:ext cx="5010912" cy="86868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30752" y="1069848"/>
            <a:ext cx="4681728" cy="649224"/>
          </a:xfrm>
          <a:prstGeom prst="rect">
            <a:avLst/>
          </a:prstGeom>
          <a:noFill/>
        </p:spPr>
        <p:txBody>
          <a:bodyPr wrap="square" anchor="t" lIns="0" rIns="0" tIns="0" bIns="0">
            <a:spAutoFit/>
          </a:bodyPr>
          <a:lstStyle/>
          <a:p>
            <a:pPr algn="l">
              <a:lnSpc>
                <a:spcPct val="125000"/>
              </a:lnSpc>
            </a:pPr>
            <a:r>
              <a:rPr sz="1100" b="0">
                <a:solidFill>
                  <a:srgbClr val="000000"/>
                </a:solidFill>
                <a:latin typeface="Source Han Sans SC"/>
              </a:rPr>
              <a:t>EXIT 1 · FINISH TO STANDARD (everyone crosses this line)</a:t>
            </a:r>
          </a:p>
          <a:p>
            <a:pPr algn="l">
              <a:lnSpc>
                <a:spcPct val="125000"/>
              </a:lnSpc>
            </a:pPr>
            <a:r>
              <a:rPr sz="1100" b="0">
                <a:solidFill>
                  <a:srgbClr val="000000"/>
                </a:solidFill>
                <a:latin typeface="Source Han Sans SC"/>
              </a:rPr>
              <a:t>One recognized class → one action.</a:t>
            </a:r>
          </a:p>
        </p:txBody>
      </p:sp>
      <p:sp>
        <p:nvSpPr>
          <p:cNvPr id="8" name="Rectangle 7"/>
          <p:cNvSpPr/>
          <p:nvPr/>
        </p:nvSpPr>
        <p:spPr>
          <a:xfrm>
            <a:off x="3566160" y="1938528"/>
            <a:ext cx="5010912" cy="9144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2463" y="2029968"/>
            <a:ext cx="4718304" cy="749808"/>
          </a:xfrm>
          <a:prstGeom prst="rect">
            <a:avLst/>
          </a:prstGeom>
          <a:noFill/>
        </p:spPr>
        <p:txBody>
          <a:bodyPr wrap="square" anchor="t" lIns="0" rIns="0" tIns="0" bIns="0">
            <a:spAutoFit/>
          </a:bodyPr>
          <a:lstStyle/>
          <a:p>
            <a:pPr algn="l">
              <a:lnSpc>
                <a:spcPct val="125000"/>
              </a:lnSpc>
            </a:pPr>
            <a:r>
              <a:rPr sz="1100" b="1">
                <a:solidFill>
                  <a:srgbClr val="000000"/>
                </a:solidFill>
                <a:latin typeface="Source Han Sans SC"/>
              </a:rPr>
              <a:t>EXIT 2 · RUNNING? Try your neighbor's project once.</a:t>
            </a:r>
          </a:p>
          <a:p>
            <a:pPr algn="l">
              <a:lnSpc>
                <a:spcPct val="125000"/>
              </a:lnSpc>
            </a:pPr>
            <a:r>
              <a:rPr sz="1050" b="0">
                <a:solidFill>
                  <a:srgbClr val="000000"/>
                </a:solidFill>
                <a:latin typeface="Source Han Sans SC"/>
              </a:rPr>
              <a:t>Then log progress: "I made my model ___ after recognizing ___."</a:t>
            </a:r>
          </a:p>
        </p:txBody>
      </p:sp>
      <p:sp>
        <p:nvSpPr>
          <p:cNvPr id="10" name="Rectangle 9"/>
          <p:cNvSpPr/>
          <p:nvPr/>
        </p:nvSpPr>
        <p:spPr>
          <a:xfrm>
            <a:off x="3566160" y="2962656"/>
            <a:ext cx="5010912" cy="100584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2463" y="3054096"/>
            <a:ext cx="4718304" cy="841248"/>
          </a:xfrm>
          <a:prstGeom prst="rect">
            <a:avLst/>
          </a:prstGeom>
          <a:noFill/>
        </p:spPr>
        <p:txBody>
          <a:bodyPr wrap="square" anchor="t" lIns="0" rIns="0" tIns="0" bIns="0">
            <a:spAutoFit/>
          </a:bodyPr>
          <a:lstStyle/>
          <a:p>
            <a:pPr algn="l">
              <a:lnSpc>
                <a:spcPct val="125000"/>
              </a:lnSpc>
            </a:pPr>
            <a:r>
              <a:rPr sz="1100" b="1">
                <a:solidFill>
                  <a:srgbClr val="000000"/>
                </a:solidFill>
                <a:latin typeface="Source Han Sans SC"/>
              </a:rPr>
              <a:t>EXIT 3 · SPARE TIME? On the back of your three-box sheet,</a:t>
            </a:r>
          </a:p>
          <a:p>
            <a:pPr algn="l">
              <a:lnSpc>
                <a:spcPct val="125000"/>
              </a:lnSpc>
            </a:pPr>
            <a:r>
              <a:rPr sz="1050" b="0">
                <a:solidFill>
                  <a:srgbClr val="000000"/>
                </a:solidFill>
                <a:latin typeface="Source Han Sans SC"/>
              </a:rPr>
              <a:t>write "three scenarios where I'll try to break my own project next lesson."</a:t>
            </a:r>
          </a:p>
        </p:txBody>
      </p:sp>
      <p:sp>
        <p:nvSpPr>
          <p:cNvPr id="12" name="TextBox 11"/>
          <p:cNvSpPr txBox="1"/>
          <p:nvPr/>
        </p:nvSpPr>
        <p:spPr>
          <a:xfrm>
            <a:off x="566928" y="4160520"/>
            <a:ext cx="8010144" cy="502920"/>
          </a:xfrm>
          <a:prstGeom prst="rect">
            <a:avLst/>
          </a:prstGeom>
          <a:noFill/>
        </p:spPr>
        <p:txBody>
          <a:bodyPr wrap="square" anchor="t" lIns="0" rIns="0" tIns="0" bIns="0">
            <a:spAutoFit/>
          </a:bodyPr>
          <a:lstStyle/>
          <a:p>
            <a:pPr algn="l">
              <a:lnSpc>
                <a:spcPct val="130000"/>
              </a:lnSpc>
            </a:pPr>
            <a:r>
              <a:rPr sz="1000" b="1">
                <a:solidFill>
                  <a:srgbClr val="000000"/>
                </a:solidFill>
                <a:latin typeface="Source Han Sans SC"/>
              </a:rPr>
              <a:t>Not finished? No extensions — TA keeps you on the main build.</a:t>
            </a:r>
          </a:p>
          <a:p>
            <a:pPr algn="l">
              <a:lnSpc>
                <a:spcPct val="130000"/>
              </a:lnSpc>
            </a:pPr>
            <a:r>
              <a:rPr sz="1000" b="0">
                <a:solidFill>
                  <a:srgbClr val="000000"/>
                </a:solidFill>
                <a:latin typeface="Source Han Sans SC"/>
              </a:rPr>
              <a:t>The buffer is part of the lesson, not early dismissal.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19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800" b="1">
                <a:solidFill>
                  <a:srgbClr val="000000"/>
                </a:solidFill>
                <a:latin typeface="Source Han Sans SC"/>
              </a:rPr>
              <a:t>Today You Did Two Things</a:t>
            </a:r>
          </a:p>
        </p:txBody>
      </p:sp>
      <p:sp>
        <p:nvSpPr>
          <p:cNvPr id="6" name="TextBox 5"/>
          <p:cNvSpPr txBox="1"/>
          <p:nvPr/>
        </p:nvSpPr>
        <p:spPr>
          <a:xfrm>
            <a:off x="566928" y="914400"/>
            <a:ext cx="8138160" cy="365760"/>
          </a:xfrm>
          <a:prstGeom prst="rect">
            <a:avLst/>
          </a:prstGeom>
          <a:noFill/>
        </p:spPr>
        <p:txBody>
          <a:bodyPr wrap="square" anchor="t" lIns="0" rIns="0" tIns="0" bIns="0">
            <a:spAutoFit/>
          </a:bodyPr>
          <a:lstStyle/>
          <a:p>
            <a:pPr algn="l">
              <a:lnSpc>
                <a:spcPct val="100000"/>
              </a:lnSpc>
            </a:pPr>
            <a:r>
              <a:rPr sz="1400" b="0">
                <a:solidFill>
                  <a:srgbClr val="000000"/>
                </a:solidFill>
                <a:latin typeface="Source Han Sans SC"/>
              </a:rPr>
              <a:t>nobody ever walked you through</a:t>
            </a:r>
          </a:p>
        </p:txBody>
      </p:sp>
      <p:sp>
        <p:nvSpPr>
          <p:cNvPr id="7" name="Rectangle 6"/>
          <p:cNvSpPr/>
          <p:nvPr/>
        </p:nvSpPr>
        <p:spPr>
          <a:xfrm>
            <a:off x="566928" y="150876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4533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1</a:t>
            </a:r>
          </a:p>
        </p:txBody>
      </p:sp>
      <p:sp>
        <p:nvSpPr>
          <p:cNvPr id="9" name="TextBox 8"/>
          <p:cNvSpPr txBox="1"/>
          <p:nvPr/>
        </p:nvSpPr>
        <p:spPr>
          <a:xfrm>
            <a:off x="1097280" y="1490472"/>
            <a:ext cx="72237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You taught a board to know the world with your own hands —</a:t>
            </a:r>
          </a:p>
        </p:txBody>
      </p:sp>
      <p:sp>
        <p:nvSpPr>
          <p:cNvPr id="10" name="TextBox 9"/>
          <p:cNvSpPr txBox="1"/>
          <p:nvPr/>
        </p:nvSpPr>
        <p:spPr>
          <a:xfrm>
            <a:off x="1097280" y="1810512"/>
            <a:ext cx="722376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collecting photos, training a model, deploying it to the board</a:t>
            </a:r>
          </a:p>
        </p:txBody>
      </p:sp>
      <p:sp>
        <p:nvSpPr>
          <p:cNvPr id="11" name="Rectangle 10"/>
          <p:cNvSpPr/>
          <p:nvPr/>
        </p:nvSpPr>
        <p:spPr>
          <a:xfrm>
            <a:off x="566928" y="2331720"/>
            <a:ext cx="365760" cy="365760"/>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2368296"/>
            <a:ext cx="365760" cy="310896"/>
          </a:xfrm>
          <a:prstGeom prst="rect">
            <a:avLst/>
          </a:prstGeom>
          <a:noFill/>
        </p:spPr>
        <p:txBody>
          <a:bodyPr wrap="square" anchor="t" lIns="0" rIns="0" tIns="0" bIns="0">
            <a:spAutoFit/>
          </a:bodyPr>
          <a:lstStyle/>
          <a:p>
            <a:pPr algn="ctr">
              <a:lnSpc>
                <a:spcPct val="100000"/>
              </a:lnSpc>
            </a:pPr>
            <a:r>
              <a:rPr sz="1500" b="1">
                <a:solidFill>
                  <a:srgbClr val="FFFFFF"/>
                </a:solidFill>
                <a:latin typeface="Source Han Sans SC"/>
              </a:rPr>
              <a:t>2</a:t>
            </a:r>
          </a:p>
        </p:txBody>
      </p:sp>
      <p:sp>
        <p:nvSpPr>
          <p:cNvPr id="13" name="TextBox 12"/>
          <p:cNvSpPr txBox="1"/>
          <p:nvPr/>
        </p:nvSpPr>
        <p:spPr>
          <a:xfrm>
            <a:off x="1097280" y="2313432"/>
            <a:ext cx="7223760" cy="292608"/>
          </a:xfrm>
          <a:prstGeom prst="rect">
            <a:avLst/>
          </a:prstGeom>
          <a:noFill/>
        </p:spPr>
        <p:txBody>
          <a:bodyPr wrap="square" anchor="t" lIns="0" rIns="0" tIns="0" bIns="0">
            <a:spAutoFit/>
          </a:bodyPr>
          <a:lstStyle/>
          <a:p>
            <a:pPr algn="l">
              <a:lnSpc>
                <a:spcPct val="100000"/>
              </a:lnSpc>
            </a:pPr>
            <a:r>
              <a:rPr sz="1500" b="1">
                <a:solidFill>
                  <a:srgbClr val="000000"/>
                </a:solidFill>
                <a:latin typeface="Source Han Sans SC"/>
              </a:rPr>
              <a:t>You made the knowing decide for you —</a:t>
            </a:r>
          </a:p>
        </p:txBody>
      </p:sp>
      <p:sp>
        <p:nvSpPr>
          <p:cNvPr id="14" name="TextBox 13"/>
          <p:cNvSpPr txBox="1"/>
          <p:nvPr/>
        </p:nvSpPr>
        <p:spPr>
          <a:xfrm>
            <a:off x="1097280" y="2633472"/>
            <a:ext cx="7223760" cy="256032"/>
          </a:xfrm>
          <a:prstGeom prst="rect">
            <a:avLst/>
          </a:prstGeom>
          <a:noFill/>
        </p:spPr>
        <p:txBody>
          <a:bodyPr wrap="square" anchor="t" lIns="0" rIns="0" tIns="0" bIns="0">
            <a:spAutoFit/>
          </a:bodyPr>
          <a:lstStyle/>
          <a:p>
            <a:pPr algn="l">
              <a:lnSpc>
                <a:spcPct val="100000"/>
              </a:lnSpc>
            </a:pPr>
            <a:r>
              <a:rPr sz="1250" b="0">
                <a:solidFill>
                  <a:srgbClr val="000000"/>
                </a:solidFill>
                <a:latin typeface="Source Han Sans SC"/>
              </a:rPr>
              <a:t>your gesture turns on a light, rings a buzzer</a:t>
            </a:r>
          </a:p>
        </p:txBody>
      </p:sp>
      <p:sp>
        <p:nvSpPr>
          <p:cNvPr id="15" name="Rectangle 14"/>
          <p:cNvSpPr/>
          <p:nvPr/>
        </p:nvSpPr>
        <p:spPr>
          <a:xfrm>
            <a:off x="566928" y="3474720"/>
            <a:ext cx="54864" cy="420084"/>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8096" y="3493008"/>
            <a:ext cx="7808975" cy="383508"/>
          </a:xfrm>
          <a:prstGeom prst="rect">
            <a:avLst/>
          </a:prstGeom>
          <a:noFill/>
        </p:spPr>
        <p:txBody>
          <a:bodyPr wrap="square" anchor="t" lIns="0" rIns="0" tIns="0" bIns="0">
            <a:spAutoFit/>
          </a:bodyPr>
          <a:lstStyle/>
          <a:p>
            <a:pPr algn="l">
              <a:lnSpc>
                <a:spcPct val="115000"/>
              </a:lnSpc>
            </a:pPr>
            <a:r>
              <a:rPr sz="1700" b="0">
                <a:solidFill>
                  <a:srgbClr val="000000"/>
                </a:solidFill>
                <a:latin typeface="Source Han Sans SC"/>
              </a:rPr>
              <a:t>In the whole course, this is the only time you touch "how AI gets made."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4773168"/>
            <a:ext cx="8375904" cy="274320"/>
          </a:xfrm>
          <a:prstGeom prst="rect">
            <a:avLst/>
          </a:prstGeom>
          <a:noFill/>
        </p:spPr>
        <p:txBody>
          <a:bodyPr wrap="square" anchor="t" lIns="0" rIns="0" tIns="0" bIns="0">
            <a:spAutoFit/>
          </a:bodyPr>
          <a:lstStyle/>
          <a:p>
            <a:pPr algn="l">
              <a:lnSpc>
                <a:spcPct val="100000"/>
              </a:lnSpc>
            </a:pPr>
            <a:r>
              <a:rPr sz="1000" b="0">
                <a:solidFill>
                  <a:srgbClr val="000000"/>
                </a:solidFill>
                <a:latin typeface="Source Han Sans SC"/>
              </a:rPr>
              <a:t>Chaihuo Maker Academy · M0 · Teach Your Hardware to See | 20 / 20</a:t>
            </a:r>
          </a:p>
        </p:txBody>
      </p:sp>
      <p:sp>
        <p:nvSpPr>
          <p:cNvPr id="4" name="Rectangle 3"/>
          <p:cNvSpPr/>
          <p:nvPr/>
        </p:nvSpPr>
        <p:spPr>
          <a:xfrm>
            <a:off x="384048" y="219456"/>
            <a:ext cx="54864" cy="566928"/>
          </a:xfrm>
          <a:prstGeom prst="rect">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46304"/>
            <a:ext cx="8138160" cy="777240"/>
          </a:xfrm>
          <a:prstGeom prst="rect">
            <a:avLst/>
          </a:prstGeom>
          <a:noFill/>
        </p:spPr>
        <p:txBody>
          <a:bodyPr wrap="square" anchor="t" lIns="0" rIns="0" tIns="0" bIns="0">
            <a:spAutoFit/>
          </a:bodyPr>
          <a:lstStyle/>
          <a:p>
            <a:pPr algn="l">
              <a:lnSpc>
                <a:spcPct val="100000"/>
              </a:lnSpc>
            </a:pPr>
            <a:r>
              <a:rPr sz="3400" b="1">
                <a:solidFill>
                  <a:srgbClr val="000000"/>
                </a:solidFill>
                <a:latin typeface="Source Han Sans SC"/>
              </a:rPr>
              <a:t>Next Time — Bring Your Model Back</a:t>
            </a:r>
          </a:p>
        </p:txBody>
      </p:sp>
      <p:sp>
        <p:nvSpPr>
          <p:cNvPr id="6" name="Oval 5"/>
          <p:cNvSpPr/>
          <p:nvPr/>
        </p:nvSpPr>
        <p:spPr>
          <a:xfrm>
            <a:off x="566928" y="137160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280160"/>
            <a:ext cx="7863840"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First, AI becomes your tester and hands you a TROUBLE LIST.</a:t>
            </a:r>
          </a:p>
        </p:txBody>
      </p:sp>
      <p:sp>
        <p:nvSpPr>
          <p:cNvPr id="8" name="Oval 7"/>
          <p:cNvSpPr/>
          <p:nvPr/>
        </p:nvSpPr>
        <p:spPr>
          <a:xfrm>
            <a:off x="566928" y="192024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28800"/>
            <a:ext cx="7863840"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Then you and your neighbor try to wreck each other's projects.</a:t>
            </a:r>
          </a:p>
        </p:txBody>
      </p:sp>
      <p:sp>
        <p:nvSpPr>
          <p:cNvPr id="10" name="Oval 9"/>
          <p:cNvSpPr/>
          <p:nvPr/>
        </p:nvSpPr>
        <p:spPr>
          <a:xfrm>
            <a:off x="566928" y="246888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2377440"/>
            <a:ext cx="7863840"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Today you said "not recognized → do nothing."</a:t>
            </a:r>
          </a:p>
        </p:txBody>
      </p:sp>
      <p:sp>
        <p:nvSpPr>
          <p:cNvPr id="12" name="Oval 11"/>
          <p:cNvSpPr/>
          <p:nvPr/>
        </p:nvSpPr>
        <p:spPr>
          <a:xfrm>
            <a:off x="566928" y="3017520"/>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926080"/>
            <a:ext cx="7863840" cy="548640"/>
          </a:xfrm>
          <a:prstGeom prst="rect">
            <a:avLst/>
          </a:prstGeom>
          <a:noFill/>
        </p:spPr>
        <p:txBody>
          <a:bodyPr wrap="square" anchor="t" lIns="0" rIns="0" tIns="0" bIns="0">
            <a:spAutoFit/>
          </a:bodyPr>
          <a:lstStyle/>
          <a:p>
            <a:pPr algn="l">
              <a:lnSpc>
                <a:spcPct val="110000"/>
              </a:lnSpc>
            </a:pPr>
            <a:r>
              <a:rPr sz="1350" b="0">
                <a:solidFill>
                  <a:srgbClr val="000000"/>
                </a:solidFill>
                <a:latin typeface="Source Han Sans SC"/>
              </a:rPr>
              <a:t>Next time you'll answer: that decision — accept or reject?</a:t>
            </a:r>
          </a:p>
        </p:txBody>
      </p:sp>
      <p:sp>
        <p:nvSpPr>
          <p:cNvPr id="14" name="Rectangle 13"/>
          <p:cNvSpPr/>
          <p:nvPr/>
        </p:nvSpPr>
        <p:spPr>
          <a:xfrm>
            <a:off x="566928" y="3520440"/>
            <a:ext cx="8010144" cy="1207008"/>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593592"/>
            <a:ext cx="7680960" cy="237744"/>
          </a:xfrm>
          <a:prstGeom prst="rect">
            <a:avLst/>
          </a:prstGeom>
          <a:noFill/>
        </p:spPr>
        <p:txBody>
          <a:bodyPr wrap="square" anchor="t" lIns="0" rIns="0" tIns="0" bIns="0">
            <a:spAutoFit/>
          </a:bodyPr>
          <a:lstStyle/>
          <a:p>
            <a:pPr algn="l">
              <a:lnSpc>
                <a:spcPct val="100000"/>
              </a:lnSpc>
            </a:pPr>
            <a:r>
              <a:rPr sz="1250" b="1">
                <a:solidFill>
                  <a:srgbClr val="000000"/>
                </a:solidFill>
                <a:latin typeface="Source Han Sans SC"/>
              </a:rPr>
              <a:t>PACK-UP LIST</a:t>
            </a:r>
          </a:p>
        </p:txBody>
      </p:sp>
      <p:sp>
        <p:nvSpPr>
          <p:cNvPr id="16" name="Oval 15"/>
          <p:cNvSpPr/>
          <p:nvPr/>
        </p:nvSpPr>
        <p:spPr>
          <a:xfrm>
            <a:off x="768096" y="3986784"/>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7406640" cy="237744"/>
          </a:xfrm>
          <a:prstGeom prst="rect">
            <a:avLst/>
          </a:prstGeom>
          <a:noFill/>
        </p:spPr>
        <p:txBody>
          <a:bodyPr wrap="square" anchor="t" lIns="0" rIns="0" tIns="0" bIns="0">
            <a:spAutoFit/>
          </a:bodyPr>
          <a:lstStyle/>
          <a:p>
            <a:pPr algn="l">
              <a:lnSpc>
                <a:spcPct val="100000"/>
              </a:lnSpc>
            </a:pPr>
            <a:r>
              <a:rPr sz="1100" b="0">
                <a:solidFill>
                  <a:srgbClr val="000000"/>
                </a:solidFill>
                <a:latin typeface="Source Han Sans SC"/>
              </a:rPr>
              <a:t>Board into the bag with your name on it · output hardware back in place</a:t>
            </a:r>
          </a:p>
        </p:txBody>
      </p:sp>
      <p:sp>
        <p:nvSpPr>
          <p:cNvPr id="18" name="Oval 17"/>
          <p:cNvSpPr/>
          <p:nvPr/>
        </p:nvSpPr>
        <p:spPr>
          <a:xfrm>
            <a:off x="768096" y="4443984"/>
            <a:ext cx="100584" cy="100584"/>
          </a:xfrm>
          <a:prstGeom prst="ellipse">
            <a:avLst/>
          </a:prstGeom>
          <a:solidFill>
            <a:srgbClr val="F3D2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297680"/>
            <a:ext cx="7406640" cy="402336"/>
          </a:xfrm>
          <a:prstGeom prst="rect">
            <a:avLst/>
          </a:prstGeom>
          <a:noFill/>
        </p:spPr>
        <p:txBody>
          <a:bodyPr wrap="square" anchor="t" lIns="0" rIns="0" tIns="0" bIns="0">
            <a:spAutoFit/>
          </a:bodyPr>
          <a:lstStyle/>
          <a:p>
            <a:pPr algn="l">
              <a:lnSpc>
                <a:spcPct val="115000"/>
              </a:lnSpc>
            </a:pPr>
            <a:r>
              <a:rPr sz="1100" b="0">
                <a:solidFill>
                  <a:srgbClr val="000000"/>
                </a:solidFill>
                <a:latin typeface="Source Han Sans SC"/>
              </a:rPr>
              <a:t>Three-box sheet + log go with you (md or handwriting — hand to the teacher after class: link or photo)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