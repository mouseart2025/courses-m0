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loops before class. The one-line bio must be filled before class (a blank cover line is a credibility leak). Point at the Lesson-1 outcome image in the first 30 seconds — "That's a student from the last cohort, end of their first lesson. Next session, that's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 keep it to one sentence per line. Never read this page aloud line by line — say your name, where you're from, and one reason you're teaching, then flip to slide 3 fast. The slide exists so latecomers can catch up on their own. Do not linger.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 center of gravity. Tell it as a story, never read the specs. Three beats: 1) What I was trying to solve (one specific annoyance); 2) Zero lines of code — but every line came from what *I* asked for. Show how you talked to the AI; 3) How it felt the day it worked. Land it: "The build itself is worth nothing. What's worth something is that I now believe I can take on any 'can you make a…' question." HARD PREP (the only hard prep of the deck): this page is empty until you fill it. No project handy? Spend two evenings making one now. If you genuinely can't, teach slide 4 (the Brandy case) as your main story instead, and never let students see an empty placeholder.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the case is already on the slide; just tell it. The two beats that matter: 1) How she worked — first version = exactly one key, tested 20 times without a miss before adding anything. "A professional engineer's first version was small enough to be one key. That's how we work in this course — and when you build your MVP in Lesson 8, you'll meet her again." 2) The close: "This isn't a kids' way of doing things. This is how engineers work. Ten sessions from now, you'll work this way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 walk the four one at a time, each with a 30-second beat from your own build story. Land it: "Programming? That's the AI's job." CFU (pair-share): "Turn to your neighbor: name one of the four, the one you already feel good at. Ten seconds each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 the only red page. Announce the house rule with a light tone, frame it as good news. We Do — point at the screen and read the three things together, once: "Say it clearly — watch what happens — tell it to change." CFU: "Thumbs up if your job is writing code. … Good — you're all wrong. Thumbs up if your job is saying it clearly, watching what happens, telling it to change." Parent/open-house note (add one line here for adult audiences): "If you're wondering 'but aren't they supposed to learn to code?' — code can be learned any time. What we build first is the ability to *direct* code — the part you can't catch up on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 hold up a real kit if you have one (a board beats a picture), otherwise point at the screen. Give each board its one-liner: "plug in USB, and it works" / "gives your project a face" / "teaches your hardware to see." CFU (call-and-response): "Which one gives your project a face? — Wio. Which one teaches it to see? — XIAO. Nice."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 students don't memorize it; *you* must be able to walk it off script, one sentence per lesson. Read the word AI out loud on "team up with AI": the team here is AI roles, not student groups. Emphasize only the two milestones. Any detail question → "We'll cover that at the start of each lesson. Nothing to remember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(flexible) — read the eight steps once, pointing at each — no elaboration. Land the one line: "Most courses only teach step 4 — writing code. This course walks all eight steps, and at every step, AI is your partner." This page and slide 10 are the only compressible pages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(flexible) — the six skills get a glance (they'll touch all of them later); the phrases get the one-liner about the Student Workbook. Land the closing line about scaffolding — it is the course's philosophy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 four items, quickly. Land it: "For competitions, for interviews, for showing your family and friends — the growth story is worth more than the build itself." Open-house parent note: "What you'll see after ten sessions is not a homework assignment. It's a working project they can demo live, a README that records how it grew, and two minutes on stage where they explain it clearly."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 the memory point of the whole lesson. Slow your pace. Read the three examples, then stay silent for 30 seconds and let them actually think: [Wait time: 30 s — do not fill the silence. Let it sit.] Land it: "You don't need to answer now. Just remember it — better yet, jot it down in your phone notes tonight. In Lesson 2, we turn it into your project." Someone blurts an answer mid-silence? Smile, take one sentence, say "Remember it — we'll use it in Lesson 2", and keep the silence going. TA note: watch who is actually thinking (2–3 names — you can call on them at the start of Lesson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read it almost verbatim as the send-off: "Next lesson: light up your first piece of hardware with AI. You say one sentence, AI writes the instruction, and the board comes alive in three minutes. By the end of the lesson, your name will be glowing on the screen. Bring your problem. See you then."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01 / 13</a:t>
            </a:r>
          </a:p>
        </p:txBody>
      </p:sp>
      <p:sp>
        <p:nvSpPr>
          <p:cNvPr id="4" name="TextBox 3"/>
          <p:cNvSpPr txBox="1"/>
          <p:nvPr/>
        </p:nvSpPr>
        <p:spPr>
          <a:xfrm>
            <a:off x="548640" y="960120"/>
            <a:ext cx="8046720" cy="320040"/>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Chaihuo Maker Academy · Smart Hardware Fundamentals (M0) · The Kickoff</a:t>
            </a:r>
          </a:p>
        </p:txBody>
      </p:sp>
      <p:sp>
        <p:nvSpPr>
          <p:cNvPr id="5" name="TextBox 4"/>
          <p:cNvSpPr txBox="1"/>
          <p:nvPr/>
        </p:nvSpPr>
        <p:spPr>
          <a:xfrm>
            <a:off x="548640" y="1600200"/>
            <a:ext cx="8046720" cy="868680"/>
          </a:xfrm>
          <a:prstGeom prst="rect">
            <a:avLst/>
          </a:prstGeom>
          <a:noFill/>
        </p:spPr>
        <p:txBody>
          <a:bodyPr wrap="square" anchor="t" lIns="0" rIns="0" tIns="0" bIns="0">
            <a:spAutoFit/>
          </a:bodyPr>
          <a:lstStyle/>
          <a:p>
            <a:pPr algn="ctr">
              <a:lnSpc>
                <a:spcPct val="100000"/>
              </a:lnSpc>
            </a:pPr>
            <a:r>
              <a:rPr sz="4400" b="1">
                <a:solidFill>
                  <a:srgbClr val="000000"/>
                </a:solidFill>
                <a:latin typeface="Source Han Sans SC"/>
              </a:rPr>
              <a:t>Before the First Light</a:t>
            </a:r>
          </a:p>
        </p:txBody>
      </p:sp>
      <p:sp>
        <p:nvSpPr>
          <p:cNvPr id="6" name="Rectangle 5"/>
          <p:cNvSpPr/>
          <p:nvPr/>
        </p:nvSpPr>
        <p:spPr>
          <a:xfrm>
            <a:off x="4023360" y="2487168"/>
            <a:ext cx="109728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788920"/>
            <a:ext cx="8046720" cy="365760"/>
          </a:xfrm>
          <a:prstGeom prst="rect">
            <a:avLst/>
          </a:prstGeom>
          <a:noFill/>
        </p:spPr>
        <p:txBody>
          <a:bodyPr wrap="square" anchor="t" lIns="0" rIns="0" tIns="0" bIns="0">
            <a:spAutoFit/>
          </a:bodyPr>
          <a:lstStyle/>
          <a:p>
            <a:pPr algn="ctr">
              <a:lnSpc>
                <a:spcPct val="100000"/>
              </a:lnSpc>
            </a:pPr>
            <a:r>
              <a:rPr sz="1800" b="0">
                <a:solidFill>
                  <a:srgbClr val="000000"/>
                </a:solidFill>
                <a:latin typeface="Source Han Sans SC"/>
              </a:rPr>
              <a:t>Instructor: ____________ · one-line bio [FILL]</a:t>
            </a:r>
          </a:p>
        </p:txBody>
      </p:sp>
      <p:sp>
        <p:nvSpPr>
          <p:cNvPr id="8" name="TextBox 7"/>
          <p:cNvSpPr txBox="1"/>
          <p:nvPr/>
        </p:nvSpPr>
        <p:spPr>
          <a:xfrm>
            <a:off x="548640" y="3246120"/>
            <a:ext cx="8046720" cy="365760"/>
          </a:xfrm>
          <a:prstGeom prst="rect">
            <a:avLst/>
          </a:prstGeom>
          <a:noFill/>
        </p:spPr>
        <p:txBody>
          <a:bodyPr wrap="square" anchor="t" lIns="0" rIns="0" tIns="0" bIns="0">
            <a:spAutoFit/>
          </a:bodyPr>
          <a:lstStyle/>
          <a:p>
            <a:pPr algn="ctr">
              <a:lnSpc>
                <a:spcPct val="100000"/>
              </a:lnSpc>
            </a:pPr>
            <a:r>
              <a:rPr sz="1800" b="0">
                <a:solidFill>
                  <a:srgbClr val="000000"/>
                </a:solidFill>
                <a:latin typeface="Source Han Sans SC"/>
              </a:rPr>
              <a:t>The Lesson-1 outcome — your name, glowing on the board's screen</a:t>
            </a:r>
          </a:p>
        </p:txBody>
      </p:sp>
      <p:sp>
        <p:nvSpPr>
          <p:cNvPr id="9" name="TextBox 8"/>
          <p:cNvSpPr txBox="1"/>
          <p:nvPr/>
        </p:nvSpPr>
        <p:spPr>
          <a:xfrm>
            <a:off x="548640" y="3657600"/>
            <a:ext cx="8046720" cy="274320"/>
          </a:xfrm>
          <a:prstGeom prst="rect">
            <a:avLst/>
          </a:prstGeom>
          <a:noFill/>
        </p:spPr>
        <p:txBody>
          <a:bodyPr wrap="square" anchor="t" lIns="0" rIns="0" tIns="0" bIns="0">
            <a:spAutoFit/>
          </a:bodyPr>
          <a:lstStyle/>
          <a:p>
            <a:pPr algn="ctr">
              <a:lnSpc>
                <a:spcPct val="100000"/>
              </a:lnSpc>
            </a:pPr>
            <a:r>
              <a:rPr sz="1300" b="0">
                <a:solidFill>
                  <a:srgbClr val="000000"/>
                </a:solidFill>
                <a:latin typeface="Source Han Sans SC"/>
              </a:rPr>
              <a:t>(live photo taken by a real instructor)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02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Meet Your Instructor</a:t>
            </a:r>
          </a:p>
        </p:txBody>
      </p:sp>
      <p:sp>
        <p:nvSpPr>
          <p:cNvPr id="6" name="TextBox 5"/>
          <p:cNvSpPr txBox="1"/>
          <p:nvPr/>
        </p:nvSpPr>
        <p:spPr>
          <a:xfrm>
            <a:off x="566928" y="932688"/>
            <a:ext cx="8138160" cy="365760"/>
          </a:xfrm>
          <a:prstGeom prst="rect">
            <a:avLst/>
          </a:prstGeom>
          <a:noFill/>
        </p:spPr>
        <p:txBody>
          <a:bodyPr wrap="square" anchor="t" lIns="0" rIns="0" tIns="0" bIns="0">
            <a:spAutoFit/>
          </a:bodyPr>
          <a:lstStyle/>
          <a:p>
            <a:pPr algn="l">
              <a:lnSpc>
                <a:spcPct val="100000"/>
              </a:lnSpc>
            </a:pPr>
            <a:r>
              <a:rPr sz="1800" b="0">
                <a:solidFill>
                  <a:srgbClr val="000000"/>
                </a:solidFill>
                <a:latin typeface="Source Han Sans SC"/>
              </a:rPr>
              <a:t>Who I am, and why I'm teaching this course</a:t>
            </a:r>
          </a:p>
        </p:txBody>
      </p:sp>
      <p:sp>
        <p:nvSpPr>
          <p:cNvPr id="7" name="Rectangle 6"/>
          <p:cNvSpPr/>
          <p:nvPr/>
        </p:nvSpPr>
        <p:spPr>
          <a:xfrm>
            <a:off x="5852160" y="1371600"/>
            <a:ext cx="2926080" cy="28346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2651760"/>
            <a:ext cx="2926080" cy="365760"/>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 FILL: your photo ]</a:t>
            </a:r>
          </a:p>
        </p:txBody>
      </p:sp>
      <p:sp>
        <p:nvSpPr>
          <p:cNvPr id="9" name="TextBox 8"/>
          <p:cNvSpPr txBox="1"/>
          <p:nvPr/>
        </p:nvSpPr>
        <p:spPr>
          <a:xfrm>
            <a:off x="566928" y="1417320"/>
            <a:ext cx="5029200" cy="2651760"/>
          </a:xfrm>
          <a:prstGeom prst="rect">
            <a:avLst/>
          </a:prstGeom>
          <a:noFill/>
        </p:spPr>
        <p:txBody>
          <a:bodyPr wrap="square" anchor="t" lIns="0" rIns="0" tIns="0" bIns="0">
            <a:spAutoFit/>
          </a:bodyPr>
          <a:lstStyle/>
          <a:p>
            <a:pPr algn="l">
              <a:lnSpc>
                <a:spcPct val="135000"/>
              </a:lnSpc>
            </a:pPr>
            <a:r>
              <a:rPr sz="1800" b="0">
                <a:solidFill>
                  <a:srgbClr val="000000"/>
                </a:solidFill>
                <a:latin typeface="Source Han Sans SC"/>
              </a:rPr>
              <a:t>· Name: ____________ (from ____________)</a:t>
            </a:r>
          </a:p>
          <a:p>
            <a:pPr algn="l">
              <a:lnSpc>
                <a:spcPct val="135000"/>
              </a:lnSpc>
            </a:pPr>
            <a:r>
              <a:rPr sz="1800" b="0">
                <a:solidFill>
                  <a:srgbClr val="000000"/>
                </a:solidFill>
                <a:latin typeface="Source Han Sans SC"/>
              </a:rPr>
              <a:t>· At Chaihuo Makerspace: ____________ (your role)</a:t>
            </a:r>
          </a:p>
          <a:p>
            <a:pPr algn="l">
              <a:lnSpc>
                <a:spcPct val="135000"/>
              </a:lnSpc>
            </a:pPr>
            <a:r>
              <a:rPr sz="1800" b="0">
                <a:solidFill>
                  <a:srgbClr val="000000"/>
                </a:solidFill>
                <a:latin typeface="Source Han Sans SC"/>
              </a:rPr>
              <a:t>· Things I've done / courses I've taught: ____________</a:t>
            </a:r>
          </a:p>
          <a:p>
            <a:pPr algn="l">
              <a:lnSpc>
                <a:spcPct val="135000"/>
              </a:lnSpc>
            </a:pPr>
            <a:r>
              <a:rPr sz="1800" b="0">
                <a:solidFill>
                  <a:srgbClr val="000000"/>
                </a:solidFill>
                <a:latin typeface="Source Han Sans SC"/>
              </a:rPr>
              <a:t>· The best thing I've built with AI: ____________ (that's the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03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A Real Example — you can do it too</a:t>
            </a:r>
          </a:p>
        </p:txBody>
      </p:sp>
      <p:sp>
        <p:nvSpPr>
          <p:cNvPr id="6" name="TextBox 5"/>
          <p:cNvSpPr txBox="1"/>
          <p:nvPr/>
        </p:nvSpPr>
        <p:spPr>
          <a:xfrm>
            <a:off x="566928" y="932688"/>
            <a:ext cx="8138160" cy="365760"/>
          </a:xfrm>
          <a:prstGeom prst="rect">
            <a:avLst/>
          </a:prstGeom>
          <a:noFill/>
        </p:spPr>
        <p:txBody>
          <a:bodyPr wrap="square" anchor="t" lIns="0" rIns="0" tIns="0" bIns="0">
            <a:spAutoFit/>
          </a:bodyPr>
          <a:lstStyle/>
          <a:p>
            <a:pPr algn="l">
              <a:lnSpc>
                <a:spcPct val="100000"/>
              </a:lnSpc>
            </a:pPr>
            <a:r>
              <a:rPr sz="1800" b="0">
                <a:solidFill>
                  <a:srgbClr val="000000"/>
                </a:solidFill>
                <a:latin typeface="Source Han Sans SC"/>
              </a:rPr>
              <a:t>Zero code, and I still built something real</a:t>
            </a:r>
          </a:p>
        </p:txBody>
      </p:sp>
      <p:sp>
        <p:nvSpPr>
          <p:cNvPr id="7" name="Rectangle 6"/>
          <p:cNvSpPr/>
          <p:nvPr/>
        </p:nvSpPr>
        <p:spPr>
          <a:xfrm>
            <a:off x="566928" y="1371600"/>
            <a:ext cx="4206240" cy="22860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331720"/>
            <a:ext cx="4206240" cy="292608"/>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 FILL: screenshots of your own</a:t>
            </a:r>
          </a:p>
        </p:txBody>
      </p:sp>
      <p:sp>
        <p:nvSpPr>
          <p:cNvPr id="9" name="TextBox 8"/>
          <p:cNvSpPr txBox="1"/>
          <p:nvPr/>
        </p:nvSpPr>
        <p:spPr>
          <a:xfrm>
            <a:off x="566928" y="2624328"/>
            <a:ext cx="4206240" cy="292608"/>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complete AI-built project ]</a:t>
            </a:r>
          </a:p>
        </p:txBody>
      </p:sp>
      <p:sp>
        <p:nvSpPr>
          <p:cNvPr id="10" name="TextBox 9"/>
          <p:cNvSpPr txBox="1"/>
          <p:nvPr/>
        </p:nvSpPr>
        <p:spPr>
          <a:xfrm>
            <a:off x="4956048" y="1572768"/>
            <a:ext cx="365760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__ weeks to build</a:t>
            </a:r>
          </a:p>
        </p:txBody>
      </p:sp>
      <p:sp>
        <p:nvSpPr>
          <p:cNvPr id="11" name="Rectangle 10"/>
          <p:cNvSpPr/>
          <p:nvPr/>
        </p:nvSpPr>
        <p:spPr>
          <a:xfrm>
            <a:off x="4956048" y="1993392"/>
            <a:ext cx="3657600" cy="182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56048" y="2286000"/>
            <a:ext cx="365760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0 lines of hand-written code</a:t>
            </a:r>
          </a:p>
        </p:txBody>
      </p:sp>
      <p:sp>
        <p:nvSpPr>
          <p:cNvPr id="13" name="Rectangle 12"/>
          <p:cNvSpPr/>
          <p:nvPr/>
        </p:nvSpPr>
        <p:spPr>
          <a:xfrm>
            <a:off x="4956048" y="2706624"/>
            <a:ext cx="3657600" cy="182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56048" y="2999232"/>
            <a:ext cx="365760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1 complete project</a:t>
            </a:r>
          </a:p>
        </p:txBody>
      </p:sp>
      <p:sp>
        <p:nvSpPr>
          <p:cNvPr id="15" name="TextBox 14"/>
          <p:cNvSpPr txBox="1"/>
          <p:nvPr/>
        </p:nvSpPr>
        <p:spPr>
          <a:xfrm>
            <a:off x="4956048" y="3520440"/>
            <a:ext cx="3657600" cy="50292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I didn't write a single line — but every line was generated from what I asked for.</a:t>
            </a:r>
          </a:p>
        </p:txBody>
      </p:sp>
      <p:sp>
        <p:nvSpPr>
          <p:cNvPr id="16" name="Rectangle 15"/>
          <p:cNvSpPr/>
          <p:nvPr/>
        </p:nvSpPr>
        <p:spPr>
          <a:xfrm>
            <a:off x="566928" y="3931920"/>
            <a:ext cx="54864" cy="60264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950207"/>
            <a:ext cx="7845552" cy="566070"/>
          </a:xfrm>
          <a:prstGeom prst="rect">
            <a:avLst/>
          </a:prstGeom>
          <a:noFill/>
        </p:spPr>
        <p:txBody>
          <a:bodyPr wrap="square" anchor="t" lIns="0" rIns="0" tIns="0" bIns="0">
            <a:spAutoFit/>
          </a:bodyPr>
          <a:lstStyle/>
          <a:p>
            <a:pPr algn="l">
              <a:lnSpc>
                <a:spcPct val="115000"/>
              </a:lnSpc>
            </a:pPr>
            <a:r>
              <a:rPr sz="1350" b="0">
                <a:solidFill>
                  <a:srgbClr val="000000"/>
                </a:solidFill>
                <a:latin typeface="Source Han Sans SC"/>
              </a:rPr>
              <a:t>The build itself is worth nothing. What's worth something is that I now believe I can take on any "can you make a…"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04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Engineers Do It Too — and I'm not the only one</a:t>
            </a:r>
          </a:p>
        </p:txBody>
      </p:sp>
      <p:sp>
        <p:nvSpPr>
          <p:cNvPr id="6" name="Rectangle 5"/>
          <p:cNvSpPr/>
          <p:nvPr/>
        </p:nvSpPr>
        <p:spPr>
          <a:xfrm>
            <a:off x="566928" y="1207008"/>
            <a:ext cx="8046720" cy="93268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35024"/>
            <a:ext cx="457200" cy="5486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1</a:t>
            </a:r>
          </a:p>
        </p:txBody>
      </p:sp>
      <p:sp>
        <p:nvSpPr>
          <p:cNvPr id="8" name="TextBox 7"/>
          <p:cNvSpPr txBox="1"/>
          <p:nvPr/>
        </p:nvSpPr>
        <p:spPr>
          <a:xfrm>
            <a:off x="1371600" y="1298448"/>
            <a:ext cx="7132320" cy="365760"/>
          </a:xfrm>
          <a:prstGeom prst="rect">
            <a:avLst/>
          </a:prstGeom>
          <a:noFill/>
        </p:spPr>
        <p:txBody>
          <a:bodyPr wrap="square" anchor="t" lIns="0" rIns="0" tIns="0" bIns="0">
            <a:spAutoFit/>
          </a:bodyPr>
          <a:lstStyle/>
          <a:p>
            <a:pPr algn="l">
              <a:lnSpc>
                <a:spcPct val="100000"/>
              </a:lnSpc>
            </a:pPr>
            <a:r>
              <a:rPr sz="1650" b="1">
                <a:solidFill>
                  <a:srgbClr val="000000"/>
                </a:solidFill>
                <a:latin typeface="Source Han Sans SC"/>
              </a:rPr>
              <a:t>a real annoyance: typing breaks her flow.</a:t>
            </a:r>
          </a:p>
        </p:txBody>
      </p:sp>
      <p:sp>
        <p:nvSpPr>
          <p:cNvPr id="9" name="TextBox 8"/>
          <p:cNvSpPr txBox="1"/>
          <p:nvPr/>
        </p:nvSpPr>
        <p:spPr>
          <a:xfrm>
            <a:off x="1371600" y="1664208"/>
            <a:ext cx="7132320" cy="438912"/>
          </a:xfrm>
          <a:prstGeom prst="rect">
            <a:avLst/>
          </a:prstGeom>
          <a:noFill/>
        </p:spPr>
        <p:txBody>
          <a:bodyPr wrap="square" anchor="t" lIns="0" rIns="0" tIns="0" bIns="0">
            <a:spAutoFit/>
          </a:bodyPr>
          <a:lstStyle/>
          <a:p>
            <a:pPr algn="l">
              <a:lnSpc>
                <a:spcPct val="108000"/>
              </a:lnSpc>
            </a:pPr>
            <a:r>
              <a:rPr sz="1200" b="0">
                <a:solidFill>
                  <a:srgbClr val="000000"/>
                </a:solidFill>
                <a:latin typeface="Source Han Sans SC"/>
              </a:rPr>
              <a:t>Chatting with AI, her thoughts kept getting cut off by the keyboard.</a:t>
            </a:r>
          </a:p>
          <a:p>
            <a:pPr algn="l">
              <a:lnSpc>
                <a:spcPct val="108000"/>
              </a:lnSpc>
            </a:pPr>
            <a:r>
              <a:rPr sz="1200" b="0">
                <a:solidFill>
                  <a:srgbClr val="000000"/>
                </a:solidFill>
                <a:latin typeface="Source Han Sans SC"/>
              </a:rPr>
              <a:t>She thought: can I just hold a button and talk?</a:t>
            </a:r>
          </a:p>
        </p:txBody>
      </p:sp>
      <p:sp>
        <p:nvSpPr>
          <p:cNvPr id="10" name="Rectangle 9"/>
          <p:cNvSpPr/>
          <p:nvPr/>
        </p:nvSpPr>
        <p:spPr>
          <a:xfrm>
            <a:off x="566928" y="2249424"/>
            <a:ext cx="8046720" cy="93268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77440"/>
            <a:ext cx="457200" cy="5486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0</a:t>
            </a:r>
          </a:p>
        </p:txBody>
      </p:sp>
      <p:sp>
        <p:nvSpPr>
          <p:cNvPr id="12" name="TextBox 11"/>
          <p:cNvSpPr txBox="1"/>
          <p:nvPr/>
        </p:nvSpPr>
        <p:spPr>
          <a:xfrm>
            <a:off x="1371600" y="2340864"/>
            <a:ext cx="7132320" cy="365760"/>
          </a:xfrm>
          <a:prstGeom prst="rect">
            <a:avLst/>
          </a:prstGeom>
          <a:noFill/>
        </p:spPr>
        <p:txBody>
          <a:bodyPr wrap="square" anchor="t" lIns="0" rIns="0" tIns="0" bIns="0">
            <a:spAutoFit/>
          </a:bodyPr>
          <a:lstStyle/>
          <a:p>
            <a:pPr algn="l">
              <a:lnSpc>
                <a:spcPct val="100000"/>
              </a:lnSpc>
            </a:pPr>
            <a:r>
              <a:rPr sz="1650" b="1">
                <a:solidFill>
                  <a:srgbClr val="000000"/>
                </a:solidFill>
                <a:latin typeface="Source Han Sans SC"/>
              </a:rPr>
              <a:t>lines of hand-written code.</a:t>
            </a:r>
          </a:p>
        </p:txBody>
      </p:sp>
      <p:sp>
        <p:nvSpPr>
          <p:cNvPr id="13" name="TextBox 12"/>
          <p:cNvSpPr txBox="1"/>
          <p:nvPr/>
        </p:nvSpPr>
        <p:spPr>
          <a:xfrm>
            <a:off x="1371600" y="2706624"/>
            <a:ext cx="7132320" cy="438912"/>
          </a:xfrm>
          <a:prstGeom prst="rect">
            <a:avLst/>
          </a:prstGeom>
          <a:noFill/>
        </p:spPr>
        <p:txBody>
          <a:bodyPr wrap="square" anchor="t" lIns="0" rIns="0" tIns="0" bIns="0">
            <a:spAutoFit/>
          </a:bodyPr>
          <a:lstStyle/>
          <a:p>
            <a:pPr algn="l">
              <a:lnSpc>
                <a:spcPct val="108000"/>
              </a:lnSpc>
            </a:pPr>
            <a:r>
              <a:rPr sz="1200" b="0">
                <a:solidFill>
                  <a:srgbClr val="000000"/>
                </a:solidFill>
                <a:latin typeface="Source Han Sans SC"/>
              </a:rPr>
              <a:t>She did three things: said what she needed, made demands, checked the work.</a:t>
            </a:r>
          </a:p>
          <a:p>
            <a:pPr algn="l">
              <a:lnSpc>
                <a:spcPct val="108000"/>
              </a:lnSpc>
            </a:pPr>
            <a:r>
              <a:rPr sz="1200" b="0">
                <a:solidFill>
                  <a:srgbClr val="000000"/>
                </a:solidFill>
                <a:latin typeface="Source Han Sans SC"/>
              </a:rPr>
              <a:t>The AI wrote all the code.</a:t>
            </a:r>
          </a:p>
        </p:txBody>
      </p:sp>
      <p:sp>
        <p:nvSpPr>
          <p:cNvPr id="14" name="Rectangle 13"/>
          <p:cNvSpPr/>
          <p:nvPr/>
        </p:nvSpPr>
        <p:spPr>
          <a:xfrm>
            <a:off x="566928" y="3291839"/>
            <a:ext cx="8046720" cy="93268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419856"/>
            <a:ext cx="457200" cy="5486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1</a:t>
            </a:r>
          </a:p>
        </p:txBody>
      </p:sp>
      <p:sp>
        <p:nvSpPr>
          <p:cNvPr id="16" name="TextBox 15"/>
          <p:cNvSpPr txBox="1"/>
          <p:nvPr/>
        </p:nvSpPr>
        <p:spPr>
          <a:xfrm>
            <a:off x="1371600" y="3383279"/>
            <a:ext cx="7132320" cy="365760"/>
          </a:xfrm>
          <a:prstGeom prst="rect">
            <a:avLst/>
          </a:prstGeom>
          <a:noFill/>
        </p:spPr>
        <p:txBody>
          <a:bodyPr wrap="square" anchor="t" lIns="0" rIns="0" tIns="0" bIns="0">
            <a:spAutoFit/>
          </a:bodyPr>
          <a:lstStyle/>
          <a:p>
            <a:pPr algn="l">
              <a:lnSpc>
                <a:spcPct val="100000"/>
              </a:lnSpc>
            </a:pPr>
            <a:r>
              <a:rPr sz="1650" b="1">
                <a:solidFill>
                  <a:srgbClr val="000000"/>
                </a:solidFill>
                <a:latin typeface="Source Han Sans SC"/>
              </a:rPr>
              <a:t>a working voice keyboard. Hold to talk, release to send.</a:t>
            </a:r>
          </a:p>
        </p:txBody>
      </p:sp>
      <p:sp>
        <p:nvSpPr>
          <p:cNvPr id="17" name="TextBox 16"/>
          <p:cNvSpPr txBox="1"/>
          <p:nvPr/>
        </p:nvSpPr>
        <p:spPr>
          <a:xfrm>
            <a:off x="1371600" y="3749039"/>
            <a:ext cx="7132320" cy="438912"/>
          </a:xfrm>
          <a:prstGeom prst="rect">
            <a:avLst/>
          </a:prstGeom>
          <a:noFill/>
        </p:spPr>
        <p:txBody>
          <a:bodyPr wrap="square" anchor="t" lIns="0" rIns="0" tIns="0" bIns="0">
            <a:spAutoFit/>
          </a:bodyPr>
          <a:lstStyle/>
          <a:p>
            <a:pPr algn="l">
              <a:lnSpc>
                <a:spcPct val="108000"/>
              </a:lnSpc>
            </a:pPr>
            <a:r>
              <a:rPr sz="1200" b="0">
                <a:solidFill>
                  <a:srgbClr val="000000"/>
                </a:solidFill>
                <a:latin typeface="Source Han Sans SC"/>
              </a:rPr>
              <a:t>The first version had exactly one key — pressed 20 times in a row</a:t>
            </a:r>
          </a:p>
          <a:p>
            <a:pPr algn="l">
              <a:lnSpc>
                <a:spcPct val="108000"/>
              </a:lnSpc>
            </a:pPr>
            <a:r>
              <a:rPr sz="1200" b="0">
                <a:solidFill>
                  <a:srgbClr val="000000"/>
                </a:solidFill>
                <a:latin typeface="Source Han Sans SC"/>
              </a:rPr>
              <a:t>before she moved on.</a:t>
            </a:r>
          </a:p>
        </p:txBody>
      </p:sp>
      <p:sp>
        <p:nvSpPr>
          <p:cNvPr id="18" name="TextBox 17"/>
          <p:cNvSpPr txBox="1"/>
          <p:nvPr/>
        </p:nvSpPr>
        <p:spPr>
          <a:xfrm>
            <a:off x="566928" y="4407408"/>
            <a:ext cx="804672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Brandy Li · Application Engineer at Seeed Studio — the company that makes our boards.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05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Why Now — AI is redefining what's valuable</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AI can already write, draw, translate, and look things up — and it's getting faster.</a:t>
            </a:r>
          </a:p>
        </p:txBody>
      </p:sp>
      <p:sp>
        <p:nvSpPr>
          <p:cNvPr id="7" name="TextBox 6"/>
          <p:cNvSpPr txBox="1"/>
          <p:nvPr/>
        </p:nvSpPr>
        <p:spPr>
          <a:xfrm>
            <a:off x="566928" y="1298448"/>
            <a:ext cx="8046720" cy="365760"/>
          </a:xfrm>
          <a:prstGeom prst="rect">
            <a:avLst/>
          </a:prstGeom>
          <a:noFill/>
        </p:spPr>
        <p:txBody>
          <a:bodyPr wrap="square" anchor="t" lIns="0" rIns="0" tIns="0" bIns="0">
            <a:spAutoFit/>
          </a:bodyPr>
          <a:lstStyle/>
          <a:p>
            <a:pPr algn="l">
              <a:lnSpc>
                <a:spcPct val="100000"/>
              </a:lnSpc>
            </a:pPr>
            <a:r>
              <a:rPr sz="2200" b="1">
                <a:solidFill>
                  <a:srgbClr val="000000"/>
                </a:solidFill>
                <a:latin typeface="Source Han Sans SC"/>
              </a:rPr>
              <a:t>So what's left for YOU?</a:t>
            </a:r>
          </a:p>
        </p:txBody>
      </p:sp>
      <p:sp>
        <p:nvSpPr>
          <p:cNvPr id="8" name="Oval 7"/>
          <p:cNvSpPr/>
          <p:nvPr/>
        </p:nvSpPr>
        <p:spPr>
          <a:xfrm>
            <a:off x="566928" y="1837943"/>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83080"/>
            <a:ext cx="7680960" cy="310896"/>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Spot the problem</a:t>
            </a:r>
          </a:p>
        </p:txBody>
      </p:sp>
      <p:sp>
        <p:nvSpPr>
          <p:cNvPr id="10" name="TextBox 9"/>
          <p:cNvSpPr txBox="1"/>
          <p:nvPr/>
        </p:nvSpPr>
        <p:spPr>
          <a:xfrm>
            <a:off x="804672" y="2093976"/>
            <a:ext cx="7680960" cy="27432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AI can solve problems; asking the right one is on you</a:t>
            </a:r>
          </a:p>
        </p:txBody>
      </p:sp>
      <p:sp>
        <p:nvSpPr>
          <p:cNvPr id="11" name="Oval 10"/>
          <p:cNvSpPr/>
          <p:nvPr/>
        </p:nvSpPr>
        <p:spPr>
          <a:xfrm>
            <a:off x="566928" y="240487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350008"/>
            <a:ext cx="7680960" cy="310896"/>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Judge the result</a:t>
            </a:r>
          </a:p>
        </p:txBody>
      </p:sp>
      <p:sp>
        <p:nvSpPr>
          <p:cNvPr id="13" name="TextBox 12"/>
          <p:cNvSpPr txBox="1"/>
          <p:nvPr/>
        </p:nvSpPr>
        <p:spPr>
          <a:xfrm>
            <a:off x="804672" y="2660903"/>
            <a:ext cx="7680960" cy="27432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AI gives you a hundred answers; choosing is on you</a:t>
            </a:r>
          </a:p>
        </p:txBody>
      </p:sp>
      <p:sp>
        <p:nvSpPr>
          <p:cNvPr id="14" name="Oval 13"/>
          <p:cNvSpPr/>
          <p:nvPr/>
        </p:nvSpPr>
        <p:spPr>
          <a:xfrm>
            <a:off x="566928" y="29718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916936"/>
            <a:ext cx="7680960" cy="310896"/>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Understand real people</a:t>
            </a:r>
          </a:p>
        </p:txBody>
      </p:sp>
      <p:sp>
        <p:nvSpPr>
          <p:cNvPr id="16" name="TextBox 15"/>
          <p:cNvSpPr txBox="1"/>
          <p:nvPr/>
        </p:nvSpPr>
        <p:spPr>
          <a:xfrm>
            <a:off x="804672" y="3227832"/>
            <a:ext cx="7680960" cy="27432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what people want, and what annoys them: AI doesn't know, you do</a:t>
            </a:r>
          </a:p>
        </p:txBody>
      </p:sp>
      <p:sp>
        <p:nvSpPr>
          <p:cNvPr id="17" name="Oval 16"/>
          <p:cNvSpPr/>
          <p:nvPr/>
        </p:nvSpPr>
        <p:spPr>
          <a:xfrm>
            <a:off x="566928" y="353872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483864"/>
            <a:ext cx="7680960" cy="310896"/>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Make the call</a:t>
            </a:r>
          </a:p>
        </p:txBody>
      </p:sp>
      <p:sp>
        <p:nvSpPr>
          <p:cNvPr id="19" name="TextBox 18"/>
          <p:cNvSpPr txBox="1"/>
          <p:nvPr/>
        </p:nvSpPr>
        <p:spPr>
          <a:xfrm>
            <a:off x="804672" y="3794760"/>
            <a:ext cx="7680960" cy="27432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trade-offs and owning the outcome: that's you</a:t>
            </a:r>
          </a:p>
        </p:txBody>
      </p:sp>
      <p:sp>
        <p:nvSpPr>
          <p:cNvPr id="20" name="Rectangle 19"/>
          <p:cNvSpPr/>
          <p:nvPr/>
        </p:nvSpPr>
        <p:spPr>
          <a:xfrm>
            <a:off x="566928" y="4133087"/>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151375"/>
            <a:ext cx="7845552" cy="374904"/>
          </a:xfrm>
          <a:prstGeom prst="rect">
            <a:avLst/>
          </a:prstGeom>
          <a:noFill/>
        </p:spPr>
        <p:txBody>
          <a:bodyPr wrap="square" anchor="t" lIns="0" rIns="0" tIns="0" bIns="0">
            <a:spAutoFit/>
          </a:bodyPr>
          <a:lstStyle/>
          <a:p>
            <a:pPr algn="l">
              <a:lnSpc>
                <a:spcPct val="115000"/>
              </a:lnSpc>
            </a:pPr>
            <a:r>
              <a:rPr sz="1700" b="0">
                <a:solidFill>
                  <a:srgbClr val="000000"/>
                </a:solidFill>
                <a:latin typeface="Source Han Sans SC"/>
              </a:rPr>
              <a:t>This course trains all four.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06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Your Role — you're the director, AI is the programmer</a:t>
            </a:r>
          </a:p>
        </p:txBody>
      </p:sp>
      <p:sp>
        <p:nvSpPr>
          <p:cNvPr id="6" name="Rectangle 5"/>
          <p:cNvSpPr/>
          <p:nvPr/>
        </p:nvSpPr>
        <p:spPr>
          <a:xfrm>
            <a:off x="566928" y="1207008"/>
            <a:ext cx="3886200" cy="22402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44168"/>
            <a:ext cx="3383280" cy="36576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YOU (the director)</a:t>
            </a:r>
          </a:p>
        </p:txBody>
      </p:sp>
      <p:sp>
        <p:nvSpPr>
          <p:cNvPr id="8" name="TextBox 7"/>
          <p:cNvSpPr txBox="1"/>
          <p:nvPr/>
        </p:nvSpPr>
        <p:spPr>
          <a:xfrm>
            <a:off x="822960" y="1801368"/>
            <a:ext cx="3383280" cy="1554480"/>
          </a:xfrm>
          <a:prstGeom prst="rect">
            <a:avLst/>
          </a:prstGeom>
          <a:noFill/>
        </p:spPr>
        <p:txBody>
          <a:bodyPr wrap="square" anchor="t" lIns="0" rIns="0" tIns="0" bIns="0">
            <a:spAutoFit/>
          </a:bodyPr>
          <a:lstStyle/>
          <a:p>
            <a:pPr algn="l">
              <a:lnSpc>
                <a:spcPct val="130000"/>
              </a:lnSpc>
            </a:pPr>
            <a:r>
              <a:rPr sz="1600" b="0">
                <a:solidFill>
                  <a:srgbClr val="000000"/>
                </a:solidFill>
                <a:latin typeface="Source Han Sans SC"/>
              </a:rPr>
              <a:t>· What to build — you set the brief</a:t>
            </a:r>
          </a:p>
          <a:p>
            <a:pPr algn="l">
              <a:lnSpc>
                <a:spcPct val="130000"/>
              </a:lnSpc>
            </a:pPr>
            <a:r>
              <a:rPr sz="1600" b="0">
                <a:solidFill>
                  <a:srgbClr val="000000"/>
                </a:solidFill>
                <a:latin typeface="Source Han Sans SC"/>
              </a:rPr>
              <a:t>· What "good" means — you set the standard</a:t>
            </a:r>
          </a:p>
          <a:p>
            <a:pPr algn="l">
              <a:lnSpc>
                <a:spcPct val="130000"/>
              </a:lnSpc>
            </a:pPr>
            <a:r>
              <a:rPr sz="1600" b="0">
                <a:solidFill>
                  <a:srgbClr val="000000"/>
                </a:solidFill>
                <a:latin typeface="Source Han Sans SC"/>
              </a:rPr>
              <a:t>· Whether it passes — you accept the work</a:t>
            </a:r>
          </a:p>
        </p:txBody>
      </p:sp>
      <p:sp>
        <p:nvSpPr>
          <p:cNvPr id="9" name="Rectangle 8"/>
          <p:cNvSpPr/>
          <p:nvPr/>
        </p:nvSpPr>
        <p:spPr>
          <a:xfrm>
            <a:off x="4709160" y="1207008"/>
            <a:ext cx="3886200" cy="22402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1344168"/>
            <a:ext cx="3383280" cy="36576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AI (the programmer)</a:t>
            </a:r>
          </a:p>
        </p:txBody>
      </p:sp>
      <p:sp>
        <p:nvSpPr>
          <p:cNvPr id="11" name="TextBox 10"/>
          <p:cNvSpPr txBox="1"/>
          <p:nvPr/>
        </p:nvSpPr>
        <p:spPr>
          <a:xfrm>
            <a:off x="4965192" y="1801368"/>
            <a:ext cx="3383280" cy="1554480"/>
          </a:xfrm>
          <a:prstGeom prst="rect">
            <a:avLst/>
          </a:prstGeom>
          <a:noFill/>
        </p:spPr>
        <p:txBody>
          <a:bodyPr wrap="square" anchor="t" lIns="0" rIns="0" tIns="0" bIns="0">
            <a:spAutoFit/>
          </a:bodyPr>
          <a:lstStyle/>
          <a:p>
            <a:pPr algn="l">
              <a:lnSpc>
                <a:spcPct val="130000"/>
              </a:lnSpc>
            </a:pPr>
            <a:r>
              <a:rPr sz="1600" b="0">
                <a:solidFill>
                  <a:srgbClr val="000000"/>
                </a:solidFill>
                <a:latin typeface="Source Han Sans SC"/>
              </a:rPr>
              <a:t>· Writes the code, builds the structure</a:t>
            </a:r>
          </a:p>
          <a:p>
            <a:pPr algn="l">
              <a:lnSpc>
                <a:spcPct val="130000"/>
              </a:lnSpc>
            </a:pPr>
            <a:r>
              <a:rPr sz="1600" b="0">
                <a:solidFill>
                  <a:srgbClr val="000000"/>
                </a:solidFill>
                <a:latin typeface="Source Han Sans SC"/>
              </a:rPr>
              <a:t>· Fixes the bugs, runs the tests</a:t>
            </a:r>
          </a:p>
          <a:p>
            <a:pPr algn="l">
              <a:lnSpc>
                <a:spcPct val="130000"/>
              </a:lnSpc>
            </a:pPr>
            <a:r>
              <a:rPr sz="1600" b="0">
                <a:solidFill>
                  <a:srgbClr val="000000"/>
                </a:solidFill>
                <a:latin typeface="Source Han Sans SC"/>
              </a:rPr>
              <a:t>· Always on call, never gets tired</a:t>
            </a:r>
          </a:p>
        </p:txBody>
      </p:sp>
      <p:sp>
        <p:nvSpPr>
          <p:cNvPr id="12" name="Rectangle 11"/>
          <p:cNvSpPr/>
          <p:nvPr/>
        </p:nvSpPr>
        <p:spPr>
          <a:xfrm>
            <a:off x="566928" y="3675887"/>
            <a:ext cx="54864" cy="91440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785615"/>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30751"/>
            <a:ext cx="7543800" cy="320040"/>
          </a:xfrm>
          <a:prstGeom prst="rect">
            <a:avLst/>
          </a:prstGeom>
          <a:noFill/>
        </p:spPr>
        <p:txBody>
          <a:bodyPr wrap="square" anchor="t" lIns="0" rIns="0" tIns="0" bIns="0">
            <a:spAutoFit/>
          </a:bodyPr>
          <a:lstStyle/>
          <a:p>
            <a:pPr algn="l">
              <a:lnSpc>
                <a:spcPct val="100000"/>
              </a:lnSpc>
            </a:pPr>
            <a:r>
              <a:rPr sz="2000" b="1">
                <a:solidFill>
                  <a:srgbClr val="000000"/>
                </a:solidFill>
                <a:latin typeface="Source Han Sans SC"/>
              </a:rPr>
              <a:t>House rule</a:t>
            </a:r>
          </a:p>
        </p:txBody>
      </p:sp>
      <p:sp>
        <p:nvSpPr>
          <p:cNvPr id="15" name="TextBox 14"/>
          <p:cNvSpPr txBox="1"/>
          <p:nvPr/>
        </p:nvSpPr>
        <p:spPr>
          <a:xfrm>
            <a:off x="932688" y="4078224"/>
            <a:ext cx="7543800" cy="457200"/>
          </a:xfrm>
          <a:prstGeom prst="rect">
            <a:avLst/>
          </a:prstGeom>
          <a:noFill/>
        </p:spPr>
        <p:txBody>
          <a:bodyPr wrap="square" anchor="t" lIns="0" rIns="0" tIns="0" bIns="0">
            <a:spAutoFit/>
          </a:bodyPr>
          <a:lstStyle/>
          <a:p>
            <a:pPr algn="l">
              <a:lnSpc>
                <a:spcPct val="115000"/>
              </a:lnSpc>
            </a:pPr>
            <a:r>
              <a:rPr sz="1400" b="0">
                <a:solidFill>
                  <a:srgbClr val="000000"/>
                </a:solidFill>
                <a:latin typeface="Source Han Sans SC"/>
              </a:rPr>
              <a:t>You do not write code by hand.</a:t>
            </a:r>
          </a:p>
          <a:p>
            <a:pPr algn="l">
              <a:lnSpc>
                <a:spcPct val="115000"/>
              </a:lnSpc>
            </a:pPr>
            <a:r>
              <a:rPr sz="1400" b="0">
                <a:solidFill>
                  <a:srgbClr val="000000"/>
                </a:solidFill>
                <a:latin typeface="Source Han Sans SC"/>
              </a:rPr>
              <a:t>Your job is three things: say it clearly, watch what happens, tell it to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07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Your Three Tools</a:t>
            </a:r>
          </a:p>
        </p:txBody>
      </p:sp>
      <p:sp>
        <p:nvSpPr>
          <p:cNvPr id="6" name="TextBox 5"/>
          <p:cNvSpPr txBox="1"/>
          <p:nvPr/>
        </p:nvSpPr>
        <p:spPr>
          <a:xfrm>
            <a:off x="566928" y="713232"/>
            <a:ext cx="8138160" cy="274320"/>
          </a:xfrm>
          <a:prstGeom prst="rect">
            <a:avLst/>
          </a:prstGeom>
          <a:noFill/>
        </p:spPr>
        <p:txBody>
          <a:bodyPr wrap="square" anchor="t" lIns="0" rIns="0" tIns="0" bIns="0">
            <a:spAutoFit/>
          </a:bodyPr>
          <a:lstStyle/>
          <a:p>
            <a:pPr algn="l">
              <a:lnSpc>
                <a:spcPct val="100000"/>
              </a:lnSpc>
            </a:pPr>
            <a:r>
              <a:rPr sz="1500" b="0">
                <a:solidFill>
                  <a:srgbClr val="000000"/>
                </a:solidFill>
                <a:latin typeface="Source Han Sans SC"/>
              </a:rPr>
              <a:t>— everything you'll make, made with these</a:t>
            </a:r>
          </a:p>
        </p:txBody>
      </p:sp>
      <p:sp>
        <p:nvSpPr>
          <p:cNvPr id="7" name="Rectangle 6"/>
          <p:cNvSpPr/>
          <p:nvPr/>
        </p:nvSpPr>
        <p:spPr>
          <a:xfrm>
            <a:off x="566928" y="1298448"/>
            <a:ext cx="2606040" cy="26060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81328"/>
            <a:ext cx="2194560" cy="685800"/>
          </a:xfrm>
          <a:prstGeom prst="rect">
            <a:avLst/>
          </a:prstGeom>
          <a:noFill/>
        </p:spPr>
        <p:txBody>
          <a:bodyPr wrap="square" anchor="t" lIns="0" rIns="0" tIns="0" bIns="0">
            <a:spAutoFit/>
          </a:bodyPr>
          <a:lstStyle/>
          <a:p>
            <a:pPr algn="l">
              <a:lnSpc>
                <a:spcPct val="105000"/>
              </a:lnSpc>
            </a:pPr>
            <a:r>
              <a:rPr sz="1800" b="1">
                <a:solidFill>
                  <a:srgbClr val="000000"/>
                </a:solidFill>
                <a:latin typeface="Source Han Sans SC"/>
              </a:rPr>
              <a:t>Grove Beginner Kit</a:t>
            </a:r>
          </a:p>
        </p:txBody>
      </p:sp>
      <p:sp>
        <p:nvSpPr>
          <p:cNvPr id="9" name="Rectangle 8"/>
          <p:cNvSpPr/>
          <p:nvPr/>
        </p:nvSpPr>
        <p:spPr>
          <a:xfrm>
            <a:off x="768096" y="2121408"/>
            <a:ext cx="82296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240280"/>
            <a:ext cx="21945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Lessons 1–2, and from Lesson 6 on</a:t>
            </a:r>
          </a:p>
        </p:txBody>
      </p:sp>
      <p:sp>
        <p:nvSpPr>
          <p:cNvPr id="11" name="TextBox 10"/>
          <p:cNvSpPr txBox="1"/>
          <p:nvPr/>
        </p:nvSpPr>
        <p:spPr>
          <a:xfrm>
            <a:off x="768096" y="2651760"/>
            <a:ext cx="2240280" cy="11887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10 sensors + OLED screen, plug in USB and it works.</a:t>
            </a:r>
          </a:p>
          <a:p>
            <a:pPr algn="l">
              <a:lnSpc>
                <a:spcPct val="125000"/>
              </a:lnSpc>
            </a:pPr>
            <a:r>
              <a:rPr sz="1250" b="0">
                <a:solidFill>
                  <a:srgbClr val="000000"/>
                </a:solidFill>
                <a:latin typeface="Source Han Sans SC"/>
              </a:rPr>
              <a:t>Your first board — the gateway to sensing the world.</a:t>
            </a:r>
          </a:p>
        </p:txBody>
      </p:sp>
      <p:sp>
        <p:nvSpPr>
          <p:cNvPr id="12" name="Rectangle 11"/>
          <p:cNvSpPr/>
          <p:nvPr/>
        </p:nvSpPr>
        <p:spPr>
          <a:xfrm>
            <a:off x="3355848" y="1298448"/>
            <a:ext cx="2606040" cy="26060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1481328"/>
            <a:ext cx="2194560" cy="685800"/>
          </a:xfrm>
          <a:prstGeom prst="rect">
            <a:avLst/>
          </a:prstGeom>
          <a:noFill/>
        </p:spPr>
        <p:txBody>
          <a:bodyPr wrap="square" anchor="t" lIns="0" rIns="0" tIns="0" bIns="0">
            <a:spAutoFit/>
          </a:bodyPr>
          <a:lstStyle/>
          <a:p>
            <a:pPr algn="l">
              <a:lnSpc>
                <a:spcPct val="105000"/>
              </a:lnSpc>
            </a:pPr>
            <a:r>
              <a:rPr sz="1800" b="1">
                <a:solidFill>
                  <a:srgbClr val="000000"/>
                </a:solidFill>
                <a:latin typeface="Source Han Sans SC"/>
              </a:rPr>
              <a:t>Wio Terminal</a:t>
            </a:r>
          </a:p>
        </p:txBody>
      </p:sp>
      <p:sp>
        <p:nvSpPr>
          <p:cNvPr id="14" name="Rectangle 13"/>
          <p:cNvSpPr/>
          <p:nvPr/>
        </p:nvSpPr>
        <p:spPr>
          <a:xfrm>
            <a:off x="3557016" y="2121408"/>
            <a:ext cx="82296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7016" y="2240280"/>
            <a:ext cx="21945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Lessons 3–4, 6</a:t>
            </a:r>
          </a:p>
        </p:txBody>
      </p:sp>
      <p:sp>
        <p:nvSpPr>
          <p:cNvPr id="16" name="TextBox 15"/>
          <p:cNvSpPr txBox="1"/>
          <p:nvPr/>
        </p:nvSpPr>
        <p:spPr>
          <a:xfrm>
            <a:off x="3557016" y="2651760"/>
            <a:ext cx="2240280" cy="11887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Color screen + joystick and buttons. A pocket-sized interaction</a:t>
            </a:r>
          </a:p>
          <a:p>
            <a:pPr algn="l">
              <a:lnSpc>
                <a:spcPct val="125000"/>
              </a:lnSpc>
            </a:pPr>
            <a:r>
              <a:rPr sz="1250" b="0">
                <a:solidFill>
                  <a:srgbClr val="000000"/>
                </a:solidFill>
                <a:latin typeface="Source Han Sans SC"/>
              </a:rPr>
              <a:t>prototype — this one gives your project a face.</a:t>
            </a:r>
          </a:p>
        </p:txBody>
      </p:sp>
      <p:sp>
        <p:nvSpPr>
          <p:cNvPr id="17" name="Rectangle 16"/>
          <p:cNvSpPr/>
          <p:nvPr/>
        </p:nvSpPr>
        <p:spPr>
          <a:xfrm>
            <a:off x="6144768" y="1298448"/>
            <a:ext cx="2606040" cy="26060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481328"/>
            <a:ext cx="2194560" cy="685800"/>
          </a:xfrm>
          <a:prstGeom prst="rect">
            <a:avLst/>
          </a:prstGeom>
          <a:noFill/>
        </p:spPr>
        <p:txBody>
          <a:bodyPr wrap="square" anchor="t" lIns="0" rIns="0" tIns="0" bIns="0">
            <a:spAutoFit/>
          </a:bodyPr>
          <a:lstStyle/>
          <a:p>
            <a:pPr algn="l">
              <a:lnSpc>
                <a:spcPct val="105000"/>
              </a:lnSpc>
            </a:pPr>
            <a:r>
              <a:rPr sz="1800" b="1">
                <a:solidFill>
                  <a:srgbClr val="000000"/>
                </a:solidFill>
                <a:latin typeface="Source Han Sans SC"/>
              </a:rPr>
              <a:t>XIAO ESP32S3 Sense</a:t>
            </a:r>
          </a:p>
        </p:txBody>
      </p:sp>
      <p:sp>
        <p:nvSpPr>
          <p:cNvPr id="19" name="Rectangle 18"/>
          <p:cNvSpPr/>
          <p:nvPr/>
        </p:nvSpPr>
        <p:spPr>
          <a:xfrm>
            <a:off x="6345936" y="2121408"/>
            <a:ext cx="822960"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240280"/>
            <a:ext cx="21945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Lesson 5</a:t>
            </a:r>
          </a:p>
        </p:txBody>
      </p:sp>
      <p:sp>
        <p:nvSpPr>
          <p:cNvPr id="21" name="TextBox 20"/>
          <p:cNvSpPr txBox="1"/>
          <p:nvPr/>
        </p:nvSpPr>
        <p:spPr>
          <a:xfrm>
            <a:off x="6345936" y="2651760"/>
            <a:ext cx="2240280" cy="1188720"/>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A thumbnail-sized vision AI board with a camera — this one</a:t>
            </a:r>
          </a:p>
          <a:p>
            <a:pPr algn="l">
              <a:lnSpc>
                <a:spcPct val="125000"/>
              </a:lnSpc>
            </a:pPr>
            <a:r>
              <a:rPr sz="1250" b="0">
                <a:solidFill>
                  <a:srgbClr val="000000"/>
                </a:solidFill>
                <a:latin typeface="Source Han Sans SC"/>
              </a:rPr>
              <a:t>teaches your hardware to see.</a:t>
            </a:r>
          </a:p>
        </p:txBody>
      </p:sp>
      <p:sp>
        <p:nvSpPr>
          <p:cNvPr id="22" name="Rectangle 21"/>
          <p:cNvSpPr/>
          <p:nvPr/>
        </p:nvSpPr>
        <p:spPr>
          <a:xfrm>
            <a:off x="566928" y="411480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133087"/>
            <a:ext cx="7845552" cy="374904"/>
          </a:xfrm>
          <a:prstGeom prst="rect">
            <a:avLst/>
          </a:prstGeom>
          <a:noFill/>
        </p:spPr>
        <p:txBody>
          <a:bodyPr wrap="square" anchor="t" lIns="0" rIns="0" tIns="0" bIns="0">
            <a:spAutoFit/>
          </a:bodyPr>
          <a:lstStyle/>
          <a:p>
            <a:pPr algn="l">
              <a:lnSpc>
                <a:spcPct val="115000"/>
              </a:lnSpc>
            </a:pPr>
            <a:r>
              <a:rPr sz="1550" b="0">
                <a:solidFill>
                  <a:srgbClr val="000000"/>
                </a:solidFill>
                <a:latin typeface="Source Han Sans SC"/>
              </a:rPr>
              <a:t>From Lesson 7 on, all three work together for your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08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Ten Sessions, One Map</a:t>
            </a:r>
          </a:p>
        </p:txBody>
      </p:sp>
      <p:sp>
        <p:nvSpPr>
          <p:cNvPr id="6" name="Oval 5"/>
          <p:cNvSpPr/>
          <p:nvPr/>
        </p:nvSpPr>
        <p:spPr>
          <a:xfrm>
            <a:off x="566928" y="116128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097280"/>
            <a:ext cx="7863840" cy="274320"/>
          </a:xfrm>
          <a:prstGeom prst="rect">
            <a:avLst/>
          </a:prstGeom>
          <a:noFill/>
        </p:spPr>
        <p:txBody>
          <a:bodyPr wrap="square" anchor="t" lIns="0" rIns="0" tIns="0" bIns="0">
            <a:spAutoFit/>
          </a:bodyPr>
          <a:lstStyle/>
          <a:p>
            <a:pPr algn="l">
              <a:lnSpc>
                <a:spcPct val="100000"/>
              </a:lnSpc>
            </a:pPr>
            <a:r>
              <a:rPr sz="1450" b="1">
                <a:solidFill>
                  <a:srgbClr val="000000"/>
                </a:solidFill>
                <a:latin typeface="Source Han Sans SC"/>
              </a:rPr>
              <a:t>Sessions 1–2 · Light up + find your problem</a:t>
            </a:r>
          </a:p>
        </p:txBody>
      </p:sp>
      <p:sp>
        <p:nvSpPr>
          <p:cNvPr id="8" name="TextBox 7"/>
          <p:cNvSpPr txBox="1"/>
          <p:nvPr/>
        </p:nvSpPr>
        <p:spPr>
          <a:xfrm>
            <a:off x="960120" y="1389888"/>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1  Light up your first piece of hardware with AI</a:t>
            </a:r>
          </a:p>
        </p:txBody>
      </p:sp>
      <p:sp>
        <p:nvSpPr>
          <p:cNvPr id="9" name="TextBox 8"/>
          <p:cNvSpPr txBox="1"/>
          <p:nvPr/>
        </p:nvSpPr>
        <p:spPr>
          <a:xfrm>
            <a:off x="960120" y="1604772"/>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2  Find a problem worth solving</a:t>
            </a:r>
          </a:p>
        </p:txBody>
      </p:sp>
      <p:sp>
        <p:nvSpPr>
          <p:cNvPr id="10" name="Oval 9"/>
          <p:cNvSpPr/>
          <p:nvPr/>
        </p:nvSpPr>
        <p:spPr>
          <a:xfrm>
            <a:off x="566928" y="1938527"/>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874519"/>
            <a:ext cx="7863840" cy="274320"/>
          </a:xfrm>
          <a:prstGeom prst="rect">
            <a:avLst/>
          </a:prstGeom>
          <a:noFill/>
        </p:spPr>
        <p:txBody>
          <a:bodyPr wrap="square" anchor="t" lIns="0" rIns="0" tIns="0" bIns="0">
            <a:spAutoFit/>
          </a:bodyPr>
          <a:lstStyle/>
          <a:p>
            <a:pPr algn="l">
              <a:lnSpc>
                <a:spcPct val="100000"/>
              </a:lnSpc>
            </a:pPr>
            <a:r>
              <a:rPr sz="1450" b="1">
                <a:solidFill>
                  <a:srgbClr val="000000"/>
                </a:solidFill>
                <a:latin typeface="Source Han Sans SC"/>
              </a:rPr>
              <a:t>Sessions 3–6 · Team up with AI, learn skills</a:t>
            </a:r>
          </a:p>
        </p:txBody>
      </p:sp>
      <p:sp>
        <p:nvSpPr>
          <p:cNvPr id="12" name="TextBox 11"/>
          <p:cNvSpPr txBox="1"/>
          <p:nvPr/>
        </p:nvSpPr>
        <p:spPr>
          <a:xfrm>
            <a:off x="960120" y="2167127"/>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3  Give your project a screen</a:t>
            </a:r>
          </a:p>
        </p:txBody>
      </p:sp>
      <p:sp>
        <p:nvSpPr>
          <p:cNvPr id="13" name="TextBox 12"/>
          <p:cNvSpPr txBox="1"/>
          <p:nvPr/>
        </p:nvSpPr>
        <p:spPr>
          <a:xfrm>
            <a:off x="960120" y="2382011"/>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4  Team up with AI — build a pomodoro timer</a:t>
            </a:r>
          </a:p>
        </p:txBody>
      </p:sp>
      <p:sp>
        <p:nvSpPr>
          <p:cNvPr id="14" name="TextBox 13"/>
          <p:cNvSpPr txBox="1"/>
          <p:nvPr/>
        </p:nvSpPr>
        <p:spPr>
          <a:xfrm>
            <a:off x="960120" y="2596895"/>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5  Teach your hardware to see</a:t>
            </a:r>
          </a:p>
        </p:txBody>
      </p:sp>
      <p:sp>
        <p:nvSpPr>
          <p:cNvPr id="15" name="TextBox 14"/>
          <p:cNvSpPr txBox="1"/>
          <p:nvPr/>
        </p:nvSpPr>
        <p:spPr>
          <a:xfrm>
            <a:off x="960120" y="2811779"/>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6  Move your project to your own computer</a:t>
            </a:r>
          </a:p>
        </p:txBody>
      </p:sp>
      <p:sp>
        <p:nvSpPr>
          <p:cNvPr id="16" name="Oval 15"/>
          <p:cNvSpPr/>
          <p:nvPr/>
        </p:nvSpPr>
        <p:spPr>
          <a:xfrm>
            <a:off x="566928" y="3145535"/>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81527"/>
            <a:ext cx="7863840" cy="274320"/>
          </a:xfrm>
          <a:prstGeom prst="rect">
            <a:avLst/>
          </a:prstGeom>
          <a:noFill/>
        </p:spPr>
        <p:txBody>
          <a:bodyPr wrap="square" anchor="t" lIns="0" rIns="0" tIns="0" bIns="0">
            <a:spAutoFit/>
          </a:bodyPr>
          <a:lstStyle/>
          <a:p>
            <a:pPr algn="l">
              <a:lnSpc>
                <a:spcPct val="100000"/>
              </a:lnSpc>
            </a:pPr>
            <a:r>
              <a:rPr sz="1450" b="1">
                <a:solidFill>
                  <a:srgbClr val="000000"/>
                </a:solidFill>
                <a:latin typeface="Source Han Sans SC"/>
              </a:rPr>
              <a:t>Sessions 7–10 · The Marathon: build your project</a:t>
            </a:r>
          </a:p>
        </p:txBody>
      </p:sp>
      <p:sp>
        <p:nvSpPr>
          <p:cNvPr id="18" name="TextBox 17"/>
          <p:cNvSpPr txBox="1"/>
          <p:nvPr/>
        </p:nvSpPr>
        <p:spPr>
          <a:xfrm>
            <a:off x="960120" y="3374135"/>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7  Claim your project</a:t>
            </a:r>
          </a:p>
        </p:txBody>
      </p:sp>
      <p:sp>
        <p:nvSpPr>
          <p:cNvPr id="19" name="TextBox 18"/>
          <p:cNvSpPr txBox="1"/>
          <p:nvPr/>
        </p:nvSpPr>
        <p:spPr>
          <a:xfrm>
            <a:off x="960120" y="3589019"/>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8  Marathon · Leg 1</a:t>
            </a:r>
          </a:p>
        </p:txBody>
      </p:sp>
      <p:sp>
        <p:nvSpPr>
          <p:cNvPr id="20" name="TextBox 19"/>
          <p:cNvSpPr txBox="1"/>
          <p:nvPr/>
        </p:nvSpPr>
        <p:spPr>
          <a:xfrm>
            <a:off x="960120" y="3803903"/>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9  Marathon · Leg 2 (call in reinforcements)</a:t>
            </a:r>
          </a:p>
        </p:txBody>
      </p:sp>
      <p:sp>
        <p:nvSpPr>
          <p:cNvPr id="21" name="TextBox 20"/>
          <p:cNvSpPr txBox="1"/>
          <p:nvPr/>
        </p:nvSpPr>
        <p:spPr>
          <a:xfrm>
            <a:off x="960120" y="4018787"/>
            <a:ext cx="758952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10  My project, my showcase</a:t>
            </a:r>
          </a:p>
        </p:txBody>
      </p:sp>
      <p:sp>
        <p:nvSpPr>
          <p:cNvPr id="22" name="Rectangle 21"/>
          <p:cNvSpPr/>
          <p:nvPr/>
        </p:nvSpPr>
        <p:spPr>
          <a:xfrm>
            <a:off x="566928" y="4114800"/>
            <a:ext cx="8046720" cy="31089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78808"/>
            <a:ext cx="7589520" cy="22860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Lesson 7 — you claim your own project. From then on, you're solving a problem you chose.</a:t>
            </a:r>
          </a:p>
        </p:txBody>
      </p:sp>
      <p:sp>
        <p:nvSpPr>
          <p:cNvPr id="24" name="Rectangle 23"/>
          <p:cNvSpPr/>
          <p:nvPr/>
        </p:nvSpPr>
        <p:spPr>
          <a:xfrm>
            <a:off x="566928" y="4480560"/>
            <a:ext cx="8046720" cy="31089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44568"/>
            <a:ext cx="7589520" cy="22860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Lesson 10 — you stand on stage and present your project to the room.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09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One Project, Eight Steps — the full journey</a:t>
            </a:r>
          </a:p>
        </p:txBody>
      </p:sp>
      <p:sp>
        <p:nvSpPr>
          <p:cNvPr id="6" name="Rectangle 5"/>
          <p:cNvSpPr/>
          <p:nvPr/>
        </p:nvSpPr>
        <p:spPr>
          <a:xfrm>
            <a:off x="566928" y="1280160"/>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408176"/>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26463"/>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01</a:t>
            </a:r>
          </a:p>
        </p:txBody>
      </p:sp>
      <p:sp>
        <p:nvSpPr>
          <p:cNvPr id="9" name="TextBox 8"/>
          <p:cNvSpPr txBox="1"/>
          <p:nvPr/>
        </p:nvSpPr>
        <p:spPr>
          <a:xfrm>
            <a:off x="713232" y="1682495"/>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Frame the problem</a:t>
            </a:r>
          </a:p>
        </p:txBody>
      </p:sp>
      <p:sp>
        <p:nvSpPr>
          <p:cNvPr id="10" name="Rectangle 9"/>
          <p:cNvSpPr/>
          <p:nvPr/>
        </p:nvSpPr>
        <p:spPr>
          <a:xfrm>
            <a:off x="2596896" y="1280160"/>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0" y="1408176"/>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426463"/>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02</a:t>
            </a:r>
          </a:p>
        </p:txBody>
      </p:sp>
      <p:sp>
        <p:nvSpPr>
          <p:cNvPr id="13" name="TextBox 12"/>
          <p:cNvSpPr txBox="1"/>
          <p:nvPr/>
        </p:nvSpPr>
        <p:spPr>
          <a:xfrm>
            <a:off x="2743200" y="1682495"/>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Find the user</a:t>
            </a:r>
          </a:p>
        </p:txBody>
      </p:sp>
      <p:sp>
        <p:nvSpPr>
          <p:cNvPr id="14" name="Rectangle 13"/>
          <p:cNvSpPr/>
          <p:nvPr/>
        </p:nvSpPr>
        <p:spPr>
          <a:xfrm>
            <a:off x="4626864" y="1280160"/>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73168" y="1408176"/>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1426463"/>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03</a:t>
            </a:r>
          </a:p>
        </p:txBody>
      </p:sp>
      <p:sp>
        <p:nvSpPr>
          <p:cNvPr id="17" name="TextBox 16"/>
          <p:cNvSpPr txBox="1"/>
          <p:nvPr/>
        </p:nvSpPr>
        <p:spPr>
          <a:xfrm>
            <a:off x="4773168" y="1682495"/>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Prototype</a:t>
            </a:r>
          </a:p>
        </p:txBody>
      </p:sp>
      <p:sp>
        <p:nvSpPr>
          <p:cNvPr id="18" name="Rectangle 17"/>
          <p:cNvSpPr/>
          <p:nvPr/>
        </p:nvSpPr>
        <p:spPr>
          <a:xfrm>
            <a:off x="6656832" y="1280160"/>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03136" y="1408176"/>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8856" y="1426463"/>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04</a:t>
            </a:r>
          </a:p>
        </p:txBody>
      </p:sp>
      <p:sp>
        <p:nvSpPr>
          <p:cNvPr id="21" name="TextBox 20"/>
          <p:cNvSpPr txBox="1"/>
          <p:nvPr/>
        </p:nvSpPr>
        <p:spPr>
          <a:xfrm>
            <a:off x="6803136" y="1682495"/>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Code</a:t>
            </a:r>
          </a:p>
        </p:txBody>
      </p:sp>
      <p:sp>
        <p:nvSpPr>
          <p:cNvPr id="22" name="Rectangle 21"/>
          <p:cNvSpPr/>
          <p:nvPr/>
        </p:nvSpPr>
        <p:spPr>
          <a:xfrm>
            <a:off x="566928" y="2029967"/>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2157984"/>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2176272"/>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05</a:t>
            </a:r>
          </a:p>
        </p:txBody>
      </p:sp>
      <p:sp>
        <p:nvSpPr>
          <p:cNvPr id="25" name="TextBox 24"/>
          <p:cNvSpPr txBox="1"/>
          <p:nvPr/>
        </p:nvSpPr>
        <p:spPr>
          <a:xfrm>
            <a:off x="713232" y="2432303"/>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Make trade-offs</a:t>
            </a:r>
          </a:p>
        </p:txBody>
      </p:sp>
      <p:sp>
        <p:nvSpPr>
          <p:cNvPr id="26" name="Rectangle 25"/>
          <p:cNvSpPr/>
          <p:nvPr/>
        </p:nvSpPr>
        <p:spPr>
          <a:xfrm>
            <a:off x="2596896" y="2029967"/>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0" y="2157984"/>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8920" y="2176272"/>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06</a:t>
            </a:r>
          </a:p>
        </p:txBody>
      </p:sp>
      <p:sp>
        <p:nvSpPr>
          <p:cNvPr id="29" name="TextBox 28"/>
          <p:cNvSpPr txBox="1"/>
          <p:nvPr/>
        </p:nvSpPr>
        <p:spPr>
          <a:xfrm>
            <a:off x="2743200" y="2432303"/>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Test &amp; judge</a:t>
            </a:r>
          </a:p>
        </p:txBody>
      </p:sp>
      <p:sp>
        <p:nvSpPr>
          <p:cNvPr id="30" name="Rectangle 29"/>
          <p:cNvSpPr/>
          <p:nvPr/>
        </p:nvSpPr>
        <p:spPr>
          <a:xfrm>
            <a:off x="4626864" y="2029967"/>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73168" y="2157984"/>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8888" y="2176272"/>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07</a:t>
            </a:r>
          </a:p>
        </p:txBody>
      </p:sp>
      <p:sp>
        <p:nvSpPr>
          <p:cNvPr id="33" name="TextBox 32"/>
          <p:cNvSpPr txBox="1"/>
          <p:nvPr/>
        </p:nvSpPr>
        <p:spPr>
          <a:xfrm>
            <a:off x="4773168" y="2432303"/>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Document</a:t>
            </a:r>
          </a:p>
        </p:txBody>
      </p:sp>
      <p:sp>
        <p:nvSpPr>
          <p:cNvPr id="34" name="Rectangle 33"/>
          <p:cNvSpPr/>
          <p:nvPr/>
        </p:nvSpPr>
        <p:spPr>
          <a:xfrm>
            <a:off x="6656832" y="2029967"/>
            <a:ext cx="1920240" cy="676656"/>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03136" y="2157984"/>
            <a:ext cx="310896"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8856" y="2176272"/>
            <a:ext cx="237744" cy="164592"/>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08</a:t>
            </a:r>
          </a:p>
        </p:txBody>
      </p:sp>
      <p:sp>
        <p:nvSpPr>
          <p:cNvPr id="37" name="TextBox 36"/>
          <p:cNvSpPr txBox="1"/>
          <p:nvPr/>
        </p:nvSpPr>
        <p:spPr>
          <a:xfrm>
            <a:off x="6803136" y="2432303"/>
            <a:ext cx="164592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Share the value</a:t>
            </a:r>
          </a:p>
        </p:txBody>
      </p:sp>
      <p:sp>
        <p:nvSpPr>
          <p:cNvPr id="38" name="Rectangle 37"/>
          <p:cNvSpPr/>
          <p:nvPr/>
        </p:nvSpPr>
        <p:spPr>
          <a:xfrm>
            <a:off x="566928" y="3063240"/>
            <a:ext cx="54864" cy="62090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3081528"/>
            <a:ext cx="7845552" cy="584326"/>
          </a:xfrm>
          <a:prstGeom prst="rect">
            <a:avLst/>
          </a:prstGeom>
          <a:noFill/>
        </p:spPr>
        <p:txBody>
          <a:bodyPr wrap="square" anchor="t" lIns="0" rIns="0" tIns="0" bIns="0">
            <a:spAutoFit/>
          </a:bodyPr>
          <a:lstStyle/>
          <a:p>
            <a:pPr algn="l">
              <a:lnSpc>
                <a:spcPct val="115000"/>
              </a:lnSpc>
            </a:pPr>
            <a:r>
              <a:rPr sz="1400" b="0">
                <a:solidFill>
                  <a:srgbClr val="000000"/>
                </a:solidFill>
                <a:latin typeface="Source Han Sans SC"/>
              </a:rPr>
              <a:t>Most courses only teach step 4 — writing code. This course walks all eight, and at every step AI is your partner.</a:t>
            </a:r>
          </a:p>
        </p:txBody>
      </p:sp>
      <p:sp>
        <p:nvSpPr>
          <p:cNvPr id="40" name="TextBox 39"/>
          <p:cNvSpPr txBox="1"/>
          <p:nvPr/>
        </p:nvSpPr>
        <p:spPr>
          <a:xfrm>
            <a:off x="566928" y="3886200"/>
            <a:ext cx="8046720" cy="548640"/>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Every step you complete, light up a square in your log — the progress bar stays in your own hands.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10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Two Things That Carry You Through All Ten Sessions</a:t>
            </a:r>
          </a:p>
        </p:txBody>
      </p:sp>
      <p:sp>
        <p:nvSpPr>
          <p:cNvPr id="6" name="Rectangle 5"/>
          <p:cNvSpPr/>
          <p:nvPr/>
        </p:nvSpPr>
        <p:spPr>
          <a:xfrm>
            <a:off x="566928" y="1280160"/>
            <a:ext cx="3886200" cy="26060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44752"/>
            <a:ext cx="3383280" cy="36576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Six skill cards</a:t>
            </a:r>
          </a:p>
        </p:txBody>
      </p:sp>
      <p:sp>
        <p:nvSpPr>
          <p:cNvPr id="8" name="TextBox 7"/>
          <p:cNvSpPr txBox="1"/>
          <p:nvPr/>
        </p:nvSpPr>
        <p:spPr>
          <a:xfrm>
            <a:off x="822960" y="1874519"/>
            <a:ext cx="3383280" cy="640080"/>
          </a:xfrm>
          <a:prstGeom prst="rect">
            <a:avLst/>
          </a:prstGeom>
          <a:noFill/>
        </p:spPr>
        <p:txBody>
          <a:bodyPr wrap="square" anchor="t" lIns="0" rIns="0" tIns="0" bIns="0">
            <a:spAutoFit/>
          </a:bodyPr>
          <a:lstStyle/>
          <a:p>
            <a:pPr algn="l">
              <a:lnSpc>
                <a:spcPct val="125000"/>
              </a:lnSpc>
            </a:pPr>
            <a:r>
              <a:rPr sz="1400" b="0">
                <a:solidFill>
                  <a:srgbClr val="000000"/>
                </a:solidFill>
                <a:latin typeface="Source Han Sans SC"/>
              </a:rPr>
              <a:t>· Spot a problem · Find the user · Build it</a:t>
            </a:r>
          </a:p>
          <a:p>
            <a:pPr algn="l">
              <a:lnSpc>
                <a:spcPct val="125000"/>
              </a:lnSpc>
            </a:pPr>
            <a:r>
              <a:rPr sz="1400" b="0">
                <a:solidFill>
                  <a:srgbClr val="000000"/>
                </a:solidFill>
                <a:latin typeface="Source Han Sans SC"/>
              </a:rPr>
              <a:t>· Make trade-offs · Judge quality · Tell the story</a:t>
            </a:r>
          </a:p>
        </p:txBody>
      </p:sp>
      <p:sp>
        <p:nvSpPr>
          <p:cNvPr id="9" name="TextBox 8"/>
          <p:cNvSpPr txBox="1"/>
          <p:nvPr/>
        </p:nvSpPr>
        <p:spPr>
          <a:xfrm>
            <a:off x="822960" y="2651760"/>
            <a:ext cx="3383280" cy="1097280"/>
          </a:xfrm>
          <a:prstGeom prst="rect">
            <a:avLst/>
          </a:prstGeom>
          <a:noFill/>
        </p:spPr>
        <p:txBody>
          <a:bodyPr wrap="square" anchor="t" lIns="0" rIns="0" tIns="0" bIns="0">
            <a:spAutoFit/>
          </a:bodyPr>
          <a:lstStyle/>
          <a:p>
            <a:pPr algn="l">
              <a:lnSpc>
                <a:spcPct val="130000"/>
              </a:lnSpc>
            </a:pPr>
            <a:r>
              <a:rPr sz="1350" b="0">
                <a:solidFill>
                  <a:srgbClr val="000000"/>
                </a:solidFill>
                <a:latin typeface="Source Han Sans SC"/>
              </a:rPr>
              <a:t>Every time you do one, you light up a square in your log. By the end, all six are lit.</a:t>
            </a:r>
          </a:p>
        </p:txBody>
      </p:sp>
      <p:sp>
        <p:nvSpPr>
          <p:cNvPr id="10" name="Rectangle 9"/>
          <p:cNvSpPr/>
          <p:nvPr/>
        </p:nvSpPr>
        <p:spPr>
          <a:xfrm>
            <a:off x="4709160" y="1280160"/>
            <a:ext cx="3886200" cy="26060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65192" y="1444752"/>
            <a:ext cx="3383280" cy="548640"/>
          </a:xfrm>
          <a:prstGeom prst="rect">
            <a:avLst/>
          </a:prstGeom>
          <a:noFill/>
        </p:spPr>
        <p:txBody>
          <a:bodyPr wrap="square" anchor="t" lIns="0" rIns="0" tIns="0" bIns="0">
            <a:spAutoFit/>
          </a:bodyPr>
          <a:lstStyle/>
          <a:p>
            <a:pPr algn="l">
              <a:lnSpc>
                <a:spcPct val="110000"/>
              </a:lnSpc>
            </a:pPr>
            <a:r>
              <a:rPr sz="1700" b="1">
                <a:solidFill>
                  <a:srgbClr val="000000"/>
                </a:solidFill>
                <a:latin typeface="Source Han Sans SC"/>
              </a:rPr>
              <a:t>A full set of
AI-prompting phrases</a:t>
            </a:r>
          </a:p>
        </p:txBody>
      </p:sp>
      <p:sp>
        <p:nvSpPr>
          <p:cNvPr id="12" name="TextBox 11"/>
          <p:cNvSpPr txBox="1"/>
          <p:nvPr/>
        </p:nvSpPr>
        <p:spPr>
          <a:xfrm>
            <a:off x="4965192" y="2057400"/>
            <a:ext cx="3383280" cy="1737360"/>
          </a:xfrm>
          <a:prstGeom prst="rect">
            <a:avLst/>
          </a:prstGeom>
          <a:noFill/>
        </p:spPr>
        <p:txBody>
          <a:bodyPr wrap="square" anchor="t" lIns="0" rIns="0" tIns="0" bIns="0">
            <a:spAutoFit/>
          </a:bodyPr>
          <a:lstStyle/>
          <a:p>
            <a:pPr algn="l">
              <a:lnSpc>
                <a:spcPct val="130000"/>
              </a:lnSpc>
            </a:pPr>
            <a:r>
              <a:rPr sz="1300" b="0">
                <a:solidFill>
                  <a:srgbClr val="000000"/>
                </a:solidFill>
                <a:latin typeface="Source Han Sans SC"/>
              </a:rPr>
              <a:t>· How to tell AI what you need, how to correct it, how to handle errors</a:t>
            </a:r>
          </a:p>
          <a:p>
            <a:pPr algn="l">
              <a:lnSpc>
                <a:spcPct val="130000"/>
              </a:lnSpc>
            </a:pPr>
            <a:r>
              <a:rPr sz="1300" b="0">
                <a:solidFill>
                  <a:srgbClr val="000000"/>
                </a:solidFill>
                <a:latin typeface="Source Han Sans SC"/>
              </a:rPr>
              <a:t>· Each phrase unlocks as we use it — read off the screen together, saved in your Student Workbook</a:t>
            </a:r>
          </a:p>
          <a:p>
            <a:pPr algn="l">
              <a:lnSpc>
                <a:spcPct val="130000"/>
              </a:lnSpc>
            </a:pPr>
            <a:r>
              <a:rPr sz="1300" b="0">
                <a:solidFill>
                  <a:srgbClr val="000000"/>
                </a:solidFill>
                <a:latin typeface="Source Han Sans SC"/>
              </a:rPr>
              <a:t>· At the end of the course, you take the whole set with you</a:t>
            </a:r>
          </a:p>
        </p:txBody>
      </p:sp>
      <p:sp>
        <p:nvSpPr>
          <p:cNvPr id="13" name="Rectangle 12"/>
          <p:cNvSpPr/>
          <p:nvPr/>
        </p:nvSpPr>
        <p:spPr>
          <a:xfrm>
            <a:off x="566928" y="4069080"/>
            <a:ext cx="54864" cy="675671"/>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087368"/>
            <a:ext cx="7845552" cy="639095"/>
          </a:xfrm>
          <a:prstGeom prst="rect">
            <a:avLst/>
          </a:prstGeom>
          <a:noFill/>
        </p:spPr>
        <p:txBody>
          <a:bodyPr wrap="square" anchor="t" lIns="0" rIns="0" tIns="0" bIns="0">
            <a:spAutoFit/>
          </a:bodyPr>
          <a:lstStyle/>
          <a:p>
            <a:pPr algn="l">
              <a:lnSpc>
                <a:spcPct val="115000"/>
              </a:lnSpc>
            </a:pPr>
            <a:r>
              <a:rPr sz="1550" b="0">
                <a:solidFill>
                  <a:srgbClr val="000000"/>
                </a:solidFill>
                <a:latin typeface="Source Han Sans SC"/>
              </a:rPr>
              <a:t>Phrases are scaffolding, not a boss — what you build, and whether it's good, is always your call.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11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When You Finish, You Take Away</a:t>
            </a:r>
          </a:p>
        </p:txBody>
      </p:sp>
      <p:sp>
        <p:nvSpPr>
          <p:cNvPr id="6" name="Rectangle 5"/>
          <p:cNvSpPr/>
          <p:nvPr/>
        </p:nvSpPr>
        <p:spPr>
          <a:xfrm>
            <a:off x="566928" y="1207008"/>
            <a:ext cx="8046720" cy="6400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207008"/>
            <a:ext cx="45720"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280160"/>
            <a:ext cx="7498079" cy="27432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A project that's yours</a:t>
            </a:r>
          </a:p>
        </p:txBody>
      </p:sp>
      <p:sp>
        <p:nvSpPr>
          <p:cNvPr id="9" name="TextBox 8"/>
          <p:cNvSpPr txBox="1"/>
          <p:nvPr/>
        </p:nvSpPr>
        <p:spPr>
          <a:xfrm>
            <a:off x="822960" y="1572768"/>
            <a:ext cx="7498079"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You choose the topic. It demos live. Not homework — a project.</a:t>
            </a:r>
          </a:p>
        </p:txBody>
      </p:sp>
      <p:sp>
        <p:nvSpPr>
          <p:cNvPr id="10" name="Rectangle 9"/>
          <p:cNvSpPr/>
          <p:nvPr/>
        </p:nvSpPr>
        <p:spPr>
          <a:xfrm>
            <a:off x="566928" y="1938528"/>
            <a:ext cx="8046720" cy="6400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38528"/>
            <a:ext cx="45720"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11680"/>
            <a:ext cx="7498079" cy="27432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Its growth story</a:t>
            </a:r>
          </a:p>
        </p:txBody>
      </p:sp>
      <p:sp>
        <p:nvSpPr>
          <p:cNvPr id="13" name="TextBox 12"/>
          <p:cNvSpPr txBox="1"/>
          <p:nvPr/>
        </p:nvSpPr>
        <p:spPr>
          <a:xfrm>
            <a:off x="822960" y="2304288"/>
            <a:ext cx="7498079"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One AI log per session, gathered into a project README — the whole "how it got made" is on record.</a:t>
            </a:r>
          </a:p>
        </p:txBody>
      </p:sp>
      <p:sp>
        <p:nvSpPr>
          <p:cNvPr id="14" name="Rectangle 13"/>
          <p:cNvSpPr/>
          <p:nvPr/>
        </p:nvSpPr>
        <p:spPr>
          <a:xfrm>
            <a:off x="566928" y="2670048"/>
            <a:ext cx="8046720" cy="6400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670048"/>
            <a:ext cx="45720"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743200"/>
            <a:ext cx="7498079" cy="27432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Your showcase</a:t>
            </a:r>
          </a:p>
        </p:txBody>
      </p:sp>
      <p:sp>
        <p:nvSpPr>
          <p:cNvPr id="17" name="TextBox 16"/>
          <p:cNvSpPr txBox="1"/>
          <p:nvPr/>
        </p:nvSpPr>
        <p:spPr>
          <a:xfrm>
            <a:off x="822960" y="3035808"/>
            <a:ext cx="7498079"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10: you stand on stage and present it to the room.</a:t>
            </a:r>
          </a:p>
        </p:txBody>
      </p:sp>
      <p:sp>
        <p:nvSpPr>
          <p:cNvPr id="18" name="Rectangle 17"/>
          <p:cNvSpPr/>
          <p:nvPr/>
        </p:nvSpPr>
        <p:spPr>
          <a:xfrm>
            <a:off x="566928" y="3401568"/>
            <a:ext cx="8046720" cy="6400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401568"/>
            <a:ext cx="45720"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74720"/>
            <a:ext cx="7498079" cy="274320"/>
          </a:xfrm>
          <a:prstGeom prst="rect">
            <a:avLst/>
          </a:prstGeom>
          <a:noFill/>
        </p:spPr>
        <p:txBody>
          <a:bodyPr wrap="square" anchor="t" lIns="0" rIns="0" tIns="0" bIns="0">
            <a:spAutoFit/>
          </a:bodyPr>
          <a:lstStyle/>
          <a:p>
            <a:pPr algn="l">
              <a:lnSpc>
                <a:spcPct val="100000"/>
              </a:lnSpc>
            </a:pPr>
            <a:r>
              <a:rPr sz="1600" b="1">
                <a:solidFill>
                  <a:srgbClr val="000000"/>
                </a:solidFill>
                <a:latin typeface="Source Han Sans SC"/>
              </a:rPr>
              <a:t>A method you can reuse</a:t>
            </a:r>
          </a:p>
        </p:txBody>
      </p:sp>
      <p:sp>
        <p:nvSpPr>
          <p:cNvPr id="21" name="TextBox 20"/>
          <p:cNvSpPr txBox="1"/>
          <p:nvPr/>
        </p:nvSpPr>
        <p:spPr>
          <a:xfrm>
            <a:off x="822960" y="3767328"/>
            <a:ext cx="7498079"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Six skills + the full phrase set — for any project, from here on.</a:t>
            </a:r>
          </a:p>
        </p:txBody>
      </p:sp>
      <p:sp>
        <p:nvSpPr>
          <p:cNvPr id="22" name="Rectangle 21"/>
          <p:cNvSpPr/>
          <p:nvPr/>
        </p:nvSpPr>
        <p:spPr>
          <a:xfrm>
            <a:off x="566928" y="4224528"/>
            <a:ext cx="54864" cy="58439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242816"/>
            <a:ext cx="7845552" cy="547814"/>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For competitions, for interviews, for showing family and friends — the growth story is worth more than the build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12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Your Project Starts With a Question</a:t>
            </a:r>
          </a:p>
        </p:txBody>
      </p:sp>
      <p:sp>
        <p:nvSpPr>
          <p:cNvPr id="6" name="TextBox 5"/>
          <p:cNvSpPr txBox="1"/>
          <p:nvPr/>
        </p:nvSpPr>
        <p:spPr>
          <a:xfrm>
            <a:off x="566928" y="1298448"/>
            <a:ext cx="8046720" cy="1097280"/>
          </a:xfrm>
          <a:prstGeom prst="rect">
            <a:avLst/>
          </a:prstGeom>
          <a:noFill/>
        </p:spPr>
        <p:txBody>
          <a:bodyPr wrap="square" anchor="t" lIns="0" rIns="0" tIns="0" bIns="0">
            <a:spAutoFit/>
          </a:bodyPr>
          <a:lstStyle/>
          <a:p>
            <a:pPr algn="ctr">
              <a:lnSpc>
                <a:spcPct val="105000"/>
              </a:lnSpc>
            </a:pPr>
            <a:r>
              <a:rPr sz="3000" b="1">
                <a:solidFill>
                  <a:srgbClr val="000000"/>
                </a:solidFill>
                <a:latin typeface="Source Han Sans SC"/>
              </a:rPr>
              <a:t>What's one small thing in your daily life that annoys you?</a:t>
            </a:r>
          </a:p>
        </p:txBody>
      </p:sp>
      <p:sp>
        <p:nvSpPr>
          <p:cNvPr id="7" name="TextBox 6"/>
          <p:cNvSpPr txBox="1"/>
          <p:nvPr/>
        </p:nvSpPr>
        <p:spPr>
          <a:xfrm>
            <a:off x="566928" y="2468880"/>
            <a:ext cx="8046720" cy="310896"/>
          </a:xfrm>
          <a:prstGeom prst="rect">
            <a:avLst/>
          </a:prstGeom>
          <a:noFill/>
        </p:spPr>
        <p:txBody>
          <a:bodyPr wrap="square" anchor="t" lIns="0" rIns="0" tIns="0" bIns="0">
            <a:spAutoFit/>
          </a:bodyPr>
          <a:lstStyle/>
          <a:p>
            <a:pPr algn="ctr">
              <a:lnSpc>
                <a:spcPct val="100000"/>
              </a:lnSpc>
            </a:pPr>
            <a:r>
              <a:rPr sz="1550" b="0">
                <a:solidFill>
                  <a:srgbClr val="000000"/>
                </a:solidFill>
                <a:latin typeface="Source Han Sans SC"/>
              </a:rPr>
              <a:t>At home, at school, on the way —</a:t>
            </a:r>
          </a:p>
        </p:txBody>
      </p:sp>
      <p:sp>
        <p:nvSpPr>
          <p:cNvPr id="8" name="TextBox 7"/>
          <p:cNvSpPr txBox="1"/>
          <p:nvPr/>
        </p:nvSpPr>
        <p:spPr>
          <a:xfrm>
            <a:off x="566928" y="2706624"/>
            <a:ext cx="8046720" cy="310896"/>
          </a:xfrm>
          <a:prstGeom prst="rect">
            <a:avLst/>
          </a:prstGeom>
          <a:noFill/>
        </p:spPr>
        <p:txBody>
          <a:bodyPr wrap="square" anchor="t" lIns="0" rIns="0" tIns="0" bIns="0">
            <a:spAutoFit/>
          </a:bodyPr>
          <a:lstStyle/>
          <a:p>
            <a:pPr algn="ctr">
              <a:lnSpc>
                <a:spcPct val="100000"/>
              </a:lnSpc>
            </a:pPr>
            <a:r>
              <a:rPr sz="1550" b="0">
                <a:solidFill>
                  <a:srgbClr val="000000"/>
                </a:solidFill>
                <a:latin typeface="Source Han Sans SC"/>
              </a:rPr>
              <a:t>something that needs running after, something that needs watching.</a:t>
            </a:r>
          </a:p>
        </p:txBody>
      </p:sp>
      <p:sp>
        <p:nvSpPr>
          <p:cNvPr id="9" name="Rectangle 8"/>
          <p:cNvSpPr/>
          <p:nvPr/>
        </p:nvSpPr>
        <p:spPr>
          <a:xfrm>
            <a:off x="1234440" y="3090672"/>
            <a:ext cx="6675120" cy="84124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99032" y="3182112"/>
            <a:ext cx="6345936" cy="658368"/>
          </a:xfrm>
          <a:prstGeom prst="rect">
            <a:avLst/>
          </a:prstGeom>
          <a:noFill/>
        </p:spPr>
        <p:txBody>
          <a:bodyPr wrap="square" anchor="t" lIns="0" rIns="0" tIns="0" bIns="0">
            <a:spAutoFit/>
          </a:bodyPr>
          <a:lstStyle/>
          <a:p>
            <a:pPr algn="l">
              <a:lnSpc>
                <a:spcPct val="120000"/>
              </a:lnSpc>
            </a:pPr>
            <a:r>
              <a:rPr sz="1350" b="0">
                <a:solidFill>
                  <a:srgbClr val="000000"/>
                </a:solidFill>
                <a:latin typeface="Source Code Pro"/>
              </a:rPr>
              <a:t>the classroom light nobody turns off |</a:t>
            </a:r>
          </a:p>
          <a:p>
            <a:pPr algn="l">
              <a:lnSpc>
                <a:spcPct val="120000"/>
              </a:lnSpc>
            </a:pPr>
            <a:r>
              <a:rPr sz="1350" b="0">
                <a:solidFill>
                  <a:srgbClr val="000000"/>
                </a:solidFill>
                <a:latin typeface="Source Code Pro"/>
              </a:rPr>
              <a:t>the pills grandma keeps forgetting |</a:t>
            </a:r>
          </a:p>
          <a:p>
            <a:pPr algn="l">
              <a:lnSpc>
                <a:spcPct val="120000"/>
              </a:lnSpc>
            </a:pPr>
            <a:r>
              <a:rPr sz="1350" b="0">
                <a:solidFill>
                  <a:srgbClr val="000000"/>
                </a:solidFill>
                <a:latin typeface="Source Code Pro"/>
              </a:rPr>
              <a:t>plants that never get watered</a:t>
            </a:r>
          </a:p>
        </p:txBody>
      </p:sp>
      <p:sp>
        <p:nvSpPr>
          <p:cNvPr id="11" name="TextBox 10"/>
          <p:cNvSpPr txBox="1"/>
          <p:nvPr/>
        </p:nvSpPr>
        <p:spPr>
          <a:xfrm>
            <a:off x="566928" y="4005072"/>
            <a:ext cx="8046720" cy="640080"/>
          </a:xfrm>
          <a:prstGeom prst="rect">
            <a:avLst/>
          </a:prstGeom>
          <a:noFill/>
        </p:spPr>
        <p:txBody>
          <a:bodyPr wrap="square" anchor="t" lIns="0" rIns="0" tIns="0" bIns="0">
            <a:spAutoFit/>
          </a:bodyPr>
          <a:lstStyle/>
          <a:p>
            <a:pPr algn="ctr">
              <a:lnSpc>
                <a:spcPct val="120000"/>
              </a:lnSpc>
            </a:pPr>
            <a:r>
              <a:rPr sz="1700" b="0">
                <a:solidFill>
                  <a:srgbClr val="000000"/>
                </a:solidFill>
                <a:latin typeface="Source Han Sans SC"/>
              </a:rPr>
              <a:t>You don't need to answer now. Remember it — in Lesson 2, we turn it into your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Before the First Light | 13 / 13</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Next Lesson: Light Up Your First Piece of Hardware</a:t>
            </a:r>
          </a:p>
        </p:txBody>
      </p:sp>
      <p:sp>
        <p:nvSpPr>
          <p:cNvPr id="6" name="TextBox 5"/>
          <p:cNvSpPr txBox="1"/>
          <p:nvPr/>
        </p:nvSpPr>
        <p:spPr>
          <a:xfrm>
            <a:off x="566928" y="1371600"/>
            <a:ext cx="8046720" cy="1234440"/>
          </a:xfrm>
          <a:prstGeom prst="rect">
            <a:avLst/>
          </a:prstGeom>
          <a:noFill/>
        </p:spPr>
        <p:txBody>
          <a:bodyPr wrap="square" anchor="t" lIns="0" rIns="0" tIns="0" bIns="0">
            <a:spAutoFit/>
          </a:bodyPr>
          <a:lstStyle/>
          <a:p>
            <a:pPr algn="l">
              <a:lnSpc>
                <a:spcPct val="130000"/>
              </a:lnSpc>
            </a:pPr>
            <a:r>
              <a:rPr sz="1750" b="0">
                <a:solidFill>
                  <a:srgbClr val="000000"/>
                </a:solidFill>
                <a:latin typeface="Source Han Sans SC"/>
              </a:rPr>
              <a:t>You say one sentence, AI writes the instruction, and the board comes alive in three minutes.
By the end of the lesson, your name will be glowing on the screen.</a:t>
            </a:r>
          </a:p>
        </p:txBody>
      </p:sp>
      <p:sp>
        <p:nvSpPr>
          <p:cNvPr id="7" name="Rectangle 6"/>
          <p:cNvSpPr/>
          <p:nvPr/>
        </p:nvSpPr>
        <p:spPr>
          <a:xfrm>
            <a:off x="2194560" y="2743200"/>
            <a:ext cx="4754880" cy="9144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0" y="2926080"/>
            <a:ext cx="4754880" cy="365760"/>
          </a:xfrm>
          <a:prstGeom prst="rect">
            <a:avLst/>
          </a:prstGeom>
          <a:noFill/>
        </p:spPr>
        <p:txBody>
          <a:bodyPr wrap="square" anchor="t" lIns="0" rIns="0" tIns="0" bIns="0">
            <a:spAutoFit/>
          </a:bodyPr>
          <a:lstStyle/>
          <a:p>
            <a:pPr algn="ctr">
              <a:lnSpc>
                <a:spcPct val="100000"/>
              </a:lnSpc>
            </a:pPr>
            <a:r>
              <a:rPr sz="1900" b="1">
                <a:solidFill>
                  <a:srgbClr val="000000"/>
                </a:solidFill>
                <a:latin typeface="Source Han Sans SC"/>
              </a:rPr>
              <a:t>Your new partner: Grove Beginner Kit</a:t>
            </a:r>
          </a:p>
        </p:txBody>
      </p:sp>
      <p:sp>
        <p:nvSpPr>
          <p:cNvPr id="9" name="TextBox 8"/>
          <p:cNvSpPr txBox="1"/>
          <p:nvPr/>
        </p:nvSpPr>
        <p:spPr>
          <a:xfrm>
            <a:off x="566928" y="3977639"/>
            <a:ext cx="8046720" cy="457200"/>
          </a:xfrm>
          <a:prstGeom prst="rect">
            <a:avLst/>
          </a:prstGeom>
          <a:noFill/>
        </p:spPr>
        <p:txBody>
          <a:bodyPr wrap="square" anchor="t" lIns="0" rIns="0" tIns="0" bIns="0">
            <a:spAutoFit/>
          </a:bodyPr>
          <a:lstStyle/>
          <a:p>
            <a:pPr algn="ctr">
              <a:lnSpc>
                <a:spcPct val="100000"/>
              </a:lnSpc>
            </a:pPr>
            <a:r>
              <a:rPr sz="1800" b="0">
                <a:solidFill>
                  <a:srgbClr val="000000"/>
                </a:solidFill>
                <a:latin typeface="Source Han Sans SC"/>
              </a:rPr>
              <a:t>The kickoff ends here — bring your problem. See you then.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