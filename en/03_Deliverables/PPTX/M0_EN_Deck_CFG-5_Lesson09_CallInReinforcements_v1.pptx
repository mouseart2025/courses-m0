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page only; students see it as they sit down. No script. When the session starts, go straight to slide 02 — the opener's 30-second recap is spoken, not projected. Right side: the toolbox cover illustration reused from the CN deck because it carries no Chinese glyphs. Footer: Chaihuo Maker Academy · M0 · Call In Reinforcements | 01 / 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recap: last session you ran the first lap — your project has an MVP. It can be demonstrated, two judges picked at it, and you made Accept-or-Reject calls. Did you bring your baton handoff sheet? Put it on the desk — we read it at the opening of the build. Today, two things: first half, the hardware store — call in reinforcements; second half, the leg-two sprint — finish the core function. The rhythm is exactly the same as leg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this complex sensor. No help from anyone — ask AI to write the driver from scratch — over a hundred lines. Three screens of scrolling. Can you read it? By now, yes, you can read it — but being able to read it doesn't mean you should write it. Now: three lines. That hundred-line thing was already written, tested, and given away free — that's open source: engineers all over the world send each other toolboxes. This toolbox is called a library. Today you learn to shop the hardware store: whatever your project needs, someone on earth has probably already built the wheel.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search — find it in the hardware store. Step two, read the page and judge it: the three checks. 1) When was it last updated? Nothing in three years — think twice. 2) Does it have examples? No examples = no manual. 3) Is it documented completely? Two of three pass — bring it in. This page stays up today — install, pick, wire in: anytime you see 'should I install this library?', run the three checks first. Write them into your student document.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call in the same reinforcement together and walk the whole process once. Step one, search. Step two, check — the three checks, back to that page. Step three, install — that's taking the toolbox into your project's tool room. Step four, run its built-in example. Stop. How many seconds did that compile take? Right — the reinforcement you called in is already compiled. That's the second reason to call in help.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this — this project's tool room, and that project's tool room: two separate rooms. Why design it this way? One sentence: one room on fire doesn't burn the next one. The library your tomato clock called in and the library your project called in each live in their own room — they don't fight. Write the three checks into your student document — anywhere you ever see 'should I install this library?', run the three checks first.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store is fun to browse — but importing is a trade-off decision, not a default move. Two real cases: case one, your project drives a complex sensor; writing the driver yourself is a hundred lines — import it. Case two, you want a light to blink three times; three lines does it — and you go hunting for a 'blink library' — don't. What's the difference? Three questions: is it core? can we get it working today? what happens if we don't import it? Now, against your requirements sheet, let AI be your selection advisor — it lists candidates; you pick exactly one, and that's the one we install today. Three picks gets sent back — greed is today's most common failure.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Against your requirements sheet, send this prompt in the same chat window you've been using — don't open a new one. It lists candidates; you pick exactly one, and that's the one we install today. AI recommends a library you can't find? It invents things — what's searchable in the hardware store is what counts. If no library fits: writing 'why not import' with your reason is a valid trade-off — it scores the same as importing.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step is the hardest: example code is not your feature. The example demonstrates what the library can do; what you want is your core function. Two steps: one, ask AI 'what is this code doing?' — it's your translator, built for code that wasn't written for you; two, have AI reshape it to your need — one minimal change at a time. The bar: installed + example runs. If you don't finish the wiring, it moves into the build block this afternoon — that's fine.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each: what I imported, and what it saved me. No-import students report: why I didn't — and they get the same applause. The code reinforcement is in the door. But help isn't only one kind — your project is still wearing nothing. Next twenty minutes: the second reinforcement — a look.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Help isn't only code. Look at your project — the function runs, but it's still a table of loose parts and a nest of wires. An MVP has two faces: it works (the inside), and it looks like something (the outside). On demo day, people see the outside first — then they get to the inside. The look costs nothing and gets printed nothing — trash is the hardware store for looks.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one, give it a shell — a cardboard box, a takeout box, an old toy shell; it is what it is, so make it look like what it is. Two, hold it still — tape, rubber bands, zip ties; wires don't dangle, demos don't wobble. Three, label it — marker the button names, tape an arrow; someone can touch it without reading a manual. Four, hide the mess — tuck the wiring into the box; only the 'face' shows. One rule: looks serve the demo — it exists for a 30-second demonstration. Looks take no more than a third of your build time; if you disappear into it, I'll pull you back. Scissors and knives live with me — take them on demand, return them when done.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materials wall — everything here is clean junk brought from home or picked from the public pool. Pick, don't buy. Find material → build the structure → add the look → ready to demo.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Stand-up. First read your baton sheet — what did last leg say is the first thing this leg? Then one sentence: 'Today I'll get the core function to ___.' Definition check: 'done' is not everything you can imagine — it's the core function on your requirements sheet. Say it against the sheet; anything beyond it gets pulled back. You may add half a sentence: '...and give it a (shell / label)' — no fit, skip it. Looks are optional; function is the required question.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Rules as leg one: check against your requirements sheet; 15 minutes no progress — raise your hand; code questions go to AI first. One thing new today: aily unsure? Flip your two-views cheat sheet — it was written for today. The last 10 minutes are the quick shell: once the function runs, then the scissors — shell, still, label, hide; land as many of the four as you can. Not getting one in is no shame — function is always the required question. 15 minutes before review, table by table: get ready with two lines — 'right now it can ___; it still can't ___.' Review starts on time — nobody squeezes it out.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 off. Review time — last leg's reviewer asked 'does it look right?'; this leg's reviewer checks 'how sturdy is it?' The lead is old friend Quinn: a 5-point sturdiness checklist, tested one by one — this leg upgrades, no more picking two. The Picky User drops to a single most-lethal fault. Prompts up, same old rules: feed the real current state, no bragging; and keep going in the same chat window — don't open a new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Picky User, this leg downgraded: pick only 1 fault — the single most lethal one. AI starts praising? Push back — 'No praise. Faults only.' All five pass? Congratulations, it's sturdy — have your desk-mate try it the barbarian way.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the EN structural delta — the CN v2.2 plan has no review-record projected page, but the EN Teacher's Guide's zero-print rule names the review record explicitly: all projected. The template is identical to the student document — the page exists so the room fills the same grid the workbook carries. The five tested lines are filled for real as they go. The decision line feeds slide 18's decide block. Stand-still during fill-in.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by one: accept or reject — and both need a reason. Heads-up: next leg is the sprint leg — fix-only, no adding. Anything you can't finish today, think hard before you write it as 'first thing next leg': that's your last chance to fix it. Fill the leg-two baton handoff sheet — into your student document. Log, four lines as usual — 'did' reads: I called in ___ and it saved me ___; the look used ___ (materials); sturdiness passed ___ checks.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one, you lit your first lamp; two, you found a question worth doing; three, your project grew a screen; four, you got an AI team; five, you taught hardware to see; six, you moved your project home; seven, you briefed it; eight, you ran the first lap; today, you called in reinforcements — code help and look help — from daring, to reading, to calling in help. Your project's function has capped out, and it has a face for the first time. (Pause one second — look at it.) This is what nine lessons look like. Next lesson: the last leg + the roadshow. Sprint discipline in four words: fix-only, no adding. Bring your baton sheet, your project, and the side of it you most want to show.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01 / 20</a:t>
            </a:r>
          </a:p>
        </p:txBody>
      </p:sp>
      <p:sp>
        <p:nvSpPr>
          <p:cNvPr id="4" name="TextBox 3"/>
          <p:cNvSpPr txBox="1"/>
          <p:nvPr/>
        </p:nvSpPr>
        <p:spPr>
          <a:xfrm>
            <a:off x="566928" y="1097280"/>
            <a:ext cx="5852160" cy="27432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Chaihuo Maker Academy · Smart Hardware Fundamentals (M0)</a:t>
            </a:r>
          </a:p>
        </p:txBody>
      </p:sp>
      <p:sp>
        <p:nvSpPr>
          <p:cNvPr id="5" name="TextBox 4"/>
          <p:cNvSpPr txBox="1"/>
          <p:nvPr/>
        </p:nvSpPr>
        <p:spPr>
          <a:xfrm>
            <a:off x="566928" y="1417320"/>
            <a:ext cx="8010144" cy="68580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Call In Reinforcements</a:t>
            </a:r>
          </a:p>
        </p:txBody>
      </p:sp>
      <p:sp>
        <p:nvSpPr>
          <p:cNvPr id="6" name="Rectangle 5"/>
          <p:cNvSpPr/>
          <p:nvPr/>
        </p:nvSpPr>
        <p:spPr>
          <a:xfrm>
            <a:off x="566928" y="2286000"/>
            <a:ext cx="146304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50592"/>
            <a:ext cx="5852160" cy="548640"/>
          </a:xfrm>
          <a:prstGeom prst="rect">
            <a:avLst/>
          </a:prstGeom>
          <a:noFill/>
        </p:spPr>
        <p:txBody>
          <a:bodyPr wrap="square" anchor="t" lIns="0" rIns="0" tIns="0" bIns="0">
            <a:spAutoFit/>
          </a:bodyPr>
          <a:lstStyle/>
          <a:p>
            <a:pPr algn="l">
              <a:lnSpc>
                <a:spcPct val="120000"/>
              </a:lnSpc>
            </a:pPr>
            <a:r>
              <a:rPr sz="1400" b="0">
                <a:solidFill>
                  <a:srgbClr val="000000"/>
                </a:solidFill>
                <a:latin typeface="Source Han Sans SC"/>
              </a:rPr>
              <a:t>Give Your MVP a New Power · The Marathon's Second Leg · Chaihuo Maker Academy · M0 Lesson 9</a:t>
            </a:r>
          </a:p>
        </p:txBody>
      </p:sp>
      <p:sp>
        <p:nvSpPr>
          <p:cNvPr id="8" name="TextBox 7"/>
          <p:cNvSpPr txBox="1"/>
          <p:nvPr/>
        </p:nvSpPr>
        <p:spPr>
          <a:xfrm>
            <a:off x="566928" y="3291840"/>
            <a:ext cx="5303520" cy="868680"/>
          </a:xfrm>
          <a:prstGeom prst="rect">
            <a:avLst/>
          </a:prstGeom>
          <a:noFill/>
        </p:spPr>
        <p:txBody>
          <a:bodyPr wrap="square" anchor="t" lIns="0" rIns="0" tIns="0" bIns="0">
            <a:spAutoFit/>
          </a:bodyPr>
          <a:lstStyle/>
          <a:p>
            <a:pPr algn="l">
              <a:lnSpc>
                <a:spcPct val="135000"/>
              </a:lnSpc>
            </a:pPr>
            <a:r>
              <a:rPr sz="1250" b="0">
                <a:solidFill>
                  <a:srgbClr val="000000"/>
                </a:solidFill>
                <a:latin typeface="Source Han Sans SC"/>
              </a:rPr>
              <a:t>Today: the hardware store — a library, a decision, a wiring-in —</a:t>
            </a:r>
          </a:p>
          <a:p>
            <a:pPr algn="l">
              <a:lnSpc>
                <a:spcPct val="135000"/>
              </a:lnSpc>
            </a:pPr>
            <a:r>
              <a:rPr sz="1250" b="0">
                <a:solidFill>
                  <a:srgbClr val="000000"/>
                </a:solidFill>
                <a:latin typeface="Source Han Sans SC"/>
              </a:rPr>
              <a:t>and a first look for your project.</a:t>
            </a:r>
          </a:p>
        </p:txBody>
      </p:sp>
      <p:pic>
        <p:nvPicPr>
          <p:cNvPr id="9" name="Picture 8" descr="L9_封面插画_请外援.png"/>
          <p:cNvPicPr>
            <a:picLocks noChangeAspect="1"/>
          </p:cNvPicPr>
          <p:nvPr/>
        </p:nvPicPr>
        <p:blipFill>
          <a:blip r:embed="rId2"/>
          <a:stretch>
            <a:fillRect/>
          </a:stretch>
        </p:blipFill>
        <p:spPr>
          <a:xfrm>
            <a:off x="6217920" y="2788920"/>
            <a:ext cx="2240280" cy="2240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02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Today, Your MVP Grows a New Power</a:t>
            </a:r>
          </a:p>
        </p:txBody>
      </p:sp>
      <p:sp>
        <p:nvSpPr>
          <p:cNvPr id="6" name="Rectangle 5"/>
          <p:cNvSpPr/>
          <p:nvPr/>
        </p:nvSpPr>
        <p:spPr>
          <a:xfrm>
            <a:off x="566928" y="1005840"/>
            <a:ext cx="64008" cy="8686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024128"/>
            <a:ext cx="7680960" cy="82296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Last session: you ran the first lap — your project has an MVP. It can be demonstrated, two judges picked at it, and you made Accept-or-Reject calls. Is your baton handoff sheet on the desk? We read it at the opening of the build.</a:t>
            </a:r>
          </a:p>
        </p:txBody>
      </p:sp>
      <p:sp>
        <p:nvSpPr>
          <p:cNvPr id="8" name="TextBox 7"/>
          <p:cNvSpPr txBox="1"/>
          <p:nvPr/>
        </p:nvSpPr>
        <p:spPr>
          <a:xfrm>
            <a:off x="566928" y="1965960"/>
            <a:ext cx="8010144" cy="10058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TODAY, YOUR MVP GROWS A NEW POWER.</a:t>
            </a:r>
          </a:p>
        </p:txBody>
      </p:sp>
      <p:sp>
        <p:nvSpPr>
          <p:cNvPr id="9" name="TextBox 8"/>
          <p:cNvSpPr txBox="1"/>
          <p:nvPr/>
        </p:nvSpPr>
        <p:spPr>
          <a:xfrm>
            <a:off x="566928" y="3017520"/>
            <a:ext cx="8010144" cy="914400"/>
          </a:xfrm>
          <a:prstGeom prst="rect">
            <a:avLst/>
          </a:prstGeom>
          <a:noFill/>
        </p:spPr>
        <p:txBody>
          <a:bodyPr wrap="square" anchor="t" lIns="0" rIns="0" tIns="0" bIns="0">
            <a:spAutoFit/>
          </a:bodyPr>
          <a:lstStyle/>
          <a:p>
            <a:pPr algn="l">
              <a:lnSpc>
                <a:spcPct val="130000"/>
              </a:lnSpc>
            </a:pPr>
            <a:r>
              <a:rPr sz="1300" b="1">
                <a:solidFill>
                  <a:srgbClr val="000000"/>
                </a:solidFill>
                <a:latin typeface="Source Han Sans SC"/>
              </a:rPr>
              <a:t>FIRST HALF: THE HARDWARE STORE — call in reinforcements.</a:t>
            </a:r>
          </a:p>
          <a:p>
            <a:pPr algn="l">
              <a:lnSpc>
                <a:spcPct val="130000"/>
              </a:lnSpc>
            </a:pPr>
            <a:r>
              <a:rPr sz="1150" b="0">
                <a:solidFill>
                  <a:srgbClr val="000000"/>
                </a:solidFill>
                <a:latin typeface="Source Han Sans SC"/>
              </a:rPr>
              <a:t>A library: someone else's well-tested, free toolbox.</a:t>
            </a:r>
          </a:p>
          <a:p>
            <a:pPr algn="l">
              <a:lnSpc>
                <a:spcPct val="130000"/>
              </a:lnSpc>
            </a:pPr>
            <a:r>
              <a:rPr sz="1300" b="1">
                <a:solidFill>
                  <a:srgbClr val="000000"/>
                </a:solidFill>
                <a:latin typeface="Source Han Sans SC"/>
              </a:rPr>
              <a:t>SECOND HALF: FINISH THE CORE FUNCTION — the leg-two sprint.</a:t>
            </a:r>
          </a:p>
        </p:txBody>
      </p:sp>
      <p:sp>
        <p:nvSpPr>
          <p:cNvPr id="10" name="Rectangle 9"/>
          <p:cNvSpPr/>
          <p:nvPr/>
        </p:nvSpPr>
        <p:spPr>
          <a:xfrm>
            <a:off x="566928" y="4023360"/>
            <a:ext cx="8010144" cy="7315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133088"/>
            <a:ext cx="7680960" cy="512064"/>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Same rhythm as leg one — STAND-UP | BUILD | AI REVIEW | DECIDE | HANDOFF.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03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Readable Isn't the Same as Worth Writing</a:t>
            </a:r>
          </a:p>
        </p:txBody>
      </p:sp>
      <p:sp>
        <p:nvSpPr>
          <p:cNvPr id="6" name="Rectangle 5"/>
          <p:cNvSpPr/>
          <p:nvPr/>
        </p:nvSpPr>
        <p:spPr>
          <a:xfrm>
            <a:off x="566928" y="1325880"/>
            <a:ext cx="3840480" cy="25603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481328"/>
            <a:ext cx="3401568" cy="27432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NO REINFORCEMENTS</a:t>
            </a:r>
          </a:p>
        </p:txBody>
      </p:sp>
      <p:sp>
        <p:nvSpPr>
          <p:cNvPr id="8" name="TextBox 7"/>
          <p:cNvSpPr txBox="1"/>
          <p:nvPr/>
        </p:nvSpPr>
        <p:spPr>
          <a:xfrm>
            <a:off x="786384" y="1874519"/>
            <a:ext cx="3401568" cy="64008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Ask AI to write the driver from scratch — over a hundred lines. Three screens of scrolling.</a:t>
            </a:r>
          </a:p>
        </p:txBody>
      </p:sp>
      <p:sp>
        <p:nvSpPr>
          <p:cNvPr id="9" name="Rectangle 8"/>
          <p:cNvSpPr/>
          <p:nvPr/>
        </p:nvSpPr>
        <p:spPr>
          <a:xfrm>
            <a:off x="786384" y="2697480"/>
            <a:ext cx="3017520" cy="201168"/>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 y="2971800"/>
            <a:ext cx="3017520" cy="201168"/>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3246120"/>
            <a:ext cx="3017520" cy="201168"/>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36592" y="1325880"/>
            <a:ext cx="3840480" cy="2560320"/>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56048" y="1481328"/>
            <a:ext cx="3401568" cy="27432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WITH A LIBRARY</a:t>
            </a:r>
          </a:p>
        </p:txBody>
      </p:sp>
      <p:sp>
        <p:nvSpPr>
          <p:cNvPr id="14" name="TextBox 13"/>
          <p:cNvSpPr txBox="1"/>
          <p:nvPr/>
        </p:nvSpPr>
        <p:spPr>
          <a:xfrm>
            <a:off x="4956048" y="2011680"/>
            <a:ext cx="3401568" cy="822960"/>
          </a:xfrm>
          <a:prstGeom prst="rect">
            <a:avLst/>
          </a:prstGeom>
          <a:noFill/>
        </p:spPr>
        <p:txBody>
          <a:bodyPr wrap="square" anchor="ctr" lIns="0" rIns="0" tIns="0" bIns="0">
            <a:spAutoFit/>
          </a:bodyPr>
          <a:lstStyle/>
          <a:p>
            <a:pPr algn="ctr">
              <a:lnSpc>
                <a:spcPct val="100000"/>
              </a:lnSpc>
            </a:pPr>
            <a:r>
              <a:rPr sz="2800" b="1">
                <a:solidFill>
                  <a:srgbClr val="000000"/>
                </a:solidFill>
                <a:latin typeface="Source Han Sans SC"/>
              </a:rPr>
              <a:t>Three lines.</a:t>
            </a:r>
          </a:p>
        </p:txBody>
      </p:sp>
      <p:sp>
        <p:nvSpPr>
          <p:cNvPr id="15" name="TextBox 14"/>
          <p:cNvSpPr txBox="1"/>
          <p:nvPr/>
        </p:nvSpPr>
        <p:spPr>
          <a:xfrm>
            <a:off x="566928" y="4160520"/>
            <a:ext cx="8010144" cy="457200"/>
          </a:xfrm>
          <a:prstGeom prst="rect">
            <a:avLst/>
          </a:prstGeom>
          <a:noFill/>
        </p:spPr>
        <p:txBody>
          <a:bodyPr wrap="square" anchor="t" lIns="0" rIns="0" tIns="0" bIns="0">
            <a:spAutoFit/>
          </a:bodyPr>
          <a:lstStyle/>
          <a:p>
            <a:pPr algn="ctr">
              <a:lnSpc>
                <a:spcPct val="100000"/>
              </a:lnSpc>
            </a:pPr>
            <a:r>
              <a:rPr sz="1250" b="0">
                <a:solidFill>
                  <a:srgbClr val="000000"/>
                </a:solidFill>
                <a:latin typeface="Source Han Sans SC"/>
              </a:rPr>
              <a:t>That hundred-line thing was already written, tested, and given away free — that's OPEN SOURCE. This toolbox is called A LIBRARY.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04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The Three Checks Before Calling in a Library</a:t>
            </a:r>
          </a:p>
        </p:txBody>
      </p:sp>
      <p:sp>
        <p:nvSpPr>
          <p:cNvPr id="6" name="Rectangle 5"/>
          <p:cNvSpPr/>
          <p:nvPr/>
        </p:nvSpPr>
        <p:spPr>
          <a:xfrm>
            <a:off x="566928" y="1298448"/>
            <a:ext cx="8010144" cy="265176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389888"/>
            <a:ext cx="7717536" cy="2468879"/>
          </a:xfrm>
          <a:prstGeom prst="rect">
            <a:avLst/>
          </a:prstGeom>
          <a:noFill/>
        </p:spPr>
        <p:txBody>
          <a:bodyPr wrap="square" anchor="t" lIns="0" rIns="0" tIns="0" bIns="0">
            <a:spAutoFit/>
          </a:bodyPr>
          <a:lstStyle/>
          <a:p>
            <a:pPr algn="l">
              <a:lnSpc>
                <a:spcPct val="135000"/>
              </a:lnSpc>
            </a:pPr>
            <a:r>
              <a:rPr sz="1150" b="0">
                <a:solidFill>
                  <a:srgbClr val="000000"/>
                </a:solidFill>
                <a:latin typeface="Source Code Pro"/>
              </a:rPr>
              <a:t>Three checks before calling in a library (2 of 3 pass — bring it in):</a:t>
            </a:r>
          </a:p>
          <a:p>
            <a:pPr algn="l">
              <a:lnSpc>
                <a:spcPct val="135000"/>
              </a:lnSpc>
            </a:pPr>
            <a:r>
              <a:rPr sz="1150" b="0">
                <a:solidFill>
                  <a:srgbClr val="000000"/>
                </a:solidFill>
                <a:latin typeface="Source Code Pro"/>
              </a:rPr>
              <a:t/>
            </a:r>
          </a:p>
          <a:p>
            <a:pPr algn="l">
              <a:lnSpc>
                <a:spcPct val="135000"/>
              </a:lnSpc>
            </a:pPr>
            <a:r>
              <a:rPr sz="1150" b="0">
                <a:solidFill>
                  <a:srgbClr val="000000"/>
                </a:solidFill>
                <a:latin typeface="Source Code Pro"/>
              </a:rPr>
              <a:t>1) When was it last updated? (Nothing in three years — think twice.)</a:t>
            </a:r>
          </a:p>
          <a:p>
            <a:pPr algn="l">
              <a:lnSpc>
                <a:spcPct val="135000"/>
              </a:lnSpc>
            </a:pPr>
            <a:r>
              <a:rPr sz="1150" b="0">
                <a:solidFill>
                  <a:srgbClr val="000000"/>
                </a:solidFill>
                <a:latin typeface="Source Code Pro"/>
              </a:rPr>
              <a:t>2) Does it have examples? (No examples = no manual.)</a:t>
            </a:r>
          </a:p>
          <a:p>
            <a:pPr algn="l">
              <a:lnSpc>
                <a:spcPct val="135000"/>
              </a:lnSpc>
            </a:pPr>
            <a:r>
              <a:rPr sz="1150" b="0">
                <a:solidFill>
                  <a:srgbClr val="000000"/>
                </a:solidFill>
                <a:latin typeface="Source Code Pro"/>
              </a:rPr>
              <a:t>3) Is it documented completely?</a:t>
            </a:r>
          </a:p>
          <a:p>
            <a:pPr algn="l">
              <a:lnSpc>
                <a:spcPct val="135000"/>
              </a:lnSpc>
            </a:pPr>
            <a:r>
              <a:rPr sz="1150" b="0">
                <a:solidFill>
                  <a:srgbClr val="000000"/>
                </a:solidFill>
                <a:latin typeface="Source Code Pro"/>
              </a:rPr>
              <a:t/>
            </a:r>
          </a:p>
          <a:p>
            <a:pPr algn="l">
              <a:lnSpc>
                <a:spcPct val="135000"/>
              </a:lnSpc>
            </a:pPr>
            <a:r>
              <a:rPr sz="1150" b="0">
                <a:solidFill>
                  <a:srgbClr val="000000"/>
                </a:solidFill>
                <a:latin typeface="Source Code Pro"/>
              </a:rPr>
              <a:t>(Fourth check, for when something breaks: is my board on the</a:t>
            </a:r>
          </a:p>
          <a:p>
            <a:pPr algn="l">
              <a:lnSpc>
                <a:spcPct val="135000"/>
              </a:lnSpc>
            </a:pPr>
            <a:r>
              <a:rPr sz="1150" b="0">
                <a:solidFill>
                  <a:srgbClr val="000000"/>
                </a:solidFill>
                <a:latin typeface="Source Code Pro"/>
              </a:rPr>
              <a:t>supported-hardware list?)</a:t>
            </a:r>
          </a:p>
        </p:txBody>
      </p:sp>
      <p:sp>
        <p:nvSpPr>
          <p:cNvPr id="8" name="TextBox 7"/>
          <p:cNvSpPr txBox="1"/>
          <p:nvPr/>
        </p:nvSpPr>
        <p:spPr>
          <a:xfrm>
            <a:off x="566928" y="4160520"/>
            <a:ext cx="8010144" cy="365760"/>
          </a:xfrm>
          <a:prstGeom prst="rect">
            <a:avLst/>
          </a:prstGeom>
          <a:noFill/>
        </p:spPr>
        <p:txBody>
          <a:bodyPr wrap="square" anchor="t" lIns="0" rIns="0" tIns="0" bIns="0">
            <a:spAutoFit/>
          </a:bodyPr>
          <a:lstStyle/>
          <a:p>
            <a:pPr algn="ctr">
              <a:lnSpc>
                <a:spcPct val="100000"/>
              </a:lnSpc>
            </a:pPr>
            <a:r>
              <a:rPr sz="1150" b="0">
                <a:solidFill>
                  <a:srgbClr val="000000"/>
                </a:solidFill>
                <a:latin typeface="Source Han Sans SC"/>
              </a:rPr>
              <a:t>This page stays up today — install, pick, wire in: come back to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05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One Library for the Whole Class</a:t>
            </a:r>
          </a:p>
        </p:txBody>
      </p:sp>
      <p:sp>
        <p:nvSpPr>
          <p:cNvPr id="6" name="Rectangle 5"/>
          <p:cNvSpPr/>
          <p:nvPr/>
        </p:nvSpPr>
        <p:spPr>
          <a:xfrm>
            <a:off x="676656" y="148132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508760"/>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1097280" y="1517904"/>
            <a:ext cx="7132320" cy="329184"/>
          </a:xfrm>
          <a:prstGeom prst="rect">
            <a:avLst/>
          </a:prstGeom>
          <a:noFill/>
        </p:spPr>
        <p:txBody>
          <a:bodyPr wrap="square" anchor="t" lIns="0" rIns="0" tIns="0" bIns="0">
            <a:spAutoFit/>
          </a:bodyPr>
          <a:lstStyle/>
          <a:p>
            <a:pPr algn="l">
              <a:lnSpc>
                <a:spcPct val="100000"/>
              </a:lnSpc>
            </a:pPr>
            <a:r>
              <a:rPr sz="1350" b="1">
                <a:solidFill>
                  <a:srgbClr val="000000"/>
                </a:solidFill>
                <a:latin typeface="Source Han Sans SC"/>
              </a:rPr>
              <a:t>SEARCH — find it in the hardware store</a:t>
            </a:r>
          </a:p>
        </p:txBody>
      </p:sp>
      <p:sp>
        <p:nvSpPr>
          <p:cNvPr id="9" name="Rectangle 8"/>
          <p:cNvSpPr/>
          <p:nvPr/>
        </p:nvSpPr>
        <p:spPr>
          <a:xfrm>
            <a:off x="676656" y="2048256"/>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075688"/>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1097280" y="2084832"/>
            <a:ext cx="7132320" cy="329184"/>
          </a:xfrm>
          <a:prstGeom prst="rect">
            <a:avLst/>
          </a:prstGeom>
          <a:noFill/>
        </p:spPr>
        <p:txBody>
          <a:bodyPr wrap="square" anchor="t" lIns="0" rIns="0" tIns="0" bIns="0">
            <a:spAutoFit/>
          </a:bodyPr>
          <a:lstStyle/>
          <a:p>
            <a:pPr algn="l">
              <a:lnSpc>
                <a:spcPct val="100000"/>
              </a:lnSpc>
            </a:pPr>
            <a:r>
              <a:rPr sz="1350" b="1">
                <a:solidFill>
                  <a:srgbClr val="000000"/>
                </a:solidFill>
                <a:latin typeface="Source Han Sans SC"/>
              </a:rPr>
              <a:t>CHECK — the three checks (back to slide 04)</a:t>
            </a:r>
          </a:p>
        </p:txBody>
      </p:sp>
      <p:sp>
        <p:nvSpPr>
          <p:cNvPr id="12" name="Rectangle 11"/>
          <p:cNvSpPr/>
          <p:nvPr/>
        </p:nvSpPr>
        <p:spPr>
          <a:xfrm>
            <a:off x="676656" y="2615184"/>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642616"/>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4" name="TextBox 13"/>
          <p:cNvSpPr txBox="1"/>
          <p:nvPr/>
        </p:nvSpPr>
        <p:spPr>
          <a:xfrm>
            <a:off x="1097280" y="2651760"/>
            <a:ext cx="7132320" cy="329184"/>
          </a:xfrm>
          <a:prstGeom prst="rect">
            <a:avLst/>
          </a:prstGeom>
          <a:noFill/>
        </p:spPr>
        <p:txBody>
          <a:bodyPr wrap="square" anchor="t" lIns="0" rIns="0" tIns="0" bIns="0">
            <a:spAutoFit/>
          </a:bodyPr>
          <a:lstStyle/>
          <a:p>
            <a:pPr algn="l">
              <a:lnSpc>
                <a:spcPct val="100000"/>
              </a:lnSpc>
            </a:pPr>
            <a:r>
              <a:rPr sz="1350" b="1">
                <a:solidFill>
                  <a:srgbClr val="000000"/>
                </a:solidFill>
                <a:latin typeface="Source Han Sans SC"/>
              </a:rPr>
              <a:t>INSTALL — it moves into YOUR project's tool room</a:t>
            </a:r>
          </a:p>
        </p:txBody>
      </p:sp>
      <p:sp>
        <p:nvSpPr>
          <p:cNvPr id="15" name="Rectangle 14"/>
          <p:cNvSpPr/>
          <p:nvPr/>
        </p:nvSpPr>
        <p:spPr>
          <a:xfrm>
            <a:off x="676656" y="3182112"/>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3209544"/>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17" name="TextBox 16"/>
          <p:cNvSpPr txBox="1"/>
          <p:nvPr/>
        </p:nvSpPr>
        <p:spPr>
          <a:xfrm>
            <a:off x="1097280" y="3218688"/>
            <a:ext cx="7132320" cy="329184"/>
          </a:xfrm>
          <a:prstGeom prst="rect">
            <a:avLst/>
          </a:prstGeom>
          <a:noFill/>
        </p:spPr>
        <p:txBody>
          <a:bodyPr wrap="square" anchor="t" lIns="0" rIns="0" tIns="0" bIns="0">
            <a:spAutoFit/>
          </a:bodyPr>
          <a:lstStyle/>
          <a:p>
            <a:pPr algn="l">
              <a:lnSpc>
                <a:spcPct val="100000"/>
              </a:lnSpc>
            </a:pPr>
            <a:r>
              <a:rPr sz="1350" b="1">
                <a:solidFill>
                  <a:srgbClr val="000000"/>
                </a:solidFill>
                <a:latin typeface="Source Han Sans SC"/>
              </a:rPr>
              <a:t>RUN — run its built-in example</a:t>
            </a:r>
          </a:p>
        </p:txBody>
      </p:sp>
      <p:sp>
        <p:nvSpPr>
          <p:cNvPr id="18" name="Rectangle 17"/>
          <p:cNvSpPr/>
          <p:nvPr/>
        </p:nvSpPr>
        <p:spPr>
          <a:xfrm>
            <a:off x="566928" y="3913632"/>
            <a:ext cx="8010144"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23360"/>
            <a:ext cx="7680960" cy="557784"/>
          </a:xfrm>
          <a:prstGeom prst="rect">
            <a:avLst/>
          </a:prstGeom>
          <a:noFill/>
        </p:spPr>
        <p:txBody>
          <a:bodyPr wrap="square" anchor="t" lIns="0" rIns="0" tIns="0" bIns="0">
            <a:spAutoFit/>
          </a:bodyPr>
          <a:lstStyle/>
          <a:p>
            <a:pPr algn="l">
              <a:lnSpc>
                <a:spcPct val="135000"/>
              </a:lnSpc>
            </a:pPr>
            <a:r>
              <a:rPr sz="1250" b="0">
                <a:solidFill>
                  <a:srgbClr val="000000"/>
                </a:solidFill>
                <a:latin typeface="Source Han Sans SC"/>
              </a:rPr>
              <a:t>...stop. How many seconds did that compile take?</a:t>
            </a:r>
          </a:p>
          <a:p>
            <a:pPr algn="l">
              <a:lnSpc>
                <a:spcPct val="135000"/>
              </a:lnSpc>
            </a:pPr>
            <a:r>
              <a:rPr sz="1250" b="0">
                <a:solidFill>
                  <a:srgbClr val="000000"/>
                </a:solidFill>
                <a:latin typeface="Source Han Sans SC"/>
              </a:rPr>
              <a:t>The reinforcement you called in is already compiled — that's the second reason to call in help.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06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Every Project Has Its Own Tool Room</a:t>
            </a:r>
          </a:p>
        </p:txBody>
      </p:sp>
      <p:sp>
        <p:nvSpPr>
          <p:cNvPr id="6" name="Rectangle 5"/>
          <p:cNvSpPr/>
          <p:nvPr/>
        </p:nvSpPr>
        <p:spPr>
          <a:xfrm>
            <a:off x="566928" y="1417320"/>
            <a:ext cx="3703320" cy="1645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54480"/>
            <a:ext cx="3264408" cy="2743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THE TOMATO CLOCK PROJECT</a:t>
            </a:r>
          </a:p>
        </p:txBody>
      </p:sp>
      <p:sp>
        <p:nvSpPr>
          <p:cNvPr id="8" name="TextBox 7"/>
          <p:cNvSpPr txBox="1"/>
          <p:nvPr/>
        </p:nvSpPr>
        <p:spPr>
          <a:xfrm>
            <a:off x="786384" y="1965960"/>
            <a:ext cx="3264408" cy="73152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the library it called in lives here</a:t>
            </a:r>
          </a:p>
        </p:txBody>
      </p:sp>
      <p:sp>
        <p:nvSpPr>
          <p:cNvPr id="9" name="Rectangle 8"/>
          <p:cNvSpPr/>
          <p:nvPr/>
        </p:nvSpPr>
        <p:spPr>
          <a:xfrm>
            <a:off x="4361688" y="1417320"/>
            <a:ext cx="164592" cy="1645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99432" y="1417320"/>
            <a:ext cx="3703320" cy="1645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18888" y="1554480"/>
            <a:ext cx="3264408" cy="2743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MY PROJECT</a:t>
            </a:r>
          </a:p>
        </p:txBody>
      </p:sp>
      <p:sp>
        <p:nvSpPr>
          <p:cNvPr id="12" name="TextBox 11"/>
          <p:cNvSpPr txBox="1"/>
          <p:nvPr/>
        </p:nvSpPr>
        <p:spPr>
          <a:xfrm>
            <a:off x="4818888" y="1965960"/>
            <a:ext cx="3264408" cy="731520"/>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the library it called in lives here</a:t>
            </a:r>
          </a:p>
        </p:txBody>
      </p:sp>
      <p:sp>
        <p:nvSpPr>
          <p:cNvPr id="13" name="TextBox 12"/>
          <p:cNvSpPr txBox="1"/>
          <p:nvPr/>
        </p:nvSpPr>
        <p:spPr>
          <a:xfrm>
            <a:off x="566928" y="3749039"/>
            <a:ext cx="8010144" cy="685800"/>
          </a:xfrm>
          <a:prstGeom prst="rect">
            <a:avLst/>
          </a:prstGeom>
          <a:noFill/>
        </p:spPr>
        <p:txBody>
          <a:bodyPr wrap="square" anchor="t" lIns="0" rIns="0" tIns="0" bIns="0">
            <a:spAutoFit/>
          </a:bodyPr>
          <a:lstStyle/>
          <a:p>
            <a:pPr algn="ctr">
              <a:lnSpc>
                <a:spcPct val="100000"/>
              </a:lnSpc>
            </a:pPr>
            <a:r>
              <a:rPr sz="1350" b="1">
                <a:solidFill>
                  <a:srgbClr val="000000"/>
                </a:solidFill>
                <a:latin typeface="Source Han Sans SC"/>
              </a:rPr>
              <a:t>One room on fire doesn't burn the next one — each in its own room, they don't fight.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07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Importing Is a Trade-off Decision — Not a Default Move</a:t>
            </a:r>
          </a:p>
        </p:txBody>
      </p:sp>
      <p:sp>
        <p:nvSpPr>
          <p:cNvPr id="6" name="Rectangle 5"/>
          <p:cNvSpPr/>
          <p:nvPr/>
        </p:nvSpPr>
        <p:spPr>
          <a:xfrm>
            <a:off x="566928" y="1325880"/>
            <a:ext cx="8010144" cy="713232"/>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417320"/>
            <a:ext cx="7571231" cy="256032"/>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A COMPLEX SENSOR</a:t>
            </a:r>
          </a:p>
        </p:txBody>
      </p:sp>
      <p:sp>
        <p:nvSpPr>
          <p:cNvPr id="8" name="TextBox 7"/>
          <p:cNvSpPr txBox="1"/>
          <p:nvPr/>
        </p:nvSpPr>
        <p:spPr>
          <a:xfrm>
            <a:off x="786384" y="1719072"/>
            <a:ext cx="7571231" cy="274320"/>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writing the driver yourself is a hundred lines — IMPORT IT</a:t>
            </a:r>
          </a:p>
        </p:txBody>
      </p:sp>
      <p:sp>
        <p:nvSpPr>
          <p:cNvPr id="9" name="Rectangle 8"/>
          <p:cNvSpPr/>
          <p:nvPr/>
        </p:nvSpPr>
        <p:spPr>
          <a:xfrm>
            <a:off x="566928" y="2148840"/>
            <a:ext cx="8010144" cy="713232"/>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240280"/>
            <a:ext cx="7571231" cy="256032"/>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A LIGHT THAT BLINKS THREE TIMES</a:t>
            </a:r>
          </a:p>
        </p:txBody>
      </p:sp>
      <p:sp>
        <p:nvSpPr>
          <p:cNvPr id="11" name="TextBox 10"/>
          <p:cNvSpPr txBox="1"/>
          <p:nvPr/>
        </p:nvSpPr>
        <p:spPr>
          <a:xfrm>
            <a:off x="786384" y="2542032"/>
            <a:ext cx="7571231" cy="274320"/>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three lines does it — DON'T go hunting for a "blink library"</a:t>
            </a:r>
          </a:p>
        </p:txBody>
      </p:sp>
      <p:sp>
        <p:nvSpPr>
          <p:cNvPr id="12" name="TextBox 11"/>
          <p:cNvSpPr txBox="1"/>
          <p:nvPr/>
        </p:nvSpPr>
        <p:spPr>
          <a:xfrm>
            <a:off x="566928" y="3063240"/>
            <a:ext cx="8010144" cy="502920"/>
          </a:xfrm>
          <a:prstGeom prst="rect">
            <a:avLst/>
          </a:prstGeom>
          <a:noFill/>
        </p:spPr>
        <p:txBody>
          <a:bodyPr wrap="square" anchor="t" lIns="0" rIns="0" tIns="0" bIns="0">
            <a:spAutoFit/>
          </a:bodyPr>
          <a:lstStyle/>
          <a:p>
            <a:pPr algn="l">
              <a:lnSpc>
                <a:spcPct val="130000"/>
              </a:lnSpc>
            </a:pPr>
            <a:r>
              <a:rPr sz="1400" b="1">
                <a:solidFill>
                  <a:srgbClr val="000000"/>
                </a:solidFill>
                <a:latin typeface="Source Han Sans SC"/>
              </a:rPr>
              <a:t>1) IS IT CORE?    2) CAN WE GET IT WORKING TODAY?    3) WHAT IF WE DON'T?</a:t>
            </a:r>
          </a:p>
        </p:txBody>
      </p:sp>
      <p:sp>
        <p:nvSpPr>
          <p:cNvPr id="13" name="Rectangle 12"/>
          <p:cNvSpPr/>
          <p:nvPr/>
        </p:nvSpPr>
        <p:spPr>
          <a:xfrm>
            <a:off x="566928" y="3822191"/>
            <a:ext cx="64008" cy="713232"/>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3931920"/>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877055"/>
            <a:ext cx="7507223" cy="320040"/>
          </a:xfrm>
          <a:prstGeom prst="rect">
            <a:avLst/>
          </a:prstGeom>
          <a:noFill/>
        </p:spPr>
        <p:txBody>
          <a:bodyPr wrap="square" anchor="t" lIns="0" rIns="0" tIns="0" bIns="0">
            <a:spAutoFit/>
          </a:bodyPr>
          <a:lstStyle/>
          <a:p>
            <a:pPr algn="l">
              <a:lnSpc>
                <a:spcPct val="100000"/>
              </a:lnSpc>
            </a:pPr>
            <a:r>
              <a:rPr sz="1900" b="1">
                <a:solidFill>
                  <a:srgbClr val="000000"/>
                </a:solidFill>
                <a:latin typeface="Source Han Sans SC"/>
              </a:rPr>
              <a:t>PICK EXACTLY ONE</a:t>
            </a:r>
          </a:p>
        </p:txBody>
      </p:sp>
      <p:sp>
        <p:nvSpPr>
          <p:cNvPr id="16" name="TextBox 15"/>
          <p:cNvSpPr txBox="1"/>
          <p:nvPr/>
        </p:nvSpPr>
        <p:spPr>
          <a:xfrm>
            <a:off x="932688" y="4206240"/>
            <a:ext cx="7507223" cy="256032"/>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three picks gets sent 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08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Let AI Be Your Selection Advisor</a:t>
            </a:r>
          </a:p>
        </p:txBody>
      </p:sp>
      <p:sp>
        <p:nvSpPr>
          <p:cNvPr id="6" name="Rectangle 5"/>
          <p:cNvSpPr/>
          <p:nvPr/>
        </p:nvSpPr>
        <p:spPr>
          <a:xfrm>
            <a:off x="566928" y="1298448"/>
            <a:ext cx="8010144" cy="21488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389888"/>
            <a:ext cx="7717536" cy="1965960"/>
          </a:xfrm>
          <a:prstGeom prst="rect">
            <a:avLst/>
          </a:prstGeom>
          <a:noFill/>
        </p:spPr>
        <p:txBody>
          <a:bodyPr wrap="square" anchor="t" lIns="0" rIns="0" tIns="0" bIns="0">
            <a:spAutoFit/>
          </a:bodyPr>
          <a:lstStyle/>
          <a:p>
            <a:pPr algn="l">
              <a:lnSpc>
                <a:spcPct val="135000"/>
              </a:lnSpc>
            </a:pPr>
            <a:r>
              <a:rPr sz="1100" b="0">
                <a:solidFill>
                  <a:srgbClr val="000000"/>
                </a:solidFill>
                <a:latin typeface="Source Code Pro"/>
              </a:rPr>
              <a:t>This is my requirements sheet's core function: ______.</a:t>
            </a:r>
          </a:p>
          <a:p>
            <a:pPr algn="l">
              <a:lnSpc>
                <a:spcPct val="135000"/>
              </a:lnSpc>
            </a:pPr>
            <a:r>
              <a:rPr sz="1100" b="0">
                <a:solidFill>
                  <a:srgbClr val="000000"/>
                </a:solidFill>
                <a:latin typeface="Source Code Pro"/>
              </a:rPr>
              <a:t>The board I'm using: ______.</a:t>
            </a:r>
          </a:p>
          <a:p>
            <a:pPr algn="l">
              <a:lnSpc>
                <a:spcPct val="135000"/>
              </a:lnSpc>
            </a:pPr>
            <a:r>
              <a:rPr sz="1100" b="0">
                <a:solidFill>
                  <a:srgbClr val="000000"/>
                </a:solidFill>
                <a:latin typeface="Source Code Pro"/>
              </a:rPr>
              <a:t>Be my selection advisor: recommend 3 external libraries that might help,</a:t>
            </a:r>
          </a:p>
          <a:p>
            <a:pPr algn="l">
              <a:lnSpc>
                <a:spcPct val="135000"/>
              </a:lnSpc>
            </a:pPr>
            <a:r>
              <a:rPr sz="1100" b="0">
                <a:solidFill>
                  <a:srgbClr val="000000"/>
                </a:solidFill>
                <a:latin typeface="Source Code Pro"/>
              </a:rPr>
              <a:t>one line each — what it does and why it fits me — ranked by fit.</a:t>
            </a:r>
          </a:p>
          <a:p>
            <a:pPr algn="l">
              <a:lnSpc>
                <a:spcPct val="135000"/>
              </a:lnSpc>
            </a:pPr>
            <a:r>
              <a:rPr sz="1100" b="0">
                <a:solidFill>
                  <a:srgbClr val="000000"/>
                </a:solidFill>
                <a:latin typeface="Source Code Pro"/>
              </a:rPr>
              <a:t>Reminder: only recommend libraries that really exist and support my board.</a:t>
            </a:r>
          </a:p>
        </p:txBody>
      </p:sp>
      <p:sp>
        <p:nvSpPr>
          <p:cNvPr id="8" name="Rectangle 7"/>
          <p:cNvSpPr/>
          <p:nvPr/>
        </p:nvSpPr>
        <p:spPr>
          <a:xfrm>
            <a:off x="566928" y="3611880"/>
            <a:ext cx="8010144" cy="7498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721608"/>
            <a:ext cx="7680960" cy="530352"/>
          </a:xfrm>
          <a:prstGeom prst="rect">
            <a:avLst/>
          </a:prstGeom>
          <a:noFill/>
        </p:spPr>
        <p:txBody>
          <a:bodyPr wrap="square" anchor="t" lIns="0" rIns="0" tIns="0" bIns="0">
            <a:spAutoFit/>
          </a:bodyPr>
          <a:lstStyle/>
          <a:p>
            <a:pPr algn="l">
              <a:lnSpc>
                <a:spcPct val="135000"/>
              </a:lnSpc>
            </a:pPr>
            <a:r>
              <a:rPr sz="1200" b="0">
                <a:solidFill>
                  <a:srgbClr val="000000"/>
                </a:solidFill>
                <a:latin typeface="Source Han Sans SC"/>
              </a:rPr>
              <a:t>It lists candidates — YOU pick exactly one.</a:t>
            </a:r>
          </a:p>
          <a:p>
            <a:pPr algn="l">
              <a:lnSpc>
                <a:spcPct val="135000"/>
              </a:lnSpc>
            </a:pPr>
            <a:r>
              <a:rPr sz="1200" b="0">
                <a:solidFill>
                  <a:srgbClr val="000000"/>
                </a:solidFill>
                <a:latin typeface="Source Han Sans SC"/>
              </a:rPr>
              <a:t>AI will confidently invent libraries; the hardware store only stocks real ones.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09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600" b="1">
                <a:solidFill>
                  <a:srgbClr val="000000"/>
                </a:solidFill>
                <a:latin typeface="Source Han Sans SC"/>
              </a:rPr>
              <a:t>Example Code Is Not Your Feature</a:t>
            </a:r>
          </a:p>
        </p:txBody>
      </p:sp>
      <p:sp>
        <p:nvSpPr>
          <p:cNvPr id="6" name="TextBox 5"/>
          <p:cNvSpPr txBox="1"/>
          <p:nvPr/>
        </p:nvSpPr>
        <p:spPr>
          <a:xfrm>
            <a:off x="566928" y="1298448"/>
            <a:ext cx="8010144" cy="320040"/>
          </a:xfrm>
          <a:prstGeom prst="rect">
            <a:avLst/>
          </a:prstGeom>
          <a:noFill/>
        </p:spPr>
        <p:txBody>
          <a:bodyPr wrap="square" anchor="t" lIns="0" rIns="0" tIns="0" bIns="0">
            <a:spAutoFit/>
          </a:bodyPr>
          <a:lstStyle/>
          <a:p>
            <a:pPr algn="ctr">
              <a:lnSpc>
                <a:spcPct val="100000"/>
              </a:lnSpc>
            </a:pPr>
            <a:r>
              <a:rPr sz="1250" b="1">
                <a:solidFill>
                  <a:srgbClr val="000000"/>
                </a:solidFill>
                <a:latin typeface="Source Han Sans SC"/>
              </a:rPr>
              <a:t>THE EXAMPLE = "here's what this library can do"    YOUR FEATURE = "my core function"</a:t>
            </a:r>
          </a:p>
        </p:txBody>
      </p:sp>
      <p:sp>
        <p:nvSpPr>
          <p:cNvPr id="7" name="Rectangle 6"/>
          <p:cNvSpPr/>
          <p:nvPr/>
        </p:nvSpPr>
        <p:spPr>
          <a:xfrm>
            <a:off x="676656" y="1783080"/>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810512"/>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1097280" y="1819656"/>
            <a:ext cx="7132320" cy="420624"/>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Ask AI: "what is this code doing?" — your translator, built for code that wasn't written for you</a:t>
            </a:r>
          </a:p>
        </p:txBody>
      </p:sp>
      <p:sp>
        <p:nvSpPr>
          <p:cNvPr id="10" name="Rectangle 9"/>
          <p:cNvSpPr/>
          <p:nvPr/>
        </p:nvSpPr>
        <p:spPr>
          <a:xfrm>
            <a:off x="676656" y="2331720"/>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2359151"/>
            <a:ext cx="310896"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2" name="TextBox 11"/>
          <p:cNvSpPr txBox="1"/>
          <p:nvPr/>
        </p:nvSpPr>
        <p:spPr>
          <a:xfrm>
            <a:off x="1097280" y="2368296"/>
            <a:ext cx="7132320" cy="420624"/>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Have AI reshape it to your need — one minimal change at a time</a:t>
            </a:r>
          </a:p>
        </p:txBody>
      </p:sp>
      <p:sp>
        <p:nvSpPr>
          <p:cNvPr id="13" name="Rectangle 12"/>
          <p:cNvSpPr/>
          <p:nvPr/>
        </p:nvSpPr>
        <p:spPr>
          <a:xfrm>
            <a:off x="566928" y="2880360"/>
            <a:ext cx="8010144" cy="114300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971800"/>
            <a:ext cx="7717536" cy="960120"/>
          </a:xfrm>
          <a:prstGeom prst="rect">
            <a:avLst/>
          </a:prstGeom>
          <a:noFill/>
        </p:spPr>
        <p:txBody>
          <a:bodyPr wrap="square" anchor="t" lIns="0" rIns="0" tIns="0" bIns="0">
            <a:spAutoFit/>
          </a:bodyPr>
          <a:lstStyle/>
          <a:p>
            <a:pPr algn="l">
              <a:lnSpc>
                <a:spcPct val="135000"/>
              </a:lnSpc>
            </a:pPr>
            <a:r>
              <a:rPr sz="1050" b="0">
                <a:solidFill>
                  <a:srgbClr val="000000"/>
                </a:solidFill>
                <a:latin typeface="Source Code Pro"/>
              </a:rPr>
              <a:t>Building on our last round: I installed the library ______; its example</a:t>
            </a:r>
          </a:p>
          <a:p>
            <a:pPr algn="l">
              <a:lnSpc>
                <a:spcPct val="135000"/>
              </a:lnSpc>
            </a:pPr>
            <a:r>
              <a:rPr sz="1050" b="0">
                <a:solidFill>
                  <a:srgbClr val="000000"/>
                </a:solidFill>
                <a:latin typeface="Source Code Pro"/>
              </a:rPr>
              <a:t>can ___ (one line).</a:t>
            </a:r>
          </a:p>
          <a:p>
            <a:pPr algn="l">
              <a:lnSpc>
                <a:spcPct val="135000"/>
              </a:lnSpc>
            </a:pPr>
            <a:r>
              <a:rPr sz="1050" b="0">
                <a:solidFill>
                  <a:srgbClr val="000000"/>
                </a:solidFill>
                <a:latin typeface="Source Code Pro"/>
              </a:rPr>
              <a:t>My core function is: ______.</a:t>
            </a:r>
          </a:p>
          <a:p>
            <a:pPr algn="l">
              <a:lnSpc>
                <a:spcPct val="135000"/>
              </a:lnSpc>
            </a:pPr>
            <a:r>
              <a:rPr sz="1050" b="0">
                <a:solidFill>
                  <a:srgbClr val="000000"/>
                </a:solidFill>
                <a:latin typeface="Source Code Pro"/>
              </a:rPr>
              <a:t>Reshape the example into my feature: change only the smallest piece first —</a:t>
            </a:r>
          </a:p>
          <a:p>
            <a:pPr algn="l">
              <a:lnSpc>
                <a:spcPct val="135000"/>
              </a:lnSpc>
            </a:pPr>
            <a:r>
              <a:rPr sz="1050" b="0">
                <a:solidFill>
                  <a:srgbClr val="000000"/>
                </a:solidFill>
                <a:latin typeface="Source Code Pro"/>
              </a:rPr>
              <a:t>let it run, then I'll ask for the next piece.</a:t>
            </a:r>
          </a:p>
        </p:txBody>
      </p:sp>
      <p:sp>
        <p:nvSpPr>
          <p:cNvPr id="15" name="Rectangle 14"/>
          <p:cNvSpPr/>
          <p:nvPr/>
        </p:nvSpPr>
        <p:spPr>
          <a:xfrm>
            <a:off x="566928" y="4187952"/>
            <a:ext cx="8010144" cy="53035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80"/>
            <a:ext cx="7680960" cy="310896"/>
          </a:xfrm>
          <a:prstGeom prst="rect">
            <a:avLst/>
          </a:prstGeom>
          <a:noFill/>
        </p:spPr>
        <p:txBody>
          <a:bodyPr wrap="square" anchor="t" lIns="0" rIns="0" tIns="0" bIns="0">
            <a:spAutoFit/>
          </a:bodyPr>
          <a:lstStyle/>
          <a:p>
            <a:pPr algn="l">
              <a:lnSpc>
                <a:spcPct val="125000"/>
              </a:lnSpc>
            </a:pPr>
            <a:r>
              <a:rPr sz="1150" b="0">
                <a:solidFill>
                  <a:srgbClr val="000000"/>
                </a:solidFill>
                <a:latin typeface="Source Han Sans SC"/>
              </a:rPr>
              <a:t>THE BAR: installed + example runs. If you don't finish the wiring, it moves into the build block — that's fine.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10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One Line Each</a:t>
            </a:r>
          </a:p>
        </p:txBody>
      </p:sp>
      <p:sp>
        <p:nvSpPr>
          <p:cNvPr id="6" name="Rectangle 5"/>
          <p:cNvSpPr/>
          <p:nvPr/>
        </p:nvSpPr>
        <p:spPr>
          <a:xfrm>
            <a:off x="566928" y="1417320"/>
            <a:ext cx="3840480" cy="21945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600200"/>
            <a:ext cx="3401568" cy="777240"/>
          </a:xfrm>
          <a:prstGeom prst="rect">
            <a:avLst/>
          </a:prstGeom>
          <a:noFill/>
        </p:spPr>
        <p:txBody>
          <a:bodyPr wrap="square" anchor="ctr" lIns="0" rIns="0" tIns="0" bIns="0">
            <a:spAutoFit/>
          </a:bodyPr>
          <a:lstStyle/>
          <a:p>
            <a:pPr algn="ctr">
              <a:lnSpc>
                <a:spcPct val="100000"/>
              </a:lnSpc>
            </a:pPr>
            <a:r>
              <a:rPr sz="1400" b="1">
                <a:solidFill>
                  <a:srgbClr val="000000"/>
                </a:solidFill>
                <a:latin typeface="Source Han Sans SC"/>
              </a:rPr>
              <a:t>WHAT I IMPORTED — AND WHAT IT SAVED ME</a:t>
            </a:r>
          </a:p>
        </p:txBody>
      </p:sp>
      <p:sp>
        <p:nvSpPr>
          <p:cNvPr id="8" name="Rectangle 7"/>
          <p:cNvSpPr/>
          <p:nvPr/>
        </p:nvSpPr>
        <p:spPr>
          <a:xfrm>
            <a:off x="4736592" y="1417320"/>
            <a:ext cx="3840480" cy="2194560"/>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56048" y="1600200"/>
            <a:ext cx="3401568" cy="777240"/>
          </a:xfrm>
          <a:prstGeom prst="rect">
            <a:avLst/>
          </a:prstGeom>
          <a:noFill/>
        </p:spPr>
        <p:txBody>
          <a:bodyPr wrap="square" anchor="ctr" lIns="0" rIns="0" tIns="0" bIns="0">
            <a:spAutoFit/>
          </a:bodyPr>
          <a:lstStyle/>
          <a:p>
            <a:pPr algn="ctr">
              <a:lnSpc>
                <a:spcPct val="100000"/>
              </a:lnSpc>
            </a:pPr>
            <a:r>
              <a:rPr sz="1400" b="1">
                <a:solidFill>
                  <a:srgbClr val="000000"/>
                </a:solidFill>
                <a:latin typeface="Source Han Sans SC"/>
              </a:rPr>
              <a:t>WHY I DIDN'T — SAME APPLAUSE</a:t>
            </a:r>
          </a:p>
        </p:txBody>
      </p:sp>
      <p:sp>
        <p:nvSpPr>
          <p:cNvPr id="10" name="TextBox 9"/>
          <p:cNvSpPr txBox="1"/>
          <p:nvPr/>
        </p:nvSpPr>
        <p:spPr>
          <a:xfrm>
            <a:off x="566928" y="3931920"/>
            <a:ext cx="8010144" cy="411480"/>
          </a:xfrm>
          <a:prstGeom prst="rect">
            <a:avLst/>
          </a:prstGeom>
          <a:noFill/>
        </p:spPr>
        <p:txBody>
          <a:bodyPr wrap="square" anchor="t" lIns="0" rIns="0" tIns="0" bIns="0">
            <a:spAutoFit/>
          </a:bodyPr>
          <a:lstStyle/>
          <a:p>
            <a:pPr algn="ctr">
              <a:lnSpc>
                <a:spcPct val="100000"/>
              </a:lnSpc>
            </a:pPr>
            <a:r>
              <a:rPr sz="1150" b="0">
                <a:solidFill>
                  <a:srgbClr val="000000"/>
                </a:solidFill>
                <a:latin typeface="Source Han Sans SC"/>
              </a:rPr>
              <a:t>Big class: desk-pairs report to each other; the teacher calls a few to the whole room.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11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Help Isn't Only Code — an MVP Has Two Faces</a:t>
            </a:r>
          </a:p>
        </p:txBody>
      </p:sp>
      <p:sp>
        <p:nvSpPr>
          <p:cNvPr id="6" name="Rectangle 5"/>
          <p:cNvSpPr/>
          <p:nvPr/>
        </p:nvSpPr>
        <p:spPr>
          <a:xfrm>
            <a:off x="566928" y="1417320"/>
            <a:ext cx="3840480" cy="21031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72768"/>
            <a:ext cx="3401568" cy="32004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IT WORKS (the inside)</a:t>
            </a:r>
          </a:p>
        </p:txBody>
      </p:sp>
      <p:sp>
        <p:nvSpPr>
          <p:cNvPr id="8" name="TextBox 7"/>
          <p:cNvSpPr txBox="1"/>
          <p:nvPr/>
        </p:nvSpPr>
        <p:spPr>
          <a:xfrm>
            <a:off x="786384" y="2057400"/>
            <a:ext cx="3401568" cy="960120"/>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the function runs — loose parts and a nest of wires</a:t>
            </a:r>
          </a:p>
        </p:txBody>
      </p:sp>
      <p:sp>
        <p:nvSpPr>
          <p:cNvPr id="9" name="Rectangle 8"/>
          <p:cNvSpPr/>
          <p:nvPr/>
        </p:nvSpPr>
        <p:spPr>
          <a:xfrm>
            <a:off x="4736592" y="1417320"/>
            <a:ext cx="3840480" cy="2103120"/>
          </a:xfrm>
          <a:prstGeom prst="rect">
            <a:avLst/>
          </a:prstGeom>
          <a:solidFill>
            <a:srgbClr val="F3D2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56048" y="1572768"/>
            <a:ext cx="3401568" cy="50292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IT LOOKS LIKE SOMETHING (the outside)</a:t>
            </a:r>
          </a:p>
        </p:txBody>
      </p:sp>
      <p:sp>
        <p:nvSpPr>
          <p:cNvPr id="11" name="TextBox 10"/>
          <p:cNvSpPr txBox="1"/>
          <p:nvPr/>
        </p:nvSpPr>
        <p:spPr>
          <a:xfrm>
            <a:off x="4956048" y="2240280"/>
            <a:ext cx="3401568" cy="777240"/>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you can tell what it is at a glance — and you'd dare to touch it</a:t>
            </a:r>
          </a:p>
        </p:txBody>
      </p:sp>
      <p:sp>
        <p:nvSpPr>
          <p:cNvPr id="12" name="TextBox 11"/>
          <p:cNvSpPr txBox="1"/>
          <p:nvPr/>
        </p:nvSpPr>
        <p:spPr>
          <a:xfrm>
            <a:off x="566928" y="3886200"/>
            <a:ext cx="8010144" cy="640080"/>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On demo day, people see the outside first — then they get to the inside. Trash is the hardware store for looks.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12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Four Moves</a:t>
            </a:r>
          </a:p>
        </p:txBody>
      </p:sp>
      <p:sp>
        <p:nvSpPr>
          <p:cNvPr id="6" name="Rectangle 5"/>
          <p:cNvSpPr/>
          <p:nvPr/>
        </p:nvSpPr>
        <p:spPr>
          <a:xfrm>
            <a:off x="566928" y="1371600"/>
            <a:ext cx="3794760" cy="13258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4944" y="1499616"/>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527048"/>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1078992" y="1481328"/>
            <a:ext cx="3063240" cy="274320"/>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GIVE IT A SHELL</a:t>
            </a:r>
          </a:p>
        </p:txBody>
      </p:sp>
      <p:sp>
        <p:nvSpPr>
          <p:cNvPr id="10" name="TextBox 9"/>
          <p:cNvSpPr txBox="1"/>
          <p:nvPr/>
        </p:nvSpPr>
        <p:spPr>
          <a:xfrm>
            <a:off x="1078992" y="1828800"/>
            <a:ext cx="3063240" cy="731520"/>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a cardboard box, a takeout box, an old toy shell; it is what it is, so make it look like what it is</a:t>
            </a:r>
          </a:p>
        </p:txBody>
      </p:sp>
      <p:sp>
        <p:nvSpPr>
          <p:cNvPr id="11" name="Rectangle 10"/>
          <p:cNvSpPr/>
          <p:nvPr/>
        </p:nvSpPr>
        <p:spPr>
          <a:xfrm>
            <a:off x="4782312" y="1371600"/>
            <a:ext cx="3794760" cy="13258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10328" y="1499616"/>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0328" y="1527048"/>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4" name="TextBox 13"/>
          <p:cNvSpPr txBox="1"/>
          <p:nvPr/>
        </p:nvSpPr>
        <p:spPr>
          <a:xfrm>
            <a:off x="5294376" y="1481328"/>
            <a:ext cx="3063240" cy="274320"/>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HOLD IT STILL</a:t>
            </a:r>
          </a:p>
        </p:txBody>
      </p:sp>
      <p:sp>
        <p:nvSpPr>
          <p:cNvPr id="15" name="TextBox 14"/>
          <p:cNvSpPr txBox="1"/>
          <p:nvPr/>
        </p:nvSpPr>
        <p:spPr>
          <a:xfrm>
            <a:off x="5294376" y="1828800"/>
            <a:ext cx="3063240" cy="731520"/>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tape, rubber bands, zip ties; wires don't dangle, demos don't wobble</a:t>
            </a:r>
          </a:p>
        </p:txBody>
      </p:sp>
      <p:sp>
        <p:nvSpPr>
          <p:cNvPr id="16" name="Rectangle 15"/>
          <p:cNvSpPr/>
          <p:nvPr/>
        </p:nvSpPr>
        <p:spPr>
          <a:xfrm>
            <a:off x="566928" y="2880360"/>
            <a:ext cx="3794760" cy="13258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3008376"/>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3035808"/>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9" name="TextBox 18"/>
          <p:cNvSpPr txBox="1"/>
          <p:nvPr/>
        </p:nvSpPr>
        <p:spPr>
          <a:xfrm>
            <a:off x="1078992" y="2990088"/>
            <a:ext cx="3063240" cy="274320"/>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LABEL IT</a:t>
            </a:r>
          </a:p>
        </p:txBody>
      </p:sp>
      <p:sp>
        <p:nvSpPr>
          <p:cNvPr id="20" name="TextBox 19"/>
          <p:cNvSpPr txBox="1"/>
          <p:nvPr/>
        </p:nvSpPr>
        <p:spPr>
          <a:xfrm>
            <a:off x="1078992" y="3337560"/>
            <a:ext cx="3063240" cy="731520"/>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marker the button names, tape an arrow; someone can touch it without reading a manual</a:t>
            </a:r>
          </a:p>
        </p:txBody>
      </p:sp>
      <p:sp>
        <p:nvSpPr>
          <p:cNvPr id="21" name="Rectangle 20"/>
          <p:cNvSpPr/>
          <p:nvPr/>
        </p:nvSpPr>
        <p:spPr>
          <a:xfrm>
            <a:off x="4782312" y="2880360"/>
            <a:ext cx="3794760" cy="13258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10328" y="3008376"/>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3035808"/>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24" name="TextBox 23"/>
          <p:cNvSpPr txBox="1"/>
          <p:nvPr/>
        </p:nvSpPr>
        <p:spPr>
          <a:xfrm>
            <a:off x="5294376" y="2990088"/>
            <a:ext cx="3063240" cy="274320"/>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HIDE THE MESS</a:t>
            </a:r>
          </a:p>
        </p:txBody>
      </p:sp>
      <p:sp>
        <p:nvSpPr>
          <p:cNvPr id="25" name="TextBox 24"/>
          <p:cNvSpPr txBox="1"/>
          <p:nvPr/>
        </p:nvSpPr>
        <p:spPr>
          <a:xfrm>
            <a:off x="5294376" y="3337560"/>
            <a:ext cx="3063240" cy="731520"/>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tuck the wiring into the box; only the "face" shows</a:t>
            </a:r>
          </a:p>
        </p:txBody>
      </p:sp>
      <p:sp>
        <p:nvSpPr>
          <p:cNvPr id="26" name="Rectangle 25"/>
          <p:cNvSpPr/>
          <p:nvPr/>
        </p:nvSpPr>
        <p:spPr>
          <a:xfrm>
            <a:off x="566928" y="4160520"/>
            <a:ext cx="8010144" cy="60350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270248"/>
            <a:ext cx="7680960" cy="384048"/>
          </a:xfrm>
          <a:prstGeom prst="rect">
            <a:avLst/>
          </a:prstGeom>
          <a:noFill/>
        </p:spPr>
        <p:txBody>
          <a:bodyPr wrap="square" anchor="t" lIns="0" rIns="0" tIns="0" bIns="0">
            <a:spAutoFit/>
          </a:bodyPr>
          <a:lstStyle/>
          <a:p>
            <a:pPr algn="l">
              <a:lnSpc>
                <a:spcPct val="130000"/>
              </a:lnSpc>
            </a:pPr>
            <a:r>
              <a:rPr sz="1000" b="0">
                <a:solidFill>
                  <a:srgbClr val="000000"/>
                </a:solidFill>
                <a:latin typeface="Source Han Sans SC"/>
              </a:rPr>
              <a:t>LOOKS SERVE THE DEMO — it exists for a 30-second demonstration. Looks take no more than a third of your build time; if you disappear into it, the teacher pulls you back.</a:t>
            </a:r>
          </a:p>
          <a:p>
            <a:pPr algn="l">
              <a:lnSpc>
                <a:spcPct val="130000"/>
              </a:lnSpc>
            </a:pPr>
            <a:r>
              <a:rPr sz="1000" b="0">
                <a:solidFill>
                  <a:srgbClr val="000000"/>
                </a:solidFill>
                <a:latin typeface="Source Han Sans SC"/>
              </a:rPr>
              <a:t>Scissors and knives live with the teacher — take them on demand, return when done.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13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The Materials Wall — Pick, Don't Buy</a:t>
            </a:r>
          </a:p>
        </p:txBody>
      </p:sp>
      <p:pic>
        <p:nvPicPr>
          <p:cNvPr id="6" name="Picture 5" descr="L9_插图_就地取材材料墙.png"/>
          <p:cNvPicPr>
            <a:picLocks noChangeAspect="1"/>
          </p:cNvPicPr>
          <p:nvPr/>
        </p:nvPicPr>
        <p:blipFill>
          <a:blip r:embed="rId2"/>
          <a:stretch>
            <a:fillRect/>
          </a:stretch>
        </p:blipFill>
        <p:spPr>
          <a:xfrm>
            <a:off x="1097280" y="1325880"/>
            <a:ext cx="6949440" cy="2606040"/>
          </a:xfrm>
          <a:prstGeom prst="rect">
            <a:avLst/>
          </a:prstGeom>
        </p:spPr>
      </p:pic>
      <p:sp>
        <p:nvSpPr>
          <p:cNvPr id="7" name="Rectangle 6"/>
          <p:cNvSpPr/>
          <p:nvPr/>
        </p:nvSpPr>
        <p:spPr>
          <a:xfrm>
            <a:off x="566928" y="4069080"/>
            <a:ext cx="801014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178808"/>
            <a:ext cx="7680960" cy="347472"/>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FIND MATERIAL | BUILD THE STRUCTURE | ADD THE LOOK | READY TO DEMO</a:t>
            </a:r>
          </a:p>
        </p:txBody>
      </p:sp>
      <p:sp>
        <p:nvSpPr>
          <p:cNvPr id="9" name="TextBox 8"/>
          <p:cNvSpPr txBox="1"/>
          <p:nvPr/>
        </p:nvSpPr>
        <p:spPr>
          <a:xfrm>
            <a:off x="566928" y="4663440"/>
            <a:ext cx="8010144" cy="137160"/>
          </a:xfrm>
          <a:prstGeom prst="rect">
            <a:avLst/>
          </a:prstGeom>
          <a:noFill/>
        </p:spPr>
        <p:txBody>
          <a:bodyPr wrap="square" anchor="t" lIns="0" rIns="0" tIns="0" bIns="0">
            <a:spAutoFit/>
          </a:bodyPr>
          <a:lstStyle/>
          <a:p>
            <a:pPr algn="ctr">
              <a:lnSpc>
                <a:spcPct val="100000"/>
              </a:lnSpc>
            </a:pPr>
            <a:r>
              <a:rPr sz="950" b="0">
                <a:solidFill>
                  <a:srgbClr val="000000"/>
                </a:solidFill>
                <a:latin typeface="Source Han Sans SC"/>
              </a:rPr>
              <a:t>Cardboard boxes · takeout boxes · bottle caps · old toy shells · tape · rubber bands · zip 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14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Leg-Two Stand-Up</a:t>
            </a:r>
          </a:p>
        </p:txBody>
      </p:sp>
      <p:sp>
        <p:nvSpPr>
          <p:cNvPr id="6" name="Rectangle 5"/>
          <p:cNvSpPr/>
          <p:nvPr/>
        </p:nvSpPr>
        <p:spPr>
          <a:xfrm>
            <a:off x="566928" y="1371600"/>
            <a:ext cx="8010144" cy="7315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481328"/>
            <a:ext cx="7571231" cy="50292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READ YOUR BATON SHEET — what did last leg say is the first thing this leg?</a:t>
            </a:r>
          </a:p>
        </p:txBody>
      </p:sp>
      <p:sp>
        <p:nvSpPr>
          <p:cNvPr id="8" name="Rectangle 7"/>
          <p:cNvSpPr/>
          <p:nvPr/>
        </p:nvSpPr>
        <p:spPr>
          <a:xfrm>
            <a:off x="566928" y="2286000"/>
            <a:ext cx="8010144" cy="71323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395728"/>
            <a:ext cx="7680960" cy="502920"/>
          </a:xfrm>
          <a:prstGeom prst="rect">
            <a:avLst/>
          </a:prstGeom>
          <a:noFill/>
        </p:spPr>
        <p:txBody>
          <a:bodyPr wrap="square" anchor="ctr" lIns="0" rIns="0" tIns="0" bIns="0">
            <a:spAutoFit/>
          </a:bodyPr>
          <a:lstStyle/>
          <a:p>
            <a:pPr algn="ctr">
              <a:lnSpc>
                <a:spcPct val="100000"/>
              </a:lnSpc>
            </a:pPr>
            <a:r>
              <a:rPr sz="1800" b="1">
                <a:solidFill>
                  <a:srgbClr val="000000"/>
                </a:solidFill>
                <a:latin typeface="Source Han Sans SC"/>
              </a:rPr>
              <a:t>"TODAY I'LL GET THE CORE FUNCTION TO ___."</a:t>
            </a:r>
          </a:p>
        </p:txBody>
      </p:sp>
      <p:sp>
        <p:nvSpPr>
          <p:cNvPr id="10" name="Rectangle 9"/>
          <p:cNvSpPr/>
          <p:nvPr/>
        </p:nvSpPr>
        <p:spPr>
          <a:xfrm>
            <a:off x="566928" y="3154680"/>
            <a:ext cx="8010144" cy="10972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3291840"/>
            <a:ext cx="7571231" cy="5029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"DONE" IS NOT EVERYTHING YOU CAN IMAGINE — it's the core function on your requirements sheet. Say it against the sheet; anything beyond it gets pulled back.</a:t>
            </a:r>
          </a:p>
        </p:txBody>
      </p:sp>
      <p:sp>
        <p:nvSpPr>
          <p:cNvPr id="12" name="TextBox 11"/>
          <p:cNvSpPr txBox="1"/>
          <p:nvPr/>
        </p:nvSpPr>
        <p:spPr>
          <a:xfrm>
            <a:off x="786384" y="3886200"/>
            <a:ext cx="7571231" cy="457200"/>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You may add half a sentence: "...and give it a (shell / label)" — no fit, skip it. Looks are optional; function is the required question.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15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Go — Rules as Leg One</a:t>
            </a:r>
          </a:p>
        </p:txBody>
      </p:sp>
      <p:sp>
        <p:nvSpPr>
          <p:cNvPr id="6" name="Rectangle 5"/>
          <p:cNvSpPr/>
          <p:nvPr/>
        </p:nvSpPr>
        <p:spPr>
          <a:xfrm>
            <a:off x="566928" y="1371600"/>
            <a:ext cx="8010144" cy="12344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08760"/>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536192"/>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1115568" y="1545336"/>
            <a:ext cx="7132320" cy="310896"/>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CHECK AGAINST YOUR REQUIREMENTS SHEET — change it, cross it out, don't delete</a:t>
            </a:r>
          </a:p>
        </p:txBody>
      </p:sp>
      <p:sp>
        <p:nvSpPr>
          <p:cNvPr id="10" name="Rectangle 9"/>
          <p:cNvSpPr/>
          <p:nvPr/>
        </p:nvSpPr>
        <p:spPr>
          <a:xfrm>
            <a:off x="713232" y="1856231"/>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883663"/>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2" name="TextBox 11"/>
          <p:cNvSpPr txBox="1"/>
          <p:nvPr/>
        </p:nvSpPr>
        <p:spPr>
          <a:xfrm>
            <a:off x="1115568" y="1892807"/>
            <a:ext cx="7132320" cy="310896"/>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15 MINUTES NO PROGRESS = RAISE YOUR HAND — stuck is no shame; grinding alone is</a:t>
            </a:r>
          </a:p>
        </p:txBody>
      </p:sp>
      <p:sp>
        <p:nvSpPr>
          <p:cNvPr id="13" name="Rectangle 12"/>
          <p:cNvSpPr/>
          <p:nvPr/>
        </p:nvSpPr>
        <p:spPr>
          <a:xfrm>
            <a:off x="713232" y="2203703"/>
            <a:ext cx="292608" cy="29260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231135"/>
            <a:ext cx="292608" cy="292608"/>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5" name="TextBox 14"/>
          <p:cNvSpPr txBox="1"/>
          <p:nvPr/>
        </p:nvSpPr>
        <p:spPr>
          <a:xfrm>
            <a:off x="1115568" y="2240279"/>
            <a:ext cx="7132320" cy="310896"/>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CODE QUESTIONS GO TO AI FIRST — one step at a time</a:t>
            </a:r>
          </a:p>
        </p:txBody>
      </p:sp>
      <p:sp>
        <p:nvSpPr>
          <p:cNvPr id="16" name="Rectangle 15"/>
          <p:cNvSpPr/>
          <p:nvPr/>
        </p:nvSpPr>
        <p:spPr>
          <a:xfrm>
            <a:off x="566928" y="2788920"/>
            <a:ext cx="8010144" cy="53035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98648"/>
            <a:ext cx="7680960" cy="310896"/>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aily unsure? Flip your two-views cheat sheet — it was written for today.</a:t>
            </a:r>
          </a:p>
        </p:txBody>
      </p:sp>
      <p:sp>
        <p:nvSpPr>
          <p:cNvPr id="18" name="Rectangle 17"/>
          <p:cNvSpPr/>
          <p:nvPr/>
        </p:nvSpPr>
        <p:spPr>
          <a:xfrm>
            <a:off x="566928" y="3429000"/>
            <a:ext cx="8010144" cy="65836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538728"/>
            <a:ext cx="7680960" cy="438912"/>
          </a:xfrm>
          <a:prstGeom prst="rect">
            <a:avLst/>
          </a:prstGeom>
          <a:noFill/>
        </p:spPr>
        <p:txBody>
          <a:bodyPr wrap="square" anchor="t" lIns="0" rIns="0" tIns="0" bIns="0">
            <a:spAutoFit/>
          </a:bodyPr>
          <a:lstStyle/>
          <a:p>
            <a:pPr algn="l">
              <a:lnSpc>
                <a:spcPct val="125000"/>
              </a:lnSpc>
            </a:pPr>
            <a:r>
              <a:rPr sz="1050" b="0">
                <a:solidFill>
                  <a:srgbClr val="000000"/>
                </a:solidFill>
                <a:latin typeface="Source Han Sans SC"/>
              </a:rPr>
              <a:t>THE LAST 10 MINUTES ARE THE QUICK SHELL — function runs first, then the scissors: shell, still, label, hide. Land as many of the four as you can. Function is always the required question.</a:t>
            </a:r>
          </a:p>
        </p:txBody>
      </p:sp>
      <p:sp>
        <p:nvSpPr>
          <p:cNvPr id="20" name="Rectangle 19"/>
          <p:cNvSpPr/>
          <p:nvPr/>
        </p:nvSpPr>
        <p:spPr>
          <a:xfrm>
            <a:off x="566928" y="4114800"/>
            <a:ext cx="64008" cy="658368"/>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4224528"/>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4169663"/>
            <a:ext cx="7507223" cy="320040"/>
          </a:xfrm>
          <a:prstGeom prst="rect">
            <a:avLst/>
          </a:prstGeom>
          <a:noFill/>
        </p:spPr>
        <p:txBody>
          <a:bodyPr wrap="square" anchor="t" lIns="0" rIns="0" tIns="0" bIns="0">
            <a:spAutoFit/>
          </a:bodyPr>
          <a:lstStyle/>
          <a:p>
            <a:pPr algn="l">
              <a:lnSpc>
                <a:spcPct val="100000"/>
              </a:lnSpc>
            </a:pPr>
            <a:r>
              <a:rPr sz="1900" b="1">
                <a:solidFill>
                  <a:srgbClr val="000000"/>
                </a:solidFill>
                <a:latin typeface="Source Han Sans SC"/>
              </a:rPr>
              <a:t>15 MINUTES BEFORE REVIEW, HANDS OFF EVERYWHERE</a:t>
            </a:r>
          </a:p>
        </p:txBody>
      </p:sp>
      <p:sp>
        <p:nvSpPr>
          <p:cNvPr id="23" name="TextBox 22"/>
          <p:cNvSpPr txBox="1"/>
          <p:nvPr/>
        </p:nvSpPr>
        <p:spPr>
          <a:xfrm>
            <a:off x="932688" y="4498848"/>
            <a:ext cx="7507223" cy="201167"/>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get ready with two lines: "right now it can ___; it still can't ___."</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16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Hands Off. Review Time — How Sturdy Is It?</a:t>
            </a:r>
          </a:p>
        </p:txBody>
      </p:sp>
      <p:sp>
        <p:nvSpPr>
          <p:cNvPr id="6" name="TextBox 5"/>
          <p:cNvSpPr txBox="1"/>
          <p:nvPr/>
        </p:nvSpPr>
        <p:spPr>
          <a:xfrm>
            <a:off x="566928" y="1298448"/>
            <a:ext cx="8010144" cy="502920"/>
          </a:xfrm>
          <a:prstGeom prst="rect">
            <a:avLst/>
          </a:prstGeom>
          <a:noFill/>
        </p:spPr>
        <p:txBody>
          <a:bodyPr wrap="square" anchor="t" lIns="0" rIns="0" tIns="0" bIns="0">
            <a:spAutoFit/>
          </a:bodyPr>
          <a:lstStyle/>
          <a:p>
            <a:pPr algn="ctr">
              <a:lnSpc>
                <a:spcPct val="100000"/>
              </a:lnSpc>
            </a:pPr>
            <a:r>
              <a:rPr sz="1250" b="1">
                <a:solidFill>
                  <a:srgbClr val="000000"/>
                </a:solidFill>
                <a:latin typeface="Source Han Sans SC"/>
              </a:rPr>
              <a:t>Last leg's reviewer asked "does it look right?" THIS leg's reviewer checks "how sturdy is it?" — the 5-point sturdiness checklist, tested one by one.</a:t>
            </a:r>
          </a:p>
        </p:txBody>
      </p:sp>
      <p:sp>
        <p:nvSpPr>
          <p:cNvPr id="7" name="Rectangle 6"/>
          <p:cNvSpPr/>
          <p:nvPr/>
        </p:nvSpPr>
        <p:spPr>
          <a:xfrm>
            <a:off x="566928" y="1901952"/>
            <a:ext cx="8010144" cy="141732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93392"/>
            <a:ext cx="7717536" cy="1234440"/>
          </a:xfrm>
          <a:prstGeom prst="rect">
            <a:avLst/>
          </a:prstGeom>
          <a:noFill/>
        </p:spPr>
        <p:txBody>
          <a:bodyPr wrap="square" anchor="t" lIns="0" rIns="0" tIns="0" bIns="0">
            <a:spAutoFit/>
          </a:bodyPr>
          <a:lstStyle/>
          <a:p>
            <a:pPr algn="l">
              <a:lnSpc>
                <a:spcPct val="135000"/>
              </a:lnSpc>
            </a:pPr>
            <a:r>
              <a:rPr sz="1050" b="0">
                <a:solidFill>
                  <a:srgbClr val="000000"/>
                </a:solidFill>
                <a:latin typeface="Source Code Pro"/>
              </a:rPr>
              <a:t>Quinn, still you. Based on the current state: my project can ___ now,</a:t>
            </a:r>
          </a:p>
          <a:p>
            <a:pPr algn="l">
              <a:lnSpc>
                <a:spcPct val="135000"/>
              </a:lnSpc>
            </a:pPr>
            <a:r>
              <a:rPr sz="1050" b="0">
                <a:solidFill>
                  <a:srgbClr val="000000"/>
                </a:solidFill>
                <a:latin typeface="Source Code Pro"/>
              </a:rPr>
              <a:t>and can't ___ yet.</a:t>
            </a:r>
          </a:p>
          <a:p>
            <a:pPr algn="l">
              <a:lnSpc>
                <a:spcPct val="135000"/>
              </a:lnSpc>
            </a:pPr>
            <a:r>
              <a:rPr sz="1050" b="0">
                <a:solidFill>
                  <a:srgbClr val="000000"/>
                </a:solidFill>
                <a:latin typeface="Source Code Pro"/>
              </a:rPr>
              <a:t>You're a test engineer. Give me a 5-point "sturdiness checklist":</a:t>
            </a:r>
          </a:p>
          <a:p>
            <a:pPr algn="l">
              <a:lnSpc>
                <a:spcPct val="135000"/>
              </a:lnSpc>
            </a:pPr>
            <a:r>
              <a:rPr sz="1050" b="0">
                <a:solidFill>
                  <a:srgbClr val="000000"/>
                </a:solidFill>
                <a:latin typeface="Source Code Pro"/>
              </a:rPr>
              <a:t>use it 10 times in a row? leave it alone 5 minutes, then touch it?</a:t>
            </a:r>
          </a:p>
          <a:p>
            <a:pPr algn="l">
              <a:lnSpc>
                <a:spcPct val="135000"/>
              </a:lnSpc>
            </a:pPr>
            <a:r>
              <a:rPr sz="1050" b="0">
                <a:solidFill>
                  <a:srgbClr val="000000"/>
                </a:solidFill>
                <a:latin typeface="Source Code Pro"/>
              </a:rPr>
              <a:t>a different person tries it? press fast, press slow, press randomly?</a:t>
            </a:r>
          </a:p>
          <a:p>
            <a:pPr algn="l">
              <a:lnSpc>
                <a:spcPct val="135000"/>
              </a:lnSpc>
            </a:pPr>
            <a:r>
              <a:rPr sz="1050" b="0">
                <a:solidFill>
                  <a:srgbClr val="000000"/>
                </a:solidFill>
                <a:latin typeface="Source Code Pro"/>
              </a:rPr>
              <a:t>— make each one specific: exactly how to operate it, and what to watch for.</a:t>
            </a:r>
          </a:p>
        </p:txBody>
      </p:sp>
      <p:sp>
        <p:nvSpPr>
          <p:cNvPr id="9" name="Rectangle 8"/>
          <p:cNvSpPr/>
          <p:nvPr/>
        </p:nvSpPr>
        <p:spPr>
          <a:xfrm>
            <a:off x="566928" y="3456432"/>
            <a:ext cx="8010144" cy="530352"/>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547872"/>
            <a:ext cx="7717536" cy="411480"/>
          </a:xfrm>
          <a:prstGeom prst="rect">
            <a:avLst/>
          </a:prstGeom>
          <a:noFill/>
        </p:spPr>
        <p:txBody>
          <a:bodyPr wrap="square" anchor="t" lIns="0" rIns="0" tIns="0" bIns="0">
            <a:spAutoFit/>
          </a:bodyPr>
          <a:lstStyle/>
          <a:p>
            <a:pPr algn="l">
              <a:lnSpc>
                <a:spcPct val="100000"/>
              </a:lnSpc>
            </a:pPr>
            <a:r>
              <a:rPr sz="900" b="0">
                <a:solidFill>
                  <a:srgbClr val="000000"/>
                </a:solidFill>
                <a:latin typeface="Source Han Sans SC"/>
              </a:rPr>
              <a:t>Quinn is the BMAD team's test engineer — this conversation needs the team in it. The project conversation has run since Lesson 8 — send the prompt directly. A fresh conversation sends the background line first: "This conversation has a BMAD team: John (PM), Sally (UX designer), Winston (architect), Amelia (developer), Quinn (test engineer). Remember them — I'll call on them directly from now on."</a:t>
            </a:r>
          </a:p>
        </p:txBody>
      </p:sp>
      <p:sp>
        <p:nvSpPr>
          <p:cNvPr id="11" name="Rectangle 10"/>
          <p:cNvSpPr/>
          <p:nvPr/>
        </p:nvSpPr>
        <p:spPr>
          <a:xfrm>
            <a:off x="566928" y="4069080"/>
            <a:ext cx="64008" cy="685800"/>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4178808"/>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123944"/>
            <a:ext cx="7507223" cy="320040"/>
          </a:xfrm>
          <a:prstGeom prst="rect">
            <a:avLst/>
          </a:prstGeom>
          <a:noFill/>
        </p:spPr>
        <p:txBody>
          <a:bodyPr wrap="square" anchor="t" lIns="0" rIns="0" tIns="0" bIns="0">
            <a:spAutoFit/>
          </a:bodyPr>
          <a:lstStyle/>
          <a:p>
            <a:pPr algn="l">
              <a:lnSpc>
                <a:spcPct val="100000"/>
              </a:lnSpc>
            </a:pPr>
            <a:r>
              <a:rPr sz="1900" b="1">
                <a:solidFill>
                  <a:srgbClr val="000000"/>
                </a:solidFill>
                <a:latin typeface="Source Han Sans SC"/>
              </a:rPr>
              <a:t>THE REVIEW STARTS ON TIME</a:t>
            </a:r>
          </a:p>
        </p:txBody>
      </p:sp>
      <p:sp>
        <p:nvSpPr>
          <p:cNvPr id="14" name="TextBox 13"/>
          <p:cNvSpPr txBox="1"/>
          <p:nvPr/>
        </p:nvSpPr>
        <p:spPr>
          <a:xfrm>
            <a:off x="932688" y="4453128"/>
            <a:ext cx="7507223" cy="22860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NOBODY SQUEEZES IT OUT, NOT EVEN 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17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The Picky User — This Leg, One Fault</a:t>
            </a:r>
          </a:p>
        </p:txBody>
      </p:sp>
      <p:sp>
        <p:nvSpPr>
          <p:cNvPr id="6" name="Rectangle 5"/>
          <p:cNvSpPr/>
          <p:nvPr/>
        </p:nvSpPr>
        <p:spPr>
          <a:xfrm>
            <a:off x="566928" y="1298448"/>
            <a:ext cx="8010144" cy="114300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389888"/>
            <a:ext cx="7717536" cy="960120"/>
          </a:xfrm>
          <a:prstGeom prst="rect">
            <a:avLst/>
          </a:prstGeom>
          <a:noFill/>
        </p:spPr>
        <p:txBody>
          <a:bodyPr wrap="square" anchor="t" lIns="0" rIns="0" tIns="0" bIns="0">
            <a:spAutoFit/>
          </a:bodyPr>
          <a:lstStyle/>
          <a:p>
            <a:pPr algn="l">
              <a:lnSpc>
                <a:spcPct val="140000"/>
              </a:lnSpc>
            </a:pPr>
            <a:r>
              <a:rPr sz="1100" b="0">
                <a:solidFill>
                  <a:srgbClr val="000000"/>
                </a:solidFill>
                <a:latin typeface="Source Code Pro"/>
              </a:rPr>
              <a:t>You are now my real user (___). My project currently does: ___,</a:t>
            </a:r>
          </a:p>
          <a:p>
            <a:pPr algn="l">
              <a:lnSpc>
                <a:spcPct val="140000"/>
              </a:lnSpc>
            </a:pPr>
            <a:r>
              <a:rPr sz="1100" b="0">
                <a:solidFill>
                  <a:srgbClr val="000000"/>
                </a:solidFill>
                <a:latin typeface="Source Code Pro"/>
              </a:rPr>
              <a:t>and still can't: ___.</a:t>
            </a:r>
          </a:p>
          <a:p>
            <a:pPr algn="l">
              <a:lnSpc>
                <a:spcPct val="140000"/>
              </a:lnSpc>
            </a:pPr>
            <a:r>
              <a:rPr sz="1100" b="0">
                <a:solidFill>
                  <a:srgbClr val="000000"/>
                </a:solidFill>
                <a:latin typeface="Source Code Pro"/>
              </a:rPr>
              <a:t>No praise allowed. As them, pick only 1 fault — the single most lethal one.</a:t>
            </a:r>
          </a:p>
        </p:txBody>
      </p:sp>
      <p:sp>
        <p:nvSpPr>
          <p:cNvPr id="8" name="Rectangle 7"/>
          <p:cNvSpPr/>
          <p:nvPr/>
        </p:nvSpPr>
        <p:spPr>
          <a:xfrm>
            <a:off x="566928" y="2606040"/>
            <a:ext cx="8010144" cy="53035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715768"/>
            <a:ext cx="7680960" cy="310896"/>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AI starts praising? Push back — "No praise. Faults only."</a:t>
            </a:r>
          </a:p>
        </p:txBody>
      </p:sp>
      <p:sp>
        <p:nvSpPr>
          <p:cNvPr id="10" name="TextBox 9"/>
          <p:cNvSpPr txBox="1"/>
          <p:nvPr/>
        </p:nvSpPr>
        <p:spPr>
          <a:xfrm>
            <a:off x="566928" y="3291840"/>
            <a:ext cx="8010144" cy="502920"/>
          </a:xfrm>
          <a:prstGeom prst="rect">
            <a:avLst/>
          </a:prstGeom>
          <a:noFill/>
        </p:spPr>
        <p:txBody>
          <a:bodyPr wrap="square" anchor="t" lIns="0" rIns="0" tIns="0" bIns="0">
            <a:spAutoFit/>
          </a:bodyPr>
          <a:lstStyle/>
          <a:p>
            <a:pPr algn="ctr">
              <a:lnSpc>
                <a:spcPct val="100000"/>
              </a:lnSpc>
            </a:pPr>
            <a:r>
              <a:rPr sz="1200" b="0">
                <a:solidFill>
                  <a:srgbClr val="000000"/>
                </a:solidFill>
                <a:latin typeface="Source Han Sans SC"/>
              </a:rPr>
              <a:t>All five pass? Congratulations, it's sturdy — have your desk-mate try it the barbarian way.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18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Review Record · Leg 2 — Write It Down as You Go</a:t>
            </a:r>
          </a:p>
        </p:txBody>
      </p:sp>
      <p:sp>
        <p:nvSpPr>
          <p:cNvPr id="6" name="Rectangle 5"/>
          <p:cNvSpPr/>
          <p:nvPr/>
        </p:nvSpPr>
        <p:spPr>
          <a:xfrm>
            <a:off x="566928" y="1298448"/>
            <a:ext cx="8010144" cy="242316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389888"/>
            <a:ext cx="7717536" cy="2240279"/>
          </a:xfrm>
          <a:prstGeom prst="rect">
            <a:avLst/>
          </a:prstGeom>
          <a:noFill/>
        </p:spPr>
        <p:txBody>
          <a:bodyPr wrap="square" anchor="t" lIns="0" rIns="0" tIns="0" bIns="0">
            <a:spAutoFit/>
          </a:bodyPr>
          <a:lstStyle/>
          <a:p>
            <a:pPr algn="l">
              <a:lnSpc>
                <a:spcPct val="135000"/>
              </a:lnSpc>
            </a:pPr>
            <a:r>
              <a:rPr sz="1050" b="0">
                <a:solidFill>
                  <a:srgbClr val="000000"/>
                </a:solidFill>
                <a:latin typeface="Source Code Pro"/>
              </a:rPr>
              <a:t># Review Record · Leg 2</a:t>
            </a:r>
          </a:p>
          <a:p>
            <a:pPr algn="l">
              <a:lnSpc>
                <a:spcPct val="135000"/>
              </a:lnSpc>
            </a:pPr>
            <a:r>
              <a:rPr sz="1050" b="0">
                <a:solidFill>
                  <a:srgbClr val="000000"/>
                </a:solidFill>
                <a:latin typeface="Source Code Pro"/>
              </a:rPr>
              <a:t>## Quinn's 5-point sturdiness checklist (test every one, note the result)</a:t>
            </a:r>
          </a:p>
          <a:p>
            <a:pPr algn="l">
              <a:lnSpc>
                <a:spcPct val="135000"/>
              </a:lnSpc>
            </a:pPr>
            <a:r>
              <a:rPr sz="1050" b="0">
                <a:solidFill>
                  <a:srgbClr val="000000"/>
                </a:solidFill>
                <a:latin typeface="Source Code Pro"/>
              </a:rPr>
              <a:t>1. ______ tested: passed/broke ______</a:t>
            </a:r>
          </a:p>
          <a:p>
            <a:pPr algn="l">
              <a:lnSpc>
                <a:spcPct val="135000"/>
              </a:lnSpc>
            </a:pPr>
            <a:r>
              <a:rPr sz="1050" b="0">
                <a:solidFill>
                  <a:srgbClr val="000000"/>
                </a:solidFill>
                <a:latin typeface="Source Code Pro"/>
              </a:rPr>
              <a:t>2. ______ tested: passed/broke ______</a:t>
            </a:r>
          </a:p>
          <a:p>
            <a:pPr algn="l">
              <a:lnSpc>
                <a:spcPct val="135000"/>
              </a:lnSpc>
            </a:pPr>
            <a:r>
              <a:rPr sz="1050" b="0">
                <a:solidFill>
                  <a:srgbClr val="000000"/>
                </a:solidFill>
                <a:latin typeface="Source Code Pro"/>
              </a:rPr>
              <a:t>3. ______ tested: passed/broke ______</a:t>
            </a:r>
          </a:p>
          <a:p>
            <a:pPr algn="l">
              <a:lnSpc>
                <a:spcPct val="135000"/>
              </a:lnSpc>
            </a:pPr>
            <a:r>
              <a:rPr sz="1050" b="0">
                <a:solidFill>
                  <a:srgbClr val="000000"/>
                </a:solidFill>
                <a:latin typeface="Source Code Pro"/>
              </a:rPr>
              <a:t>4. ______ tested: passed/broke ______</a:t>
            </a:r>
          </a:p>
          <a:p>
            <a:pPr algn="l">
              <a:lnSpc>
                <a:spcPct val="135000"/>
              </a:lnSpc>
            </a:pPr>
            <a:r>
              <a:rPr sz="1050" b="0">
                <a:solidFill>
                  <a:srgbClr val="000000"/>
                </a:solidFill>
                <a:latin typeface="Source Code Pro"/>
              </a:rPr>
              <a:t>5. ______ tested: passed/broke ______</a:t>
            </a:r>
          </a:p>
          <a:p>
            <a:pPr algn="l">
              <a:lnSpc>
                <a:spcPct val="135000"/>
              </a:lnSpc>
            </a:pPr>
            <a:r>
              <a:rPr sz="1050" b="0">
                <a:solidFill>
                  <a:srgbClr val="000000"/>
                </a:solidFill>
                <a:latin typeface="Source Code Pro"/>
              </a:rPr>
              <a:t/>
            </a:r>
          </a:p>
          <a:p>
            <a:pPr algn="l">
              <a:lnSpc>
                <a:spcPct val="135000"/>
              </a:lnSpc>
            </a:pPr>
            <a:r>
              <a:rPr sz="1050" b="0">
                <a:solidFill>
                  <a:srgbClr val="000000"/>
                </a:solidFill>
                <a:latin typeface="Source Code Pro"/>
              </a:rPr>
              <a:t>## The Picky User's 1 fault</a:t>
            </a:r>
          </a:p>
          <a:p>
            <a:pPr algn="l">
              <a:lnSpc>
                <a:spcPct val="135000"/>
              </a:lnSpc>
            </a:pPr>
            <a:r>
              <a:rPr sz="1050" b="0">
                <a:solidFill>
                  <a:srgbClr val="000000"/>
                </a:solidFill>
                <a:latin typeface="Source Code Pro"/>
              </a:rPr>
              <a:t>______ -&gt; my decision: accept/reject, reason: ______</a:t>
            </a:r>
          </a:p>
        </p:txBody>
      </p:sp>
      <p:sp>
        <p:nvSpPr>
          <p:cNvPr id="8" name="TextBox 7"/>
          <p:cNvSpPr txBox="1"/>
          <p:nvPr/>
        </p:nvSpPr>
        <p:spPr>
          <a:xfrm>
            <a:off x="566928" y="3977639"/>
            <a:ext cx="8010144" cy="365760"/>
          </a:xfrm>
          <a:prstGeom prst="rect">
            <a:avLst/>
          </a:prstGeom>
          <a:noFill/>
        </p:spPr>
        <p:txBody>
          <a:bodyPr wrap="square" anchor="t" lIns="0" rIns="0" tIns="0" bIns="0">
            <a:spAutoFit/>
          </a:bodyPr>
          <a:lstStyle/>
          <a:p>
            <a:pPr algn="ctr">
              <a:lnSpc>
                <a:spcPct val="100000"/>
              </a:lnSpc>
            </a:pPr>
            <a:r>
              <a:rPr sz="1150" b="0">
                <a:solidFill>
                  <a:srgbClr val="000000"/>
                </a:solidFill>
                <a:latin typeface="Source Han Sans SC"/>
              </a:rPr>
              <a:t>Same chat window as the review — don't open a new 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19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Decide One by One — Fill the Leg-Two Baton Sheet</a:t>
            </a:r>
          </a:p>
        </p:txBody>
      </p:sp>
      <p:sp>
        <p:nvSpPr>
          <p:cNvPr id="6" name="Rectangle 5"/>
          <p:cNvSpPr/>
          <p:nvPr/>
        </p:nvSpPr>
        <p:spPr>
          <a:xfrm>
            <a:off x="566928" y="1280160"/>
            <a:ext cx="8010144" cy="822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389888"/>
            <a:ext cx="7571231" cy="640080"/>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ACCEPT OR REJECT — BOTH NEED A REASON. Heads-up: next leg is the sprint leg — FIX-ONLY, NO ADDING. Anything you can't finish today, think hard before you write it as "first thing next leg": that's your last chance to fix it.</a:t>
            </a:r>
          </a:p>
        </p:txBody>
      </p:sp>
      <p:sp>
        <p:nvSpPr>
          <p:cNvPr id="8" name="Rectangle 7"/>
          <p:cNvSpPr/>
          <p:nvPr/>
        </p:nvSpPr>
        <p:spPr>
          <a:xfrm>
            <a:off x="566928" y="2157984"/>
            <a:ext cx="8010144" cy="1481328"/>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249424"/>
            <a:ext cx="7717536" cy="1298448"/>
          </a:xfrm>
          <a:prstGeom prst="rect">
            <a:avLst/>
          </a:prstGeom>
          <a:noFill/>
        </p:spPr>
        <p:txBody>
          <a:bodyPr wrap="square" anchor="t" lIns="0" rIns="0" tIns="0" bIns="0">
            <a:spAutoFit/>
          </a:bodyPr>
          <a:lstStyle/>
          <a:p>
            <a:pPr algn="l">
              <a:lnSpc>
                <a:spcPct val="120000"/>
              </a:lnSpc>
            </a:pPr>
            <a:r>
              <a:rPr sz="900" b="0">
                <a:solidFill>
                  <a:srgbClr val="000000"/>
                </a:solidFill>
                <a:latin typeface="Source Code Pro"/>
              </a:rPr>
              <a:t># Baton Handoff Sheet · Leg 2</a:t>
            </a:r>
          </a:p>
          <a:p>
            <a:pPr algn="l">
              <a:lnSpc>
                <a:spcPct val="120000"/>
              </a:lnSpc>
            </a:pPr>
            <a:r>
              <a:rPr sz="900" b="0">
                <a:solidFill>
                  <a:srgbClr val="000000"/>
                </a:solidFill>
                <a:latin typeface="Source Code Pro"/>
              </a:rPr>
              <a:t>Name: ______  Date: ______</a:t>
            </a:r>
          </a:p>
          <a:p>
            <a:pPr algn="l">
              <a:lnSpc>
                <a:spcPct val="120000"/>
              </a:lnSpc>
            </a:pPr>
            <a:r>
              <a:rPr sz="900" b="0">
                <a:solidFill>
                  <a:srgbClr val="000000"/>
                </a:solidFill>
                <a:latin typeface="Source Code Pro"/>
              </a:rPr>
              <a:t/>
            </a:r>
          </a:p>
          <a:p>
            <a:pPr algn="l">
              <a:lnSpc>
                <a:spcPct val="120000"/>
              </a:lnSpc>
            </a:pPr>
            <a:r>
              <a:rPr sz="900" b="0">
                <a:solidFill>
                  <a:srgbClr val="000000"/>
                </a:solidFill>
                <a:latin typeface="Source Code Pro"/>
              </a:rPr>
              <a:t>## Where this leg ended (one verifiable sentence: what it can demo)</a:t>
            </a:r>
          </a:p>
          <a:p>
            <a:pPr algn="l">
              <a:lnSpc>
                <a:spcPct val="120000"/>
              </a:lnSpc>
            </a:pPr>
            <a:r>
              <a:rPr sz="900" b="0">
                <a:solidFill>
                  <a:srgbClr val="000000"/>
                </a:solidFill>
                <a:latin typeface="Source Code Pro"/>
              </a:rPr>
              <a:t>## I called in ___ (no library? write: "I didn't import, because ___")</a:t>
            </a:r>
          </a:p>
          <a:p>
            <a:pPr algn="l">
              <a:lnSpc>
                <a:spcPct val="120000"/>
              </a:lnSpc>
            </a:pPr>
            <a:r>
              <a:rPr sz="900" b="0">
                <a:solidFill>
                  <a:srgbClr val="000000"/>
                </a:solidFill>
                <a:latin typeface="Source Code Pro"/>
              </a:rPr>
              <a:t>## What the look is now (one line: what it looks like now; no shell? write: "still loose parts")</a:t>
            </a:r>
          </a:p>
          <a:p>
            <a:pPr algn="l">
              <a:lnSpc>
                <a:spcPct val="120000"/>
              </a:lnSpc>
            </a:pPr>
            <a:r>
              <a:rPr sz="900" b="0">
                <a:solidFill>
                  <a:srgbClr val="000000"/>
                </a:solidFill>
                <a:latin typeface="Source Code Pro"/>
              </a:rPr>
              <a:t>## The review point that matters most + my decision (accept/reject + reason)</a:t>
            </a:r>
          </a:p>
          <a:p>
            <a:pPr algn="l">
              <a:lnSpc>
                <a:spcPct val="120000"/>
              </a:lnSpc>
            </a:pPr>
            <a:r>
              <a:rPr sz="900" b="0">
                <a:solidFill>
                  <a:srgbClr val="000000"/>
                </a:solidFill>
                <a:latin typeface="Source Code Pro"/>
              </a:rPr>
              <a:t>## The first thing next leg (specific, verifiable — next leg is fix-only, think it through)</a:t>
            </a:r>
          </a:p>
        </p:txBody>
      </p:sp>
      <p:sp>
        <p:nvSpPr>
          <p:cNvPr id="10" name="Rectangle 9"/>
          <p:cNvSpPr/>
          <p:nvPr/>
        </p:nvSpPr>
        <p:spPr>
          <a:xfrm>
            <a:off x="566928" y="3657600"/>
            <a:ext cx="64008" cy="713232"/>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3767328"/>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712463"/>
            <a:ext cx="7507223" cy="320040"/>
          </a:xfrm>
          <a:prstGeom prst="rect">
            <a:avLst/>
          </a:prstGeom>
          <a:noFill/>
        </p:spPr>
        <p:txBody>
          <a:bodyPr wrap="square" anchor="t" lIns="0" rIns="0" tIns="0" bIns="0">
            <a:spAutoFit/>
          </a:bodyPr>
          <a:lstStyle/>
          <a:p>
            <a:pPr algn="l">
              <a:lnSpc>
                <a:spcPct val="100000"/>
              </a:lnSpc>
            </a:pPr>
            <a:r>
              <a:rPr sz="1900" b="1">
                <a:solidFill>
                  <a:srgbClr val="000000"/>
                </a:solidFill>
                <a:latin typeface="Source Han Sans SC"/>
              </a:rPr>
              <a:t>ACCEPT EVERYTHING? I'M COMING TO TALK TO YOU</a:t>
            </a:r>
          </a:p>
        </p:txBody>
      </p:sp>
      <p:sp>
        <p:nvSpPr>
          <p:cNvPr id="13" name="TextBox 12"/>
          <p:cNvSpPr txBox="1"/>
          <p:nvPr/>
        </p:nvSpPr>
        <p:spPr>
          <a:xfrm>
            <a:off x="932688" y="4041648"/>
            <a:ext cx="7507223" cy="256032"/>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no backbone is more dangerous than no changes.</a:t>
            </a:r>
          </a:p>
        </p:txBody>
      </p:sp>
      <p:sp>
        <p:nvSpPr>
          <p:cNvPr id="14" name="Rectangle 13"/>
          <p:cNvSpPr/>
          <p:nvPr/>
        </p:nvSpPr>
        <p:spPr>
          <a:xfrm>
            <a:off x="566928" y="4407408"/>
            <a:ext cx="8010144"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517136"/>
            <a:ext cx="7680960" cy="146304"/>
          </a:xfrm>
          <a:prstGeom prst="rect">
            <a:avLst/>
          </a:prstGeom>
          <a:noFill/>
        </p:spPr>
        <p:txBody>
          <a:bodyPr wrap="square" anchor="t" lIns="0" rIns="0" tIns="0" bIns="0">
            <a:spAutoFit/>
          </a:bodyPr>
          <a:lstStyle/>
          <a:p>
            <a:pPr algn="l">
              <a:lnSpc>
                <a:spcPct val="100000"/>
              </a:lnSpc>
            </a:pPr>
            <a:r>
              <a:rPr sz="900" b="0">
                <a:solidFill>
                  <a:srgbClr val="000000"/>
                </a:solidFill>
                <a:latin typeface="Source Han Sans SC"/>
              </a:rPr>
              <a:t>"DID" — I called in ___ and it saved me ___; the look used ___ (materials); sturdiness passed ___ checks.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Call In Reinforcements | 20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The Capstone — Nine Lessons, and Here We Are</a:t>
            </a:r>
          </a:p>
        </p:txBody>
      </p:sp>
      <p:sp>
        <p:nvSpPr>
          <p:cNvPr id="6" name="Rectangle 5"/>
          <p:cNvSpPr/>
          <p:nvPr/>
        </p:nvSpPr>
        <p:spPr>
          <a:xfrm>
            <a:off x="566928" y="133502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298448"/>
            <a:ext cx="7699248" cy="237744"/>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Lesson 1 — you lit your first lamp</a:t>
            </a:r>
          </a:p>
        </p:txBody>
      </p:sp>
      <p:sp>
        <p:nvSpPr>
          <p:cNvPr id="8" name="Rectangle 7"/>
          <p:cNvSpPr/>
          <p:nvPr/>
        </p:nvSpPr>
        <p:spPr>
          <a:xfrm>
            <a:off x="566928" y="160934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572768"/>
            <a:ext cx="7699248" cy="237744"/>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Lesson 2 — you found a question worth doing</a:t>
            </a:r>
          </a:p>
        </p:txBody>
      </p:sp>
      <p:sp>
        <p:nvSpPr>
          <p:cNvPr id="10" name="Rectangle 9"/>
          <p:cNvSpPr/>
          <p:nvPr/>
        </p:nvSpPr>
        <p:spPr>
          <a:xfrm>
            <a:off x="566928" y="188366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847088"/>
            <a:ext cx="7699248" cy="237744"/>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Lesson 3 — your project grew a screen</a:t>
            </a:r>
          </a:p>
        </p:txBody>
      </p:sp>
      <p:sp>
        <p:nvSpPr>
          <p:cNvPr id="12" name="Rectangle 11"/>
          <p:cNvSpPr/>
          <p:nvPr/>
        </p:nvSpPr>
        <p:spPr>
          <a:xfrm>
            <a:off x="566928" y="2157984"/>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121408"/>
            <a:ext cx="7699248" cy="237744"/>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Lesson 4 — you got an AI team</a:t>
            </a:r>
          </a:p>
        </p:txBody>
      </p:sp>
      <p:sp>
        <p:nvSpPr>
          <p:cNvPr id="14" name="Rectangle 13"/>
          <p:cNvSpPr/>
          <p:nvPr/>
        </p:nvSpPr>
        <p:spPr>
          <a:xfrm>
            <a:off x="566928" y="2432303"/>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2395727"/>
            <a:ext cx="7699248" cy="237744"/>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Lesson 5 — you taught hardware to see</a:t>
            </a:r>
          </a:p>
        </p:txBody>
      </p:sp>
      <p:sp>
        <p:nvSpPr>
          <p:cNvPr id="16" name="Rectangle 15"/>
          <p:cNvSpPr/>
          <p:nvPr/>
        </p:nvSpPr>
        <p:spPr>
          <a:xfrm>
            <a:off x="566928" y="2706623"/>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2670047"/>
            <a:ext cx="7699248" cy="237744"/>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Lesson 6 — you moved your project home</a:t>
            </a:r>
          </a:p>
        </p:txBody>
      </p:sp>
      <p:sp>
        <p:nvSpPr>
          <p:cNvPr id="18" name="Rectangle 17"/>
          <p:cNvSpPr/>
          <p:nvPr/>
        </p:nvSpPr>
        <p:spPr>
          <a:xfrm>
            <a:off x="566928" y="2980943"/>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2944367"/>
            <a:ext cx="7699248" cy="237744"/>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Lesson 7 — you briefed it</a:t>
            </a:r>
          </a:p>
        </p:txBody>
      </p:sp>
      <p:sp>
        <p:nvSpPr>
          <p:cNvPr id="20" name="Rectangle 19"/>
          <p:cNvSpPr/>
          <p:nvPr/>
        </p:nvSpPr>
        <p:spPr>
          <a:xfrm>
            <a:off x="566928" y="3255263"/>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3218687"/>
            <a:ext cx="7699248" cy="237744"/>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Lesson 8 — you ran the first lap</a:t>
            </a:r>
          </a:p>
        </p:txBody>
      </p:sp>
      <p:sp>
        <p:nvSpPr>
          <p:cNvPr id="22" name="Rectangle 21"/>
          <p:cNvSpPr/>
          <p:nvPr/>
        </p:nvSpPr>
        <p:spPr>
          <a:xfrm>
            <a:off x="566928" y="3529583"/>
            <a:ext cx="182880" cy="1828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3493007"/>
            <a:ext cx="7699248" cy="237744"/>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TODAY — you called in reinforcements</a:t>
            </a:r>
          </a:p>
        </p:txBody>
      </p:sp>
      <p:sp>
        <p:nvSpPr>
          <p:cNvPr id="24" name="Rectangle 23"/>
          <p:cNvSpPr/>
          <p:nvPr/>
        </p:nvSpPr>
        <p:spPr>
          <a:xfrm>
            <a:off x="566928" y="3749039"/>
            <a:ext cx="801014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858768"/>
            <a:ext cx="7680960" cy="347472"/>
          </a:xfrm>
          <a:prstGeom prst="rect">
            <a:avLst/>
          </a:prstGeom>
          <a:noFill/>
        </p:spPr>
        <p:txBody>
          <a:bodyPr wrap="square" anchor="t" lIns="0" rIns="0" tIns="0" bIns="0">
            <a:spAutoFit/>
          </a:bodyPr>
          <a:lstStyle/>
          <a:p>
            <a:pPr algn="l">
              <a:lnSpc>
                <a:spcPct val="125000"/>
              </a:lnSpc>
            </a:pPr>
            <a:r>
              <a:rPr sz="1050" b="0">
                <a:solidFill>
                  <a:srgbClr val="000000"/>
                </a:solidFill>
                <a:latin typeface="Source Han Sans SC"/>
              </a:rPr>
              <a:t>From daring, to reading, to calling in help — your function has capped out, and it has a face for the first time.</a:t>
            </a:r>
          </a:p>
          <a:p>
            <a:pPr algn="l">
              <a:lnSpc>
                <a:spcPct val="125000"/>
              </a:lnSpc>
            </a:pPr>
            <a:r>
              <a:rPr sz="1050" b="0">
                <a:solidFill>
                  <a:srgbClr val="000000"/>
                </a:solidFill>
                <a:latin typeface="Source Han Sans SC"/>
              </a:rPr>
              <a:t>(Pause one second — look at it.)</a:t>
            </a:r>
          </a:p>
        </p:txBody>
      </p:sp>
      <p:sp>
        <p:nvSpPr>
          <p:cNvPr id="26" name="TextBox 25"/>
          <p:cNvSpPr txBox="1"/>
          <p:nvPr/>
        </p:nvSpPr>
        <p:spPr>
          <a:xfrm>
            <a:off x="566928" y="4370832"/>
            <a:ext cx="8010144" cy="384048"/>
          </a:xfrm>
          <a:prstGeom prst="rect">
            <a:avLst/>
          </a:prstGeom>
          <a:noFill/>
        </p:spPr>
        <p:txBody>
          <a:bodyPr wrap="square" anchor="t" lIns="0" rIns="0" tIns="0" bIns="0">
            <a:spAutoFit/>
          </a:bodyPr>
          <a:lstStyle/>
          <a:p>
            <a:pPr algn="ctr">
              <a:lnSpc>
                <a:spcPct val="120000"/>
              </a:lnSpc>
            </a:pPr>
            <a:r>
              <a:rPr sz="1000" b="0">
                <a:solidFill>
                  <a:srgbClr val="000000"/>
                </a:solidFill>
                <a:latin typeface="Source Han Sans SC"/>
              </a:rPr>
              <a:t>NEXT LESSON: THE LAST LEG + THE ROADSHOW. Sprint discipline in four words: FIX-ONLY, NO ADDING. Bring your baton sheet, your project, and the side of it you most want to show.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