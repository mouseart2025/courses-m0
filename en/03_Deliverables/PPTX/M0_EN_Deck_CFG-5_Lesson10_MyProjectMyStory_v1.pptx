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page only; students see it as they sit down. No script. When the session starts, go straight to slide 02 — the opener's 30-second recap is spoken, not projected. Right side: the roadshow cover illustration reused from the CN deck because it carries no Chinese glyphs. Footer: Chaihuo Maker Academy · M0 · My Project, My Story | 01 / 13.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30-second recap: last session you called in reinforcements — code help and look help. Your project's function capped out, and it had a face for the first time. Baton handoff sheet? On the desk — we read it at the stand-up. Today — the last lesson. Graduation day. Three parts: the final leg, fix-only → tell the world (README, the math, the pitch) → the showcase and graduation (the roadshow, the ceremony). Today has exactly one job: make your project understood.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Stand-up. First read your baton sheet — what did last leg say is 'the first thing next leg'? Today, one sentence: 'I'm going to fix ___, so the demo holds steady at ___.' Remember the discipline: fix-only. The new feature you're itching to add? The 'later' list welcomes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 Two jobs only. One: fix the faults the review left behind. Two: polish demo stability — on roadshow day it must work first try, in front of strangers. Five clean demos in a row, that's 'steady.' No shell yet? Don't start one today — if the Lesson-9 four moves can close it in 10 minutes, close it; otherwise it goes on stage as is. Function is the required question. When Act 1 ends, everyone stops — into the release check.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Hands off. The last review — and the persona upgrades: the release check. Not fault-picking: 'can it face people?' Have AI open the final checklist; this time you go through it line by line, and every line gets a conclusion. Checklist in hand, tick each item. The 'how do I save it if it fails' line must have an answer — no answer? Use the backup: demo photo/video from your logs.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professional version — Brandy ran these four before sharing her voice keyboard: does the light come on immediately? does the recording end properly? is the recognized text complete? did the prompt land in the right window? The first two ask 'is it actually working?'; the last two ask 'is the work complete?'. Map them onto your project's equivalents and copy them into your checklist. She also kept a fallback plan: serial logs, screen recording, a finished video — your 'how do I save it' is exactly that.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lessons, ten logs. Today they merge into a README — your project's 'self-introduction + growth story': someone who never sees the project, reading only this, understands what it is and how it got here. Same old rule: AI organizes, you proofread. After generation: line by line, did it invent anything? Caught one? Delete it — AI will confidently invent; proofreading is your job.</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Rule first: today we count exactly two things — what it cost, and what it's worth. No profits, no business talk. Counting cost is applied math; saying value is an expression exercise. Step one: list your materials — every component; have AI check for gaps. Step two: if you sold it, what would you price it at? And why? Write one number, write one reason. The price can be above cost — even well above — but the reason must be 'it solves this problem,' not 'I want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pitch — one page — the page that makes someone understand and care within 2 minutes. Four boxes: problem, solution, who it's for, what it's worth. AI helps with structure and wording — but three hard references it can't fake: 'who it's for' must be a real person from your Lesson-2 list; 'what it's worth' must quote the account you just did; 'the problem' must be your requirements sheet's own words. All three real, and the page has bones.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gate before the stage: an investor who only understands plain talk. Its persona: doesn't know tech, interrupts, and only asks 'So what? What's it to me?' — read your pitch to it; get stumped, revise, read again. Getting stumped doesn't lose points — this is where you spend your fear, so the stage has nothing left to take.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rules: demo first, then talk — the thing really moving says more than anything; 2 minutes each — the hourglass exempts nobody (getting cut off is also the lesson: can't say it in 2 minutes = not clear yet); every desk rotates — and each desk sends one person to the stage. The audience has a job too: 3 votes each, cast after hearing everyone, for the project you'd most want to see really exist — you can't vote for yourself.</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votes, for the project you'd most want to see really exist — not yourself. After collecting, the teacher names one specific highlight for every project — nobody walks away empty. Voting is by bottle caps / sticky notes / show of hands — no props bought.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one, you lit your first lamp; ... today — you told its story. Ten lessons, all lit. You're the people who walked the whole way. Remember Lesson 1? You lit your first piece of hardware, your name was on the screen, and you said 'whoa.' Ten lessons later — your name is on your project, in the README, in the applause just now. You're not the one watching the magic anymore — you're the one making it. The last log, four lines as usual. The 'did' line reads: the proudest thing I made in ten lessons is ___. Photo — hold up your project, hands up, backs to the camera; old rule, hands only, never faces. That's a wrap!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My Project, My Story | 01 / 13</a:t>
            </a:r>
          </a:p>
        </p:txBody>
      </p:sp>
      <p:sp>
        <p:nvSpPr>
          <p:cNvPr id="4" name="TextBox 3"/>
          <p:cNvSpPr txBox="1"/>
          <p:nvPr/>
        </p:nvSpPr>
        <p:spPr>
          <a:xfrm>
            <a:off x="566928" y="1097280"/>
            <a:ext cx="5852160" cy="274320"/>
          </a:xfrm>
          <a:prstGeom prst="rect">
            <a:avLst/>
          </a:prstGeom>
          <a:noFill/>
        </p:spPr>
        <p:txBody>
          <a:bodyPr wrap="square" anchor="t" lIns="0" rIns="0" tIns="0" bIns="0">
            <a:spAutoFit/>
          </a:bodyPr>
          <a:lstStyle/>
          <a:p>
            <a:pPr algn="l">
              <a:lnSpc>
                <a:spcPct val="100000"/>
              </a:lnSpc>
            </a:pPr>
            <a:r>
              <a:rPr sz="1300" b="0">
                <a:solidFill>
                  <a:srgbClr val="000000"/>
                </a:solidFill>
                <a:latin typeface="Source Han Sans SC"/>
              </a:rPr>
              <a:t>Chaihuo Maker Academy · Smart Hardware Fundamentals (M0)</a:t>
            </a:r>
          </a:p>
        </p:txBody>
      </p:sp>
      <p:sp>
        <p:nvSpPr>
          <p:cNvPr id="5" name="TextBox 4"/>
          <p:cNvSpPr txBox="1"/>
          <p:nvPr/>
        </p:nvSpPr>
        <p:spPr>
          <a:xfrm>
            <a:off x="566928" y="1417320"/>
            <a:ext cx="8010144" cy="68580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My Project, My Story</a:t>
            </a:r>
          </a:p>
        </p:txBody>
      </p:sp>
      <p:sp>
        <p:nvSpPr>
          <p:cNvPr id="6" name="Rectangle 5"/>
          <p:cNvSpPr/>
          <p:nvPr/>
        </p:nvSpPr>
        <p:spPr>
          <a:xfrm>
            <a:off x="566928" y="2286000"/>
            <a:ext cx="1463040" cy="54864"/>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2450592"/>
            <a:ext cx="5852160" cy="548640"/>
          </a:xfrm>
          <a:prstGeom prst="rect">
            <a:avLst/>
          </a:prstGeom>
          <a:noFill/>
        </p:spPr>
        <p:txBody>
          <a:bodyPr wrap="square" anchor="t" lIns="0" rIns="0" tIns="0" bIns="0">
            <a:spAutoFit/>
          </a:bodyPr>
          <a:lstStyle/>
          <a:p>
            <a:pPr algn="l">
              <a:lnSpc>
                <a:spcPct val="120000"/>
              </a:lnSpc>
            </a:pPr>
            <a:r>
              <a:rPr sz="1400" b="0">
                <a:solidFill>
                  <a:srgbClr val="000000"/>
                </a:solidFill>
                <a:latin typeface="Source Han Sans SC"/>
              </a:rPr>
              <a:t>The Final Leg &amp; the Showcase · Graduation Day · Chaihuo Maker Academy · M0 Lesson 10</a:t>
            </a:r>
          </a:p>
        </p:txBody>
      </p:sp>
      <p:sp>
        <p:nvSpPr>
          <p:cNvPr id="8" name="TextBox 7"/>
          <p:cNvSpPr txBox="1"/>
          <p:nvPr/>
        </p:nvSpPr>
        <p:spPr>
          <a:xfrm>
            <a:off x="566928" y="3291840"/>
            <a:ext cx="5303520" cy="868680"/>
          </a:xfrm>
          <a:prstGeom prst="rect">
            <a:avLst/>
          </a:prstGeom>
          <a:noFill/>
        </p:spPr>
        <p:txBody>
          <a:bodyPr wrap="square" anchor="t" lIns="0" rIns="0" tIns="0" bIns="0">
            <a:spAutoFit/>
          </a:bodyPr>
          <a:lstStyle/>
          <a:p>
            <a:pPr algn="l">
              <a:lnSpc>
                <a:spcPct val="135000"/>
              </a:lnSpc>
            </a:pPr>
            <a:r>
              <a:rPr sz="1250" b="0">
                <a:solidFill>
                  <a:srgbClr val="000000"/>
                </a:solidFill>
                <a:latin typeface="Source Han Sans SC"/>
              </a:rPr>
              <a:t>Today: make your project understood — the release check, the README, the pitch, the roadshow —</a:t>
            </a:r>
          </a:p>
          <a:p>
            <a:pPr algn="l">
              <a:lnSpc>
                <a:spcPct val="135000"/>
              </a:lnSpc>
            </a:pPr>
            <a:r>
              <a:rPr sz="1250" b="0">
                <a:solidFill>
                  <a:srgbClr val="000000"/>
                </a:solidFill>
                <a:latin typeface="Source Han Sans SC"/>
              </a:rPr>
              <a:t>and ten lessons, all lit.</a:t>
            </a:r>
          </a:p>
        </p:txBody>
      </p:sp>
      <p:pic>
        <p:nvPicPr>
          <p:cNvPr id="9" name="Picture 8" descr="L10_封面插画_路演.png"/>
          <p:cNvPicPr>
            <a:picLocks noChangeAspect="1"/>
          </p:cNvPicPr>
          <p:nvPr/>
        </p:nvPicPr>
        <p:blipFill>
          <a:blip r:embed="rId2"/>
          <a:stretch>
            <a:fillRect/>
          </a:stretch>
        </p:blipFill>
        <p:spPr>
          <a:xfrm>
            <a:off x="6217920" y="2788920"/>
            <a:ext cx="2240280" cy="22402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My Project, My Story | 02 / 13</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The Final-Day Map</a:t>
            </a:r>
          </a:p>
        </p:txBody>
      </p:sp>
      <p:sp>
        <p:nvSpPr>
          <p:cNvPr id="6" name="Rectangle 5"/>
          <p:cNvSpPr/>
          <p:nvPr/>
        </p:nvSpPr>
        <p:spPr>
          <a:xfrm>
            <a:off x="566928" y="1005840"/>
            <a:ext cx="64008" cy="77724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024128"/>
            <a:ext cx="7680960" cy="777240"/>
          </a:xfrm>
          <a:prstGeom prst="rect">
            <a:avLst/>
          </a:prstGeom>
          <a:noFill/>
        </p:spPr>
        <p:txBody>
          <a:bodyPr wrap="square" anchor="t" lIns="0" rIns="0" tIns="0" bIns="0">
            <a:spAutoFit/>
          </a:bodyPr>
          <a:lstStyle/>
          <a:p>
            <a:pPr algn="l">
              <a:lnSpc>
                <a:spcPct val="100000"/>
              </a:lnSpc>
            </a:pPr>
            <a:r>
              <a:rPr sz="1150" b="0">
                <a:solidFill>
                  <a:srgbClr val="000000"/>
                </a:solidFill>
                <a:latin typeface="Source Han Sans SC"/>
              </a:rPr>
              <a:t>Last session: you called in reinforcements — code help and look help. Your project's function capped out, and it had a face for the first time. Baton handoff sheet? On the desk — we read it at the stand-up.</a:t>
            </a:r>
          </a:p>
        </p:txBody>
      </p:sp>
      <p:sp>
        <p:nvSpPr>
          <p:cNvPr id="8" name="TextBox 7"/>
          <p:cNvSpPr txBox="1"/>
          <p:nvPr/>
        </p:nvSpPr>
        <p:spPr>
          <a:xfrm>
            <a:off x="566928" y="1965960"/>
            <a:ext cx="8010144" cy="777240"/>
          </a:xfrm>
          <a:prstGeom prst="rect">
            <a:avLst/>
          </a:prstGeom>
          <a:noFill/>
        </p:spPr>
        <p:txBody>
          <a:bodyPr wrap="square" anchor="t" lIns="0" rIns="0" tIns="0" bIns="0">
            <a:spAutoFit/>
          </a:bodyPr>
          <a:lstStyle/>
          <a:p>
            <a:pPr algn="l">
              <a:lnSpc>
                <a:spcPct val="100000"/>
              </a:lnSpc>
            </a:pPr>
            <a:r>
              <a:rPr sz="2600" b="1">
                <a:solidFill>
                  <a:srgbClr val="000000"/>
                </a:solidFill>
                <a:latin typeface="Source Han Sans SC"/>
              </a:rPr>
              <a:t>THE LAST LESSON. GRADUATION DAY.</a:t>
            </a:r>
          </a:p>
        </p:txBody>
      </p:sp>
      <p:sp>
        <p:nvSpPr>
          <p:cNvPr id="9" name="TextBox 8"/>
          <p:cNvSpPr txBox="1"/>
          <p:nvPr/>
        </p:nvSpPr>
        <p:spPr>
          <a:xfrm>
            <a:off x="566928" y="2788920"/>
            <a:ext cx="8010144" cy="502920"/>
          </a:xfrm>
          <a:prstGeom prst="rect">
            <a:avLst/>
          </a:prstGeom>
          <a:noFill/>
        </p:spPr>
        <p:txBody>
          <a:bodyPr wrap="square" anchor="t" lIns="0" rIns="0" tIns="0" bIns="0">
            <a:spAutoFit/>
          </a:bodyPr>
          <a:lstStyle/>
          <a:p>
            <a:pPr algn="l">
              <a:lnSpc>
                <a:spcPct val="100000"/>
              </a:lnSpc>
            </a:pPr>
            <a:r>
              <a:rPr sz="1800" b="1">
                <a:solidFill>
                  <a:srgbClr val="000000"/>
                </a:solidFill>
                <a:latin typeface="Source Han Sans SC"/>
              </a:rPr>
              <a:t>TODAY HAS EXACTLY ONE JOB — MAKE YOUR PROJECT UNDERSTOOD.</a:t>
            </a:r>
          </a:p>
        </p:txBody>
      </p:sp>
      <p:sp>
        <p:nvSpPr>
          <p:cNvPr id="10" name="TextBox 9"/>
          <p:cNvSpPr txBox="1"/>
          <p:nvPr/>
        </p:nvSpPr>
        <p:spPr>
          <a:xfrm>
            <a:off x="566928" y="3474720"/>
            <a:ext cx="8010144" cy="868680"/>
          </a:xfrm>
          <a:prstGeom prst="rect">
            <a:avLst/>
          </a:prstGeom>
          <a:noFill/>
        </p:spPr>
        <p:txBody>
          <a:bodyPr wrap="square" anchor="t" lIns="0" rIns="0" tIns="0" bIns="0">
            <a:spAutoFit/>
          </a:bodyPr>
          <a:lstStyle/>
          <a:p>
            <a:pPr algn="l">
              <a:lnSpc>
                <a:spcPct val="140000"/>
              </a:lnSpc>
            </a:pPr>
            <a:r>
              <a:rPr sz="1300" b="1">
                <a:solidFill>
                  <a:srgbClr val="000000"/>
                </a:solidFill>
                <a:latin typeface="Source Han Sans SC"/>
              </a:rPr>
              <a:t>THE FINAL LEG — fix-only + the release check</a:t>
            </a:r>
          </a:p>
          <a:p>
            <a:pPr algn="l">
              <a:lnSpc>
                <a:spcPct val="140000"/>
              </a:lnSpc>
            </a:pPr>
            <a:r>
              <a:rPr sz="1250" b="0">
                <a:solidFill>
                  <a:srgbClr val="000000"/>
                </a:solidFill>
                <a:latin typeface="Source Han Sans SC"/>
              </a:rPr>
              <a:t>&gt; TELL THE WORLD — README, the math, the pitch, the rehearsal</a:t>
            </a:r>
          </a:p>
          <a:p>
            <a:pPr algn="l">
              <a:lnSpc>
                <a:spcPct val="140000"/>
              </a:lnSpc>
            </a:pPr>
            <a:r>
              <a:rPr sz="1250" b="0">
                <a:solidFill>
                  <a:srgbClr val="000000"/>
                </a:solidFill>
                <a:latin typeface="Source Han Sans SC"/>
              </a:rPr>
              <a:t>&gt; THE SHOWCASE &amp; GRADUATION — the roadshow + the ceremony</a:t>
            </a:r>
          </a:p>
        </p:txBody>
      </p:sp>
      <p:sp>
        <p:nvSpPr>
          <p:cNvPr id="11" name="TextBox 10"/>
          <p:cNvSpPr txBox="1"/>
          <p:nvPr/>
        </p:nvSpPr>
        <p:spPr>
          <a:xfrm>
            <a:off x="566928" y="4526280"/>
            <a:ext cx="8010144" cy="228600"/>
          </a:xfrm>
          <a:prstGeom prst="rect">
            <a:avLst/>
          </a:prstGeom>
          <a:noFill/>
        </p:spPr>
        <p:txBody>
          <a:bodyPr wrap="square" anchor="t" lIns="0" rIns="0" tIns="0" bIns="0">
            <a:spAutoFit/>
          </a:bodyPr>
          <a:lstStyle/>
          <a:p>
            <a:pPr algn="ctr">
              <a:lnSpc>
                <a:spcPct val="100000"/>
              </a:lnSpc>
            </a:pPr>
            <a:r>
              <a:rPr sz="1150" b="0">
                <a:solidFill>
                  <a:srgbClr val="000000"/>
                </a:solidFill>
                <a:latin typeface="Source Han Sans SC"/>
              </a:rPr>
              <a:t>People who understand you are the ones your project deserves.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My Project, My Story | 03 / 13</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2600" b="1">
                <a:solidFill>
                  <a:srgbClr val="000000"/>
                </a:solidFill>
                <a:latin typeface="Source Han Sans SC"/>
              </a:rPr>
              <a:t>Leg-Three Stand-Up — Which Cut Do You Fix Today</a:t>
            </a:r>
          </a:p>
        </p:txBody>
      </p:sp>
      <p:sp>
        <p:nvSpPr>
          <p:cNvPr id="6" name="Rectangle 5"/>
          <p:cNvSpPr/>
          <p:nvPr/>
        </p:nvSpPr>
        <p:spPr>
          <a:xfrm>
            <a:off x="566928" y="1371600"/>
            <a:ext cx="8010144" cy="73152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481328"/>
            <a:ext cx="7571231" cy="502920"/>
          </a:xfrm>
          <a:prstGeom prst="rect">
            <a:avLst/>
          </a:prstGeom>
          <a:noFill/>
        </p:spPr>
        <p:txBody>
          <a:bodyPr wrap="square" anchor="t" lIns="0" rIns="0" tIns="0" bIns="0">
            <a:spAutoFit/>
          </a:bodyPr>
          <a:lstStyle/>
          <a:p>
            <a:pPr algn="l">
              <a:lnSpc>
                <a:spcPct val="100000"/>
              </a:lnSpc>
            </a:pPr>
            <a:r>
              <a:rPr sz="1300" b="1">
                <a:solidFill>
                  <a:srgbClr val="000000"/>
                </a:solidFill>
                <a:latin typeface="Source Han Sans SC"/>
              </a:rPr>
              <a:t>READ YOUR BATON SHEET — what did last leg say is "the first thing next leg"?</a:t>
            </a:r>
          </a:p>
        </p:txBody>
      </p:sp>
      <p:sp>
        <p:nvSpPr>
          <p:cNvPr id="8" name="Rectangle 7"/>
          <p:cNvSpPr/>
          <p:nvPr/>
        </p:nvSpPr>
        <p:spPr>
          <a:xfrm>
            <a:off x="566928" y="2286000"/>
            <a:ext cx="8010144" cy="713232"/>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395728"/>
            <a:ext cx="7680960" cy="502920"/>
          </a:xfrm>
          <a:prstGeom prst="rect">
            <a:avLst/>
          </a:prstGeom>
          <a:noFill/>
        </p:spPr>
        <p:txBody>
          <a:bodyPr wrap="square" anchor="ctr" lIns="0" rIns="0" tIns="0" bIns="0">
            <a:spAutoFit/>
          </a:bodyPr>
          <a:lstStyle/>
          <a:p>
            <a:pPr algn="ctr">
              <a:lnSpc>
                <a:spcPct val="100000"/>
              </a:lnSpc>
            </a:pPr>
            <a:r>
              <a:rPr sz="1800" b="1">
                <a:solidFill>
                  <a:srgbClr val="000000"/>
                </a:solidFill>
                <a:latin typeface="Source Han Sans SC"/>
              </a:rPr>
              <a:t>"I'M GOING TO FIX ___, SO THE DEMO HOLDS STEADY AT ___."</a:t>
            </a:r>
          </a:p>
        </p:txBody>
      </p:sp>
      <p:sp>
        <p:nvSpPr>
          <p:cNvPr id="10" name="Rectangle 9"/>
          <p:cNvSpPr/>
          <p:nvPr/>
        </p:nvSpPr>
        <p:spPr>
          <a:xfrm>
            <a:off x="566928" y="3154680"/>
            <a:ext cx="8010144" cy="141732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3273552"/>
            <a:ext cx="7571231" cy="1234440"/>
          </a:xfrm>
          <a:prstGeom prst="rect">
            <a:avLst/>
          </a:prstGeom>
          <a:noFill/>
        </p:spPr>
        <p:txBody>
          <a:bodyPr wrap="square" anchor="t" lIns="0" rIns="0" tIns="0" bIns="0">
            <a:spAutoFit/>
          </a:bodyPr>
          <a:lstStyle/>
          <a:p>
            <a:pPr algn="l">
              <a:lnSpc>
                <a:spcPct val="100000"/>
              </a:lnSpc>
            </a:pPr>
            <a:r>
              <a:rPr sz="1250" b="1">
                <a:solidFill>
                  <a:srgbClr val="000000"/>
                </a:solidFill>
                <a:latin typeface="Source Han Sans SC"/>
              </a:rPr>
              <a:t>FIX-ONLY. The new feature you're itching to add? The "later" list welcomes it. A goal with "add a ___" in it gets stopped on the spot — that's an add. Make it a fix: which part are you least confident about? Fix that.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My Project, My Story | 04 / 13</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Go — Two Jobs Only</a:t>
            </a:r>
          </a:p>
        </p:txBody>
      </p:sp>
      <p:sp>
        <p:nvSpPr>
          <p:cNvPr id="6" name="TextBox 5"/>
          <p:cNvSpPr txBox="1"/>
          <p:nvPr/>
        </p:nvSpPr>
        <p:spPr>
          <a:xfrm>
            <a:off x="566928" y="1325880"/>
            <a:ext cx="8010144" cy="914400"/>
          </a:xfrm>
          <a:prstGeom prst="rect">
            <a:avLst/>
          </a:prstGeom>
          <a:noFill/>
        </p:spPr>
        <p:txBody>
          <a:bodyPr wrap="square" anchor="t" lIns="0" rIns="0" tIns="0" bIns="0">
            <a:spAutoFit/>
          </a:bodyPr>
          <a:lstStyle/>
          <a:p>
            <a:pPr algn="l">
              <a:lnSpc>
                <a:spcPct val="140000"/>
              </a:lnSpc>
            </a:pPr>
            <a:r>
              <a:rPr sz="1500" b="1">
                <a:solidFill>
                  <a:srgbClr val="000000"/>
                </a:solidFill>
                <a:latin typeface="Source Han Sans SC"/>
              </a:rPr>
              <a:t>1) FIX THE FAULTS THE REVIEW LEFT BEHIND</a:t>
            </a:r>
          </a:p>
          <a:p>
            <a:pPr algn="l">
              <a:lnSpc>
                <a:spcPct val="140000"/>
              </a:lnSpc>
            </a:pPr>
            <a:r>
              <a:rPr sz="1500" b="1">
                <a:solidFill>
                  <a:srgbClr val="000000"/>
                </a:solidFill>
                <a:latin typeface="Source Han Sans SC"/>
              </a:rPr>
              <a:t>2) POLISH DEMO STABILITY — FIVE CLEAN DEMOS IN A ROW, THAT'S "STEADY"</a:t>
            </a:r>
          </a:p>
        </p:txBody>
      </p:sp>
      <p:sp>
        <p:nvSpPr>
          <p:cNvPr id="7" name="Rectangle 6"/>
          <p:cNvSpPr/>
          <p:nvPr/>
        </p:nvSpPr>
        <p:spPr>
          <a:xfrm>
            <a:off x="566928" y="2514600"/>
            <a:ext cx="8010144" cy="96012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624328"/>
            <a:ext cx="7680960" cy="740664"/>
          </a:xfrm>
          <a:prstGeom prst="rect">
            <a:avLst/>
          </a:prstGeom>
          <a:noFill/>
        </p:spPr>
        <p:txBody>
          <a:bodyPr wrap="square" anchor="t" lIns="0" rIns="0" tIns="0" bIns="0">
            <a:spAutoFit/>
          </a:bodyPr>
          <a:lstStyle/>
          <a:p>
            <a:pPr algn="l">
              <a:lnSpc>
                <a:spcPct val="135000"/>
              </a:lnSpc>
            </a:pPr>
            <a:r>
              <a:rPr sz="1200" b="0">
                <a:solidFill>
                  <a:srgbClr val="000000"/>
                </a:solidFill>
                <a:latin typeface="Source Han Sans SC"/>
              </a:rPr>
              <a:t>No shell yet? Don't start one today — if the Lesson-9 four moves can close it in 10 minutes, close it; otherwise it goes on stage as is. Function is the required question.</a:t>
            </a:r>
          </a:p>
        </p:txBody>
      </p:sp>
      <p:sp>
        <p:nvSpPr>
          <p:cNvPr id="9" name="Rectangle 8"/>
          <p:cNvSpPr/>
          <p:nvPr/>
        </p:nvSpPr>
        <p:spPr>
          <a:xfrm>
            <a:off x="566928" y="3657600"/>
            <a:ext cx="64008" cy="713232"/>
          </a:xfrm>
          <a:prstGeom prst="rect">
            <a:avLst/>
          </a:prstGeom>
          <a:solidFill>
            <a:srgbClr val="D841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31520" y="3767328"/>
            <a:ext cx="100584" cy="100584"/>
          </a:xfrm>
          <a:prstGeom prst="ellipse">
            <a:avLst/>
          </a:prstGeom>
          <a:solidFill>
            <a:srgbClr val="D841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3712463"/>
            <a:ext cx="7507223" cy="320040"/>
          </a:xfrm>
          <a:prstGeom prst="rect">
            <a:avLst/>
          </a:prstGeom>
          <a:noFill/>
        </p:spPr>
        <p:txBody>
          <a:bodyPr wrap="square" anchor="t" lIns="0" rIns="0" tIns="0" bIns="0">
            <a:spAutoFit/>
          </a:bodyPr>
          <a:lstStyle/>
          <a:p>
            <a:pPr algn="l">
              <a:lnSpc>
                <a:spcPct val="100000"/>
              </a:lnSpc>
            </a:pPr>
            <a:r>
              <a:rPr sz="1800" b="1">
                <a:solidFill>
                  <a:srgbClr val="000000"/>
                </a:solidFill>
                <a:latin typeface="Source Han Sans SC"/>
              </a:rPr>
              <a:t>FIX-ONLY</a:t>
            </a:r>
          </a:p>
        </p:txBody>
      </p:sp>
      <p:sp>
        <p:nvSpPr>
          <p:cNvPr id="12" name="TextBox 11"/>
          <p:cNvSpPr txBox="1"/>
          <p:nvPr/>
        </p:nvSpPr>
        <p:spPr>
          <a:xfrm>
            <a:off x="932688" y="4041648"/>
            <a:ext cx="7507223" cy="256032"/>
          </a:xfrm>
          <a:prstGeom prst="rect">
            <a:avLst/>
          </a:prstGeom>
          <a:noFill/>
        </p:spPr>
        <p:txBody>
          <a:bodyPr wrap="square" anchor="t" lIns="0" rIns="0" tIns="0" bIns="0">
            <a:spAutoFit/>
          </a:bodyPr>
          <a:lstStyle/>
          <a:p>
            <a:pPr algn="l">
              <a:lnSpc>
                <a:spcPct val="100000"/>
              </a:lnSpc>
            </a:pPr>
            <a:r>
              <a:rPr sz="1300" b="0">
                <a:solidFill>
                  <a:srgbClr val="000000"/>
                </a:solidFill>
                <a:latin typeface="Source Han Sans SC"/>
              </a:rPr>
              <a:t>new features go to the "later" list.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My Project, My Story | 05 / 13</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2600" b="1">
                <a:solidFill>
                  <a:srgbClr val="000000"/>
                </a:solidFill>
                <a:latin typeface="Source Han Sans SC"/>
              </a:rPr>
              <a:t>Hands Off. The Release Check — Can It Face People?</a:t>
            </a:r>
          </a:p>
        </p:txBody>
      </p:sp>
      <p:sp>
        <p:nvSpPr>
          <p:cNvPr id="6" name="TextBox 5"/>
          <p:cNvSpPr txBox="1"/>
          <p:nvPr/>
        </p:nvSpPr>
        <p:spPr>
          <a:xfrm>
            <a:off x="566928" y="1298448"/>
            <a:ext cx="8010144" cy="868680"/>
          </a:xfrm>
          <a:prstGeom prst="rect">
            <a:avLst/>
          </a:prstGeom>
          <a:noFill/>
        </p:spPr>
        <p:txBody>
          <a:bodyPr wrap="square" anchor="t" lIns="0" rIns="0" tIns="0" bIns="0">
            <a:spAutoFit/>
          </a:bodyPr>
          <a:lstStyle/>
          <a:p>
            <a:pPr algn="ctr">
              <a:lnSpc>
                <a:spcPct val="100000"/>
              </a:lnSpc>
            </a:pPr>
            <a:r>
              <a:rPr sz="1250" b="1">
                <a:solidFill>
                  <a:srgbClr val="000000"/>
                </a:solidFill>
                <a:latin typeface="Source Han Sans SC"/>
              </a:rPr>
              <a:t>The review ran "looks right" → "how sturdy is it?" THIS time it asks "can it face people?" — the checklist goes line by line, and every line gets a conclusion.</a:t>
            </a:r>
          </a:p>
        </p:txBody>
      </p:sp>
      <p:sp>
        <p:nvSpPr>
          <p:cNvPr id="7" name="Rectangle 6"/>
          <p:cNvSpPr/>
          <p:nvPr/>
        </p:nvSpPr>
        <p:spPr>
          <a:xfrm>
            <a:off x="566928" y="2286000"/>
            <a:ext cx="8010144" cy="1691640"/>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2377440"/>
            <a:ext cx="7717536" cy="1508760"/>
          </a:xfrm>
          <a:prstGeom prst="rect">
            <a:avLst/>
          </a:prstGeom>
          <a:noFill/>
        </p:spPr>
        <p:txBody>
          <a:bodyPr wrap="square" anchor="t" lIns="0" rIns="0" tIns="0" bIns="0">
            <a:spAutoFit/>
          </a:bodyPr>
          <a:lstStyle/>
          <a:p>
            <a:pPr algn="l">
              <a:lnSpc>
                <a:spcPct val="140000"/>
              </a:lnSpc>
            </a:pPr>
            <a:r>
              <a:rPr sz="1100" b="0">
                <a:solidFill>
                  <a:srgbClr val="000000"/>
                </a:solidFill>
                <a:latin typeface="Source Code Pro"/>
              </a:rPr>
              <a:t>Based on the current state: my project can ___ now, and can't ___ yet.</a:t>
            </a:r>
          </a:p>
          <a:p>
            <a:pPr algn="l">
              <a:lnSpc>
                <a:spcPct val="140000"/>
              </a:lnSpc>
            </a:pPr>
            <a:r>
              <a:rPr sz="1100" b="0">
                <a:solidFill>
                  <a:srgbClr val="000000"/>
                </a:solidFill>
                <a:latin typeface="Source Code Pro"/>
              </a:rPr>
              <a:t>You're a release inspector: in one hour it will demo in front of strangers.</a:t>
            </a:r>
          </a:p>
          <a:p>
            <a:pPr algn="l">
              <a:lnSpc>
                <a:spcPct val="140000"/>
              </a:lnSpc>
            </a:pPr>
            <a:r>
              <a:rPr sz="1100" b="0">
                <a:solidFill>
                  <a:srgbClr val="000000"/>
                </a:solidFill>
                <a:latin typeface="Source Code Pro"/>
              </a:rPr>
              <a:t>Give me a "final pre-release checklist": every item to confirm before the</a:t>
            </a:r>
          </a:p>
          <a:p>
            <a:pPr algn="l">
              <a:lnSpc>
                <a:spcPct val="140000"/>
              </a:lnSpc>
            </a:pPr>
            <a:r>
              <a:rPr sz="1100" b="0">
                <a:solidFill>
                  <a:srgbClr val="000000"/>
                </a:solidFill>
                <a:latin typeface="Source Code Pro"/>
              </a:rPr>
              <a:t>demo (enough power? cables seated? what's the first demo step?</a:t>
            </a:r>
          </a:p>
          <a:p>
            <a:pPr algn="l">
              <a:lnSpc>
                <a:spcPct val="140000"/>
              </a:lnSpc>
            </a:pPr>
            <a:r>
              <a:rPr sz="1100" b="0">
                <a:solidFill>
                  <a:srgbClr val="000000"/>
                </a:solidFill>
                <a:latin typeface="Source Code Pro"/>
              </a:rPr>
              <a:t>how do I save it if it fails?).</a:t>
            </a:r>
          </a:p>
        </p:txBody>
      </p:sp>
      <p:sp>
        <p:nvSpPr>
          <p:cNvPr id="9" name="Rectangle 8"/>
          <p:cNvSpPr/>
          <p:nvPr/>
        </p:nvSpPr>
        <p:spPr>
          <a:xfrm>
            <a:off x="566928" y="4114800"/>
            <a:ext cx="8010144" cy="68580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224528"/>
            <a:ext cx="7680960" cy="466344"/>
          </a:xfrm>
          <a:prstGeom prst="rect">
            <a:avLst/>
          </a:prstGeom>
          <a:noFill/>
        </p:spPr>
        <p:txBody>
          <a:bodyPr wrap="square" anchor="t" lIns="0" rIns="0" tIns="0" bIns="0">
            <a:spAutoFit/>
          </a:bodyPr>
          <a:lstStyle/>
          <a:p>
            <a:pPr algn="l">
              <a:lnSpc>
                <a:spcPct val="135000"/>
              </a:lnSpc>
            </a:pPr>
            <a:r>
              <a:rPr sz="1150" b="0">
                <a:solidFill>
                  <a:srgbClr val="000000"/>
                </a:solidFill>
                <a:latin typeface="Source Han Sans SC"/>
              </a:rPr>
              <a:t>Tick every item. "HOW DO I SAVE IT IF IT FAILS" MUST HAVE AN ANSWER — none? Use the backup: the demo photo/video from your logs.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My Project, My Story | 06 / 13</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2600" b="1">
                <a:solidFill>
                  <a:srgbClr val="000000"/>
                </a:solidFill>
                <a:latin typeface="Source Han Sans SC"/>
              </a:rPr>
              <a:t>The Engineer's Checklist — Brandy Ran These Four</a:t>
            </a:r>
          </a:p>
        </p:txBody>
      </p:sp>
      <p:sp>
        <p:nvSpPr>
          <p:cNvPr id="6" name="Rectangle 5"/>
          <p:cNvSpPr/>
          <p:nvPr/>
        </p:nvSpPr>
        <p:spPr>
          <a:xfrm>
            <a:off x="566928" y="1371600"/>
            <a:ext cx="3794760" cy="96012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94944" y="1499616"/>
            <a:ext cx="292608" cy="29260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1527048"/>
            <a:ext cx="292608" cy="292608"/>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1</a:t>
            </a:r>
          </a:p>
        </p:txBody>
      </p:sp>
      <p:sp>
        <p:nvSpPr>
          <p:cNvPr id="9" name="TextBox 8"/>
          <p:cNvSpPr txBox="1"/>
          <p:nvPr/>
        </p:nvSpPr>
        <p:spPr>
          <a:xfrm>
            <a:off x="1078992" y="1481328"/>
            <a:ext cx="3063240" cy="411480"/>
          </a:xfrm>
          <a:prstGeom prst="rect">
            <a:avLst/>
          </a:prstGeom>
          <a:noFill/>
        </p:spPr>
        <p:txBody>
          <a:bodyPr wrap="square" anchor="t" lIns="0" rIns="0" tIns="0" bIns="0">
            <a:spAutoFit/>
          </a:bodyPr>
          <a:lstStyle/>
          <a:p>
            <a:pPr algn="l">
              <a:lnSpc>
                <a:spcPct val="100000"/>
              </a:lnSpc>
            </a:pPr>
            <a:r>
              <a:rPr sz="1050" b="1">
                <a:solidFill>
                  <a:srgbClr val="000000"/>
                </a:solidFill>
                <a:latin typeface="Source Han Sans SC"/>
              </a:rPr>
              <a:t>DOES THE LIGHT COME ON IMMEDIATELY?</a:t>
            </a:r>
          </a:p>
        </p:txBody>
      </p:sp>
      <p:sp>
        <p:nvSpPr>
          <p:cNvPr id="10" name="TextBox 9"/>
          <p:cNvSpPr txBox="1"/>
          <p:nvPr/>
        </p:nvSpPr>
        <p:spPr>
          <a:xfrm>
            <a:off x="1078992" y="1938528"/>
            <a:ext cx="3063240" cy="365760"/>
          </a:xfrm>
          <a:prstGeom prst="rect">
            <a:avLst/>
          </a:prstGeom>
          <a:noFill/>
        </p:spPr>
        <p:txBody>
          <a:bodyPr wrap="square" anchor="t" lIns="0" rIns="0" tIns="0" bIns="0">
            <a:spAutoFit/>
          </a:bodyPr>
          <a:lstStyle/>
          <a:p>
            <a:pPr algn="l">
              <a:lnSpc>
                <a:spcPct val="100000"/>
              </a:lnSpc>
            </a:pPr>
            <a:r>
              <a:rPr sz="950" b="0">
                <a:solidFill>
                  <a:srgbClr val="000000"/>
                </a:solidFill>
                <a:latin typeface="Source Han Sans SC"/>
              </a:rPr>
              <a:t>the first sign of life</a:t>
            </a:r>
          </a:p>
        </p:txBody>
      </p:sp>
      <p:sp>
        <p:nvSpPr>
          <p:cNvPr id="11" name="Rectangle 10"/>
          <p:cNvSpPr/>
          <p:nvPr/>
        </p:nvSpPr>
        <p:spPr>
          <a:xfrm>
            <a:off x="4782312" y="1371600"/>
            <a:ext cx="3794760" cy="96012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910328" y="1499616"/>
            <a:ext cx="292608" cy="29260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10328" y="1527048"/>
            <a:ext cx="292608" cy="292608"/>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2</a:t>
            </a:r>
          </a:p>
        </p:txBody>
      </p:sp>
      <p:sp>
        <p:nvSpPr>
          <p:cNvPr id="14" name="TextBox 13"/>
          <p:cNvSpPr txBox="1"/>
          <p:nvPr/>
        </p:nvSpPr>
        <p:spPr>
          <a:xfrm>
            <a:off x="5294376" y="1481328"/>
            <a:ext cx="3063240" cy="411480"/>
          </a:xfrm>
          <a:prstGeom prst="rect">
            <a:avLst/>
          </a:prstGeom>
          <a:noFill/>
        </p:spPr>
        <p:txBody>
          <a:bodyPr wrap="square" anchor="t" lIns="0" rIns="0" tIns="0" bIns="0">
            <a:spAutoFit/>
          </a:bodyPr>
          <a:lstStyle/>
          <a:p>
            <a:pPr algn="l">
              <a:lnSpc>
                <a:spcPct val="100000"/>
              </a:lnSpc>
            </a:pPr>
            <a:r>
              <a:rPr sz="1050" b="1">
                <a:solidFill>
                  <a:srgbClr val="000000"/>
                </a:solidFill>
                <a:latin typeface="Source Han Sans SC"/>
              </a:rPr>
              <a:t>DOES THE RECORDING END PROPERLY?</a:t>
            </a:r>
          </a:p>
        </p:txBody>
      </p:sp>
      <p:sp>
        <p:nvSpPr>
          <p:cNvPr id="15" name="TextBox 14"/>
          <p:cNvSpPr txBox="1"/>
          <p:nvPr/>
        </p:nvSpPr>
        <p:spPr>
          <a:xfrm>
            <a:off x="5294376" y="1938528"/>
            <a:ext cx="3063240" cy="365760"/>
          </a:xfrm>
          <a:prstGeom prst="rect">
            <a:avLst/>
          </a:prstGeom>
          <a:noFill/>
        </p:spPr>
        <p:txBody>
          <a:bodyPr wrap="square" anchor="t" lIns="0" rIns="0" tIns="0" bIns="0">
            <a:spAutoFit/>
          </a:bodyPr>
          <a:lstStyle/>
          <a:p>
            <a:pPr algn="l">
              <a:lnSpc>
                <a:spcPct val="100000"/>
              </a:lnSpc>
            </a:pPr>
            <a:r>
              <a:rPr sz="950" b="0">
                <a:solidFill>
                  <a:srgbClr val="000000"/>
                </a:solidFill>
                <a:latin typeface="Source Han Sans SC"/>
              </a:rPr>
              <a:t>the run is fully captured</a:t>
            </a:r>
          </a:p>
        </p:txBody>
      </p:sp>
      <p:sp>
        <p:nvSpPr>
          <p:cNvPr id="16" name="Rectangle 15"/>
          <p:cNvSpPr/>
          <p:nvPr/>
        </p:nvSpPr>
        <p:spPr>
          <a:xfrm>
            <a:off x="566928" y="2423160"/>
            <a:ext cx="3794760" cy="96012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94944" y="2551176"/>
            <a:ext cx="292608" cy="29260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4944" y="2578608"/>
            <a:ext cx="292608" cy="292608"/>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3</a:t>
            </a:r>
          </a:p>
        </p:txBody>
      </p:sp>
      <p:sp>
        <p:nvSpPr>
          <p:cNvPr id="19" name="TextBox 18"/>
          <p:cNvSpPr txBox="1"/>
          <p:nvPr/>
        </p:nvSpPr>
        <p:spPr>
          <a:xfrm>
            <a:off x="1078992" y="2532888"/>
            <a:ext cx="3063240" cy="411480"/>
          </a:xfrm>
          <a:prstGeom prst="rect">
            <a:avLst/>
          </a:prstGeom>
          <a:noFill/>
        </p:spPr>
        <p:txBody>
          <a:bodyPr wrap="square" anchor="t" lIns="0" rIns="0" tIns="0" bIns="0">
            <a:spAutoFit/>
          </a:bodyPr>
          <a:lstStyle/>
          <a:p>
            <a:pPr algn="l">
              <a:lnSpc>
                <a:spcPct val="100000"/>
              </a:lnSpc>
            </a:pPr>
            <a:r>
              <a:rPr sz="1050" b="1">
                <a:solidFill>
                  <a:srgbClr val="000000"/>
                </a:solidFill>
                <a:latin typeface="Source Han Sans SC"/>
              </a:rPr>
              <a:t>IS THE RECOGNIZED TEXT COMPLETE?</a:t>
            </a:r>
          </a:p>
        </p:txBody>
      </p:sp>
      <p:sp>
        <p:nvSpPr>
          <p:cNvPr id="20" name="TextBox 19"/>
          <p:cNvSpPr txBox="1"/>
          <p:nvPr/>
        </p:nvSpPr>
        <p:spPr>
          <a:xfrm>
            <a:off x="1078992" y="2990088"/>
            <a:ext cx="3063240" cy="365760"/>
          </a:xfrm>
          <a:prstGeom prst="rect">
            <a:avLst/>
          </a:prstGeom>
          <a:noFill/>
        </p:spPr>
        <p:txBody>
          <a:bodyPr wrap="square" anchor="t" lIns="0" rIns="0" tIns="0" bIns="0">
            <a:spAutoFit/>
          </a:bodyPr>
          <a:lstStyle/>
          <a:p>
            <a:pPr algn="l">
              <a:lnSpc>
                <a:spcPct val="100000"/>
              </a:lnSpc>
            </a:pPr>
            <a:r>
              <a:rPr sz="950" b="0">
                <a:solidFill>
                  <a:srgbClr val="000000"/>
                </a:solidFill>
                <a:latin typeface="Source Han Sans SC"/>
              </a:rPr>
              <a:t>no half-words or dropped lines</a:t>
            </a:r>
          </a:p>
        </p:txBody>
      </p:sp>
      <p:sp>
        <p:nvSpPr>
          <p:cNvPr id="21" name="Rectangle 20"/>
          <p:cNvSpPr/>
          <p:nvPr/>
        </p:nvSpPr>
        <p:spPr>
          <a:xfrm>
            <a:off x="4782312" y="2423160"/>
            <a:ext cx="3794760" cy="96012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10328" y="2551176"/>
            <a:ext cx="292608" cy="29260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10328" y="2578608"/>
            <a:ext cx="292608" cy="292608"/>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4</a:t>
            </a:r>
          </a:p>
        </p:txBody>
      </p:sp>
      <p:sp>
        <p:nvSpPr>
          <p:cNvPr id="24" name="TextBox 23"/>
          <p:cNvSpPr txBox="1"/>
          <p:nvPr/>
        </p:nvSpPr>
        <p:spPr>
          <a:xfrm>
            <a:off x="5294376" y="2532888"/>
            <a:ext cx="3063240" cy="411480"/>
          </a:xfrm>
          <a:prstGeom prst="rect">
            <a:avLst/>
          </a:prstGeom>
          <a:noFill/>
        </p:spPr>
        <p:txBody>
          <a:bodyPr wrap="square" anchor="t" lIns="0" rIns="0" tIns="0" bIns="0">
            <a:spAutoFit/>
          </a:bodyPr>
          <a:lstStyle/>
          <a:p>
            <a:pPr algn="l">
              <a:lnSpc>
                <a:spcPct val="100000"/>
              </a:lnSpc>
            </a:pPr>
            <a:r>
              <a:rPr sz="1050" b="1">
                <a:solidFill>
                  <a:srgbClr val="000000"/>
                </a:solidFill>
                <a:latin typeface="Source Han Sans SC"/>
              </a:rPr>
              <a:t>DID THE PROMPT LAND IN THE RIGHT WINDOW?</a:t>
            </a:r>
          </a:p>
        </p:txBody>
      </p:sp>
      <p:sp>
        <p:nvSpPr>
          <p:cNvPr id="25" name="TextBox 24"/>
          <p:cNvSpPr txBox="1"/>
          <p:nvPr/>
        </p:nvSpPr>
        <p:spPr>
          <a:xfrm>
            <a:off x="5294376" y="2990088"/>
            <a:ext cx="3063240" cy="365760"/>
          </a:xfrm>
          <a:prstGeom prst="rect">
            <a:avLst/>
          </a:prstGeom>
          <a:noFill/>
        </p:spPr>
        <p:txBody>
          <a:bodyPr wrap="square" anchor="t" lIns="0" rIns="0" tIns="0" bIns="0">
            <a:spAutoFit/>
          </a:bodyPr>
          <a:lstStyle/>
          <a:p>
            <a:pPr algn="l">
              <a:lnSpc>
                <a:spcPct val="100000"/>
              </a:lnSpc>
            </a:pPr>
            <a:r>
              <a:rPr sz="950" b="0">
                <a:solidFill>
                  <a:srgbClr val="000000"/>
                </a:solidFill>
                <a:latin typeface="Source Han Sans SC"/>
              </a:rPr>
              <a:t>the project chat, not a fresh one</a:t>
            </a:r>
          </a:p>
        </p:txBody>
      </p:sp>
      <p:sp>
        <p:nvSpPr>
          <p:cNvPr id="26" name="Rectangle 25"/>
          <p:cNvSpPr/>
          <p:nvPr/>
        </p:nvSpPr>
        <p:spPr>
          <a:xfrm>
            <a:off x="566928" y="3474720"/>
            <a:ext cx="8010144" cy="59436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66928" y="3474720"/>
            <a:ext cx="64008" cy="59436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672" y="3584448"/>
            <a:ext cx="7680960" cy="411480"/>
          </a:xfrm>
          <a:prstGeom prst="rect">
            <a:avLst/>
          </a:prstGeom>
          <a:noFill/>
        </p:spPr>
        <p:txBody>
          <a:bodyPr wrap="square" anchor="t" lIns="0" rIns="0" tIns="0" bIns="0">
            <a:spAutoFit/>
          </a:bodyPr>
          <a:lstStyle/>
          <a:p>
            <a:pPr algn="l">
              <a:lnSpc>
                <a:spcPct val="100000"/>
              </a:lnSpc>
            </a:pPr>
            <a:r>
              <a:rPr sz="1200" b="1">
                <a:solidFill>
                  <a:srgbClr val="000000"/>
                </a:solidFill>
                <a:latin typeface="Source Han Sans SC"/>
              </a:rPr>
              <a:t>The first two ask: IS IT ACTUALLY WORKING? The last two ask: IS THE WORK COMPLETE?</a:t>
            </a:r>
          </a:p>
        </p:txBody>
      </p:sp>
      <p:sp>
        <p:nvSpPr>
          <p:cNvPr id="29" name="Rectangle 28"/>
          <p:cNvSpPr/>
          <p:nvPr/>
        </p:nvSpPr>
        <p:spPr>
          <a:xfrm>
            <a:off x="566928" y="4160520"/>
            <a:ext cx="8010144" cy="54864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4270248"/>
            <a:ext cx="7680960" cy="329184"/>
          </a:xfrm>
          <a:prstGeom prst="rect">
            <a:avLst/>
          </a:prstGeom>
          <a:noFill/>
        </p:spPr>
        <p:txBody>
          <a:bodyPr wrap="square" anchor="t" lIns="0" rIns="0" tIns="0" bIns="0">
            <a:spAutoFit/>
          </a:bodyPr>
          <a:lstStyle/>
          <a:p>
            <a:pPr algn="l">
              <a:lnSpc>
                <a:spcPct val="125000"/>
              </a:lnSpc>
            </a:pPr>
            <a:r>
              <a:rPr sz="1100" b="0">
                <a:solidFill>
                  <a:srgbClr val="000000"/>
                </a:solidFill>
                <a:latin typeface="Source Han Sans SC"/>
              </a:rPr>
              <a:t>Map them onto YOUR project's equivalents and copy them into your checklist.</a:t>
            </a:r>
          </a:p>
        </p:txBody>
      </p:sp>
      <p:sp>
        <p:nvSpPr>
          <p:cNvPr id="31" name="TextBox 30"/>
          <p:cNvSpPr txBox="1"/>
          <p:nvPr/>
        </p:nvSpPr>
        <p:spPr>
          <a:xfrm>
            <a:off x="566928" y="4736592"/>
            <a:ext cx="8010144" cy="329184"/>
          </a:xfrm>
          <a:prstGeom prst="rect">
            <a:avLst/>
          </a:prstGeom>
          <a:noFill/>
        </p:spPr>
        <p:txBody>
          <a:bodyPr wrap="square" anchor="t" lIns="0" rIns="0" tIns="0" bIns="0">
            <a:spAutoFit/>
          </a:bodyPr>
          <a:lstStyle/>
          <a:p>
            <a:pPr algn="ctr">
              <a:lnSpc>
                <a:spcPct val="120000"/>
              </a:lnSpc>
            </a:pPr>
            <a:r>
              <a:rPr sz="950" b="0">
                <a:solidFill>
                  <a:srgbClr val="000000"/>
                </a:solidFill>
                <a:latin typeface="Source Han Sans SC"/>
              </a:rPr>
              <a:t>Her fallback plan: serial logs, screen recording, a finished video — your "how do I save it" is exactly that.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My Project, My Story | 07 / 13</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600" b="1">
                <a:solidFill>
                  <a:srgbClr val="000000"/>
                </a:solidFill>
                <a:latin typeface="Source Han Sans SC"/>
              </a:rPr>
              <a:t>README — Ten Logs Become One</a:t>
            </a:r>
          </a:p>
        </p:txBody>
      </p:sp>
      <p:sp>
        <p:nvSpPr>
          <p:cNvPr id="6" name="TextBox 5"/>
          <p:cNvSpPr txBox="1"/>
          <p:nvPr/>
        </p:nvSpPr>
        <p:spPr>
          <a:xfrm>
            <a:off x="566928" y="1298448"/>
            <a:ext cx="8010144" cy="502920"/>
          </a:xfrm>
          <a:prstGeom prst="rect">
            <a:avLst/>
          </a:prstGeom>
          <a:noFill/>
        </p:spPr>
        <p:txBody>
          <a:bodyPr wrap="square" anchor="t" lIns="0" rIns="0" tIns="0" bIns="0">
            <a:spAutoFit/>
          </a:bodyPr>
          <a:lstStyle/>
          <a:p>
            <a:pPr algn="ctr">
              <a:lnSpc>
                <a:spcPct val="100000"/>
              </a:lnSpc>
            </a:pPr>
            <a:r>
              <a:rPr sz="1150" b="1">
                <a:solidFill>
                  <a:srgbClr val="000000"/>
                </a:solidFill>
                <a:latin typeface="Source Han Sans SC"/>
              </a:rPr>
              <a:t>Your project's "self-introduction + growth story": someone who never sees the project, reading only this, understands what it is and how it got here.</a:t>
            </a:r>
          </a:p>
        </p:txBody>
      </p:sp>
      <p:sp>
        <p:nvSpPr>
          <p:cNvPr id="7" name="Rectangle 6"/>
          <p:cNvSpPr/>
          <p:nvPr/>
        </p:nvSpPr>
        <p:spPr>
          <a:xfrm>
            <a:off x="566928" y="1901952"/>
            <a:ext cx="8010144" cy="960120"/>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993392"/>
            <a:ext cx="7717536" cy="777240"/>
          </a:xfrm>
          <a:prstGeom prst="rect">
            <a:avLst/>
          </a:prstGeom>
          <a:noFill/>
        </p:spPr>
        <p:txBody>
          <a:bodyPr wrap="square" anchor="t" lIns="0" rIns="0" tIns="0" bIns="0">
            <a:spAutoFit/>
          </a:bodyPr>
          <a:lstStyle/>
          <a:p>
            <a:pPr algn="l">
              <a:lnSpc>
                <a:spcPct val="130000"/>
              </a:lnSpc>
            </a:pPr>
            <a:r>
              <a:rPr sz="1000" b="0">
                <a:solidFill>
                  <a:srgbClr val="000000"/>
                </a:solidFill>
                <a:latin typeface="Source Code Pro"/>
              </a:rPr>
              <a:t>These are my ten lesson logs: (paste all logs)</a:t>
            </a:r>
          </a:p>
          <a:p>
            <a:pPr algn="l">
              <a:lnSpc>
                <a:spcPct val="130000"/>
              </a:lnSpc>
            </a:pPr>
            <a:r>
              <a:rPr sz="1000" b="0">
                <a:solidFill>
                  <a:srgbClr val="000000"/>
                </a:solidFill>
                <a:latin typeface="Source Code Pro"/>
              </a:rPr>
              <a:t>Using only these logs, organize them into a README with this template:</a:t>
            </a:r>
          </a:p>
          <a:p>
            <a:pPr algn="l">
              <a:lnSpc>
                <a:spcPct val="130000"/>
              </a:lnSpc>
            </a:pPr>
            <a:r>
              <a:rPr sz="1000" b="0">
                <a:solidFill>
                  <a:srgbClr val="000000"/>
                </a:solidFill>
                <a:latin typeface="Source Code Pro"/>
              </a:rPr>
              <a:t>what it's called / whose problem it solves / how to use it (3 steps max) /</a:t>
            </a:r>
          </a:p>
          <a:p>
            <a:pPr algn="l">
              <a:lnSpc>
                <a:spcPct val="130000"/>
              </a:lnSpc>
            </a:pPr>
            <a:r>
              <a:rPr sz="1000" b="0">
                <a:solidFill>
                  <a:srgbClr val="000000"/>
                </a:solidFill>
                <a:latin typeface="Source Code Pro"/>
              </a:rPr>
              <a:t>how it grew (pick 3 turning points) / what's not perfect yet / what I'd still add.</a:t>
            </a:r>
          </a:p>
          <a:p>
            <a:pPr algn="l">
              <a:lnSpc>
                <a:spcPct val="130000"/>
              </a:lnSpc>
            </a:pPr>
            <a:r>
              <a:rPr sz="1000" b="0">
                <a:solidFill>
                  <a:srgbClr val="000000"/>
                </a:solidFill>
                <a:latin typeface="Source Code Pro"/>
              </a:rPr>
              <a:t>Do not add anything I didn't write.</a:t>
            </a:r>
          </a:p>
        </p:txBody>
      </p:sp>
      <p:sp>
        <p:nvSpPr>
          <p:cNvPr id="9" name="Rectangle 8"/>
          <p:cNvSpPr/>
          <p:nvPr/>
        </p:nvSpPr>
        <p:spPr>
          <a:xfrm>
            <a:off x="566928" y="2944368"/>
            <a:ext cx="8010144" cy="1097280"/>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3035808"/>
            <a:ext cx="7717536" cy="914400"/>
          </a:xfrm>
          <a:prstGeom prst="rect">
            <a:avLst/>
          </a:prstGeom>
          <a:noFill/>
        </p:spPr>
        <p:txBody>
          <a:bodyPr wrap="square" anchor="t" lIns="0" rIns="0" tIns="0" bIns="0">
            <a:spAutoFit/>
          </a:bodyPr>
          <a:lstStyle/>
          <a:p>
            <a:pPr algn="l">
              <a:lnSpc>
                <a:spcPct val="130000"/>
              </a:lnSpc>
            </a:pPr>
            <a:r>
              <a:rPr sz="1000" b="0">
                <a:solidFill>
                  <a:srgbClr val="000000"/>
                </a:solidFill>
                <a:latin typeface="Source Code Pro"/>
              </a:rPr>
              <a:t># My Project README</a:t>
            </a:r>
          </a:p>
          <a:p>
            <a:pPr algn="l">
              <a:lnSpc>
                <a:spcPct val="130000"/>
              </a:lnSpc>
            </a:pPr>
            <a:r>
              <a:rPr sz="1000" b="0">
                <a:solidFill>
                  <a:srgbClr val="000000"/>
                </a:solidFill>
                <a:latin typeface="Source Code Pro"/>
              </a:rPr>
              <a:t>## What it's called:</a:t>
            </a:r>
          </a:p>
          <a:p>
            <a:pPr algn="l">
              <a:lnSpc>
                <a:spcPct val="130000"/>
              </a:lnSpc>
            </a:pPr>
            <a:r>
              <a:rPr sz="1000" b="0">
                <a:solidFill>
                  <a:srgbClr val="000000"/>
                </a:solidFill>
                <a:latin typeface="Source Code Pro"/>
              </a:rPr>
              <a:t>## Whose problem it solves (a real person's name):</a:t>
            </a:r>
          </a:p>
          <a:p>
            <a:pPr algn="l">
              <a:lnSpc>
                <a:spcPct val="130000"/>
              </a:lnSpc>
            </a:pPr>
            <a:r>
              <a:rPr sz="1000" b="0">
                <a:solidFill>
                  <a:srgbClr val="000000"/>
                </a:solidFill>
                <a:latin typeface="Source Code Pro"/>
              </a:rPr>
              <a:t>## How to use it (3 steps max):</a:t>
            </a:r>
          </a:p>
          <a:p>
            <a:pPr algn="l">
              <a:lnSpc>
                <a:spcPct val="130000"/>
              </a:lnSpc>
            </a:pPr>
            <a:r>
              <a:rPr sz="1000" b="0">
                <a:solidFill>
                  <a:srgbClr val="000000"/>
                </a:solidFill>
                <a:latin typeface="Source Code Pro"/>
              </a:rPr>
              <a:t>## How it grew (3 turning points: the brief / the stuck / the fix):</a:t>
            </a:r>
          </a:p>
          <a:p>
            <a:pPr algn="l">
              <a:lnSpc>
                <a:spcPct val="130000"/>
              </a:lnSpc>
            </a:pPr>
            <a:r>
              <a:rPr sz="1000" b="0">
                <a:solidFill>
                  <a:srgbClr val="000000"/>
                </a:solidFill>
                <a:latin typeface="Source Code Pro"/>
              </a:rPr>
              <a:t>## What's not perfect yet (honestly, 1–2 lines):</a:t>
            </a:r>
          </a:p>
          <a:p>
            <a:pPr algn="l">
              <a:lnSpc>
                <a:spcPct val="130000"/>
              </a:lnSpc>
            </a:pPr>
            <a:r>
              <a:rPr sz="1000" b="0">
                <a:solidFill>
                  <a:srgbClr val="000000"/>
                </a:solidFill>
                <a:latin typeface="Source Code Pro"/>
              </a:rPr>
              <a:t>## What I'd still add (pick from the "later" list):</a:t>
            </a:r>
          </a:p>
        </p:txBody>
      </p:sp>
      <p:sp>
        <p:nvSpPr>
          <p:cNvPr id="11" name="Rectangle 10"/>
          <p:cNvSpPr/>
          <p:nvPr/>
        </p:nvSpPr>
        <p:spPr>
          <a:xfrm>
            <a:off x="566928" y="4160520"/>
            <a:ext cx="8010144" cy="65836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4270248"/>
            <a:ext cx="7680960" cy="438912"/>
          </a:xfrm>
          <a:prstGeom prst="rect">
            <a:avLst/>
          </a:prstGeom>
          <a:noFill/>
        </p:spPr>
        <p:txBody>
          <a:bodyPr wrap="square" anchor="t" lIns="0" rIns="0" tIns="0" bIns="0">
            <a:spAutoFit/>
          </a:bodyPr>
          <a:lstStyle/>
          <a:p>
            <a:pPr algn="l">
              <a:lnSpc>
                <a:spcPct val="130000"/>
              </a:lnSpc>
            </a:pPr>
            <a:r>
              <a:rPr sz="1050" b="0">
                <a:solidFill>
                  <a:srgbClr val="000000"/>
                </a:solidFill>
                <a:latin typeface="Source Han Sans SC"/>
              </a:rPr>
              <a:t>Generated? Line by line: DID IT INVENT ANYTHING? Caught one? Delete it — AI will confidently invent; proofreading is YOUR job. Ten lessons in, this is the final open-book exam.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My Project, My Story | 08 / 13</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2600" b="1">
                <a:solidFill>
                  <a:srgbClr val="000000"/>
                </a:solidFill>
                <a:latin typeface="Source Han Sans SC"/>
              </a:rPr>
              <a:t>The Cost &amp; Value Math — Count Exactly Two Things</a:t>
            </a:r>
          </a:p>
        </p:txBody>
      </p:sp>
      <p:sp>
        <p:nvSpPr>
          <p:cNvPr id="6" name="Rectangle 5"/>
          <p:cNvSpPr/>
          <p:nvPr/>
        </p:nvSpPr>
        <p:spPr>
          <a:xfrm>
            <a:off x="566928" y="1298448"/>
            <a:ext cx="8010144" cy="1005840"/>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389888"/>
            <a:ext cx="7717536" cy="822960"/>
          </a:xfrm>
          <a:prstGeom prst="rect">
            <a:avLst/>
          </a:prstGeom>
          <a:noFill/>
        </p:spPr>
        <p:txBody>
          <a:bodyPr wrap="square" anchor="t" lIns="0" rIns="0" tIns="0" bIns="0">
            <a:spAutoFit/>
          </a:bodyPr>
          <a:lstStyle/>
          <a:p>
            <a:pPr algn="l">
              <a:lnSpc>
                <a:spcPct val="130000"/>
              </a:lnSpc>
            </a:pPr>
            <a:r>
              <a:rPr sz="1100" b="0">
                <a:solidFill>
                  <a:srgbClr val="000000"/>
                </a:solidFill>
                <a:latin typeface="Source Code Pro"/>
              </a:rPr>
              <a:t>Count exactly two things:</a:t>
            </a:r>
          </a:p>
          <a:p>
            <a:pPr algn="l">
              <a:lnSpc>
                <a:spcPct val="130000"/>
              </a:lnSpc>
            </a:pPr>
            <a:r>
              <a:rPr sz="1100" b="0">
                <a:solidFill>
                  <a:srgbClr val="000000"/>
                </a:solidFill>
                <a:latin typeface="Source Code Pro"/>
              </a:rPr>
              <a:t>One. What it cost — the materials list (shell materials count, even a takeout box).</a:t>
            </a:r>
          </a:p>
          <a:p>
            <a:pPr algn="l">
              <a:lnSpc>
                <a:spcPct val="130000"/>
              </a:lnSpc>
            </a:pPr>
            <a:r>
              <a:rPr sz="1100" b="0">
                <a:solidFill>
                  <a:srgbClr val="000000"/>
                </a:solidFill>
                <a:latin typeface="Source Code Pro"/>
              </a:rPr>
              <a:t>Two. What it's worth — I think it's worth ___, because ___.</a:t>
            </a:r>
          </a:p>
          <a:p>
            <a:pPr algn="l">
              <a:lnSpc>
                <a:spcPct val="130000"/>
              </a:lnSpc>
            </a:pPr>
            <a:r>
              <a:rPr sz="1100" b="0">
                <a:solidFill>
                  <a:srgbClr val="000000"/>
                </a:solidFill>
                <a:latin typeface="Source Code Pro"/>
              </a:rPr>
              <a:t>(A high price is fine — but the reason must be "it solves this problem,"</a:t>
            </a:r>
          </a:p>
          <a:p>
            <a:pPr algn="l">
              <a:lnSpc>
                <a:spcPct val="130000"/>
              </a:lnSpc>
            </a:pPr>
            <a:r>
              <a:rPr sz="1100" b="0">
                <a:solidFill>
                  <a:srgbClr val="000000"/>
                </a:solidFill>
                <a:latin typeface="Source Code Pro"/>
              </a:rPr>
              <a:t>not "I want it.")</a:t>
            </a:r>
          </a:p>
        </p:txBody>
      </p:sp>
      <p:sp>
        <p:nvSpPr>
          <p:cNvPr id="8" name="Rectangle 7"/>
          <p:cNvSpPr/>
          <p:nvPr/>
        </p:nvSpPr>
        <p:spPr>
          <a:xfrm>
            <a:off x="566928" y="2395728"/>
            <a:ext cx="3840480" cy="132588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542032"/>
            <a:ext cx="3401568" cy="320040"/>
          </a:xfrm>
          <a:prstGeom prst="rect">
            <a:avLst/>
          </a:prstGeom>
          <a:noFill/>
        </p:spPr>
        <p:txBody>
          <a:bodyPr wrap="square" anchor="t" lIns="0" rIns="0" tIns="0" bIns="0">
            <a:spAutoFit/>
          </a:bodyPr>
          <a:lstStyle/>
          <a:p>
            <a:pPr algn="l">
              <a:lnSpc>
                <a:spcPct val="100000"/>
              </a:lnSpc>
            </a:pPr>
            <a:r>
              <a:rPr sz="1300" b="1">
                <a:solidFill>
                  <a:srgbClr val="000000"/>
                </a:solidFill>
                <a:latin typeface="Source Han Sans SC"/>
              </a:rPr>
              <a:t>WHAT IT COST</a:t>
            </a:r>
          </a:p>
        </p:txBody>
      </p:sp>
      <p:sp>
        <p:nvSpPr>
          <p:cNvPr id="10" name="TextBox 9"/>
          <p:cNvSpPr txBox="1"/>
          <p:nvPr/>
        </p:nvSpPr>
        <p:spPr>
          <a:xfrm>
            <a:off x="786384" y="2926080"/>
            <a:ext cx="3401568" cy="731520"/>
          </a:xfrm>
          <a:prstGeom prst="rect">
            <a:avLst/>
          </a:prstGeom>
          <a:noFill/>
        </p:spPr>
        <p:txBody>
          <a:bodyPr wrap="square" anchor="ctr" lIns="0" rIns="0" tIns="0" bIns="0">
            <a:spAutoFit/>
          </a:bodyPr>
          <a:lstStyle/>
          <a:p>
            <a:pPr algn="ctr">
              <a:lnSpc>
                <a:spcPct val="100000"/>
              </a:lnSpc>
            </a:pPr>
            <a:r>
              <a:rPr sz="1200" b="0">
                <a:solidFill>
                  <a:srgbClr val="000000"/>
                </a:solidFill>
                <a:latin typeface="Source Han Sans SC"/>
              </a:rPr>
              <a:t>the materials list</a:t>
            </a:r>
          </a:p>
        </p:txBody>
      </p:sp>
      <p:sp>
        <p:nvSpPr>
          <p:cNvPr id="11" name="Rectangle 10"/>
          <p:cNvSpPr/>
          <p:nvPr/>
        </p:nvSpPr>
        <p:spPr>
          <a:xfrm>
            <a:off x="4736592" y="2395728"/>
            <a:ext cx="3840480" cy="1325880"/>
          </a:xfrm>
          <a:prstGeom prst="rect">
            <a:avLst/>
          </a:prstGeom>
          <a:solidFill>
            <a:srgbClr val="F3D230"/>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56048" y="2542032"/>
            <a:ext cx="3401568" cy="320040"/>
          </a:xfrm>
          <a:prstGeom prst="rect">
            <a:avLst/>
          </a:prstGeom>
          <a:noFill/>
        </p:spPr>
        <p:txBody>
          <a:bodyPr wrap="square" anchor="t" lIns="0" rIns="0" tIns="0" bIns="0">
            <a:spAutoFit/>
          </a:bodyPr>
          <a:lstStyle/>
          <a:p>
            <a:pPr algn="l">
              <a:lnSpc>
                <a:spcPct val="100000"/>
              </a:lnSpc>
            </a:pPr>
            <a:r>
              <a:rPr sz="1300" b="1">
                <a:solidFill>
                  <a:srgbClr val="000000"/>
                </a:solidFill>
                <a:latin typeface="Source Han Sans SC"/>
              </a:rPr>
              <a:t>WHAT IT'S WORTH</a:t>
            </a:r>
          </a:p>
        </p:txBody>
      </p:sp>
      <p:sp>
        <p:nvSpPr>
          <p:cNvPr id="13" name="TextBox 12"/>
          <p:cNvSpPr txBox="1"/>
          <p:nvPr/>
        </p:nvSpPr>
        <p:spPr>
          <a:xfrm>
            <a:off x="4956048" y="2926080"/>
            <a:ext cx="3401568" cy="731520"/>
          </a:xfrm>
          <a:prstGeom prst="rect">
            <a:avLst/>
          </a:prstGeom>
          <a:noFill/>
        </p:spPr>
        <p:txBody>
          <a:bodyPr wrap="square" anchor="ctr" lIns="0" rIns="0" tIns="0" bIns="0">
            <a:spAutoFit/>
          </a:bodyPr>
          <a:lstStyle/>
          <a:p>
            <a:pPr algn="ctr">
              <a:lnSpc>
                <a:spcPct val="100000"/>
              </a:lnSpc>
            </a:pPr>
            <a:r>
              <a:rPr sz="1150" b="0">
                <a:solidFill>
                  <a:srgbClr val="000000"/>
                </a:solidFill>
                <a:latin typeface="Source Han Sans SC"/>
              </a:rPr>
              <a:t>I think it's worth ___, because ___</a:t>
            </a:r>
          </a:p>
        </p:txBody>
      </p:sp>
      <p:sp>
        <p:nvSpPr>
          <p:cNvPr id="14" name="Rectangle 13"/>
          <p:cNvSpPr/>
          <p:nvPr/>
        </p:nvSpPr>
        <p:spPr>
          <a:xfrm>
            <a:off x="566928" y="3931920"/>
            <a:ext cx="8010144" cy="713232"/>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4041648"/>
            <a:ext cx="7680960" cy="493776"/>
          </a:xfrm>
          <a:prstGeom prst="rect">
            <a:avLst/>
          </a:prstGeom>
          <a:noFill/>
        </p:spPr>
        <p:txBody>
          <a:bodyPr wrap="square" anchor="t" lIns="0" rIns="0" tIns="0" bIns="0">
            <a:spAutoFit/>
          </a:bodyPr>
          <a:lstStyle/>
          <a:p>
            <a:pPr algn="l">
              <a:lnSpc>
                <a:spcPct val="130000"/>
              </a:lnSpc>
            </a:pPr>
            <a:r>
              <a:rPr sz="1200" b="0">
                <a:solidFill>
                  <a:srgbClr val="000000"/>
                </a:solidFill>
                <a:latin typeface="Source Han Sans SC"/>
              </a:rPr>
              <a:t>The reason must be "IT SOLVES THIS PROBLEM" — not "I want it." Can't make it hold? Lower the price until you can.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My Project, My Story | 09 / 13</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2800" b="1">
                <a:solidFill>
                  <a:srgbClr val="000000"/>
                </a:solidFill>
                <a:latin typeface="Source Han Sans SC"/>
              </a:rPr>
              <a:t>The One-Page Pitch — Three Hard References</a:t>
            </a:r>
          </a:p>
        </p:txBody>
      </p:sp>
      <p:sp>
        <p:nvSpPr>
          <p:cNvPr id="6" name="TextBox 5"/>
          <p:cNvSpPr txBox="1"/>
          <p:nvPr/>
        </p:nvSpPr>
        <p:spPr>
          <a:xfrm>
            <a:off x="566928" y="1298448"/>
            <a:ext cx="8010144" cy="365760"/>
          </a:xfrm>
          <a:prstGeom prst="rect">
            <a:avLst/>
          </a:prstGeom>
          <a:noFill/>
        </p:spPr>
        <p:txBody>
          <a:bodyPr wrap="square" anchor="t" lIns="0" rIns="0" tIns="0" bIns="0">
            <a:spAutoFit/>
          </a:bodyPr>
          <a:lstStyle/>
          <a:p>
            <a:pPr algn="ctr">
              <a:lnSpc>
                <a:spcPct val="100000"/>
              </a:lnSpc>
            </a:pPr>
            <a:r>
              <a:rPr sz="1200" b="1">
                <a:solidFill>
                  <a:srgbClr val="000000"/>
                </a:solidFill>
                <a:latin typeface="Source Han Sans SC"/>
              </a:rPr>
              <a:t>One page that makes someone understand and care within 2 minutes.</a:t>
            </a:r>
          </a:p>
        </p:txBody>
      </p:sp>
      <p:sp>
        <p:nvSpPr>
          <p:cNvPr id="7" name="Rectangle 6"/>
          <p:cNvSpPr/>
          <p:nvPr/>
        </p:nvSpPr>
        <p:spPr>
          <a:xfrm>
            <a:off x="566928" y="1737360"/>
            <a:ext cx="8010144" cy="1691640"/>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828800"/>
            <a:ext cx="7717536" cy="1508760"/>
          </a:xfrm>
          <a:prstGeom prst="rect">
            <a:avLst/>
          </a:prstGeom>
          <a:noFill/>
        </p:spPr>
        <p:txBody>
          <a:bodyPr wrap="square" anchor="t" lIns="0" rIns="0" tIns="0" bIns="0">
            <a:spAutoFit/>
          </a:bodyPr>
          <a:lstStyle/>
          <a:p>
            <a:pPr algn="l">
              <a:lnSpc>
                <a:spcPct val="130000"/>
              </a:lnSpc>
            </a:pPr>
            <a:r>
              <a:rPr sz="1000" b="0">
                <a:solidFill>
                  <a:srgbClr val="000000"/>
                </a:solidFill>
                <a:latin typeface="Source Code Pro"/>
              </a:rPr>
              <a:t># My One-Page Pitch</a:t>
            </a:r>
          </a:p>
          <a:p>
            <a:pPr algn="l">
              <a:lnSpc>
                <a:spcPct val="130000"/>
              </a:lnSpc>
            </a:pPr>
            <a:r>
              <a:rPr sz="1000" b="0">
                <a:solidFill>
                  <a:srgbClr val="000000"/>
                </a:solidFill>
                <a:latin typeface="Source Code Pro"/>
              </a:rPr>
              <a:t/>
            </a:r>
          </a:p>
          <a:p>
            <a:pPr algn="l">
              <a:lnSpc>
                <a:spcPct val="130000"/>
              </a:lnSpc>
            </a:pPr>
            <a:r>
              <a:rPr sz="1000" b="0">
                <a:solidFill>
                  <a:srgbClr val="000000"/>
                </a:solidFill>
                <a:latin typeface="Source Code Pro"/>
              </a:rPr>
              <a:t>## The problem (who is stuck with what — your requirements sheet's own words):</a:t>
            </a:r>
          </a:p>
          <a:p>
            <a:pPr algn="l">
              <a:lnSpc>
                <a:spcPct val="130000"/>
              </a:lnSpc>
            </a:pPr>
            <a:r>
              <a:rPr sz="1000" b="0">
                <a:solidFill>
                  <a:srgbClr val="000000"/>
                </a:solidFill>
                <a:latin typeface="Source Code Pro"/>
              </a:rPr>
              <a:t/>
            </a:r>
          </a:p>
          <a:p>
            <a:pPr algn="l">
              <a:lnSpc>
                <a:spcPct val="130000"/>
              </a:lnSpc>
            </a:pPr>
            <a:r>
              <a:rPr sz="1000" b="0">
                <a:solidFill>
                  <a:srgbClr val="000000"/>
                </a:solidFill>
                <a:latin typeface="Source Code Pro"/>
              </a:rPr>
              <a:t>## The solution (how my project fixes it + the demo move):</a:t>
            </a:r>
          </a:p>
          <a:p>
            <a:pPr algn="l">
              <a:lnSpc>
                <a:spcPct val="130000"/>
              </a:lnSpc>
            </a:pPr>
            <a:r>
              <a:rPr sz="1000" b="0">
                <a:solidFill>
                  <a:srgbClr val="000000"/>
                </a:solidFill>
                <a:latin typeface="Source Code Pro"/>
              </a:rPr>
              <a:t/>
            </a:r>
          </a:p>
          <a:p>
            <a:pPr algn="l">
              <a:lnSpc>
                <a:spcPct val="130000"/>
              </a:lnSpc>
            </a:pPr>
            <a:r>
              <a:rPr sz="1000" b="0">
                <a:solidFill>
                  <a:srgbClr val="000000"/>
                </a:solidFill>
                <a:latin typeface="Source Code Pro"/>
              </a:rPr>
              <a:t>## Who it's for (a real person from my Lesson-2 list):</a:t>
            </a:r>
          </a:p>
          <a:p>
            <a:pPr algn="l">
              <a:lnSpc>
                <a:spcPct val="130000"/>
              </a:lnSpc>
            </a:pPr>
            <a:r>
              <a:rPr sz="1000" b="0">
                <a:solidFill>
                  <a:srgbClr val="000000"/>
                </a:solidFill>
                <a:latin typeface="Source Code Pro"/>
              </a:rPr>
              <a:t/>
            </a:r>
          </a:p>
          <a:p>
            <a:pPr algn="l">
              <a:lnSpc>
                <a:spcPct val="130000"/>
              </a:lnSpc>
            </a:pPr>
            <a:r>
              <a:rPr sz="1000" b="0">
                <a:solidFill>
                  <a:srgbClr val="000000"/>
                </a:solidFill>
                <a:latin typeface="Source Code Pro"/>
              </a:rPr>
              <a:t>## What it's worth (quoting my account: it cost ___, I think it's worth ___, because ___)</a:t>
            </a:r>
          </a:p>
        </p:txBody>
      </p:sp>
      <p:sp>
        <p:nvSpPr>
          <p:cNvPr id="9" name="TextBox 8"/>
          <p:cNvSpPr txBox="1"/>
          <p:nvPr/>
        </p:nvSpPr>
        <p:spPr>
          <a:xfrm>
            <a:off x="566928" y="3584448"/>
            <a:ext cx="8010144" cy="960120"/>
          </a:xfrm>
          <a:prstGeom prst="rect">
            <a:avLst/>
          </a:prstGeom>
          <a:noFill/>
        </p:spPr>
        <p:txBody>
          <a:bodyPr wrap="square" anchor="t" lIns="0" rIns="0" tIns="0" bIns="0">
            <a:spAutoFit/>
          </a:bodyPr>
          <a:lstStyle/>
          <a:p>
            <a:pPr algn="l">
              <a:lnSpc>
                <a:spcPct val="145000"/>
              </a:lnSpc>
            </a:pPr>
            <a:r>
              <a:rPr sz="1150" b="1">
                <a:solidFill>
                  <a:srgbClr val="000000"/>
                </a:solidFill>
                <a:latin typeface="Source Han Sans SC"/>
              </a:rPr>
              <a:t>1) "THE PROBLEM" = YOUR REQUIREMENTS SHEET'S OWN WORDS</a:t>
            </a:r>
          </a:p>
          <a:p>
            <a:pPr algn="l">
              <a:lnSpc>
                <a:spcPct val="145000"/>
              </a:lnSpc>
            </a:pPr>
            <a:r>
              <a:rPr sz="1150" b="1">
                <a:solidFill>
                  <a:srgbClr val="000000"/>
                </a:solidFill>
                <a:latin typeface="Source Han Sans SC"/>
              </a:rPr>
              <a:t>2) "WHO IT'S FOR" = A REAL PERSON FROM YOUR LESSON-2 LIST</a:t>
            </a:r>
          </a:p>
          <a:p>
            <a:pPr algn="l">
              <a:lnSpc>
                <a:spcPct val="145000"/>
              </a:lnSpc>
            </a:pPr>
            <a:r>
              <a:rPr sz="1150" b="1">
                <a:solidFill>
                  <a:srgbClr val="000000"/>
                </a:solidFill>
                <a:latin typeface="Source Han Sans SC"/>
              </a:rPr>
              <a:t>3) "WHAT IT'S WORTH" = QUOTE YOUR ACCOUNT — ALL THREE REAL, AND THE PAGE HAS BONES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My Project, My Story | 10 / 13</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2600" b="1">
                <a:solidFill>
                  <a:srgbClr val="000000"/>
                </a:solidFill>
                <a:latin typeface="Source Han Sans SC"/>
              </a:rPr>
              <a:t>The AI Investor Rehearsal — Spend Your Fear Here</a:t>
            </a:r>
          </a:p>
        </p:txBody>
      </p:sp>
      <p:sp>
        <p:nvSpPr>
          <p:cNvPr id="6" name="TextBox 5"/>
          <p:cNvSpPr txBox="1"/>
          <p:nvPr/>
        </p:nvSpPr>
        <p:spPr>
          <a:xfrm>
            <a:off x="566928" y="1298448"/>
            <a:ext cx="8010144" cy="457200"/>
          </a:xfrm>
          <a:prstGeom prst="rect">
            <a:avLst/>
          </a:prstGeom>
          <a:noFill/>
        </p:spPr>
        <p:txBody>
          <a:bodyPr wrap="square" anchor="t" lIns="0" rIns="0" tIns="0" bIns="0">
            <a:spAutoFit/>
          </a:bodyPr>
          <a:lstStyle/>
          <a:p>
            <a:pPr algn="ctr">
              <a:lnSpc>
                <a:spcPct val="100000"/>
              </a:lnSpc>
            </a:pPr>
            <a:r>
              <a:rPr sz="1150" b="1">
                <a:solidFill>
                  <a:srgbClr val="000000"/>
                </a:solidFill>
                <a:latin typeface="Source Han Sans SC"/>
              </a:rPr>
              <a:t>Doesn't know tech · interrupts · only asks "So what?" and "What's it to me?"</a:t>
            </a:r>
          </a:p>
        </p:txBody>
      </p:sp>
      <p:sp>
        <p:nvSpPr>
          <p:cNvPr id="7" name="Rectangle 6"/>
          <p:cNvSpPr/>
          <p:nvPr/>
        </p:nvSpPr>
        <p:spPr>
          <a:xfrm>
            <a:off x="566928" y="1874519"/>
            <a:ext cx="8010144" cy="1417320"/>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965960"/>
            <a:ext cx="7717536" cy="1234440"/>
          </a:xfrm>
          <a:prstGeom prst="rect">
            <a:avLst/>
          </a:prstGeom>
          <a:noFill/>
        </p:spPr>
        <p:txBody>
          <a:bodyPr wrap="square" anchor="t" lIns="0" rIns="0" tIns="0" bIns="0">
            <a:spAutoFit/>
          </a:bodyPr>
          <a:lstStyle/>
          <a:p>
            <a:pPr algn="l">
              <a:lnSpc>
                <a:spcPct val="135000"/>
              </a:lnSpc>
            </a:pPr>
            <a:r>
              <a:rPr sz="1100" b="0">
                <a:solidFill>
                  <a:srgbClr val="000000"/>
                </a:solidFill>
                <a:latin typeface="Source Code Pro"/>
              </a:rPr>
              <a:t>You are an investor who understands nothing about technology.</a:t>
            </a:r>
          </a:p>
          <a:p>
            <a:pPr algn="l">
              <a:lnSpc>
                <a:spcPct val="135000"/>
              </a:lnSpc>
            </a:pPr>
            <a:r>
              <a:rPr sz="1100" b="0">
                <a:solidFill>
                  <a:srgbClr val="000000"/>
                </a:solidFill>
                <a:latin typeface="Source Code Pro"/>
              </a:rPr>
              <a:t>I'll read you my one-page pitch. You may interrupt me anytime,</a:t>
            </a:r>
          </a:p>
          <a:p>
            <a:pPr algn="l">
              <a:lnSpc>
                <a:spcPct val="135000"/>
              </a:lnSpc>
            </a:pPr>
            <a:r>
              <a:rPr sz="1100" b="0">
                <a:solidFill>
                  <a:srgbClr val="000000"/>
                </a:solidFill>
                <a:latin typeface="Source Code Pro"/>
              </a:rPr>
              <a:t>but you may only ask two kinds of questions: "So what?" and</a:t>
            </a:r>
          </a:p>
          <a:p>
            <a:pPr algn="l">
              <a:lnSpc>
                <a:spcPct val="135000"/>
              </a:lnSpc>
            </a:pPr>
            <a:r>
              <a:rPr sz="1100" b="0">
                <a:solidFill>
                  <a:srgbClr val="000000"/>
                </a:solidFill>
                <a:latin typeface="Source Code Pro"/>
              </a:rPr>
              <a:t>"What's it to me?" If you don't understand my answer,</a:t>
            </a:r>
          </a:p>
          <a:p>
            <a:pPr algn="l">
              <a:lnSpc>
                <a:spcPct val="135000"/>
              </a:lnSpc>
            </a:pPr>
            <a:r>
              <a:rPr sz="1100" b="0">
                <a:solidFill>
                  <a:srgbClr val="000000"/>
                </a:solidFill>
                <a:latin typeface="Source Code Pro"/>
              </a:rPr>
              <a:t>keep pressing until you do.</a:t>
            </a:r>
          </a:p>
        </p:txBody>
      </p:sp>
      <p:sp>
        <p:nvSpPr>
          <p:cNvPr id="9" name="Rectangle 8"/>
          <p:cNvSpPr/>
          <p:nvPr/>
        </p:nvSpPr>
        <p:spPr>
          <a:xfrm>
            <a:off x="566928" y="3429000"/>
            <a:ext cx="8010144" cy="54864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538728"/>
            <a:ext cx="7680960" cy="329184"/>
          </a:xfrm>
          <a:prstGeom prst="rect">
            <a:avLst/>
          </a:prstGeom>
          <a:noFill/>
        </p:spPr>
        <p:txBody>
          <a:bodyPr wrap="square" anchor="t" lIns="0" rIns="0" tIns="0" bIns="0">
            <a:spAutoFit/>
          </a:bodyPr>
          <a:lstStyle/>
          <a:p>
            <a:pPr algn="l">
              <a:lnSpc>
                <a:spcPct val="125000"/>
              </a:lnSpc>
            </a:pPr>
            <a:r>
              <a:rPr sz="1300" b="0">
                <a:solidFill>
                  <a:srgbClr val="000000"/>
                </a:solidFill>
                <a:latin typeface="Source Han Sans SC"/>
              </a:rPr>
              <a:t>AI starts praising? Push back — "No praise. Only 'so what?' questions."</a:t>
            </a:r>
          </a:p>
        </p:txBody>
      </p:sp>
      <p:sp>
        <p:nvSpPr>
          <p:cNvPr id="11" name="TextBox 10"/>
          <p:cNvSpPr txBox="1"/>
          <p:nvPr/>
        </p:nvSpPr>
        <p:spPr>
          <a:xfrm>
            <a:off x="566928" y="4160520"/>
            <a:ext cx="8010144" cy="502920"/>
          </a:xfrm>
          <a:prstGeom prst="rect">
            <a:avLst/>
          </a:prstGeom>
          <a:noFill/>
        </p:spPr>
        <p:txBody>
          <a:bodyPr wrap="square" anchor="t" lIns="0" rIns="0" tIns="0" bIns="0">
            <a:spAutoFit/>
          </a:bodyPr>
          <a:lstStyle/>
          <a:p>
            <a:pPr algn="ctr">
              <a:lnSpc>
                <a:spcPct val="100000"/>
              </a:lnSpc>
            </a:pPr>
            <a:r>
              <a:rPr sz="1200" b="0">
                <a:solidFill>
                  <a:srgbClr val="000000"/>
                </a:solidFill>
                <a:latin typeface="Source Han Sans SC"/>
              </a:rPr>
              <a:t>Every "I can't answer" is a gift — turn it into one line of your pitch, and nobody on stage can stump you.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My Project, My Story | 11 / 13</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2800" b="1">
                <a:solidFill>
                  <a:srgbClr val="000000"/>
                </a:solidFill>
                <a:latin typeface="Source Han Sans SC"/>
              </a:rPr>
              <a:t>The Live Roadshow — Demo First, Then Talk</a:t>
            </a:r>
          </a:p>
        </p:txBody>
      </p:sp>
      <p:sp>
        <p:nvSpPr>
          <p:cNvPr id="6" name="TextBox 5"/>
          <p:cNvSpPr txBox="1"/>
          <p:nvPr/>
        </p:nvSpPr>
        <p:spPr>
          <a:xfrm>
            <a:off x="566928" y="1325880"/>
            <a:ext cx="8010144" cy="1280160"/>
          </a:xfrm>
          <a:prstGeom prst="rect">
            <a:avLst/>
          </a:prstGeom>
          <a:noFill/>
        </p:spPr>
        <p:txBody>
          <a:bodyPr wrap="square" anchor="t" lIns="0" rIns="0" tIns="0" bIns="0">
            <a:spAutoFit/>
          </a:bodyPr>
          <a:lstStyle/>
          <a:p>
            <a:pPr algn="l">
              <a:lnSpc>
                <a:spcPct val="150000"/>
              </a:lnSpc>
            </a:pPr>
            <a:r>
              <a:rPr sz="1600" b="1">
                <a:solidFill>
                  <a:srgbClr val="000000"/>
                </a:solidFill>
                <a:latin typeface="Source Han Sans SC"/>
              </a:rPr>
              <a:t>1) DEMO FIRST, THEN TALK — THE THING REALLY MOVING SAYS MORE THAN ANYTHING</a:t>
            </a:r>
          </a:p>
          <a:p>
            <a:pPr algn="l">
              <a:lnSpc>
                <a:spcPct val="150000"/>
              </a:lnSpc>
            </a:pPr>
            <a:r>
              <a:rPr sz="1600" b="1">
                <a:solidFill>
                  <a:srgbClr val="000000"/>
                </a:solidFill>
                <a:latin typeface="Source Han Sans SC"/>
              </a:rPr>
              <a:t>2) 2 MINUTES EACH — THE HOURGLASS EXEMPTS NOBODY</a:t>
            </a:r>
          </a:p>
          <a:p>
            <a:pPr algn="l">
              <a:lnSpc>
                <a:spcPct val="150000"/>
              </a:lnSpc>
            </a:pPr>
            <a:r>
              <a:rPr sz="1600" b="1">
                <a:solidFill>
                  <a:srgbClr val="000000"/>
                </a:solidFill>
                <a:latin typeface="Source Han Sans SC"/>
              </a:rPr>
              <a:t>3) EVERY DESK ROTATES — EACH DESK SENDS ONE PERSON TO THE STAGE</a:t>
            </a:r>
          </a:p>
        </p:txBody>
      </p:sp>
      <p:sp>
        <p:nvSpPr>
          <p:cNvPr id="7" name="Rectangle 6"/>
          <p:cNvSpPr/>
          <p:nvPr/>
        </p:nvSpPr>
        <p:spPr>
          <a:xfrm>
            <a:off x="566928" y="2697480"/>
            <a:ext cx="8010144" cy="77724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807208"/>
            <a:ext cx="7680960" cy="557784"/>
          </a:xfrm>
          <a:prstGeom prst="rect">
            <a:avLst/>
          </a:prstGeom>
          <a:noFill/>
        </p:spPr>
        <p:txBody>
          <a:bodyPr wrap="square" anchor="t" lIns="0" rIns="0" tIns="0" bIns="0">
            <a:spAutoFit/>
          </a:bodyPr>
          <a:lstStyle/>
          <a:p>
            <a:pPr algn="l">
              <a:lnSpc>
                <a:spcPct val="135000"/>
              </a:lnSpc>
            </a:pPr>
            <a:r>
              <a:rPr sz="1150" b="0">
                <a:solidFill>
                  <a:srgbClr val="000000"/>
                </a:solidFill>
                <a:latin typeface="Source Han Sans SC"/>
              </a:rPr>
              <a:t>Your job: 3 votes, cast after hearing everyone, for the project you'd MOST WANT TO SEE REALLY EXIST — you can't vote for yourself.</a:t>
            </a:r>
          </a:p>
        </p:txBody>
      </p:sp>
      <p:sp>
        <p:nvSpPr>
          <p:cNvPr id="9" name="Rectangle 8"/>
          <p:cNvSpPr/>
          <p:nvPr/>
        </p:nvSpPr>
        <p:spPr>
          <a:xfrm>
            <a:off x="566928" y="3566160"/>
            <a:ext cx="64008" cy="658368"/>
          </a:xfrm>
          <a:prstGeom prst="rect">
            <a:avLst/>
          </a:prstGeom>
          <a:solidFill>
            <a:srgbClr val="D841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31520" y="3675887"/>
            <a:ext cx="100584" cy="100584"/>
          </a:xfrm>
          <a:prstGeom prst="ellipse">
            <a:avLst/>
          </a:prstGeom>
          <a:solidFill>
            <a:srgbClr val="D841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3621024"/>
            <a:ext cx="7507223" cy="320040"/>
          </a:xfrm>
          <a:prstGeom prst="rect">
            <a:avLst/>
          </a:prstGeom>
          <a:noFill/>
        </p:spPr>
        <p:txBody>
          <a:bodyPr wrap="square" anchor="t" lIns="0" rIns="0" tIns="0" bIns="0">
            <a:spAutoFit/>
          </a:bodyPr>
          <a:lstStyle/>
          <a:p>
            <a:pPr algn="l">
              <a:lnSpc>
                <a:spcPct val="100000"/>
              </a:lnSpc>
            </a:pPr>
            <a:r>
              <a:rPr sz="1800" b="1">
                <a:solidFill>
                  <a:srgbClr val="000000"/>
                </a:solidFill>
                <a:latin typeface="Source Han Sans SC"/>
              </a:rPr>
              <a:t>THE HOURGLASS EXEMPTS NOBODY</a:t>
            </a:r>
          </a:p>
        </p:txBody>
      </p:sp>
      <p:sp>
        <p:nvSpPr>
          <p:cNvPr id="12" name="TextBox 11"/>
          <p:cNvSpPr txBox="1"/>
          <p:nvPr/>
        </p:nvSpPr>
        <p:spPr>
          <a:xfrm>
            <a:off x="932688" y="3950208"/>
            <a:ext cx="7507223" cy="201167"/>
          </a:xfrm>
          <a:prstGeom prst="rect">
            <a:avLst/>
          </a:prstGeom>
          <a:noFill/>
        </p:spPr>
        <p:txBody>
          <a:bodyPr wrap="square" anchor="t" lIns="0" rIns="0" tIns="0" bIns="0">
            <a:spAutoFit/>
          </a:bodyPr>
          <a:lstStyle/>
          <a:p>
            <a:pPr algn="l">
              <a:lnSpc>
                <a:spcPct val="100000"/>
              </a:lnSpc>
            </a:pPr>
            <a:r>
              <a:rPr sz="1300" b="0">
                <a:solidFill>
                  <a:srgbClr val="000000"/>
                </a:solidFill>
                <a:latin typeface="Source Han Sans SC"/>
              </a:rPr>
              <a:t>can't say it in 2 minutes = not clear yet. Finish that sentence, then wrap.</a:t>
            </a:r>
          </a:p>
        </p:txBody>
      </p:sp>
      <p:sp>
        <p:nvSpPr>
          <p:cNvPr id="13" name="Rectangle 12"/>
          <p:cNvSpPr/>
          <p:nvPr/>
        </p:nvSpPr>
        <p:spPr>
          <a:xfrm>
            <a:off x="566928" y="4297680"/>
            <a:ext cx="8010144" cy="502920"/>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4389120"/>
            <a:ext cx="7717536" cy="320040"/>
          </a:xfrm>
          <a:prstGeom prst="rect">
            <a:avLst/>
          </a:prstGeom>
          <a:noFill/>
        </p:spPr>
        <p:txBody>
          <a:bodyPr wrap="square" anchor="t" lIns="0" rIns="0" tIns="0" bIns="0">
            <a:spAutoFit/>
          </a:bodyPr>
          <a:lstStyle/>
          <a:p>
            <a:pPr algn="l">
              <a:lnSpc>
                <a:spcPct val="120000"/>
              </a:lnSpc>
            </a:pPr>
            <a:r>
              <a:rPr sz="850" b="0">
                <a:solidFill>
                  <a:srgbClr val="000000"/>
                </a:solidFill>
                <a:latin typeface="Source Code Pro"/>
              </a:rPr>
              <a:t>ROADSHOW SELF-CHECK — tick before your turn:</a:t>
            </a:r>
          </a:p>
          <a:p>
            <a:pPr algn="l">
              <a:lnSpc>
                <a:spcPct val="120000"/>
              </a:lnSpc>
            </a:pPr>
            <a:r>
              <a:rPr sz="850" b="0">
                <a:solidFill>
                  <a:srgbClr val="000000"/>
                </a:solidFill>
                <a:latin typeface="Source Code Pro"/>
              </a:rPr>
              <a:t>[ ] demo first: I can say my first demo step from memory</a:t>
            </a:r>
          </a:p>
          <a:p>
            <a:pPr algn="l">
              <a:lnSpc>
                <a:spcPct val="120000"/>
              </a:lnSpc>
            </a:pPr>
            <a:r>
              <a:rPr sz="850" b="0">
                <a:solidFill>
                  <a:srgbClr val="000000"/>
                </a:solidFill>
                <a:latin typeface="Source Code Pro"/>
              </a:rPr>
              <a:t>[ ] five clean demos in a row   [ ] fits in 2 minutes (timed once)</a:t>
            </a:r>
          </a:p>
          <a:p>
            <a:pPr algn="l">
              <a:lnSpc>
                <a:spcPct val="120000"/>
              </a:lnSpc>
            </a:pPr>
            <a:r>
              <a:rPr sz="850" b="0">
                <a:solidFill>
                  <a:srgbClr val="000000"/>
                </a:solidFill>
                <a:latin typeface="Source Code Pro"/>
              </a:rPr>
              <a:t>[ ] four pitch boxes, none longer than two sentences</a:t>
            </a:r>
          </a:p>
          <a:p>
            <a:pPr algn="l">
              <a:lnSpc>
                <a:spcPct val="120000"/>
              </a:lnSpc>
            </a:pPr>
            <a:r>
              <a:rPr sz="850" b="0">
                <a:solidFill>
                  <a:srgbClr val="000000"/>
                </a:solidFill>
                <a:latin typeface="Source Code Pro"/>
              </a:rPr>
              <a:t>[ ] "who it's for" is a real person; "what it's worth" quotes my account</a:t>
            </a:r>
          </a:p>
          <a:p>
            <a:pPr algn="l">
              <a:lnSpc>
                <a:spcPct val="120000"/>
              </a:lnSpc>
            </a:pPr>
            <a:r>
              <a:rPr sz="850" b="0">
                <a:solidFill>
                  <a:srgbClr val="000000"/>
                </a:solidFill>
                <a:latin typeface="Source Code Pro"/>
              </a:rPr>
              <a:t>[ ] survived one round of "so what?" questions</a:t>
            </a:r>
          </a:p>
          <a:p>
            <a:pPr algn="l">
              <a:lnSpc>
                <a:spcPct val="120000"/>
              </a:lnSpc>
            </a:pPr>
            <a:r>
              <a:rPr sz="850" b="0">
                <a:solidFill>
                  <a:srgbClr val="000000"/>
                </a:solidFill>
                <a:latin typeface="Source Code Pro"/>
              </a:rPr>
              <a:t>[ ] backup in place: photo/video if the project dies</a:t>
            </a:r>
          </a:p>
          <a:p>
            <a:pPr algn="l">
              <a:lnSpc>
                <a:spcPct val="120000"/>
              </a:lnSpc>
            </a:pPr>
            <a:r>
              <a:rPr sz="850" b="0">
                <a:solidFill>
                  <a:srgbClr val="000000"/>
                </a:solidFill>
                <a:latin typeface="Source Code Pro"/>
              </a:rPr>
              <a:t>[ ] I have an answer for "how do I save it if it fails"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My Project, My Story | 12 / 13</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2600" b="1">
                <a:solidFill>
                  <a:srgbClr val="000000"/>
                </a:solidFill>
                <a:latin typeface="Source Han Sans SC"/>
              </a:rPr>
              <a:t>Which One Would You Most Want to See Really Exist?</a:t>
            </a:r>
          </a:p>
        </p:txBody>
      </p:sp>
      <p:sp>
        <p:nvSpPr>
          <p:cNvPr id="6" name="TextBox 5"/>
          <p:cNvSpPr txBox="1"/>
          <p:nvPr/>
        </p:nvSpPr>
        <p:spPr>
          <a:xfrm>
            <a:off x="566928" y="2103120"/>
            <a:ext cx="8010144" cy="731520"/>
          </a:xfrm>
          <a:prstGeom prst="rect">
            <a:avLst/>
          </a:prstGeom>
          <a:noFill/>
        </p:spPr>
        <p:txBody>
          <a:bodyPr wrap="square" anchor="ctr" lIns="0" rIns="0" tIns="0" bIns="0">
            <a:spAutoFit/>
          </a:bodyPr>
          <a:lstStyle/>
          <a:p>
            <a:pPr algn="ctr">
              <a:lnSpc>
                <a:spcPct val="100000"/>
              </a:lnSpc>
            </a:pPr>
            <a:r>
              <a:rPr sz="2400" b="1">
                <a:solidFill>
                  <a:srgbClr val="000000"/>
                </a:solidFill>
                <a:latin typeface="Source Han Sans SC"/>
              </a:rPr>
              <a:t>3 VOTES — FOR OTHER PEOPLE'S PROJECTS. NOT YOURSELF.</a:t>
            </a:r>
          </a:p>
        </p:txBody>
      </p:sp>
      <p:sp>
        <p:nvSpPr>
          <p:cNvPr id="7" name="TextBox 6"/>
          <p:cNvSpPr txBox="1"/>
          <p:nvPr/>
        </p:nvSpPr>
        <p:spPr>
          <a:xfrm>
            <a:off x="566928" y="3840480"/>
            <a:ext cx="8010144" cy="457200"/>
          </a:xfrm>
          <a:prstGeom prst="rect">
            <a:avLst/>
          </a:prstGeom>
          <a:noFill/>
        </p:spPr>
        <p:txBody>
          <a:bodyPr wrap="square" anchor="t" lIns="0" rIns="0" tIns="0" bIns="0">
            <a:spAutoFit/>
          </a:bodyPr>
          <a:lstStyle/>
          <a:p>
            <a:pPr algn="ctr">
              <a:lnSpc>
                <a:spcPct val="100000"/>
              </a:lnSpc>
            </a:pPr>
            <a:r>
              <a:rPr sz="1150" b="0">
                <a:solidFill>
                  <a:srgbClr val="000000"/>
                </a:solidFill>
                <a:latin typeface="Source Han Sans SC"/>
              </a:rPr>
              <a:t>Zero votes? The teacher names one specific highlight for every project — nobody walks away empty.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My Project, My Story | 13 / 13</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2800" b="1">
                <a:solidFill>
                  <a:srgbClr val="000000"/>
                </a:solidFill>
                <a:latin typeface="Source Han Sans SC"/>
              </a:rPr>
              <a:t>The Closing Ceremony — Ten Lessons, All Lit</a:t>
            </a:r>
          </a:p>
        </p:txBody>
      </p:sp>
      <p:sp>
        <p:nvSpPr>
          <p:cNvPr id="6" name="Rectangle 5"/>
          <p:cNvSpPr/>
          <p:nvPr/>
        </p:nvSpPr>
        <p:spPr>
          <a:xfrm>
            <a:off x="566928" y="1335024"/>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298448"/>
            <a:ext cx="7699248" cy="219456"/>
          </a:xfrm>
          <a:prstGeom prst="rect">
            <a:avLst/>
          </a:prstGeom>
          <a:noFill/>
        </p:spPr>
        <p:txBody>
          <a:bodyPr wrap="square" anchor="t" lIns="0" rIns="0" tIns="0" bIns="0">
            <a:spAutoFit/>
          </a:bodyPr>
          <a:lstStyle/>
          <a:p>
            <a:pPr algn="l">
              <a:lnSpc>
                <a:spcPct val="100000"/>
              </a:lnSpc>
            </a:pPr>
            <a:r>
              <a:rPr sz="1100" b="0">
                <a:solidFill>
                  <a:srgbClr val="000000"/>
                </a:solidFill>
                <a:latin typeface="Source Han Sans SC"/>
              </a:rPr>
              <a:t>Lesson 1 — you lit your first lamp</a:t>
            </a:r>
          </a:p>
        </p:txBody>
      </p:sp>
      <p:sp>
        <p:nvSpPr>
          <p:cNvPr id="8" name="Rectangle 7"/>
          <p:cNvSpPr/>
          <p:nvPr/>
        </p:nvSpPr>
        <p:spPr>
          <a:xfrm>
            <a:off x="566928" y="1563624"/>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527048"/>
            <a:ext cx="7699248" cy="219456"/>
          </a:xfrm>
          <a:prstGeom prst="rect">
            <a:avLst/>
          </a:prstGeom>
          <a:noFill/>
        </p:spPr>
        <p:txBody>
          <a:bodyPr wrap="square" anchor="t" lIns="0" rIns="0" tIns="0" bIns="0">
            <a:spAutoFit/>
          </a:bodyPr>
          <a:lstStyle/>
          <a:p>
            <a:pPr algn="l">
              <a:lnSpc>
                <a:spcPct val="100000"/>
              </a:lnSpc>
            </a:pPr>
            <a:r>
              <a:rPr sz="1100" b="0">
                <a:solidFill>
                  <a:srgbClr val="000000"/>
                </a:solidFill>
                <a:latin typeface="Source Han Sans SC"/>
              </a:rPr>
              <a:t>Lesson 2 — you found a question worth doing</a:t>
            </a:r>
          </a:p>
        </p:txBody>
      </p:sp>
      <p:sp>
        <p:nvSpPr>
          <p:cNvPr id="10" name="Rectangle 9"/>
          <p:cNvSpPr/>
          <p:nvPr/>
        </p:nvSpPr>
        <p:spPr>
          <a:xfrm>
            <a:off x="566928" y="1792224"/>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7824" y="1755648"/>
            <a:ext cx="7699248" cy="219456"/>
          </a:xfrm>
          <a:prstGeom prst="rect">
            <a:avLst/>
          </a:prstGeom>
          <a:noFill/>
        </p:spPr>
        <p:txBody>
          <a:bodyPr wrap="square" anchor="t" lIns="0" rIns="0" tIns="0" bIns="0">
            <a:spAutoFit/>
          </a:bodyPr>
          <a:lstStyle/>
          <a:p>
            <a:pPr algn="l">
              <a:lnSpc>
                <a:spcPct val="100000"/>
              </a:lnSpc>
            </a:pPr>
            <a:r>
              <a:rPr sz="1100" b="0">
                <a:solidFill>
                  <a:srgbClr val="000000"/>
                </a:solidFill>
                <a:latin typeface="Source Han Sans SC"/>
              </a:rPr>
              <a:t>Lesson 3 — your project grew a screen</a:t>
            </a:r>
          </a:p>
        </p:txBody>
      </p:sp>
      <p:sp>
        <p:nvSpPr>
          <p:cNvPr id="12" name="Rectangle 11"/>
          <p:cNvSpPr/>
          <p:nvPr/>
        </p:nvSpPr>
        <p:spPr>
          <a:xfrm>
            <a:off x="566928" y="2020824"/>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1984248"/>
            <a:ext cx="7699248" cy="219456"/>
          </a:xfrm>
          <a:prstGeom prst="rect">
            <a:avLst/>
          </a:prstGeom>
          <a:noFill/>
        </p:spPr>
        <p:txBody>
          <a:bodyPr wrap="square" anchor="t" lIns="0" rIns="0" tIns="0" bIns="0">
            <a:spAutoFit/>
          </a:bodyPr>
          <a:lstStyle/>
          <a:p>
            <a:pPr algn="l">
              <a:lnSpc>
                <a:spcPct val="100000"/>
              </a:lnSpc>
            </a:pPr>
            <a:r>
              <a:rPr sz="1100" b="0">
                <a:solidFill>
                  <a:srgbClr val="000000"/>
                </a:solidFill>
                <a:latin typeface="Source Han Sans SC"/>
              </a:rPr>
              <a:t>Lesson 4 — you got an AI team</a:t>
            </a:r>
          </a:p>
        </p:txBody>
      </p:sp>
      <p:sp>
        <p:nvSpPr>
          <p:cNvPr id="14" name="Rectangle 13"/>
          <p:cNvSpPr/>
          <p:nvPr/>
        </p:nvSpPr>
        <p:spPr>
          <a:xfrm>
            <a:off x="566928" y="2249424"/>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212848"/>
            <a:ext cx="7699248" cy="219456"/>
          </a:xfrm>
          <a:prstGeom prst="rect">
            <a:avLst/>
          </a:prstGeom>
          <a:noFill/>
        </p:spPr>
        <p:txBody>
          <a:bodyPr wrap="square" anchor="t" lIns="0" rIns="0" tIns="0" bIns="0">
            <a:spAutoFit/>
          </a:bodyPr>
          <a:lstStyle/>
          <a:p>
            <a:pPr algn="l">
              <a:lnSpc>
                <a:spcPct val="100000"/>
              </a:lnSpc>
            </a:pPr>
            <a:r>
              <a:rPr sz="1100" b="0">
                <a:solidFill>
                  <a:srgbClr val="000000"/>
                </a:solidFill>
                <a:latin typeface="Source Han Sans SC"/>
              </a:rPr>
              <a:t>Lesson 5 — you taught hardware to see</a:t>
            </a:r>
          </a:p>
        </p:txBody>
      </p:sp>
      <p:sp>
        <p:nvSpPr>
          <p:cNvPr id="16" name="Rectangle 15"/>
          <p:cNvSpPr/>
          <p:nvPr/>
        </p:nvSpPr>
        <p:spPr>
          <a:xfrm>
            <a:off x="566928" y="2478024"/>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7824" y="2441448"/>
            <a:ext cx="7699248" cy="219456"/>
          </a:xfrm>
          <a:prstGeom prst="rect">
            <a:avLst/>
          </a:prstGeom>
          <a:noFill/>
        </p:spPr>
        <p:txBody>
          <a:bodyPr wrap="square" anchor="t" lIns="0" rIns="0" tIns="0" bIns="0">
            <a:spAutoFit/>
          </a:bodyPr>
          <a:lstStyle/>
          <a:p>
            <a:pPr algn="l">
              <a:lnSpc>
                <a:spcPct val="100000"/>
              </a:lnSpc>
            </a:pPr>
            <a:r>
              <a:rPr sz="1100" b="0">
                <a:solidFill>
                  <a:srgbClr val="000000"/>
                </a:solidFill>
                <a:latin typeface="Source Han Sans SC"/>
              </a:rPr>
              <a:t>Lesson 6 — you moved your project home</a:t>
            </a:r>
          </a:p>
        </p:txBody>
      </p:sp>
      <p:sp>
        <p:nvSpPr>
          <p:cNvPr id="18" name="Rectangle 17"/>
          <p:cNvSpPr/>
          <p:nvPr/>
        </p:nvSpPr>
        <p:spPr>
          <a:xfrm>
            <a:off x="566928" y="2706624"/>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7824" y="2670048"/>
            <a:ext cx="7699248" cy="219456"/>
          </a:xfrm>
          <a:prstGeom prst="rect">
            <a:avLst/>
          </a:prstGeom>
          <a:noFill/>
        </p:spPr>
        <p:txBody>
          <a:bodyPr wrap="square" anchor="t" lIns="0" rIns="0" tIns="0" bIns="0">
            <a:spAutoFit/>
          </a:bodyPr>
          <a:lstStyle/>
          <a:p>
            <a:pPr algn="l">
              <a:lnSpc>
                <a:spcPct val="100000"/>
              </a:lnSpc>
            </a:pPr>
            <a:r>
              <a:rPr sz="1100" b="0">
                <a:solidFill>
                  <a:srgbClr val="000000"/>
                </a:solidFill>
                <a:latin typeface="Source Han Sans SC"/>
              </a:rPr>
              <a:t>Lesson 7 — you briefed it</a:t>
            </a:r>
          </a:p>
        </p:txBody>
      </p:sp>
      <p:sp>
        <p:nvSpPr>
          <p:cNvPr id="20" name="Rectangle 19"/>
          <p:cNvSpPr/>
          <p:nvPr/>
        </p:nvSpPr>
        <p:spPr>
          <a:xfrm>
            <a:off x="566928" y="2935224"/>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2898648"/>
            <a:ext cx="7699248" cy="219456"/>
          </a:xfrm>
          <a:prstGeom prst="rect">
            <a:avLst/>
          </a:prstGeom>
          <a:noFill/>
        </p:spPr>
        <p:txBody>
          <a:bodyPr wrap="square" anchor="t" lIns="0" rIns="0" tIns="0" bIns="0">
            <a:spAutoFit/>
          </a:bodyPr>
          <a:lstStyle/>
          <a:p>
            <a:pPr algn="l">
              <a:lnSpc>
                <a:spcPct val="100000"/>
              </a:lnSpc>
            </a:pPr>
            <a:r>
              <a:rPr sz="1100" b="0">
                <a:solidFill>
                  <a:srgbClr val="000000"/>
                </a:solidFill>
                <a:latin typeface="Source Han Sans SC"/>
              </a:rPr>
              <a:t>Lesson 8 — you ran the first lap</a:t>
            </a:r>
          </a:p>
        </p:txBody>
      </p:sp>
      <p:sp>
        <p:nvSpPr>
          <p:cNvPr id="22" name="Rectangle 21"/>
          <p:cNvSpPr/>
          <p:nvPr/>
        </p:nvSpPr>
        <p:spPr>
          <a:xfrm>
            <a:off x="566928" y="3163824"/>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7824" y="3127248"/>
            <a:ext cx="7699248" cy="219456"/>
          </a:xfrm>
          <a:prstGeom prst="rect">
            <a:avLst/>
          </a:prstGeom>
          <a:noFill/>
        </p:spPr>
        <p:txBody>
          <a:bodyPr wrap="square" anchor="t" lIns="0" rIns="0" tIns="0" bIns="0">
            <a:spAutoFit/>
          </a:bodyPr>
          <a:lstStyle/>
          <a:p>
            <a:pPr algn="l">
              <a:lnSpc>
                <a:spcPct val="100000"/>
              </a:lnSpc>
            </a:pPr>
            <a:r>
              <a:rPr sz="1100" b="0">
                <a:solidFill>
                  <a:srgbClr val="000000"/>
                </a:solidFill>
                <a:latin typeface="Source Han Sans SC"/>
              </a:rPr>
              <a:t>Lesson 9 — you called in reinforcements</a:t>
            </a:r>
          </a:p>
        </p:txBody>
      </p:sp>
      <p:sp>
        <p:nvSpPr>
          <p:cNvPr id="24" name="Rectangle 23"/>
          <p:cNvSpPr/>
          <p:nvPr/>
        </p:nvSpPr>
        <p:spPr>
          <a:xfrm>
            <a:off x="566928" y="3392424"/>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7824" y="3355848"/>
            <a:ext cx="7699248" cy="219456"/>
          </a:xfrm>
          <a:prstGeom prst="rect">
            <a:avLst/>
          </a:prstGeom>
          <a:noFill/>
        </p:spPr>
        <p:txBody>
          <a:bodyPr wrap="square" anchor="t" lIns="0" rIns="0" tIns="0" bIns="0">
            <a:spAutoFit/>
          </a:bodyPr>
          <a:lstStyle/>
          <a:p>
            <a:pPr algn="l">
              <a:lnSpc>
                <a:spcPct val="100000"/>
              </a:lnSpc>
            </a:pPr>
            <a:r>
              <a:rPr sz="1300" b="0">
                <a:solidFill>
                  <a:srgbClr val="000000"/>
                </a:solidFill>
                <a:latin typeface="Source Han Sans SC"/>
              </a:rPr>
              <a:t>TODAY — YOU TOLD ITS STORY</a:t>
            </a:r>
          </a:p>
        </p:txBody>
      </p:sp>
      <p:sp>
        <p:nvSpPr>
          <p:cNvPr id="26" name="Rectangle 25"/>
          <p:cNvSpPr/>
          <p:nvPr/>
        </p:nvSpPr>
        <p:spPr>
          <a:xfrm>
            <a:off x="566928" y="3657600"/>
            <a:ext cx="8010144" cy="4114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3767328"/>
            <a:ext cx="7680960" cy="192024"/>
          </a:xfrm>
          <a:prstGeom prst="rect">
            <a:avLst/>
          </a:prstGeom>
          <a:noFill/>
        </p:spPr>
        <p:txBody>
          <a:bodyPr wrap="square" anchor="t" lIns="0" rIns="0" tIns="0" bIns="0">
            <a:spAutoFit/>
          </a:bodyPr>
          <a:lstStyle/>
          <a:p>
            <a:pPr algn="l">
              <a:lnSpc>
                <a:spcPct val="120000"/>
              </a:lnSpc>
            </a:pPr>
            <a:r>
              <a:rPr sz="1150" b="0">
                <a:solidFill>
                  <a:srgbClr val="000000"/>
                </a:solidFill>
                <a:latin typeface="Source Han Sans SC"/>
              </a:rPr>
              <a:t>You're not the one watching the magic anymore — you're the one making it.</a:t>
            </a:r>
          </a:p>
        </p:txBody>
      </p:sp>
      <p:sp>
        <p:nvSpPr>
          <p:cNvPr id="28" name="TextBox 27"/>
          <p:cNvSpPr txBox="1"/>
          <p:nvPr/>
        </p:nvSpPr>
        <p:spPr>
          <a:xfrm>
            <a:off x="566928" y="4069080"/>
            <a:ext cx="8010144" cy="256032"/>
          </a:xfrm>
          <a:prstGeom prst="rect">
            <a:avLst/>
          </a:prstGeom>
          <a:noFill/>
        </p:spPr>
        <p:txBody>
          <a:bodyPr wrap="square" anchor="t" lIns="0" rIns="0" tIns="0" bIns="0">
            <a:spAutoFit/>
          </a:bodyPr>
          <a:lstStyle/>
          <a:p>
            <a:pPr algn="ctr">
              <a:lnSpc>
                <a:spcPct val="100000"/>
              </a:lnSpc>
            </a:pPr>
            <a:r>
              <a:rPr sz="1100" b="1">
                <a:solidFill>
                  <a:srgbClr val="000000"/>
                </a:solidFill>
                <a:latin typeface="Source Han Sans SC"/>
              </a:rPr>
              <a:t>The "did" line — THE PROUDEST THING I MADE IN TEN LESSONS IS ___.</a:t>
            </a:r>
          </a:p>
        </p:txBody>
      </p:sp>
      <p:sp>
        <p:nvSpPr>
          <p:cNvPr id="29" name="Rectangle 28"/>
          <p:cNvSpPr/>
          <p:nvPr/>
        </p:nvSpPr>
        <p:spPr>
          <a:xfrm>
            <a:off x="566928" y="4389120"/>
            <a:ext cx="8010144" cy="329184"/>
          </a:xfrm>
          <a:prstGeom prst="rect">
            <a:avLst/>
          </a:prstGeom>
          <a:solidFill>
            <a:srgbClr val="D841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3232" y="4443984"/>
            <a:ext cx="7717536" cy="256032"/>
          </a:xfrm>
          <a:prstGeom prst="rect">
            <a:avLst/>
          </a:prstGeom>
          <a:noFill/>
        </p:spPr>
        <p:txBody>
          <a:bodyPr wrap="square" anchor="t" lIns="0" rIns="0" tIns="0" bIns="0">
            <a:spAutoFit/>
          </a:bodyPr>
          <a:lstStyle/>
          <a:p>
            <a:pPr algn="ctr">
              <a:lnSpc>
                <a:spcPct val="100000"/>
              </a:lnSpc>
            </a:pPr>
            <a:r>
              <a:rPr sz="1100" b="1">
                <a:solidFill>
                  <a:srgbClr val="FFFFFF"/>
                </a:solidFill>
                <a:latin typeface="Source Han Sans SC"/>
              </a:rPr>
              <a:t>THE CEREMONY BEGINS 15 MINUTES BEFORE THE END — NO SITUATION CUTS IT.</a:t>
            </a:r>
          </a:p>
        </p:txBody>
      </p:sp>
      <p:sp>
        <p:nvSpPr>
          <p:cNvPr id="31" name="Rectangle 30"/>
          <p:cNvSpPr/>
          <p:nvPr/>
        </p:nvSpPr>
        <p:spPr>
          <a:xfrm>
            <a:off x="566928" y="4773168"/>
            <a:ext cx="8010144" cy="329184"/>
          </a:xfrm>
          <a:prstGeom prst="rect">
            <a:avLst/>
          </a:prstGeom>
          <a:solidFill>
            <a:srgbClr val="D841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4828032"/>
            <a:ext cx="7717536" cy="256032"/>
          </a:xfrm>
          <a:prstGeom prst="rect">
            <a:avLst/>
          </a:prstGeom>
          <a:noFill/>
        </p:spPr>
        <p:txBody>
          <a:bodyPr wrap="square" anchor="t" lIns="0" rIns="0" tIns="0" bIns="0">
            <a:spAutoFit/>
          </a:bodyPr>
          <a:lstStyle/>
          <a:p>
            <a:pPr algn="ctr">
              <a:lnSpc>
                <a:spcPct val="100000"/>
              </a:lnSpc>
            </a:pPr>
            <a:r>
              <a:rPr sz="1050" b="1">
                <a:solidFill>
                  <a:srgbClr val="FFFFFF"/>
                </a:solidFill>
                <a:latin typeface="Source Han Sans SC"/>
              </a:rPr>
              <a:t>THE PHOTO — HANDS ONLY, NEVER FACES. Hold up your project, hands up, backs to the camera.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