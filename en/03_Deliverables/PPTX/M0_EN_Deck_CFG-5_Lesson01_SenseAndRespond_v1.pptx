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 loops before class. Open with silence, then one welcome line and go straight to the live demo — the cover is not a talking page. Board render on the right (existing kit asset).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projector is background; the star is the instructor typing live in front of the class, slowly, so everyone sees plain language going in. Three rounds build in the same conversation (this is the silent first demo of 'add one more line'). Say nothing until the board sends SOS; the laughter and the 'ohhhh' are the point. Nothing Chinese goes on screen — the demo was chosen exactly for this. Demo fails -&gt; cut to the backup recording (video asset on the asset checklist, slide 02) within 30 seconds: 'The board in this video is identical to the ones on your desks — you'll do the real thing yourselves in a minute.' Not an incident.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30-second 'landing' of the whole session. Say it once, hot off the demo (verbatim from the Teacher's Guide): 'I'm on a website called Codecraft. I told AI in three plain sentences what I wanted. AI wrote it out as instructions the board understands — that stuff is called code. Once, a person had to type every line by hand; today it typed them for me. Then the computer moved the instructions through this cable into the board — that step is called flashing. Once it's in, the board remembers — even unplugged. I wrote zero lines of code. Three sentences, and it's sending a distress signal.' Without this page, students remember 'the teacher does magic'; with it, they remember 'I can do this too.'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pauses are the soul of this bit. Pause two seconds after each; let the 'yes' come out of their mouths: 'Number one: did I just write any code? (pause) Number two: who in this room knows how to code? (pause — probably no hands) Number three: without knowing a single line of code, could you make that thing I just made? (pause) Yes. That's this course.' Don't rush; don't answer for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three cards fast (about 3 min), then the three house rules (30 s, verbatim): 'One: you don't need to understand the code AI writes — your job is to say it clearly, watch what happens, and tell it to change. Two: no hand-written code — not because code doesn't matter, but because this course trains something more valuable than code. Three: when you're stuck, say so — ask your AI first, then your neighbor, then raise your hand.' Then point at the 8-step map on the whiteboard (2 min, names only, no expansion): 'Most people think AI only helps with step four — the code. Not this course: all eight steps, you learn to make AI your partner. Today we take steps three and four.' Hard time-box: 5 min total for map + rules.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course trains six skills: spot a problem, find the user, build it, make trade-offs, judge quality, tell the story. AI writes the code — these six, it can't do for you. Today we practice two: build it, and tell the story of how you built it.' Keep it light; all six come back by doing. Two cells highlighted (build it / tell the story) — the pair today's session actually trains.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Self-disclose first, one real small thing of your own (I want AI to remind my mom to drink water — swap in your own; the smaller, the better): 'With your neighbor, 15 seconds each — 'the one thing I'd most like AI to do for me'. I'll go first — ...' Dead silence? Self-disclose one more, even smaller ('I want AI to remind me to grab my keys when I leave'), then call directly on the student you know best. Never let silence run past 10 seconds. TA notes the gold answers — reusable in later sessions.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 open your browser, go to codecraft.seeed.cc — the site I used in the demo. It's called Codecraft. It's where you talk to AI, and where AI writes the instructions for your board. Log in with the account on your seat card. Just log in — don't click around yet.' Before the next segment starts, login problems must be at zero — TA circulates fixing against the paper seat map.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seen, ideas explained. Next thirty minutes are yours — every single board in this room lights up your own name. No exceptions.' Clean section page — no timing, no handout info.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 seconds max, no theory. Hold up a real board and point as you go (verbatim from the Teacher's Guide). End with: 'Today you're going to make it speak your name. Now — plug in the USB cable, one end in the computer, one end in the board.'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board's full name: the Grove Beginner Kit for Arduino — in class, just 'the starter kit'. One of the best Arduino starter kits out there: no soldering, no complicated wiring — your only job is making it do what you say. Next four pages: meet its parts, fast.'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'Its eyes and ears.' — 'This one feels light, this one feels sound, this one feels heat and moisture, this one feels air pressure, this one can feel being touched or shaken. The dark-detecting light in a minute uses that 'eye' — the light sensor.'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'Its face and voice.' — 'The screen shows words, the light glows, the buzzer beeps. Your name lights up on this little screen today.'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you operate it.' — 'These two are for you: a button and a knob. Press, twist — the board can feel both. Build 3 will put them to work.'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the brain — the main board in the middle. The instructions AI writes all live here. This row of Grove ports around the edge is for later: snap a module off, plug it out, build something bigger. Not today — today nothing snaps.'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and lead the whole class in lockstep; don't let fast students run ahead (a fast one connects early — have them wait; don't let the pack scatter). 'This step is called connecting. What's it for? Getting the computer and the board talking — the instructions AI wrote need to travel down this USB cable into the board.' TA watches two things: popup never appearing (browser problem) and accidental Deny clicks (just click connect again). Serial list empty? Nine times out of ten the cable carries power but no data — swap the cable. Fix within 2 minutes, else swap to a spare machine.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pass at spell one: one thing at a time. Not 'set up the lights, screen and speaker'. Say 'display my name in large text on the screen'. One thing, said clearly, and it gets it right.' Write that sentence in a corner of the whiteboard and leave it there all session.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largest type of the deck (36 pt class). Read each spell once, then have the class read it back with you — the standard posture for all of today's conversations. The lines match the Teacher's Guide verbatim (14:30 'The two spells').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new words first (20 s): 'Generate — AI is writing the instructions. Compile — it's translating them into what the board understands. Flash — moving the translated instructions down the USB cable into the board. Once they're in, the board remembers. Unplug it — still remembers.' Then demo once slowly, then hand over: your name in English letters (Chinese glyphs are unreliable on this board — light English first, guaranteed; want to try Chinese? If it won't display, switch back to English and teach it Chinese later). You never type for a student — their hands, their success. 10 minutes without lighting up — swap to a spare board, don't fix. TA hands out 'LIT' flags one by one as boards light.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'Everyone — hold up your boards! (wait for the whole room) From this moment, you're people who can make hardware do what you say. Look at the camera —' TA sweeps first: anyone still dark gets lit before joining the photo — nobody photographs a dark board. Photo is also log material and the end-of-course comparison shot: one landscape, one portrait. Compose around raised boards and screens; backs of heads and hands are fine.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'It's yours now. Add an effect you want — blinking name, a beep when it appears, an emoji, make it scroll. Your pick. ... Effect not right? Don't delete, don't restart — add one line in the same conversation, like 'no, I want it to blink faster'. AI remembers what you said before.' After about 3 min, table show and tell: 30 seconds each — what effect did you add, and how did you tell AI? Project the 'broke it, then fixed it' conversations, not the flashiest — the class needs to see that fixing it back is the normal everyday move. Student dumps everything on AI at once? 'Nice appetite. But directors shoot one scene at a time — pick one effect and make it solid, then shoot the next scene.'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Examples only, no jargon; give these 5 minutes their full due. Have the class read the six words back with you: 'sense, logic, output.' Keep the 'mom' example — the room laughs every time. Optional local swap: replace the first two examples with something everyone in town has seen (the sensor light at the corner shop, the rice cooker at home); keep 'mom.'</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one, we do it together: a light that turns on when it's dark. Tell AI — 'When the light gets dim, turn on the LED; when it gets bright, turn it off.' Send, flash. Now — everyone, cover the light sensor on your board with your hand — (lights come on across the room, one after another) — look at that. A room full of night lights.' Make the cover-test a moment: 'Three, two, one — cover!' Sluggish light = teaching point, loud enough for the room: 'It thinks your spot isn't dark enough. What do you do? Tell AI — 'make it more sensitive.'' — spell two in action, live. Then fill the 3 boxes back in (15:25–15:30): 'What did we just do? Sense — the light. Logic — dark means on. Output — the LED. Fill the boxes, that simple. Now you're going to fill the boxes yourselves — whatever you fill, you build.'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question you ask while circulating is always: 'What are your three boxes?' Can't answer? Use the analogy: 'In your build, which part is the automatic door's eye?' Student only stacks outputs with no sensor? 'Cool — now make it perform only when [some condition] happens.' The moment the class's first error appears — stop the whole room for 1 minute and switch to slide 25.</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Deliberately no red on this page: the point is to de-dramatize errors. Stop the room for 1 minute, project that student's screen, walk them through the move together: 'See? An error isn't a broken thing. It's AI talking to you. It wrote the problem out — you just forward it back.' Backup if the class somehow produces no error: project the prepared 'make the board fly' conversation from Rehearsal 4 and teach the point anyway.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build. One-line brief: make something that reacts. What it reacts to, how it reacts — all yours. Wanted to upgrade your earlier build instead? Go for it.' Fast students: only release challenge directions you've rehearsed and run yourself — a fast student crashing with no one to catch them is on you. Still fast? Make them the teacher: they explain their build to a neighbor in 3 boxes; next lesson they officially TA. Build only 'displays' instead of 'reacts'? 'It can already talk. Now give it an eye — it only speaks when ___.'</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log ever: you model it first with your own four sentences, including where YOU got stuck — you show weakness first, and they'll tell the truth. 'I got stuck on ___' is a required field; 'I didn't get stuck' → 'Went too smoothly? Then write down what you're worried about.' Someone accepts AI's log wholesale? Project the prepared 'AI got caught making stuff up' screenshot and teach the proofreading responsibility on the spot — today's hidden bonus teaching point. Project 2 builds: the cleverest combination + one rescued after a crash.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fast, preview then dismiss: 'Today's logs are all saved — that's the growth story of your builds. By the end of the course it'll be worth more than the builds themselves. Next time, we do something even more important: find the problem worth building all the way to the end. Start thinking on the way home — what's one small thing in your daily life that annoys you? Class dismissed!' Leaving them wanting more is the best way to end.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Sense and Respond | 01 / 28</a:t>
            </a:r>
          </a:p>
        </p:txBody>
      </p:sp>
      <p:sp>
        <p:nvSpPr>
          <p:cNvPr id="4" name="TextBox 3"/>
          <p:cNvSpPr txBox="1"/>
          <p:nvPr/>
        </p:nvSpPr>
        <p:spPr>
          <a:xfrm>
            <a:off x="566928" y="1234440"/>
            <a:ext cx="5303520" cy="320040"/>
          </a:xfrm>
          <a:prstGeom prst="rect">
            <a:avLst/>
          </a:prstGeom>
          <a:noFill/>
        </p:spPr>
        <p:txBody>
          <a:bodyPr wrap="square" anchor="t" lIns="0" rIns="0" tIns="0" bIns="0">
            <a:spAutoFit/>
          </a:bodyPr>
          <a:lstStyle/>
          <a:p>
            <a:pPr algn="l">
              <a:lnSpc>
                <a:spcPct val="100000"/>
              </a:lnSpc>
            </a:pPr>
            <a:r>
              <a:rPr sz="1400" b="0">
                <a:solidFill>
                  <a:srgbClr val="000000"/>
                </a:solidFill>
                <a:latin typeface="Source Han Sans SC"/>
              </a:rPr>
              <a:t>Chaihuo Maker Academy · Smart Hardware Fundamentals (M0)</a:t>
            </a:r>
          </a:p>
        </p:txBody>
      </p:sp>
      <p:sp>
        <p:nvSpPr>
          <p:cNvPr id="5" name="TextBox 4"/>
          <p:cNvSpPr txBox="1"/>
          <p:nvPr/>
        </p:nvSpPr>
        <p:spPr>
          <a:xfrm>
            <a:off x="566928" y="1572768"/>
            <a:ext cx="5303520" cy="777240"/>
          </a:xfrm>
          <a:prstGeom prst="rect">
            <a:avLst/>
          </a:prstGeom>
          <a:noFill/>
        </p:spPr>
        <p:txBody>
          <a:bodyPr wrap="square" anchor="t" lIns="0" rIns="0" tIns="0" bIns="0">
            <a:spAutoFit/>
          </a:bodyPr>
          <a:lstStyle/>
          <a:p>
            <a:pPr algn="l">
              <a:lnSpc>
                <a:spcPct val="100000"/>
              </a:lnSpc>
            </a:pPr>
            <a:r>
              <a:rPr sz="4400" b="1">
                <a:solidFill>
                  <a:srgbClr val="000000"/>
                </a:solidFill>
                <a:latin typeface="Source Han Sans SC"/>
              </a:rPr>
              <a:t>Sense and Respond</a:t>
            </a:r>
          </a:p>
        </p:txBody>
      </p:sp>
      <p:sp>
        <p:nvSpPr>
          <p:cNvPr id="6" name="Rectangle 5"/>
          <p:cNvSpPr/>
          <p:nvPr/>
        </p:nvSpPr>
        <p:spPr>
          <a:xfrm>
            <a:off x="566928" y="2395728"/>
            <a:ext cx="1463040" cy="54864"/>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2697480"/>
            <a:ext cx="5303520" cy="365760"/>
          </a:xfrm>
          <a:prstGeom prst="rect">
            <a:avLst/>
          </a:prstGeom>
          <a:noFill/>
        </p:spPr>
        <p:txBody>
          <a:bodyPr wrap="square" anchor="t" lIns="0" rIns="0" tIns="0" bIns="0">
            <a:spAutoFit/>
          </a:bodyPr>
          <a:lstStyle/>
          <a:p>
            <a:pPr algn="l">
              <a:lnSpc>
                <a:spcPct val="100000"/>
              </a:lnSpc>
            </a:pPr>
            <a:r>
              <a:rPr sz="1500" b="0">
                <a:solidFill>
                  <a:srgbClr val="000000"/>
                </a:solidFill>
                <a:latin typeface="Source Han Sans SC"/>
              </a:rPr>
              <a:t>Grove Beginner Kit · IoT Starter Board · M0 Lesson 1</a:t>
            </a:r>
          </a:p>
        </p:txBody>
      </p:sp>
      <p:sp>
        <p:nvSpPr>
          <p:cNvPr id="8" name="TextBox 7"/>
          <p:cNvSpPr txBox="1"/>
          <p:nvPr/>
        </p:nvSpPr>
        <p:spPr>
          <a:xfrm>
            <a:off x="566928" y="3200400"/>
            <a:ext cx="5303520" cy="457200"/>
          </a:xfrm>
          <a:prstGeom prst="rect">
            <a:avLst/>
          </a:prstGeom>
          <a:noFill/>
        </p:spPr>
        <p:txBody>
          <a:bodyPr wrap="square" anchor="t" lIns="0" rIns="0" tIns="0" bIns="0">
            <a:spAutoFit/>
          </a:bodyPr>
          <a:lstStyle/>
          <a:p>
            <a:pPr algn="l">
              <a:lnSpc>
                <a:spcPct val="100000"/>
              </a:lnSpc>
            </a:pPr>
            <a:r>
              <a:rPr sz="1800" b="1">
                <a:solidFill>
                  <a:srgbClr val="000000"/>
                </a:solidFill>
                <a:latin typeface="Source Han Sans SC"/>
              </a:rPr>
              <a:t>Can't write code? Good. This course doesn't need it.</a:t>
            </a:r>
          </a:p>
        </p:txBody>
      </p:sp>
      <p:pic>
        <p:nvPicPr>
          <p:cNvPr id="9" name="Picture 8" descr="L1_板子全貌图_Grove Beginner Kit.png"/>
          <p:cNvPicPr>
            <a:picLocks noChangeAspect="1"/>
          </p:cNvPicPr>
          <p:nvPr/>
        </p:nvPicPr>
        <p:blipFill>
          <a:blip r:embed="rId2"/>
          <a:stretch>
            <a:fillRect/>
          </a:stretch>
        </p:blipFill>
        <p:spPr>
          <a:xfrm>
            <a:off x="6035040" y="1371600"/>
            <a:ext cx="2926080" cy="2194560"/>
          </a:xfrm>
          <a:prstGeom prst="rect">
            <a:avLst/>
          </a:prstGeom>
        </p:spPr>
      </p:pic>
      <p:sp>
        <p:nvSpPr>
          <p:cNvPr id="10" name="TextBox 9"/>
          <p:cNvSpPr txBox="1"/>
          <p:nvPr/>
        </p:nvSpPr>
        <p:spPr>
          <a:xfrm>
            <a:off x="6035040" y="3657600"/>
            <a:ext cx="2926080" cy="274320"/>
          </a:xfrm>
          <a:prstGeom prst="rect">
            <a:avLst/>
          </a:prstGeom>
          <a:noFill/>
        </p:spPr>
        <p:txBody>
          <a:bodyPr wrap="square" anchor="t" lIns="0" rIns="0" tIns="0" bIns="0">
            <a:spAutoFit/>
          </a:bodyPr>
          <a:lstStyle/>
          <a:p>
            <a:pPr algn="ctr">
              <a:lnSpc>
                <a:spcPct val="100000"/>
              </a:lnSpc>
            </a:pPr>
            <a:r>
              <a:rPr sz="1200" b="0">
                <a:solidFill>
                  <a:srgbClr val="000000"/>
                </a:solidFill>
                <a:latin typeface="Source Han Sans SC"/>
              </a:rPr>
              <a:t>Grove Beginner Kit for Arduino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Sense and Respond | 02 / 28</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600" b="1">
                <a:solidFill>
                  <a:srgbClr val="000000"/>
                </a:solidFill>
                <a:latin typeface="Source Han Sans SC"/>
              </a:rPr>
              <a:t>Three Sentences, and the Board Sends a Distress Signal</a:t>
            </a:r>
          </a:p>
        </p:txBody>
      </p:sp>
      <p:sp>
        <p:nvSpPr>
          <p:cNvPr id="6" name="Rectangle 5"/>
          <p:cNvSpPr/>
          <p:nvPr/>
        </p:nvSpPr>
        <p:spPr>
          <a:xfrm>
            <a:off x="566928" y="1234440"/>
            <a:ext cx="8010144" cy="21488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371600"/>
            <a:ext cx="7461504" cy="1874519"/>
          </a:xfrm>
          <a:prstGeom prst="rect">
            <a:avLst/>
          </a:prstGeom>
          <a:noFill/>
        </p:spPr>
        <p:txBody>
          <a:bodyPr wrap="square" anchor="t" lIns="0" rIns="0" tIns="0" bIns="0">
            <a:spAutoFit/>
          </a:bodyPr>
          <a:lstStyle/>
          <a:p>
            <a:pPr algn="l">
              <a:lnSpc>
                <a:spcPct val="135000"/>
              </a:lnSpc>
            </a:pPr>
            <a:r>
              <a:rPr sz="1150" b="0">
                <a:solidFill>
                  <a:srgbClr val="F3D230"/>
                </a:solidFill>
                <a:latin typeface="Source Code Pro"/>
              </a:rPr>
              <a:t>Round 1  "Write a program that makes the Beginner Kit LED blink every 500 ms."</a:t>
            </a:r>
          </a:p>
          <a:p>
            <a:pPr algn="l">
              <a:lnSpc>
                <a:spcPct val="135000"/>
              </a:lnSpc>
            </a:pPr>
            <a:r>
              <a:rPr sz="1150" b="0">
                <a:solidFill>
                  <a:srgbClr val="F3D230"/>
                </a:solidFill>
                <a:latin typeface="Source Code Pro"/>
              </a:rPr>
              <a:t/>
            </a:r>
          </a:p>
          <a:p>
            <a:pPr algn="l">
              <a:lnSpc>
                <a:spcPct val="135000"/>
              </a:lnSpc>
            </a:pPr>
            <a:r>
              <a:rPr sz="1150" b="0">
                <a:solidFill>
                  <a:srgbClr val="F3D230"/>
                </a:solidFill>
                <a:latin typeface="Source Code Pro"/>
              </a:rPr>
              <a:t>Round 2  "While the LED is on, the buzzer beeps; when the LED is off, stop."</a:t>
            </a:r>
          </a:p>
          <a:p>
            <a:pPr algn="l">
              <a:lnSpc>
                <a:spcPct val="135000"/>
              </a:lnSpc>
            </a:pPr>
            <a:r>
              <a:rPr sz="1150" b="0">
                <a:solidFill>
                  <a:srgbClr val="F3D230"/>
                </a:solidFill>
                <a:latin typeface="Source Code Pro"/>
              </a:rPr>
              <a:t/>
            </a:r>
          </a:p>
          <a:p>
            <a:pPr algn="l">
              <a:lnSpc>
                <a:spcPct val="135000"/>
              </a:lnSpc>
            </a:pPr>
            <a:r>
              <a:rPr sz="1150" b="0">
                <a:solidFill>
                  <a:srgbClr val="F3D230"/>
                </a:solidFill>
                <a:latin typeface="Source Code Pro"/>
              </a:rPr>
              <a:t>Round 3  "Use Morse code to send a repeating sound-and-light SOS."</a:t>
            </a:r>
          </a:p>
        </p:txBody>
      </p:sp>
      <p:sp>
        <p:nvSpPr>
          <p:cNvPr id="8" name="TextBox 7"/>
          <p:cNvSpPr txBox="1"/>
          <p:nvPr/>
        </p:nvSpPr>
        <p:spPr>
          <a:xfrm>
            <a:off x="566928" y="3520440"/>
            <a:ext cx="8010144" cy="320040"/>
          </a:xfrm>
          <a:prstGeom prst="rect">
            <a:avLst/>
          </a:prstGeom>
          <a:noFill/>
        </p:spPr>
        <p:txBody>
          <a:bodyPr wrap="square" anchor="t" lIns="0" rIns="0" tIns="0" bIns="0">
            <a:spAutoFit/>
          </a:bodyPr>
          <a:lstStyle/>
          <a:p>
            <a:pPr algn="ctr">
              <a:lnSpc>
                <a:spcPct val="100000"/>
              </a:lnSpc>
            </a:pPr>
            <a:r>
              <a:rPr sz="1700" b="1">
                <a:solidFill>
                  <a:srgbClr val="000000"/>
                </a:solidFill>
                <a:latin typeface="Source Code Pro"/>
              </a:rPr>
              <a:t>SOS = ... --- ... (three short, three long, three short)</a:t>
            </a:r>
          </a:p>
        </p:txBody>
      </p:sp>
      <p:sp>
        <p:nvSpPr>
          <p:cNvPr id="9" name="TextBox 8"/>
          <p:cNvSpPr txBox="1"/>
          <p:nvPr/>
        </p:nvSpPr>
        <p:spPr>
          <a:xfrm>
            <a:off x="566928" y="3931920"/>
            <a:ext cx="8010144" cy="502920"/>
          </a:xfrm>
          <a:prstGeom prst="rect">
            <a:avLst/>
          </a:prstGeom>
          <a:noFill/>
        </p:spPr>
        <p:txBody>
          <a:bodyPr wrap="square" anchor="t" lIns="0" rIns="0" tIns="0" bIns="0">
            <a:spAutoFit/>
          </a:bodyPr>
          <a:lstStyle/>
          <a:p>
            <a:pPr algn="ctr">
              <a:lnSpc>
                <a:spcPct val="100000"/>
              </a:lnSpc>
            </a:pPr>
            <a:r>
              <a:rPr sz="1400" b="0">
                <a:solidFill>
                  <a:srgbClr val="000000"/>
                </a:solidFill>
                <a:latin typeface="Source Han Sans SC"/>
              </a:rPr>
              <a:t>Watch closely: he's typing plain English, not code — and all three lines go in the SAME conversation.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Sense and Respond | 03 / 28</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What Just Happened?</a:t>
            </a:r>
          </a:p>
        </p:txBody>
      </p:sp>
      <p:sp>
        <p:nvSpPr>
          <p:cNvPr id="6" name="Rectangle 5"/>
          <p:cNvSpPr/>
          <p:nvPr/>
        </p:nvSpPr>
        <p:spPr>
          <a:xfrm>
            <a:off x="566928" y="1298448"/>
            <a:ext cx="384048" cy="38404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35024"/>
            <a:ext cx="384048"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01</a:t>
            </a:r>
          </a:p>
        </p:txBody>
      </p:sp>
      <p:sp>
        <p:nvSpPr>
          <p:cNvPr id="8" name="TextBox 7"/>
          <p:cNvSpPr txBox="1"/>
          <p:nvPr/>
        </p:nvSpPr>
        <p:spPr>
          <a:xfrm>
            <a:off x="1115568" y="1316736"/>
            <a:ext cx="4480560" cy="365760"/>
          </a:xfrm>
          <a:prstGeom prst="rect">
            <a:avLst/>
          </a:prstGeom>
          <a:noFill/>
        </p:spPr>
        <p:txBody>
          <a:bodyPr wrap="square" anchor="t" lIns="0" rIns="0" tIns="0" bIns="0">
            <a:spAutoFit/>
          </a:bodyPr>
          <a:lstStyle/>
          <a:p>
            <a:pPr algn="l">
              <a:lnSpc>
                <a:spcPct val="100000"/>
              </a:lnSpc>
            </a:pPr>
            <a:r>
              <a:rPr sz="1600" b="1">
                <a:solidFill>
                  <a:srgbClr val="000000"/>
                </a:solidFill>
                <a:latin typeface="Source Han Sans SC"/>
              </a:rPr>
              <a:t>I said it in plain English</a:t>
            </a:r>
          </a:p>
        </p:txBody>
      </p:sp>
      <p:sp>
        <p:nvSpPr>
          <p:cNvPr id="9" name="TextBox 8"/>
          <p:cNvSpPr txBox="1"/>
          <p:nvPr/>
        </p:nvSpPr>
        <p:spPr>
          <a:xfrm>
            <a:off x="5669280" y="1316736"/>
            <a:ext cx="2926080" cy="502920"/>
          </a:xfrm>
          <a:prstGeom prst="rect">
            <a:avLst/>
          </a:prstGeom>
          <a:noFill/>
        </p:spPr>
        <p:txBody>
          <a:bodyPr wrap="square" anchor="t" lIns="0" rIns="0" tIns="0" bIns="0">
            <a:spAutoFit/>
          </a:bodyPr>
          <a:lstStyle/>
          <a:p>
            <a:pPr algn="l">
              <a:lnSpc>
                <a:spcPct val="100000"/>
              </a:lnSpc>
            </a:pPr>
            <a:r>
              <a:rPr sz="1350" b="0">
                <a:solidFill>
                  <a:srgbClr val="000000"/>
                </a:solidFill>
                <a:latin typeface="Source Han Sans SC"/>
              </a:rPr>
              <a:t>(a website called Codecraft)</a:t>
            </a:r>
          </a:p>
        </p:txBody>
      </p:sp>
      <p:sp>
        <p:nvSpPr>
          <p:cNvPr id="10" name="Rectangle 9"/>
          <p:cNvSpPr/>
          <p:nvPr/>
        </p:nvSpPr>
        <p:spPr>
          <a:xfrm>
            <a:off x="566928" y="1865376"/>
            <a:ext cx="384048" cy="38404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1901952"/>
            <a:ext cx="384048"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02</a:t>
            </a:r>
          </a:p>
        </p:txBody>
      </p:sp>
      <p:sp>
        <p:nvSpPr>
          <p:cNvPr id="12" name="TextBox 11"/>
          <p:cNvSpPr txBox="1"/>
          <p:nvPr/>
        </p:nvSpPr>
        <p:spPr>
          <a:xfrm>
            <a:off x="1115568" y="1883664"/>
            <a:ext cx="4480560" cy="365760"/>
          </a:xfrm>
          <a:prstGeom prst="rect">
            <a:avLst/>
          </a:prstGeom>
          <a:noFill/>
        </p:spPr>
        <p:txBody>
          <a:bodyPr wrap="square" anchor="t" lIns="0" rIns="0" tIns="0" bIns="0">
            <a:spAutoFit/>
          </a:bodyPr>
          <a:lstStyle/>
          <a:p>
            <a:pPr algn="l">
              <a:lnSpc>
                <a:spcPct val="100000"/>
              </a:lnSpc>
            </a:pPr>
            <a:r>
              <a:rPr sz="1600" b="1">
                <a:solidFill>
                  <a:srgbClr val="000000"/>
                </a:solidFill>
                <a:latin typeface="Source Han Sans SC"/>
              </a:rPr>
              <a:t>AI wrote it as instructions</a:t>
            </a:r>
          </a:p>
        </p:txBody>
      </p:sp>
      <p:sp>
        <p:nvSpPr>
          <p:cNvPr id="13" name="TextBox 12"/>
          <p:cNvSpPr txBox="1"/>
          <p:nvPr/>
        </p:nvSpPr>
        <p:spPr>
          <a:xfrm>
            <a:off x="5669280" y="1883664"/>
            <a:ext cx="2926080" cy="502920"/>
          </a:xfrm>
          <a:prstGeom prst="rect">
            <a:avLst/>
          </a:prstGeom>
          <a:noFill/>
        </p:spPr>
        <p:txBody>
          <a:bodyPr wrap="square" anchor="t" lIns="0" rIns="0" tIns="0" bIns="0">
            <a:spAutoFit/>
          </a:bodyPr>
          <a:lstStyle/>
          <a:p>
            <a:pPr algn="l">
              <a:lnSpc>
                <a:spcPct val="100000"/>
              </a:lnSpc>
            </a:pPr>
            <a:r>
              <a:rPr sz="1350" b="0">
                <a:solidFill>
                  <a:srgbClr val="000000"/>
                </a:solidFill>
                <a:latin typeface="Source Han Sans SC"/>
              </a:rPr>
              <a:t>(that stuff is called code)</a:t>
            </a:r>
          </a:p>
        </p:txBody>
      </p:sp>
      <p:sp>
        <p:nvSpPr>
          <p:cNvPr id="14" name="Rectangle 13"/>
          <p:cNvSpPr/>
          <p:nvPr/>
        </p:nvSpPr>
        <p:spPr>
          <a:xfrm>
            <a:off x="566928" y="2432304"/>
            <a:ext cx="384048" cy="38404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468880"/>
            <a:ext cx="384048"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03</a:t>
            </a:r>
          </a:p>
        </p:txBody>
      </p:sp>
      <p:sp>
        <p:nvSpPr>
          <p:cNvPr id="16" name="TextBox 15"/>
          <p:cNvSpPr txBox="1"/>
          <p:nvPr/>
        </p:nvSpPr>
        <p:spPr>
          <a:xfrm>
            <a:off x="1115568" y="2450592"/>
            <a:ext cx="4480560" cy="365760"/>
          </a:xfrm>
          <a:prstGeom prst="rect">
            <a:avLst/>
          </a:prstGeom>
          <a:noFill/>
        </p:spPr>
        <p:txBody>
          <a:bodyPr wrap="square" anchor="t" lIns="0" rIns="0" tIns="0" bIns="0">
            <a:spAutoFit/>
          </a:bodyPr>
          <a:lstStyle/>
          <a:p>
            <a:pPr algn="l">
              <a:lnSpc>
                <a:spcPct val="100000"/>
              </a:lnSpc>
            </a:pPr>
            <a:r>
              <a:rPr sz="1600" b="1">
                <a:solidFill>
                  <a:srgbClr val="000000"/>
                </a:solidFill>
                <a:latin typeface="Source Han Sans SC"/>
              </a:rPr>
              <a:t>The instructions moved into the board</a:t>
            </a:r>
          </a:p>
        </p:txBody>
      </p:sp>
      <p:sp>
        <p:nvSpPr>
          <p:cNvPr id="17" name="TextBox 16"/>
          <p:cNvSpPr txBox="1"/>
          <p:nvPr/>
        </p:nvSpPr>
        <p:spPr>
          <a:xfrm>
            <a:off x="5669280" y="2450592"/>
            <a:ext cx="2926080" cy="502920"/>
          </a:xfrm>
          <a:prstGeom prst="rect">
            <a:avLst/>
          </a:prstGeom>
          <a:noFill/>
        </p:spPr>
        <p:txBody>
          <a:bodyPr wrap="square" anchor="t" lIns="0" rIns="0" tIns="0" bIns="0">
            <a:spAutoFit/>
          </a:bodyPr>
          <a:lstStyle/>
          <a:p>
            <a:pPr algn="l">
              <a:lnSpc>
                <a:spcPct val="100000"/>
              </a:lnSpc>
            </a:pPr>
            <a:r>
              <a:rPr sz="1350" b="0">
                <a:solidFill>
                  <a:srgbClr val="000000"/>
                </a:solidFill>
                <a:latin typeface="Source Han Sans SC"/>
              </a:rPr>
              <a:t>(that step is called flashing)</a:t>
            </a:r>
          </a:p>
        </p:txBody>
      </p:sp>
      <p:sp>
        <p:nvSpPr>
          <p:cNvPr id="18" name="Rectangle 17"/>
          <p:cNvSpPr/>
          <p:nvPr/>
        </p:nvSpPr>
        <p:spPr>
          <a:xfrm>
            <a:off x="566928" y="2999232"/>
            <a:ext cx="384048" cy="38404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035808"/>
            <a:ext cx="384048"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04</a:t>
            </a:r>
          </a:p>
        </p:txBody>
      </p:sp>
      <p:sp>
        <p:nvSpPr>
          <p:cNvPr id="20" name="TextBox 19"/>
          <p:cNvSpPr txBox="1"/>
          <p:nvPr/>
        </p:nvSpPr>
        <p:spPr>
          <a:xfrm>
            <a:off x="1115568" y="3017520"/>
            <a:ext cx="4480560" cy="365760"/>
          </a:xfrm>
          <a:prstGeom prst="rect">
            <a:avLst/>
          </a:prstGeom>
          <a:noFill/>
        </p:spPr>
        <p:txBody>
          <a:bodyPr wrap="square" anchor="t" lIns="0" rIns="0" tIns="0" bIns="0">
            <a:spAutoFit/>
          </a:bodyPr>
          <a:lstStyle/>
          <a:p>
            <a:pPr algn="l">
              <a:lnSpc>
                <a:spcPct val="100000"/>
              </a:lnSpc>
            </a:pPr>
            <a:r>
              <a:rPr sz="1600" b="1">
                <a:solidFill>
                  <a:srgbClr val="000000"/>
                </a:solidFill>
                <a:latin typeface="Source Han Sans SC"/>
              </a:rPr>
              <a:t>The board remembered</a:t>
            </a:r>
          </a:p>
        </p:txBody>
      </p:sp>
      <p:sp>
        <p:nvSpPr>
          <p:cNvPr id="21" name="TextBox 20"/>
          <p:cNvSpPr txBox="1"/>
          <p:nvPr/>
        </p:nvSpPr>
        <p:spPr>
          <a:xfrm>
            <a:off x="5669280" y="3017520"/>
            <a:ext cx="2926080" cy="502920"/>
          </a:xfrm>
          <a:prstGeom prst="rect">
            <a:avLst/>
          </a:prstGeom>
          <a:noFill/>
        </p:spPr>
        <p:txBody>
          <a:bodyPr wrap="square" anchor="t" lIns="0" rIns="0" tIns="0" bIns="0">
            <a:spAutoFit/>
          </a:bodyPr>
          <a:lstStyle/>
          <a:p>
            <a:pPr algn="l">
              <a:lnSpc>
                <a:spcPct val="100000"/>
              </a:lnSpc>
            </a:pPr>
            <a:r>
              <a:rPr sz="1350" b="0">
                <a:solidFill>
                  <a:srgbClr val="000000"/>
                </a:solidFill>
                <a:latin typeface="Source Han Sans SC"/>
              </a:rPr>
              <a:t>(three sentences, and it's sending SOS)</a:t>
            </a:r>
          </a:p>
        </p:txBody>
      </p:sp>
      <p:sp>
        <p:nvSpPr>
          <p:cNvPr id="22" name="Rectangle 21"/>
          <p:cNvSpPr/>
          <p:nvPr/>
        </p:nvSpPr>
        <p:spPr>
          <a:xfrm>
            <a:off x="566928" y="4069080"/>
            <a:ext cx="54864" cy="356187"/>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4087368"/>
            <a:ext cx="7808975" cy="319611"/>
          </a:xfrm>
          <a:prstGeom prst="rect">
            <a:avLst/>
          </a:prstGeom>
          <a:noFill/>
        </p:spPr>
        <p:txBody>
          <a:bodyPr wrap="square" anchor="t" lIns="0" rIns="0" tIns="0" bIns="0">
            <a:spAutoFit/>
          </a:bodyPr>
          <a:lstStyle/>
          <a:p>
            <a:pPr algn="l">
              <a:lnSpc>
                <a:spcPct val="115000"/>
              </a:lnSpc>
            </a:pPr>
            <a:r>
              <a:rPr sz="1350" b="0">
                <a:solidFill>
                  <a:srgbClr val="000000"/>
                </a:solidFill>
                <a:latin typeface="Source Han Sans SC"/>
              </a:rPr>
              <a:t>This isn't magic — it's the exact path you'll walk yourself in a minute.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Sense and Respond | 04 / 28</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Three Questions</a:t>
            </a:r>
          </a:p>
        </p:txBody>
      </p:sp>
      <p:sp>
        <p:nvSpPr>
          <p:cNvPr id="6" name="Oval 5"/>
          <p:cNvSpPr/>
          <p:nvPr/>
        </p:nvSpPr>
        <p:spPr>
          <a:xfrm>
            <a:off x="1371600" y="1618488"/>
            <a:ext cx="384048" cy="384048"/>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1655064"/>
            <a:ext cx="384048"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1</a:t>
            </a:r>
          </a:p>
        </p:txBody>
      </p:sp>
      <p:sp>
        <p:nvSpPr>
          <p:cNvPr id="8" name="TextBox 7"/>
          <p:cNvSpPr txBox="1"/>
          <p:nvPr/>
        </p:nvSpPr>
        <p:spPr>
          <a:xfrm>
            <a:off x="1920240" y="1600200"/>
            <a:ext cx="5852160" cy="457200"/>
          </a:xfrm>
          <a:prstGeom prst="rect">
            <a:avLst/>
          </a:prstGeom>
          <a:noFill/>
        </p:spPr>
        <p:txBody>
          <a:bodyPr wrap="square" anchor="t" lIns="0" rIns="0" tIns="0" bIns="0">
            <a:spAutoFit/>
          </a:bodyPr>
          <a:lstStyle/>
          <a:p>
            <a:pPr algn="l">
              <a:lnSpc>
                <a:spcPct val="100000"/>
              </a:lnSpc>
            </a:pPr>
            <a:r>
              <a:rPr sz="2200" b="1">
                <a:solidFill>
                  <a:srgbClr val="000000"/>
                </a:solidFill>
                <a:latin typeface="Source Han Sans SC"/>
              </a:rPr>
              <a:t>Did I just write any code?</a:t>
            </a:r>
          </a:p>
        </p:txBody>
      </p:sp>
      <p:sp>
        <p:nvSpPr>
          <p:cNvPr id="9" name="Oval 8"/>
          <p:cNvSpPr/>
          <p:nvPr/>
        </p:nvSpPr>
        <p:spPr>
          <a:xfrm>
            <a:off x="1371600" y="2350008"/>
            <a:ext cx="384048" cy="384048"/>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2386584"/>
            <a:ext cx="384048"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2</a:t>
            </a:r>
          </a:p>
        </p:txBody>
      </p:sp>
      <p:sp>
        <p:nvSpPr>
          <p:cNvPr id="11" name="TextBox 10"/>
          <p:cNvSpPr txBox="1"/>
          <p:nvPr/>
        </p:nvSpPr>
        <p:spPr>
          <a:xfrm>
            <a:off x="1920240" y="2331720"/>
            <a:ext cx="5852160" cy="457200"/>
          </a:xfrm>
          <a:prstGeom prst="rect">
            <a:avLst/>
          </a:prstGeom>
          <a:noFill/>
        </p:spPr>
        <p:txBody>
          <a:bodyPr wrap="square" anchor="t" lIns="0" rIns="0" tIns="0" bIns="0">
            <a:spAutoFit/>
          </a:bodyPr>
          <a:lstStyle/>
          <a:p>
            <a:pPr algn="l">
              <a:lnSpc>
                <a:spcPct val="100000"/>
              </a:lnSpc>
            </a:pPr>
            <a:r>
              <a:rPr sz="2200" b="1">
                <a:solidFill>
                  <a:srgbClr val="000000"/>
                </a:solidFill>
                <a:latin typeface="Source Han Sans SC"/>
              </a:rPr>
              <a:t>Who in this room knows how to code?</a:t>
            </a:r>
          </a:p>
        </p:txBody>
      </p:sp>
      <p:sp>
        <p:nvSpPr>
          <p:cNvPr id="12" name="Oval 11"/>
          <p:cNvSpPr/>
          <p:nvPr/>
        </p:nvSpPr>
        <p:spPr>
          <a:xfrm>
            <a:off x="1371600" y="3081528"/>
            <a:ext cx="384048" cy="384048"/>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1600" y="3118104"/>
            <a:ext cx="384048"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3</a:t>
            </a:r>
          </a:p>
        </p:txBody>
      </p:sp>
      <p:sp>
        <p:nvSpPr>
          <p:cNvPr id="14" name="TextBox 13"/>
          <p:cNvSpPr txBox="1"/>
          <p:nvPr/>
        </p:nvSpPr>
        <p:spPr>
          <a:xfrm>
            <a:off x="1920240" y="3063240"/>
            <a:ext cx="5852160" cy="868680"/>
          </a:xfrm>
          <a:prstGeom prst="rect">
            <a:avLst/>
          </a:prstGeom>
          <a:noFill/>
        </p:spPr>
        <p:txBody>
          <a:bodyPr wrap="square" anchor="t" lIns="0" rIns="0" tIns="0" bIns="0">
            <a:spAutoFit/>
          </a:bodyPr>
          <a:lstStyle/>
          <a:p>
            <a:pPr algn="l">
              <a:lnSpc>
                <a:spcPct val="115000"/>
              </a:lnSpc>
            </a:pPr>
            <a:r>
              <a:rPr sz="2200" b="1">
                <a:solidFill>
                  <a:srgbClr val="000000"/>
                </a:solidFill>
                <a:latin typeface="Source Han Sans SC"/>
              </a:rPr>
              <a:t>Without knowing a single line of code,</a:t>
            </a:r>
          </a:p>
          <a:p>
            <a:pPr algn="l">
              <a:lnSpc>
                <a:spcPct val="115000"/>
              </a:lnSpc>
            </a:pPr>
            <a:r>
              <a:rPr sz="2200" b="1">
                <a:solidFill>
                  <a:srgbClr val="000000"/>
                </a:solidFill>
                <a:latin typeface="Source Han Sans SC"/>
              </a:rPr>
              <a:t>could you make that thing I just made?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Sense and Respond | 05 / 28</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The Kickoff in 30 Seconds</a:t>
            </a:r>
          </a:p>
        </p:txBody>
      </p:sp>
      <p:sp>
        <p:nvSpPr>
          <p:cNvPr id="6" name="Rectangle 5"/>
          <p:cNvSpPr/>
          <p:nvPr/>
        </p:nvSpPr>
        <p:spPr>
          <a:xfrm>
            <a:off x="566928" y="1325880"/>
            <a:ext cx="2560320" cy="251460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25880"/>
            <a:ext cx="2560320"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362456"/>
            <a:ext cx="2560320" cy="256032"/>
          </a:xfrm>
          <a:prstGeom prst="rect">
            <a:avLst/>
          </a:prstGeom>
          <a:noFill/>
        </p:spPr>
        <p:txBody>
          <a:bodyPr wrap="square" anchor="t" lIns="0" rIns="0" tIns="0" bIns="0">
            <a:spAutoFit/>
          </a:bodyPr>
          <a:lstStyle/>
          <a:p>
            <a:pPr algn="ctr">
              <a:lnSpc>
                <a:spcPct val="100000"/>
              </a:lnSpc>
            </a:pPr>
            <a:r>
              <a:rPr sz="1100" b="1">
                <a:solidFill>
                  <a:srgbClr val="000000"/>
                </a:solidFill>
                <a:latin typeface="Source Han Sans SC"/>
              </a:rPr>
              <a:t>YOUR ROLE</a:t>
            </a:r>
          </a:p>
        </p:txBody>
      </p:sp>
      <p:sp>
        <p:nvSpPr>
          <p:cNvPr id="9" name="TextBox 8"/>
          <p:cNvSpPr txBox="1"/>
          <p:nvPr/>
        </p:nvSpPr>
        <p:spPr>
          <a:xfrm>
            <a:off x="704088" y="1764792"/>
            <a:ext cx="2286000" cy="1965960"/>
          </a:xfrm>
          <a:prstGeom prst="rect">
            <a:avLst/>
          </a:prstGeom>
          <a:noFill/>
        </p:spPr>
        <p:txBody>
          <a:bodyPr wrap="square" anchor="t" lIns="0" rIns="0" tIns="0" bIns="0">
            <a:spAutoFit/>
          </a:bodyPr>
          <a:lstStyle/>
          <a:p>
            <a:pPr algn="l">
              <a:lnSpc>
                <a:spcPct val="125000"/>
              </a:lnSpc>
            </a:pPr>
            <a:r>
              <a:rPr sz="1200" b="0">
                <a:solidFill>
                  <a:srgbClr val="000000"/>
                </a:solidFill>
                <a:latin typeface="Source Han Sans SC"/>
              </a:rPr>
              <a:t>Not a programming class — you're the director, AI is the programmer.</a:t>
            </a:r>
          </a:p>
          <a:p>
            <a:pPr algn="l">
              <a:lnSpc>
                <a:spcPct val="125000"/>
              </a:lnSpc>
            </a:pPr>
            <a:r>
              <a:rPr sz="1200" b="0">
                <a:solidFill>
                  <a:srgbClr val="000000"/>
                </a:solidFill>
                <a:latin typeface="Source Han Sans SC"/>
              </a:rPr>
              <a:t>House rule: no hand-written code. Say it clearly, watch what happens, tell it to change.</a:t>
            </a:r>
          </a:p>
        </p:txBody>
      </p:sp>
      <p:sp>
        <p:nvSpPr>
          <p:cNvPr id="10" name="Rectangle 9"/>
          <p:cNvSpPr/>
          <p:nvPr/>
        </p:nvSpPr>
        <p:spPr>
          <a:xfrm>
            <a:off x="3310128" y="1325880"/>
            <a:ext cx="2560320" cy="251460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10128" y="1325880"/>
            <a:ext cx="2560320"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10128" y="1362456"/>
            <a:ext cx="2560320" cy="256032"/>
          </a:xfrm>
          <a:prstGeom prst="rect">
            <a:avLst/>
          </a:prstGeom>
          <a:noFill/>
        </p:spPr>
        <p:txBody>
          <a:bodyPr wrap="square" anchor="t" lIns="0" rIns="0" tIns="0" bIns="0">
            <a:spAutoFit/>
          </a:bodyPr>
          <a:lstStyle/>
          <a:p>
            <a:pPr algn="ctr">
              <a:lnSpc>
                <a:spcPct val="100000"/>
              </a:lnSpc>
            </a:pPr>
            <a:r>
              <a:rPr sz="1100" b="1">
                <a:solidFill>
                  <a:srgbClr val="000000"/>
                </a:solidFill>
                <a:latin typeface="Source Han Sans SC"/>
              </a:rPr>
              <a:t>THE WHOLE MAP</a:t>
            </a:r>
          </a:p>
        </p:txBody>
      </p:sp>
      <p:sp>
        <p:nvSpPr>
          <p:cNvPr id="13" name="TextBox 12"/>
          <p:cNvSpPr txBox="1"/>
          <p:nvPr/>
        </p:nvSpPr>
        <p:spPr>
          <a:xfrm>
            <a:off x="3447288" y="1764792"/>
            <a:ext cx="2286000" cy="1965960"/>
          </a:xfrm>
          <a:prstGeom prst="rect">
            <a:avLst/>
          </a:prstGeom>
          <a:noFill/>
        </p:spPr>
        <p:txBody>
          <a:bodyPr wrap="square" anchor="t" lIns="0" rIns="0" tIns="0" bIns="0">
            <a:spAutoFit/>
          </a:bodyPr>
          <a:lstStyle/>
          <a:p>
            <a:pPr algn="l">
              <a:lnSpc>
                <a:spcPct val="125000"/>
              </a:lnSpc>
            </a:pPr>
            <a:r>
              <a:rPr sz="1200" b="0">
                <a:solidFill>
                  <a:srgbClr val="000000"/>
                </a:solidFill>
                <a:latin typeface="Source Han Sans SC"/>
              </a:rPr>
              <a:t>A project takes eight steps: frame the problem, find the user, prototype, code, make trade-offs, test and judge, document, share the value.</a:t>
            </a:r>
          </a:p>
          <a:p>
            <a:pPr algn="l">
              <a:lnSpc>
                <a:spcPct val="125000"/>
              </a:lnSpc>
            </a:pPr>
            <a:r>
              <a:rPr sz="1200" b="0">
                <a:solidFill>
                  <a:srgbClr val="000000"/>
                </a:solidFill>
                <a:latin typeface="Source Han Sans SC"/>
              </a:rPr>
              <a:t>Today we take steps 3 and 4.</a:t>
            </a:r>
          </a:p>
        </p:txBody>
      </p:sp>
      <p:sp>
        <p:nvSpPr>
          <p:cNvPr id="14" name="Rectangle 13"/>
          <p:cNvSpPr/>
          <p:nvPr/>
        </p:nvSpPr>
        <p:spPr>
          <a:xfrm>
            <a:off x="6053328" y="1325880"/>
            <a:ext cx="2560320" cy="251460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53328" y="1325880"/>
            <a:ext cx="2560320"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53328" y="1362456"/>
            <a:ext cx="2560320" cy="256032"/>
          </a:xfrm>
          <a:prstGeom prst="rect">
            <a:avLst/>
          </a:prstGeom>
          <a:noFill/>
        </p:spPr>
        <p:txBody>
          <a:bodyPr wrap="square" anchor="t" lIns="0" rIns="0" tIns="0" bIns="0">
            <a:spAutoFit/>
          </a:bodyPr>
          <a:lstStyle/>
          <a:p>
            <a:pPr algn="ctr">
              <a:lnSpc>
                <a:spcPct val="100000"/>
              </a:lnSpc>
            </a:pPr>
            <a:r>
              <a:rPr sz="1100" b="1">
                <a:solidFill>
                  <a:srgbClr val="000000"/>
                </a:solidFill>
                <a:latin typeface="Source Han Sans SC"/>
              </a:rPr>
              <a:t>WHAT WE PRACTICE TODAY</a:t>
            </a:r>
          </a:p>
        </p:txBody>
      </p:sp>
      <p:sp>
        <p:nvSpPr>
          <p:cNvPr id="17" name="TextBox 16"/>
          <p:cNvSpPr txBox="1"/>
          <p:nvPr/>
        </p:nvSpPr>
        <p:spPr>
          <a:xfrm>
            <a:off x="6190488" y="1764792"/>
            <a:ext cx="2286000" cy="1965960"/>
          </a:xfrm>
          <a:prstGeom prst="rect">
            <a:avLst/>
          </a:prstGeom>
          <a:noFill/>
        </p:spPr>
        <p:txBody>
          <a:bodyPr wrap="square" anchor="t" lIns="0" rIns="0" tIns="0" bIns="0">
            <a:spAutoFit/>
          </a:bodyPr>
          <a:lstStyle/>
          <a:p>
            <a:pPr algn="l">
              <a:lnSpc>
                <a:spcPct val="125000"/>
              </a:lnSpc>
            </a:pPr>
            <a:r>
              <a:rPr sz="1200" b="0">
                <a:solidFill>
                  <a:srgbClr val="000000"/>
                </a:solidFill>
                <a:latin typeface="Source Han Sans SC"/>
              </a:rPr>
              <a:t>Two skills: build it — and tell the story of how you built it.</a:t>
            </a:r>
          </a:p>
        </p:txBody>
      </p:sp>
      <p:sp>
        <p:nvSpPr>
          <p:cNvPr id="18" name="TextBox 17"/>
          <p:cNvSpPr txBox="1"/>
          <p:nvPr/>
        </p:nvSpPr>
        <p:spPr>
          <a:xfrm>
            <a:off x="566928" y="4069080"/>
            <a:ext cx="8010144" cy="365760"/>
          </a:xfrm>
          <a:prstGeom prst="rect">
            <a:avLst/>
          </a:prstGeom>
          <a:noFill/>
        </p:spPr>
        <p:txBody>
          <a:bodyPr wrap="square" anchor="t" lIns="0" rIns="0" tIns="0" bIns="0">
            <a:spAutoFit/>
          </a:bodyPr>
          <a:lstStyle/>
          <a:p>
            <a:pPr algn="ctr">
              <a:lnSpc>
                <a:spcPct val="100000"/>
              </a:lnSpc>
            </a:pPr>
            <a:r>
              <a:rPr sz="1300" b="0">
                <a:solidFill>
                  <a:srgbClr val="000000"/>
                </a:solidFill>
                <a:latin typeface="Source Han Sans SC"/>
              </a:rPr>
              <a:t>Missed the kickoff? Remember these three lines and you'll keep up today.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Sense and Respond | 06 / 28</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What This Course Trains</a:t>
            </a:r>
          </a:p>
        </p:txBody>
      </p:sp>
      <p:sp>
        <p:nvSpPr>
          <p:cNvPr id="6" name="TextBox 5"/>
          <p:cNvSpPr txBox="1"/>
          <p:nvPr/>
        </p:nvSpPr>
        <p:spPr>
          <a:xfrm>
            <a:off x="566928" y="932688"/>
            <a:ext cx="8138160" cy="365760"/>
          </a:xfrm>
          <a:prstGeom prst="rect">
            <a:avLst/>
          </a:prstGeom>
          <a:noFill/>
        </p:spPr>
        <p:txBody>
          <a:bodyPr wrap="square" anchor="t" lIns="0" rIns="0" tIns="0" bIns="0">
            <a:spAutoFit/>
          </a:bodyPr>
          <a:lstStyle/>
          <a:p>
            <a:pPr algn="l">
              <a:lnSpc>
                <a:spcPct val="100000"/>
              </a:lnSpc>
            </a:pPr>
            <a:r>
              <a:rPr sz="1550" b="0">
                <a:solidFill>
                  <a:srgbClr val="000000"/>
                </a:solidFill>
                <a:latin typeface="Source Han Sans SC"/>
              </a:rPr>
              <a:t>Today we practice two: Build it — and Tell the story of how you built it.</a:t>
            </a:r>
          </a:p>
        </p:txBody>
      </p:sp>
      <p:sp>
        <p:nvSpPr>
          <p:cNvPr id="7" name="Rectangle 6"/>
          <p:cNvSpPr/>
          <p:nvPr/>
        </p:nvSpPr>
        <p:spPr>
          <a:xfrm>
            <a:off x="566928" y="1600200"/>
            <a:ext cx="2560320" cy="82296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819656"/>
            <a:ext cx="2560320" cy="365760"/>
          </a:xfrm>
          <a:prstGeom prst="rect">
            <a:avLst/>
          </a:prstGeom>
          <a:noFill/>
        </p:spPr>
        <p:txBody>
          <a:bodyPr wrap="square" anchor="t" lIns="0" rIns="0" tIns="0" bIns="0">
            <a:spAutoFit/>
          </a:bodyPr>
          <a:lstStyle/>
          <a:p>
            <a:pPr algn="ctr">
              <a:lnSpc>
                <a:spcPct val="100000"/>
              </a:lnSpc>
            </a:pPr>
            <a:r>
              <a:rPr sz="1500" b="1">
                <a:solidFill>
                  <a:srgbClr val="000000"/>
                </a:solidFill>
                <a:latin typeface="Source Han Sans SC"/>
              </a:rPr>
              <a:t>Spot a problem</a:t>
            </a:r>
          </a:p>
        </p:txBody>
      </p:sp>
      <p:sp>
        <p:nvSpPr>
          <p:cNvPr id="9" name="Rectangle 8"/>
          <p:cNvSpPr/>
          <p:nvPr/>
        </p:nvSpPr>
        <p:spPr>
          <a:xfrm>
            <a:off x="3310128" y="1600200"/>
            <a:ext cx="2560320" cy="82296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10128" y="1819656"/>
            <a:ext cx="2560320" cy="365760"/>
          </a:xfrm>
          <a:prstGeom prst="rect">
            <a:avLst/>
          </a:prstGeom>
          <a:noFill/>
        </p:spPr>
        <p:txBody>
          <a:bodyPr wrap="square" anchor="t" lIns="0" rIns="0" tIns="0" bIns="0">
            <a:spAutoFit/>
          </a:bodyPr>
          <a:lstStyle/>
          <a:p>
            <a:pPr algn="ctr">
              <a:lnSpc>
                <a:spcPct val="100000"/>
              </a:lnSpc>
            </a:pPr>
            <a:r>
              <a:rPr sz="1500" b="1">
                <a:solidFill>
                  <a:srgbClr val="000000"/>
                </a:solidFill>
                <a:latin typeface="Source Han Sans SC"/>
              </a:rPr>
              <a:t>Find the user</a:t>
            </a:r>
          </a:p>
        </p:txBody>
      </p:sp>
      <p:sp>
        <p:nvSpPr>
          <p:cNvPr id="11" name="Rectangle 10"/>
          <p:cNvSpPr/>
          <p:nvPr/>
        </p:nvSpPr>
        <p:spPr>
          <a:xfrm>
            <a:off x="6053328" y="1600200"/>
            <a:ext cx="2560320" cy="822960"/>
          </a:xfrm>
          <a:prstGeom prst="rect">
            <a:avLst/>
          </a:prstGeom>
          <a:solidFill>
            <a:srgbClr val="F3D23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53328" y="1819656"/>
            <a:ext cx="2560320" cy="365760"/>
          </a:xfrm>
          <a:prstGeom prst="rect">
            <a:avLst/>
          </a:prstGeom>
          <a:noFill/>
        </p:spPr>
        <p:txBody>
          <a:bodyPr wrap="square" anchor="t" lIns="0" rIns="0" tIns="0" bIns="0">
            <a:spAutoFit/>
          </a:bodyPr>
          <a:lstStyle/>
          <a:p>
            <a:pPr algn="ctr">
              <a:lnSpc>
                <a:spcPct val="100000"/>
              </a:lnSpc>
            </a:pPr>
            <a:r>
              <a:rPr sz="1500" b="1">
                <a:solidFill>
                  <a:srgbClr val="000000"/>
                </a:solidFill>
                <a:latin typeface="Source Han Sans SC"/>
              </a:rPr>
              <a:t>Build it</a:t>
            </a:r>
          </a:p>
        </p:txBody>
      </p:sp>
      <p:sp>
        <p:nvSpPr>
          <p:cNvPr id="13" name="Rectangle 12"/>
          <p:cNvSpPr/>
          <p:nvPr/>
        </p:nvSpPr>
        <p:spPr>
          <a:xfrm>
            <a:off x="566928" y="2624328"/>
            <a:ext cx="2560320" cy="82296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843784"/>
            <a:ext cx="2560320" cy="365760"/>
          </a:xfrm>
          <a:prstGeom prst="rect">
            <a:avLst/>
          </a:prstGeom>
          <a:noFill/>
        </p:spPr>
        <p:txBody>
          <a:bodyPr wrap="square" anchor="t" lIns="0" rIns="0" tIns="0" bIns="0">
            <a:spAutoFit/>
          </a:bodyPr>
          <a:lstStyle/>
          <a:p>
            <a:pPr algn="ctr">
              <a:lnSpc>
                <a:spcPct val="100000"/>
              </a:lnSpc>
            </a:pPr>
            <a:r>
              <a:rPr sz="1500" b="1">
                <a:solidFill>
                  <a:srgbClr val="000000"/>
                </a:solidFill>
                <a:latin typeface="Source Han Sans SC"/>
              </a:rPr>
              <a:t>Make trade-offs</a:t>
            </a:r>
          </a:p>
        </p:txBody>
      </p:sp>
      <p:sp>
        <p:nvSpPr>
          <p:cNvPr id="15" name="Rectangle 14"/>
          <p:cNvSpPr/>
          <p:nvPr/>
        </p:nvSpPr>
        <p:spPr>
          <a:xfrm>
            <a:off x="3310128" y="2624328"/>
            <a:ext cx="2560320" cy="82296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10128" y="2843784"/>
            <a:ext cx="2560320" cy="365760"/>
          </a:xfrm>
          <a:prstGeom prst="rect">
            <a:avLst/>
          </a:prstGeom>
          <a:noFill/>
        </p:spPr>
        <p:txBody>
          <a:bodyPr wrap="square" anchor="t" lIns="0" rIns="0" tIns="0" bIns="0">
            <a:spAutoFit/>
          </a:bodyPr>
          <a:lstStyle/>
          <a:p>
            <a:pPr algn="ctr">
              <a:lnSpc>
                <a:spcPct val="100000"/>
              </a:lnSpc>
            </a:pPr>
            <a:r>
              <a:rPr sz="1500" b="1">
                <a:solidFill>
                  <a:srgbClr val="000000"/>
                </a:solidFill>
                <a:latin typeface="Source Han Sans SC"/>
              </a:rPr>
              <a:t>Judge quality</a:t>
            </a:r>
          </a:p>
        </p:txBody>
      </p:sp>
      <p:sp>
        <p:nvSpPr>
          <p:cNvPr id="17" name="Rectangle 16"/>
          <p:cNvSpPr/>
          <p:nvPr/>
        </p:nvSpPr>
        <p:spPr>
          <a:xfrm>
            <a:off x="6053328" y="2624328"/>
            <a:ext cx="2560320" cy="822960"/>
          </a:xfrm>
          <a:prstGeom prst="rect">
            <a:avLst/>
          </a:prstGeom>
          <a:solidFill>
            <a:srgbClr val="F3D23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53328" y="2843784"/>
            <a:ext cx="2560320" cy="365760"/>
          </a:xfrm>
          <a:prstGeom prst="rect">
            <a:avLst/>
          </a:prstGeom>
          <a:noFill/>
        </p:spPr>
        <p:txBody>
          <a:bodyPr wrap="square" anchor="t" lIns="0" rIns="0" tIns="0" bIns="0">
            <a:spAutoFit/>
          </a:bodyPr>
          <a:lstStyle/>
          <a:p>
            <a:pPr algn="ctr">
              <a:lnSpc>
                <a:spcPct val="100000"/>
              </a:lnSpc>
            </a:pPr>
            <a:r>
              <a:rPr sz="1500" b="1">
                <a:solidFill>
                  <a:srgbClr val="000000"/>
                </a:solidFill>
                <a:latin typeface="Source Han Sans SC"/>
              </a:rPr>
              <a:t>Tell the story</a:t>
            </a:r>
          </a:p>
        </p:txBody>
      </p:sp>
      <p:sp>
        <p:nvSpPr>
          <p:cNvPr id="19" name="TextBox 18"/>
          <p:cNvSpPr txBox="1"/>
          <p:nvPr/>
        </p:nvSpPr>
        <p:spPr>
          <a:xfrm>
            <a:off x="566928" y="3794760"/>
            <a:ext cx="8010144" cy="457200"/>
          </a:xfrm>
          <a:prstGeom prst="rect">
            <a:avLst/>
          </a:prstGeom>
          <a:noFill/>
        </p:spPr>
        <p:txBody>
          <a:bodyPr wrap="square" anchor="t" lIns="0" rIns="0" tIns="0" bIns="0">
            <a:spAutoFit/>
          </a:bodyPr>
          <a:lstStyle/>
          <a:p>
            <a:pPr algn="ctr">
              <a:lnSpc>
                <a:spcPct val="100000"/>
              </a:lnSpc>
            </a:pPr>
            <a:r>
              <a:rPr sz="1600" b="1">
                <a:solidFill>
                  <a:srgbClr val="000000"/>
                </a:solidFill>
                <a:latin typeface="Source Han Sans SC"/>
              </a:rPr>
              <a:t>AI writes the code — these six, it can't do for you.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Sense and Respond | 07 / 28</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000" b="1">
                <a:solidFill>
                  <a:srgbClr val="000000"/>
                </a:solidFill>
                <a:latin typeface="Source Han Sans SC"/>
              </a:rPr>
              <a:t>The One Thing I'd Most Like AI to Do for Me</a:t>
            </a:r>
          </a:p>
        </p:txBody>
      </p:sp>
      <p:sp>
        <p:nvSpPr>
          <p:cNvPr id="6" name="TextBox 5"/>
          <p:cNvSpPr txBox="1"/>
          <p:nvPr/>
        </p:nvSpPr>
        <p:spPr>
          <a:xfrm>
            <a:off x="566928" y="1965960"/>
            <a:ext cx="8010144" cy="457200"/>
          </a:xfrm>
          <a:prstGeom prst="rect">
            <a:avLst/>
          </a:prstGeom>
          <a:noFill/>
        </p:spPr>
        <p:txBody>
          <a:bodyPr wrap="square" anchor="t" lIns="0" rIns="0" tIns="0" bIns="0">
            <a:spAutoFit/>
          </a:bodyPr>
          <a:lstStyle/>
          <a:p>
            <a:pPr algn="ctr">
              <a:lnSpc>
                <a:spcPct val="100000"/>
              </a:lnSpc>
            </a:pPr>
            <a:r>
              <a:rPr sz="2000" b="1">
                <a:solidFill>
                  <a:srgbClr val="000000"/>
                </a:solidFill>
                <a:latin typeface="Source Han Sans SC"/>
              </a:rPr>
              <a:t>With your neighbor: 15 seconds each.</a:t>
            </a:r>
          </a:p>
        </p:txBody>
      </p:sp>
      <p:sp>
        <p:nvSpPr>
          <p:cNvPr id="7" name="TextBox 6"/>
          <p:cNvSpPr txBox="1"/>
          <p:nvPr/>
        </p:nvSpPr>
        <p:spPr>
          <a:xfrm>
            <a:off x="566928" y="2606040"/>
            <a:ext cx="8010144" cy="365760"/>
          </a:xfrm>
          <a:prstGeom prst="rect">
            <a:avLst/>
          </a:prstGeom>
          <a:noFill/>
        </p:spPr>
        <p:txBody>
          <a:bodyPr wrap="square" anchor="t" lIns="0" rIns="0" tIns="0" bIns="0">
            <a:spAutoFit/>
          </a:bodyPr>
          <a:lstStyle/>
          <a:p>
            <a:pPr algn="ctr">
              <a:lnSpc>
                <a:spcPct val="100000"/>
              </a:lnSpc>
            </a:pPr>
            <a:r>
              <a:rPr sz="1500" b="0">
                <a:solidFill>
                  <a:srgbClr val="000000"/>
                </a:solidFill>
                <a:latin typeface="Source Han Sans SC"/>
              </a:rPr>
              <a:t>The smaller and more real, the better.</a:t>
            </a:r>
          </a:p>
        </p:txBody>
      </p:sp>
      <p:sp>
        <p:nvSpPr>
          <p:cNvPr id="8" name="Rectangle 7"/>
          <p:cNvSpPr/>
          <p:nvPr/>
        </p:nvSpPr>
        <p:spPr>
          <a:xfrm>
            <a:off x="4023360" y="3200400"/>
            <a:ext cx="1097280" cy="4572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Sense and Respond | 08 / 28</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Everyone Logs In</a:t>
            </a:r>
          </a:p>
        </p:txBody>
      </p:sp>
      <p:sp>
        <p:nvSpPr>
          <p:cNvPr id="6" name="Rectangle 5"/>
          <p:cNvSpPr/>
          <p:nvPr/>
        </p:nvSpPr>
        <p:spPr>
          <a:xfrm>
            <a:off x="566928" y="1234440"/>
            <a:ext cx="8010144" cy="100584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344168"/>
            <a:ext cx="7680960" cy="292608"/>
          </a:xfrm>
          <a:prstGeom prst="rect">
            <a:avLst/>
          </a:prstGeom>
          <a:noFill/>
        </p:spPr>
        <p:txBody>
          <a:bodyPr wrap="square" anchor="t" lIns="0" rIns="0" tIns="0" bIns="0">
            <a:spAutoFit/>
          </a:bodyPr>
          <a:lstStyle/>
          <a:p>
            <a:pPr algn="l">
              <a:lnSpc>
                <a:spcPct val="100000"/>
              </a:lnSpc>
            </a:pPr>
            <a:r>
              <a:rPr sz="1500" b="1">
                <a:solidFill>
                  <a:srgbClr val="000000"/>
                </a:solidFill>
                <a:latin typeface="Source Han Sans SC"/>
              </a:rPr>
              <a:t>What is Codecraft?</a:t>
            </a:r>
          </a:p>
        </p:txBody>
      </p:sp>
      <p:sp>
        <p:nvSpPr>
          <p:cNvPr id="8" name="TextBox 7"/>
          <p:cNvSpPr txBox="1"/>
          <p:nvPr/>
        </p:nvSpPr>
        <p:spPr>
          <a:xfrm>
            <a:off x="731520" y="1673352"/>
            <a:ext cx="7680960" cy="420624"/>
          </a:xfrm>
          <a:prstGeom prst="rect">
            <a:avLst/>
          </a:prstGeom>
          <a:noFill/>
        </p:spPr>
        <p:txBody>
          <a:bodyPr wrap="square" anchor="t" lIns="0" rIns="0" tIns="0" bIns="0">
            <a:spAutoFit/>
          </a:bodyPr>
          <a:lstStyle/>
          <a:p>
            <a:pPr algn="l">
              <a:lnSpc>
                <a:spcPct val="125000"/>
              </a:lnSpc>
            </a:pPr>
            <a:r>
              <a:rPr sz="1300" b="0">
                <a:solidFill>
                  <a:srgbClr val="000000"/>
                </a:solidFill>
                <a:latin typeface="Source Han Sans SC"/>
              </a:rPr>
              <a:t>A website — where you talk to AI, and where AI writes</a:t>
            </a:r>
          </a:p>
          <a:p>
            <a:pPr algn="l">
              <a:lnSpc>
                <a:spcPct val="125000"/>
              </a:lnSpc>
            </a:pPr>
            <a:r>
              <a:rPr sz="1300" b="0">
                <a:solidFill>
                  <a:srgbClr val="000000"/>
                </a:solidFill>
                <a:latin typeface="Source Han Sans SC"/>
              </a:rPr>
              <a:t>the instructions for your board. That's the site you just saw me use.</a:t>
            </a:r>
          </a:p>
        </p:txBody>
      </p:sp>
      <p:sp>
        <p:nvSpPr>
          <p:cNvPr id="9" name="TextBox 8"/>
          <p:cNvSpPr txBox="1"/>
          <p:nvPr/>
        </p:nvSpPr>
        <p:spPr>
          <a:xfrm>
            <a:off x="566928" y="2331720"/>
            <a:ext cx="8010144" cy="411480"/>
          </a:xfrm>
          <a:prstGeom prst="rect">
            <a:avLst/>
          </a:prstGeom>
          <a:noFill/>
        </p:spPr>
        <p:txBody>
          <a:bodyPr wrap="square" anchor="t" lIns="0" rIns="0" tIns="0" bIns="0">
            <a:spAutoFit/>
          </a:bodyPr>
          <a:lstStyle/>
          <a:p>
            <a:pPr algn="ctr">
              <a:lnSpc>
                <a:spcPct val="100000"/>
              </a:lnSpc>
            </a:pPr>
            <a:r>
              <a:rPr sz="2400" b="1">
                <a:solidFill>
                  <a:srgbClr val="000000"/>
                </a:solidFill>
                <a:latin typeface="Source Code Pro"/>
              </a:rPr>
              <a:t>codecraft.seeed.cc</a:t>
            </a:r>
          </a:p>
        </p:txBody>
      </p:sp>
      <p:sp>
        <p:nvSpPr>
          <p:cNvPr id="10" name="Rectangle 9"/>
          <p:cNvSpPr/>
          <p:nvPr/>
        </p:nvSpPr>
        <p:spPr>
          <a:xfrm>
            <a:off x="1371600" y="2852928"/>
            <a:ext cx="384048" cy="38404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1600" y="2889504"/>
            <a:ext cx="384048"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1</a:t>
            </a:r>
          </a:p>
        </p:txBody>
      </p:sp>
      <p:sp>
        <p:nvSpPr>
          <p:cNvPr id="12" name="TextBox 11"/>
          <p:cNvSpPr txBox="1"/>
          <p:nvPr/>
        </p:nvSpPr>
        <p:spPr>
          <a:xfrm>
            <a:off x="1920240" y="2834640"/>
            <a:ext cx="5852160" cy="457200"/>
          </a:xfrm>
          <a:prstGeom prst="rect">
            <a:avLst/>
          </a:prstGeom>
          <a:noFill/>
        </p:spPr>
        <p:txBody>
          <a:bodyPr wrap="square" anchor="t" lIns="0" rIns="0" tIns="0" bIns="0">
            <a:spAutoFit/>
          </a:bodyPr>
          <a:lstStyle/>
          <a:p>
            <a:pPr algn="l">
              <a:lnSpc>
                <a:spcPct val="100000"/>
              </a:lnSpc>
            </a:pPr>
            <a:r>
              <a:rPr sz="1550" b="0">
                <a:solidFill>
                  <a:srgbClr val="000000"/>
                </a:solidFill>
                <a:latin typeface="Source Han Sans SC"/>
              </a:rPr>
              <a:t>Open your browser, go to the address above</a:t>
            </a:r>
          </a:p>
        </p:txBody>
      </p:sp>
      <p:sp>
        <p:nvSpPr>
          <p:cNvPr id="13" name="Rectangle 12"/>
          <p:cNvSpPr/>
          <p:nvPr/>
        </p:nvSpPr>
        <p:spPr>
          <a:xfrm>
            <a:off x="1371600" y="3419856"/>
            <a:ext cx="384048" cy="38404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 y="3456432"/>
            <a:ext cx="384048"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2</a:t>
            </a:r>
          </a:p>
        </p:txBody>
      </p:sp>
      <p:sp>
        <p:nvSpPr>
          <p:cNvPr id="15" name="TextBox 14"/>
          <p:cNvSpPr txBox="1"/>
          <p:nvPr/>
        </p:nvSpPr>
        <p:spPr>
          <a:xfrm>
            <a:off x="1920240" y="3401568"/>
            <a:ext cx="5852160" cy="457200"/>
          </a:xfrm>
          <a:prstGeom prst="rect">
            <a:avLst/>
          </a:prstGeom>
          <a:noFill/>
        </p:spPr>
        <p:txBody>
          <a:bodyPr wrap="square" anchor="t" lIns="0" rIns="0" tIns="0" bIns="0">
            <a:spAutoFit/>
          </a:bodyPr>
          <a:lstStyle/>
          <a:p>
            <a:pPr algn="l">
              <a:lnSpc>
                <a:spcPct val="100000"/>
              </a:lnSpc>
            </a:pPr>
            <a:r>
              <a:rPr sz="1550" b="0">
                <a:solidFill>
                  <a:srgbClr val="000000"/>
                </a:solidFill>
                <a:latin typeface="Source Han Sans SC"/>
              </a:rPr>
              <a:t>Log in with the account on your seat card — just log in, don't click around yet</a:t>
            </a:r>
          </a:p>
        </p:txBody>
      </p:sp>
      <p:sp>
        <p:nvSpPr>
          <p:cNvPr id="16" name="Rectangle 15"/>
          <p:cNvSpPr/>
          <p:nvPr/>
        </p:nvSpPr>
        <p:spPr>
          <a:xfrm>
            <a:off x="566928" y="4069080"/>
            <a:ext cx="8010144" cy="50292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160520"/>
            <a:ext cx="7680960" cy="320040"/>
          </a:xfrm>
          <a:prstGeom prst="rect">
            <a:avLst/>
          </a:prstGeom>
          <a:noFill/>
        </p:spPr>
        <p:txBody>
          <a:bodyPr wrap="square" anchor="t" lIns="0" rIns="0" tIns="0" bIns="0">
            <a:spAutoFit/>
          </a:bodyPr>
          <a:lstStyle/>
          <a:p>
            <a:pPr algn="l">
              <a:lnSpc>
                <a:spcPct val="100000"/>
              </a:lnSpc>
            </a:pPr>
            <a:r>
              <a:rPr sz="1400" b="1">
                <a:solidFill>
                  <a:srgbClr val="000000"/>
                </a:solidFill>
                <a:latin typeface="Source Han Sans SC"/>
              </a:rPr>
              <a:t>The address and your account details are on your seat card.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Sense and Respond | 09 / 28</a:t>
            </a:r>
          </a:p>
        </p:txBody>
      </p:sp>
      <p:sp>
        <p:nvSpPr>
          <p:cNvPr id="4" name="Rectangle 3"/>
          <p:cNvSpPr/>
          <p:nvPr/>
        </p:nvSpPr>
        <p:spPr>
          <a:xfrm>
            <a:off x="566928" y="1234440"/>
            <a:ext cx="8010144" cy="24688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874519"/>
            <a:ext cx="8010144" cy="731520"/>
          </a:xfrm>
          <a:prstGeom prst="rect">
            <a:avLst/>
          </a:prstGeom>
          <a:noFill/>
        </p:spPr>
        <p:txBody>
          <a:bodyPr wrap="square" anchor="t" lIns="0" rIns="0" tIns="0" bIns="0">
            <a:spAutoFit/>
          </a:bodyPr>
          <a:lstStyle/>
          <a:p>
            <a:pPr algn="ctr">
              <a:lnSpc>
                <a:spcPct val="100000"/>
              </a:lnSpc>
            </a:pPr>
            <a:r>
              <a:rPr sz="4000" b="1">
                <a:solidFill>
                  <a:srgbClr val="F3D230"/>
                </a:solidFill>
                <a:latin typeface="Source Han Sans SC"/>
              </a:rPr>
              <a:t>Name Lighting</a:t>
            </a:r>
          </a:p>
        </p:txBody>
      </p:sp>
      <p:sp>
        <p:nvSpPr>
          <p:cNvPr id="6" name="TextBox 5"/>
          <p:cNvSpPr txBox="1"/>
          <p:nvPr/>
        </p:nvSpPr>
        <p:spPr>
          <a:xfrm>
            <a:off x="566928" y="2743200"/>
            <a:ext cx="8010144" cy="457200"/>
          </a:xfrm>
          <a:prstGeom prst="rect">
            <a:avLst/>
          </a:prstGeom>
          <a:noFill/>
        </p:spPr>
        <p:txBody>
          <a:bodyPr wrap="square" anchor="t" lIns="0" rIns="0" tIns="0" bIns="0">
            <a:spAutoFit/>
          </a:bodyPr>
          <a:lstStyle/>
          <a:p>
            <a:pPr algn="ctr">
              <a:lnSpc>
                <a:spcPct val="100000"/>
              </a:lnSpc>
            </a:pPr>
            <a:r>
              <a:rPr sz="2000" b="0">
                <a:solidFill>
                  <a:srgbClr val="FFFFFF"/>
                </a:solidFill>
                <a:latin typeface="Source Han Sans SC"/>
              </a:rPr>
              <a:t>Put Your Name on the Screen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Sense and Respond | 10 / 28</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Meet Your Board</a:t>
            </a:r>
          </a:p>
        </p:txBody>
      </p:sp>
      <p:pic>
        <p:nvPicPr>
          <p:cNvPr id="6" name="Picture 5" descr="L1_板子全貌图_Grove Beginner Kit.png"/>
          <p:cNvPicPr>
            <a:picLocks noChangeAspect="1"/>
          </p:cNvPicPr>
          <p:nvPr/>
        </p:nvPicPr>
        <p:blipFill>
          <a:blip r:embed="rId2"/>
          <a:stretch>
            <a:fillRect/>
          </a:stretch>
        </p:blipFill>
        <p:spPr>
          <a:xfrm>
            <a:off x="566928" y="1234440"/>
            <a:ext cx="3904487" cy="2926080"/>
          </a:xfrm>
          <a:prstGeom prst="rect">
            <a:avLst/>
          </a:prstGeom>
        </p:spPr>
      </p:pic>
      <p:sp>
        <p:nvSpPr>
          <p:cNvPr id="7" name="TextBox 6"/>
          <p:cNvSpPr txBox="1"/>
          <p:nvPr/>
        </p:nvSpPr>
        <p:spPr>
          <a:xfrm>
            <a:off x="4617720" y="1280160"/>
            <a:ext cx="3931920" cy="1554480"/>
          </a:xfrm>
          <a:prstGeom prst="rect">
            <a:avLst/>
          </a:prstGeom>
          <a:noFill/>
        </p:spPr>
        <p:txBody>
          <a:bodyPr wrap="square" anchor="t" lIns="0" rIns="0" tIns="0" bIns="0">
            <a:spAutoFit/>
          </a:bodyPr>
          <a:lstStyle/>
          <a:p>
            <a:pPr algn="l">
              <a:lnSpc>
                <a:spcPct val="122000"/>
              </a:lnSpc>
            </a:pPr>
            <a:r>
              <a:rPr sz="1250" b="0">
                <a:solidFill>
                  <a:srgbClr val="000000"/>
                </a:solidFill>
                <a:latin typeface="Source Han Sans SC"/>
              </a:rPr>
              <a:t>The main board in the middle — its brain (AI has the ideas; you make the decisions)</a:t>
            </a:r>
          </a:p>
          <a:p>
            <a:pPr algn="l">
              <a:lnSpc>
                <a:spcPct val="122000"/>
              </a:lnSpc>
            </a:pPr>
            <a:r>
              <a:rPr sz="1250" b="0">
                <a:solidFill>
                  <a:srgbClr val="000000"/>
                </a:solidFill>
                <a:latin typeface="Source Han Sans SC"/>
              </a:rPr>
              <a:t>Screen, light, little speaker — its face and voice</a:t>
            </a:r>
          </a:p>
          <a:p>
            <a:pPr algn="l">
              <a:lnSpc>
                <a:spcPct val="122000"/>
              </a:lnSpc>
            </a:pPr>
            <a:r>
              <a:rPr sz="1250" b="0">
                <a:solidFill>
                  <a:srgbClr val="000000"/>
                </a:solidFill>
                <a:latin typeface="Source Han Sans SC"/>
              </a:rPr>
              <a:t>Sensors — its eyes and ears: feels light, feels sound, feels temperature</a:t>
            </a:r>
          </a:p>
          <a:p>
            <a:pPr algn="l">
              <a:lnSpc>
                <a:spcPct val="122000"/>
              </a:lnSpc>
            </a:pPr>
            <a:r>
              <a:rPr sz="1250" b="0">
                <a:solidFill>
                  <a:srgbClr val="000000"/>
                </a:solidFill>
                <a:latin typeface="Source Han Sans SC"/>
              </a:rPr>
              <a:t>Button and knob — how you operate it</a:t>
            </a:r>
          </a:p>
          <a:p>
            <a:pPr algn="l">
              <a:lnSpc>
                <a:spcPct val="122000"/>
              </a:lnSpc>
            </a:pPr>
            <a:r>
              <a:rPr sz="1250" b="0">
                <a:solidFill>
                  <a:srgbClr val="000000"/>
                </a:solidFill>
                <a:latin typeface="Source Han Sans SC"/>
              </a:rPr>
              <a:t>USB port — plug in here today</a:t>
            </a:r>
          </a:p>
        </p:txBody>
      </p:sp>
      <p:sp>
        <p:nvSpPr>
          <p:cNvPr id="8" name="Rectangle 7"/>
          <p:cNvSpPr/>
          <p:nvPr/>
        </p:nvSpPr>
        <p:spPr>
          <a:xfrm>
            <a:off x="4617720" y="2880360"/>
            <a:ext cx="3931920" cy="1325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82312" y="2990088"/>
            <a:ext cx="3602736" cy="292608"/>
          </a:xfrm>
          <a:prstGeom prst="rect">
            <a:avLst/>
          </a:prstGeom>
          <a:noFill/>
        </p:spPr>
        <p:txBody>
          <a:bodyPr wrap="square" anchor="t" lIns="0" rIns="0" tIns="0" bIns="0">
            <a:spAutoFit/>
          </a:bodyPr>
          <a:lstStyle/>
          <a:p>
            <a:pPr algn="l">
              <a:lnSpc>
                <a:spcPct val="100000"/>
              </a:lnSpc>
            </a:pPr>
            <a:r>
              <a:rPr sz="1500" b="1">
                <a:solidFill>
                  <a:srgbClr val="000000"/>
                </a:solidFill>
                <a:latin typeface="Source Han Sans SC"/>
              </a:rPr>
              <a:t>It's called a development board —</a:t>
            </a:r>
          </a:p>
        </p:txBody>
      </p:sp>
      <p:sp>
        <p:nvSpPr>
          <p:cNvPr id="10" name="TextBox 9"/>
          <p:cNvSpPr txBox="1"/>
          <p:nvPr/>
        </p:nvSpPr>
        <p:spPr>
          <a:xfrm>
            <a:off x="4782312" y="3319272"/>
            <a:ext cx="3602736" cy="740664"/>
          </a:xfrm>
          <a:prstGeom prst="rect">
            <a:avLst/>
          </a:prstGeom>
          <a:noFill/>
        </p:spPr>
        <p:txBody>
          <a:bodyPr wrap="square" anchor="t" lIns="0" rIns="0" tIns="0" bIns="0">
            <a:spAutoFit/>
          </a:bodyPr>
          <a:lstStyle/>
          <a:p>
            <a:pPr algn="l">
              <a:lnSpc>
                <a:spcPct val="125000"/>
              </a:lnSpc>
            </a:pPr>
            <a:r>
              <a:rPr sz="1200" b="0">
                <a:solidFill>
                  <a:srgbClr val="000000"/>
                </a:solidFill>
                <a:latin typeface="Source Han Sans SC"/>
              </a:rPr>
              <a:t>a tiny computer. Dumber than</a:t>
            </a:r>
          </a:p>
          <a:p>
            <a:pPr algn="l">
              <a:lnSpc>
                <a:spcPct val="125000"/>
              </a:lnSpc>
            </a:pPr>
            <a:r>
              <a:rPr sz="1200" b="0">
                <a:solidFill>
                  <a:srgbClr val="000000"/>
                </a:solidFill>
                <a:latin typeface="Source Han Sans SC"/>
              </a:rPr>
              <a:t>your phone, but give it one job</a:t>
            </a:r>
          </a:p>
          <a:p>
            <a:pPr algn="l">
              <a:lnSpc>
                <a:spcPct val="125000"/>
              </a:lnSpc>
            </a:pPr>
            <a:r>
              <a:rPr sz="1200" b="0">
                <a:solidFill>
                  <a:srgbClr val="000000"/>
                </a:solidFill>
                <a:latin typeface="Source Han Sans SC"/>
              </a:rPr>
              <a:t>and it'll do it all day, for a year,</a:t>
            </a:r>
          </a:p>
          <a:p>
            <a:pPr algn="l">
              <a:lnSpc>
                <a:spcPct val="125000"/>
              </a:lnSpc>
            </a:pPr>
            <a:r>
              <a:rPr sz="1200" b="0">
                <a:solidFill>
                  <a:srgbClr val="000000"/>
                </a:solidFill>
                <a:latin typeface="Source Han Sans SC"/>
              </a:rPr>
              <a:t>without complaining.</a:t>
            </a:r>
          </a:p>
        </p:txBody>
      </p:sp>
      <p:sp>
        <p:nvSpPr>
          <p:cNvPr id="11" name="Rectangle 10"/>
          <p:cNvSpPr/>
          <p:nvPr/>
        </p:nvSpPr>
        <p:spPr>
          <a:xfrm>
            <a:off x="4617720" y="4160520"/>
            <a:ext cx="3931920" cy="59436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82312" y="4233672"/>
            <a:ext cx="3602736" cy="457200"/>
          </a:xfrm>
          <a:prstGeom prst="rect">
            <a:avLst/>
          </a:prstGeom>
          <a:noFill/>
        </p:spPr>
        <p:txBody>
          <a:bodyPr wrap="square" anchor="t" lIns="0" rIns="0" tIns="0" bIns="0">
            <a:spAutoFit/>
          </a:bodyPr>
          <a:lstStyle/>
          <a:p>
            <a:pPr algn="l">
              <a:lnSpc>
                <a:spcPct val="120000"/>
              </a:lnSpc>
            </a:pPr>
            <a:r>
              <a:rPr sz="1100" b="0">
                <a:solidFill>
                  <a:srgbClr val="000000"/>
                </a:solidFill>
                <a:latin typeface="Source Han Sans SC"/>
              </a:rPr>
              <a:t>The little modules can be snapped off and</a:t>
            </a:r>
          </a:p>
          <a:p>
            <a:pPr algn="l">
              <a:lnSpc>
                <a:spcPct val="120000"/>
              </a:lnSpc>
            </a:pPr>
            <a:r>
              <a:rPr sz="1100" b="0">
                <a:solidFill>
                  <a:srgbClr val="000000"/>
                </a:solidFill>
                <a:latin typeface="Source Han Sans SC"/>
              </a:rPr>
              <a:t>used separately later — not today.</a:t>
            </a:r>
          </a:p>
          <a:p>
            <a:pPr algn="l">
              <a:lnSpc>
                <a:spcPct val="120000"/>
              </a:lnSpc>
            </a:pPr>
            <a:r>
              <a:rPr sz="1100" b="0">
                <a:solidFill>
                  <a:srgbClr val="000000"/>
                </a:solidFill>
                <a:latin typeface="Source Han Sans SC"/>
              </a:rPr>
              <a:t>Today nothing snaps.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Sense and Respond | 11 / 28</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600" b="1">
                <a:solidFill>
                  <a:srgbClr val="000000"/>
                </a:solidFill>
                <a:latin typeface="Source Han Sans SC"/>
              </a:rPr>
              <a:t>The Grove Beginner Kit (Overview)</a:t>
            </a:r>
          </a:p>
        </p:txBody>
      </p:sp>
      <p:sp>
        <p:nvSpPr>
          <p:cNvPr id="6" name="Rectangle 5"/>
          <p:cNvSpPr/>
          <p:nvPr/>
        </p:nvSpPr>
        <p:spPr>
          <a:xfrm>
            <a:off x="566928" y="1325880"/>
            <a:ext cx="4846320" cy="30175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09244" y="1506931"/>
            <a:ext cx="4361688" cy="362102"/>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5820" y="1534363"/>
            <a:ext cx="4288536" cy="307238"/>
          </a:xfrm>
          <a:prstGeom prst="rect">
            <a:avLst/>
          </a:prstGeom>
          <a:noFill/>
        </p:spPr>
        <p:txBody>
          <a:bodyPr wrap="square" anchor="t" lIns="0" rIns="0" tIns="0" bIns="0">
            <a:spAutoFit/>
          </a:bodyPr>
          <a:lstStyle/>
          <a:p>
            <a:pPr algn="ctr">
              <a:lnSpc>
                <a:spcPct val="100000"/>
              </a:lnSpc>
            </a:pPr>
            <a:r>
              <a:rPr sz="900" b="1">
                <a:solidFill>
                  <a:srgbClr val="000000"/>
                </a:solidFill>
                <a:latin typeface="Source Han Sans SC"/>
              </a:rPr>
              <a:t>GROVE PORTS</a:t>
            </a:r>
          </a:p>
        </p:txBody>
      </p:sp>
      <p:sp>
        <p:nvSpPr>
          <p:cNvPr id="9" name="Rectangle 8"/>
          <p:cNvSpPr/>
          <p:nvPr/>
        </p:nvSpPr>
        <p:spPr>
          <a:xfrm>
            <a:off x="809244" y="2110435"/>
            <a:ext cx="4361688" cy="482803"/>
          </a:xfrm>
          <a:prstGeom prst="rect">
            <a:avLst/>
          </a:prstGeom>
          <a:solidFill>
            <a:srgbClr val="F3D23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5820" y="2137867"/>
            <a:ext cx="4288536" cy="427939"/>
          </a:xfrm>
          <a:prstGeom prst="rect">
            <a:avLst/>
          </a:prstGeom>
          <a:noFill/>
        </p:spPr>
        <p:txBody>
          <a:bodyPr wrap="square" anchor="t" lIns="0" rIns="0" tIns="0" bIns="0">
            <a:spAutoFit/>
          </a:bodyPr>
          <a:lstStyle/>
          <a:p>
            <a:pPr algn="ctr">
              <a:lnSpc>
                <a:spcPct val="100000"/>
              </a:lnSpc>
            </a:pPr>
            <a:r>
              <a:rPr sz="900" b="1">
                <a:solidFill>
                  <a:srgbClr val="000000"/>
                </a:solidFill>
                <a:latin typeface="Source Han Sans SC"/>
              </a:rPr>
              <a:t>SENSING x5</a:t>
            </a:r>
          </a:p>
        </p:txBody>
      </p:sp>
      <p:sp>
        <p:nvSpPr>
          <p:cNvPr id="11" name="Rectangle 10"/>
          <p:cNvSpPr/>
          <p:nvPr/>
        </p:nvSpPr>
        <p:spPr>
          <a:xfrm>
            <a:off x="809244" y="2985515"/>
            <a:ext cx="1260043" cy="1086307"/>
          </a:xfrm>
          <a:prstGeom prst="rect">
            <a:avLst/>
          </a:prstGeom>
          <a:solidFill>
            <a:srgbClr val="F3D23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5820" y="3012947"/>
            <a:ext cx="1186891" cy="1031443"/>
          </a:xfrm>
          <a:prstGeom prst="rect">
            <a:avLst/>
          </a:prstGeom>
          <a:noFill/>
        </p:spPr>
        <p:txBody>
          <a:bodyPr wrap="square" anchor="t" lIns="0" rIns="0" tIns="0" bIns="0">
            <a:spAutoFit/>
          </a:bodyPr>
          <a:lstStyle/>
          <a:p>
            <a:pPr algn="ctr">
              <a:lnSpc>
                <a:spcPct val="100000"/>
              </a:lnSpc>
            </a:pPr>
            <a:r>
              <a:rPr sz="900" b="1">
                <a:solidFill>
                  <a:srgbClr val="000000"/>
                </a:solidFill>
                <a:latin typeface="Source Han Sans SC"/>
              </a:rPr>
              <a:t>INTERACTING</a:t>
            </a:r>
          </a:p>
        </p:txBody>
      </p:sp>
      <p:sp>
        <p:nvSpPr>
          <p:cNvPr id="13" name="Rectangle 12"/>
          <p:cNvSpPr/>
          <p:nvPr/>
        </p:nvSpPr>
        <p:spPr>
          <a:xfrm>
            <a:off x="2311603" y="2985515"/>
            <a:ext cx="1356969" cy="1086307"/>
          </a:xfrm>
          <a:prstGeom prst="rect">
            <a:avLst/>
          </a:prstGeom>
          <a:solidFill>
            <a:srgbClr val="F3D23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48179" y="3012947"/>
            <a:ext cx="1283817" cy="1031443"/>
          </a:xfrm>
          <a:prstGeom prst="rect">
            <a:avLst/>
          </a:prstGeom>
          <a:noFill/>
        </p:spPr>
        <p:txBody>
          <a:bodyPr wrap="square" anchor="t" lIns="0" rIns="0" tIns="0" bIns="0">
            <a:spAutoFit/>
          </a:bodyPr>
          <a:lstStyle/>
          <a:p>
            <a:pPr algn="ctr">
              <a:lnSpc>
                <a:spcPct val="100000"/>
              </a:lnSpc>
            </a:pPr>
            <a:r>
              <a:rPr sz="900" b="1">
                <a:solidFill>
                  <a:srgbClr val="000000"/>
                </a:solidFill>
                <a:latin typeface="Source Han Sans SC"/>
              </a:rPr>
              <a:t>BRAIN</a:t>
            </a:r>
          </a:p>
        </p:txBody>
      </p:sp>
      <p:sp>
        <p:nvSpPr>
          <p:cNvPr id="15" name="Rectangle 14"/>
          <p:cNvSpPr/>
          <p:nvPr/>
        </p:nvSpPr>
        <p:spPr>
          <a:xfrm>
            <a:off x="3813962" y="2985515"/>
            <a:ext cx="1356969" cy="1086307"/>
          </a:xfrm>
          <a:prstGeom prst="rect">
            <a:avLst/>
          </a:prstGeom>
          <a:solidFill>
            <a:srgbClr val="F3D23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50538" y="3012947"/>
            <a:ext cx="1283817" cy="1031443"/>
          </a:xfrm>
          <a:prstGeom prst="rect">
            <a:avLst/>
          </a:prstGeom>
          <a:noFill/>
        </p:spPr>
        <p:txBody>
          <a:bodyPr wrap="square" anchor="t" lIns="0" rIns="0" tIns="0" bIns="0">
            <a:spAutoFit/>
          </a:bodyPr>
          <a:lstStyle/>
          <a:p>
            <a:pPr algn="ctr">
              <a:lnSpc>
                <a:spcPct val="100000"/>
              </a:lnSpc>
            </a:pPr>
            <a:r>
              <a:rPr sz="900" b="1">
                <a:solidFill>
                  <a:srgbClr val="000000"/>
                </a:solidFill>
                <a:latin typeface="Source Han Sans SC"/>
              </a:rPr>
              <a:t>SPEAKING</a:t>
            </a:r>
          </a:p>
        </p:txBody>
      </p:sp>
      <p:sp>
        <p:nvSpPr>
          <p:cNvPr id="17" name="TextBox 16"/>
          <p:cNvSpPr txBox="1"/>
          <p:nvPr/>
        </p:nvSpPr>
        <p:spPr>
          <a:xfrm>
            <a:off x="5715000" y="1463040"/>
            <a:ext cx="2880360" cy="2651760"/>
          </a:xfrm>
          <a:prstGeom prst="rect">
            <a:avLst/>
          </a:prstGeom>
          <a:noFill/>
        </p:spPr>
        <p:txBody>
          <a:bodyPr wrap="square" anchor="t" lIns="0" rIns="0" tIns="0" bIns="0">
            <a:spAutoFit/>
          </a:bodyPr>
          <a:lstStyle/>
          <a:p>
            <a:pPr algn="l">
              <a:lnSpc>
                <a:spcPct val="125000"/>
              </a:lnSpc>
            </a:pPr>
            <a:r>
              <a:rPr sz="1300" b="0">
                <a:solidFill>
                  <a:srgbClr val="000000"/>
                </a:solidFill>
                <a:latin typeface="Source Han Sans SC"/>
              </a:rPr>
              <a:t>This board's full name: the Grove Beginner Kit for Arduino — in class, just 'the starter kit'.</a:t>
            </a:r>
          </a:p>
          <a:p>
            <a:pPr algn="l">
              <a:lnSpc>
                <a:spcPct val="125000"/>
              </a:lnSpc>
            </a:pPr>
            <a:r>
              <a:rPr sz="1300" b="0">
                <a:solidFill>
                  <a:srgbClr val="000000"/>
                </a:solidFill>
                <a:latin typeface="Source Han Sans SC"/>
              </a:rPr>
              <a:t>One of the best Arduino starter kits out there: no soldering, no complicated wiring — your only job is making it do what you say.</a:t>
            </a:r>
          </a:p>
          <a:p>
            <a:pPr algn="l">
              <a:lnSpc>
                <a:spcPct val="125000"/>
              </a:lnSpc>
            </a:pPr>
            <a:r>
              <a:rPr sz="1300" b="0">
                <a:solidFill>
                  <a:srgbClr val="000000"/>
                </a:solidFill>
                <a:latin typeface="Source Han Sans SC"/>
              </a:rPr>
              <a:t>Next four pages: meet its parts, fast.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Sense and Respond | 12 / 28</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400" b="1">
                <a:solidFill>
                  <a:srgbClr val="000000"/>
                </a:solidFill>
                <a:latin typeface="Source Han Sans SC"/>
              </a:rPr>
              <a:t>The Kit — Sensing (its eyes and ears)</a:t>
            </a:r>
          </a:p>
        </p:txBody>
      </p:sp>
      <p:sp>
        <p:nvSpPr>
          <p:cNvPr id="6" name="Rectangle 5"/>
          <p:cNvSpPr/>
          <p:nvPr/>
        </p:nvSpPr>
        <p:spPr>
          <a:xfrm>
            <a:off x="566928" y="1325880"/>
            <a:ext cx="4846320" cy="30175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09244" y="1506931"/>
            <a:ext cx="4361688" cy="362102"/>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5820" y="1534363"/>
            <a:ext cx="4288536" cy="307238"/>
          </a:xfrm>
          <a:prstGeom prst="rect">
            <a:avLst/>
          </a:prstGeom>
          <a:noFill/>
        </p:spPr>
        <p:txBody>
          <a:bodyPr wrap="square" anchor="t" lIns="0" rIns="0" tIns="0" bIns="0">
            <a:spAutoFit/>
          </a:bodyPr>
          <a:lstStyle/>
          <a:p>
            <a:pPr algn="ctr">
              <a:lnSpc>
                <a:spcPct val="100000"/>
              </a:lnSpc>
            </a:pPr>
            <a:r>
              <a:rPr sz="900" b="1">
                <a:solidFill>
                  <a:srgbClr val="000000"/>
                </a:solidFill>
                <a:latin typeface="Source Han Sans SC"/>
              </a:rPr>
              <a:t>GROVE PORTS</a:t>
            </a:r>
          </a:p>
        </p:txBody>
      </p:sp>
      <p:sp>
        <p:nvSpPr>
          <p:cNvPr id="9" name="Rectangle 8"/>
          <p:cNvSpPr/>
          <p:nvPr/>
        </p:nvSpPr>
        <p:spPr>
          <a:xfrm>
            <a:off x="809244" y="2110435"/>
            <a:ext cx="4361688" cy="482803"/>
          </a:xfrm>
          <a:prstGeom prst="rect">
            <a:avLst/>
          </a:prstGeom>
          <a:solidFill>
            <a:srgbClr val="F3D23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5820" y="2137867"/>
            <a:ext cx="4288536" cy="427939"/>
          </a:xfrm>
          <a:prstGeom prst="rect">
            <a:avLst/>
          </a:prstGeom>
          <a:noFill/>
        </p:spPr>
        <p:txBody>
          <a:bodyPr wrap="square" anchor="t" lIns="0" rIns="0" tIns="0" bIns="0">
            <a:spAutoFit/>
          </a:bodyPr>
          <a:lstStyle/>
          <a:p>
            <a:pPr algn="ctr">
              <a:lnSpc>
                <a:spcPct val="100000"/>
              </a:lnSpc>
            </a:pPr>
            <a:r>
              <a:rPr sz="900" b="1">
                <a:solidFill>
                  <a:srgbClr val="000000"/>
                </a:solidFill>
                <a:latin typeface="Source Han Sans SC"/>
              </a:rPr>
              <a:t>SENSING x5</a:t>
            </a:r>
          </a:p>
        </p:txBody>
      </p:sp>
      <p:sp>
        <p:nvSpPr>
          <p:cNvPr id="11" name="Rectangle 10"/>
          <p:cNvSpPr/>
          <p:nvPr/>
        </p:nvSpPr>
        <p:spPr>
          <a:xfrm>
            <a:off x="809244" y="2985515"/>
            <a:ext cx="1260043" cy="1086307"/>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5820" y="3012947"/>
            <a:ext cx="1186891" cy="1031443"/>
          </a:xfrm>
          <a:prstGeom prst="rect">
            <a:avLst/>
          </a:prstGeom>
          <a:noFill/>
        </p:spPr>
        <p:txBody>
          <a:bodyPr wrap="square" anchor="t" lIns="0" rIns="0" tIns="0" bIns="0">
            <a:spAutoFit/>
          </a:bodyPr>
          <a:lstStyle/>
          <a:p>
            <a:pPr algn="ctr">
              <a:lnSpc>
                <a:spcPct val="100000"/>
              </a:lnSpc>
            </a:pPr>
            <a:r>
              <a:rPr sz="900" b="1">
                <a:solidFill>
                  <a:srgbClr val="000000"/>
                </a:solidFill>
                <a:latin typeface="Source Han Sans SC"/>
              </a:rPr>
              <a:t>INTERACTING</a:t>
            </a:r>
          </a:p>
        </p:txBody>
      </p:sp>
      <p:sp>
        <p:nvSpPr>
          <p:cNvPr id="13" name="Rectangle 12"/>
          <p:cNvSpPr/>
          <p:nvPr/>
        </p:nvSpPr>
        <p:spPr>
          <a:xfrm>
            <a:off x="2311603" y="2985515"/>
            <a:ext cx="1356969" cy="1086307"/>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48179" y="3012947"/>
            <a:ext cx="1283817" cy="1031443"/>
          </a:xfrm>
          <a:prstGeom prst="rect">
            <a:avLst/>
          </a:prstGeom>
          <a:noFill/>
        </p:spPr>
        <p:txBody>
          <a:bodyPr wrap="square" anchor="t" lIns="0" rIns="0" tIns="0" bIns="0">
            <a:spAutoFit/>
          </a:bodyPr>
          <a:lstStyle/>
          <a:p>
            <a:pPr algn="ctr">
              <a:lnSpc>
                <a:spcPct val="100000"/>
              </a:lnSpc>
            </a:pPr>
            <a:r>
              <a:rPr sz="900" b="1">
                <a:solidFill>
                  <a:srgbClr val="000000"/>
                </a:solidFill>
                <a:latin typeface="Source Han Sans SC"/>
              </a:rPr>
              <a:t>BRAIN</a:t>
            </a:r>
          </a:p>
        </p:txBody>
      </p:sp>
      <p:sp>
        <p:nvSpPr>
          <p:cNvPr id="15" name="Rectangle 14"/>
          <p:cNvSpPr/>
          <p:nvPr/>
        </p:nvSpPr>
        <p:spPr>
          <a:xfrm>
            <a:off x="3813962" y="2985515"/>
            <a:ext cx="1356969" cy="1086307"/>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50538" y="3012947"/>
            <a:ext cx="1283817" cy="1031443"/>
          </a:xfrm>
          <a:prstGeom prst="rect">
            <a:avLst/>
          </a:prstGeom>
          <a:noFill/>
        </p:spPr>
        <p:txBody>
          <a:bodyPr wrap="square" anchor="t" lIns="0" rIns="0" tIns="0" bIns="0">
            <a:spAutoFit/>
          </a:bodyPr>
          <a:lstStyle/>
          <a:p>
            <a:pPr algn="ctr">
              <a:lnSpc>
                <a:spcPct val="100000"/>
              </a:lnSpc>
            </a:pPr>
            <a:r>
              <a:rPr sz="900" b="1">
                <a:solidFill>
                  <a:srgbClr val="000000"/>
                </a:solidFill>
                <a:latin typeface="Source Han Sans SC"/>
              </a:rPr>
              <a:t>SPEAKING</a:t>
            </a:r>
          </a:p>
        </p:txBody>
      </p:sp>
      <p:sp>
        <p:nvSpPr>
          <p:cNvPr id="17" name="TextBox 16"/>
          <p:cNvSpPr txBox="1"/>
          <p:nvPr/>
        </p:nvSpPr>
        <p:spPr>
          <a:xfrm>
            <a:off x="5715000" y="1463040"/>
            <a:ext cx="2880360" cy="2651760"/>
          </a:xfrm>
          <a:prstGeom prst="rect">
            <a:avLst/>
          </a:prstGeom>
          <a:noFill/>
        </p:spPr>
        <p:txBody>
          <a:bodyPr wrap="square" anchor="t" lIns="0" rIns="0" tIns="0" bIns="0">
            <a:spAutoFit/>
          </a:bodyPr>
          <a:lstStyle/>
          <a:p>
            <a:pPr algn="l">
              <a:lnSpc>
                <a:spcPct val="125000"/>
              </a:lnSpc>
            </a:pPr>
            <a:r>
              <a:rPr sz="1300" b="0">
                <a:solidFill>
                  <a:srgbClr val="000000"/>
                </a:solidFill>
                <a:latin typeface="Source Han Sans SC"/>
              </a:rPr>
              <a:t>light</a:t>
            </a:r>
          </a:p>
          <a:p>
            <a:pPr algn="l">
              <a:lnSpc>
                <a:spcPct val="125000"/>
              </a:lnSpc>
            </a:pPr>
            <a:r>
              <a:rPr sz="1300" b="0">
                <a:solidFill>
                  <a:srgbClr val="000000"/>
                </a:solidFill>
                <a:latin typeface="Source Han Sans SC"/>
              </a:rPr>
              <a:t>sound</a:t>
            </a:r>
          </a:p>
          <a:p>
            <a:pPr algn="l">
              <a:lnSpc>
                <a:spcPct val="125000"/>
              </a:lnSpc>
            </a:pPr>
            <a:r>
              <a:rPr sz="1300" b="0">
                <a:solidFill>
                  <a:srgbClr val="000000"/>
                </a:solidFill>
                <a:latin typeface="Source Han Sans SC"/>
              </a:rPr>
              <a:t>temperature and humidity</a:t>
            </a:r>
          </a:p>
          <a:p>
            <a:pPr algn="l">
              <a:lnSpc>
                <a:spcPct val="125000"/>
              </a:lnSpc>
            </a:pPr>
            <a:r>
              <a:rPr sz="1300" b="0">
                <a:solidFill>
                  <a:srgbClr val="000000"/>
                </a:solidFill>
                <a:latin typeface="Source Han Sans SC"/>
              </a:rPr>
              <a:t>barometer</a:t>
            </a:r>
          </a:p>
          <a:p>
            <a:pPr algn="l">
              <a:lnSpc>
                <a:spcPct val="125000"/>
              </a:lnSpc>
            </a:pPr>
            <a:r>
              <a:rPr sz="1300" b="0">
                <a:solidFill>
                  <a:srgbClr val="000000"/>
                </a:solidFill>
                <a:latin typeface="Source Han Sans SC"/>
              </a:rPr>
              <a:t>accelerometer</a:t>
            </a:r>
          </a:p>
          <a:p>
            <a:pPr algn="l">
              <a:lnSpc>
                <a:spcPct val="125000"/>
              </a:lnSpc>
            </a:pPr>
            <a:r>
              <a:rPr sz="1300" b="0">
                <a:solidFill>
                  <a:srgbClr val="000000"/>
                </a:solidFill>
                <a:latin typeface="Source Han Sans SC"/>
              </a:rPr>
              <a:t>The dark-detecting light uses that eye — the light sensor.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Sense and Respond | 13 / 28</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200" b="1">
                <a:solidFill>
                  <a:srgbClr val="000000"/>
                </a:solidFill>
                <a:latin typeface="Source Han Sans SC"/>
              </a:rPr>
              <a:t>The Kit — Speaking (its voice and face)</a:t>
            </a:r>
          </a:p>
        </p:txBody>
      </p:sp>
      <p:sp>
        <p:nvSpPr>
          <p:cNvPr id="6" name="Rectangle 5"/>
          <p:cNvSpPr/>
          <p:nvPr/>
        </p:nvSpPr>
        <p:spPr>
          <a:xfrm>
            <a:off x="566928" y="1325880"/>
            <a:ext cx="4846320" cy="30175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09244" y="1506931"/>
            <a:ext cx="4361688" cy="362102"/>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5820" y="1534363"/>
            <a:ext cx="4288536" cy="307238"/>
          </a:xfrm>
          <a:prstGeom prst="rect">
            <a:avLst/>
          </a:prstGeom>
          <a:noFill/>
        </p:spPr>
        <p:txBody>
          <a:bodyPr wrap="square" anchor="t" lIns="0" rIns="0" tIns="0" bIns="0">
            <a:spAutoFit/>
          </a:bodyPr>
          <a:lstStyle/>
          <a:p>
            <a:pPr algn="ctr">
              <a:lnSpc>
                <a:spcPct val="100000"/>
              </a:lnSpc>
            </a:pPr>
            <a:r>
              <a:rPr sz="900" b="1">
                <a:solidFill>
                  <a:srgbClr val="000000"/>
                </a:solidFill>
                <a:latin typeface="Source Han Sans SC"/>
              </a:rPr>
              <a:t>GROVE PORTS</a:t>
            </a:r>
          </a:p>
        </p:txBody>
      </p:sp>
      <p:sp>
        <p:nvSpPr>
          <p:cNvPr id="9" name="Rectangle 8"/>
          <p:cNvSpPr/>
          <p:nvPr/>
        </p:nvSpPr>
        <p:spPr>
          <a:xfrm>
            <a:off x="809244" y="2110435"/>
            <a:ext cx="4361688" cy="482803"/>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5820" y="2137867"/>
            <a:ext cx="4288536" cy="427939"/>
          </a:xfrm>
          <a:prstGeom prst="rect">
            <a:avLst/>
          </a:prstGeom>
          <a:noFill/>
        </p:spPr>
        <p:txBody>
          <a:bodyPr wrap="square" anchor="t" lIns="0" rIns="0" tIns="0" bIns="0">
            <a:spAutoFit/>
          </a:bodyPr>
          <a:lstStyle/>
          <a:p>
            <a:pPr algn="ctr">
              <a:lnSpc>
                <a:spcPct val="100000"/>
              </a:lnSpc>
            </a:pPr>
            <a:r>
              <a:rPr sz="900" b="1">
                <a:solidFill>
                  <a:srgbClr val="000000"/>
                </a:solidFill>
                <a:latin typeface="Source Han Sans SC"/>
              </a:rPr>
              <a:t>SENSING x5</a:t>
            </a:r>
          </a:p>
        </p:txBody>
      </p:sp>
      <p:sp>
        <p:nvSpPr>
          <p:cNvPr id="11" name="Rectangle 10"/>
          <p:cNvSpPr/>
          <p:nvPr/>
        </p:nvSpPr>
        <p:spPr>
          <a:xfrm>
            <a:off x="809244" y="2985515"/>
            <a:ext cx="1260043" cy="1086307"/>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5820" y="3012947"/>
            <a:ext cx="1186891" cy="1031443"/>
          </a:xfrm>
          <a:prstGeom prst="rect">
            <a:avLst/>
          </a:prstGeom>
          <a:noFill/>
        </p:spPr>
        <p:txBody>
          <a:bodyPr wrap="square" anchor="t" lIns="0" rIns="0" tIns="0" bIns="0">
            <a:spAutoFit/>
          </a:bodyPr>
          <a:lstStyle/>
          <a:p>
            <a:pPr algn="ctr">
              <a:lnSpc>
                <a:spcPct val="100000"/>
              </a:lnSpc>
            </a:pPr>
            <a:r>
              <a:rPr sz="900" b="1">
                <a:solidFill>
                  <a:srgbClr val="000000"/>
                </a:solidFill>
                <a:latin typeface="Source Han Sans SC"/>
              </a:rPr>
              <a:t>INTERACTING</a:t>
            </a:r>
          </a:p>
        </p:txBody>
      </p:sp>
      <p:sp>
        <p:nvSpPr>
          <p:cNvPr id="13" name="Rectangle 12"/>
          <p:cNvSpPr/>
          <p:nvPr/>
        </p:nvSpPr>
        <p:spPr>
          <a:xfrm>
            <a:off x="2311603" y="2985515"/>
            <a:ext cx="1356969" cy="1086307"/>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48179" y="3012947"/>
            <a:ext cx="1283817" cy="1031443"/>
          </a:xfrm>
          <a:prstGeom prst="rect">
            <a:avLst/>
          </a:prstGeom>
          <a:noFill/>
        </p:spPr>
        <p:txBody>
          <a:bodyPr wrap="square" anchor="t" lIns="0" rIns="0" tIns="0" bIns="0">
            <a:spAutoFit/>
          </a:bodyPr>
          <a:lstStyle/>
          <a:p>
            <a:pPr algn="ctr">
              <a:lnSpc>
                <a:spcPct val="100000"/>
              </a:lnSpc>
            </a:pPr>
            <a:r>
              <a:rPr sz="900" b="1">
                <a:solidFill>
                  <a:srgbClr val="000000"/>
                </a:solidFill>
                <a:latin typeface="Source Han Sans SC"/>
              </a:rPr>
              <a:t>BRAIN</a:t>
            </a:r>
          </a:p>
        </p:txBody>
      </p:sp>
      <p:sp>
        <p:nvSpPr>
          <p:cNvPr id="15" name="Rectangle 14"/>
          <p:cNvSpPr/>
          <p:nvPr/>
        </p:nvSpPr>
        <p:spPr>
          <a:xfrm>
            <a:off x="3813962" y="2985515"/>
            <a:ext cx="1356969" cy="1086307"/>
          </a:xfrm>
          <a:prstGeom prst="rect">
            <a:avLst/>
          </a:prstGeom>
          <a:solidFill>
            <a:srgbClr val="F3D23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50538" y="3012947"/>
            <a:ext cx="1283817" cy="1031443"/>
          </a:xfrm>
          <a:prstGeom prst="rect">
            <a:avLst/>
          </a:prstGeom>
          <a:noFill/>
        </p:spPr>
        <p:txBody>
          <a:bodyPr wrap="square" anchor="t" lIns="0" rIns="0" tIns="0" bIns="0">
            <a:spAutoFit/>
          </a:bodyPr>
          <a:lstStyle/>
          <a:p>
            <a:pPr algn="ctr">
              <a:lnSpc>
                <a:spcPct val="100000"/>
              </a:lnSpc>
            </a:pPr>
            <a:r>
              <a:rPr sz="900" b="1">
                <a:solidFill>
                  <a:srgbClr val="000000"/>
                </a:solidFill>
                <a:latin typeface="Source Han Sans SC"/>
              </a:rPr>
              <a:t>SPEAKING</a:t>
            </a:r>
          </a:p>
        </p:txBody>
      </p:sp>
      <p:sp>
        <p:nvSpPr>
          <p:cNvPr id="17" name="TextBox 16"/>
          <p:cNvSpPr txBox="1"/>
          <p:nvPr/>
        </p:nvSpPr>
        <p:spPr>
          <a:xfrm>
            <a:off x="5715000" y="1463040"/>
            <a:ext cx="2880360" cy="2651760"/>
          </a:xfrm>
          <a:prstGeom prst="rect">
            <a:avLst/>
          </a:prstGeom>
          <a:noFill/>
        </p:spPr>
        <p:txBody>
          <a:bodyPr wrap="square" anchor="t" lIns="0" rIns="0" tIns="0" bIns="0">
            <a:spAutoFit/>
          </a:bodyPr>
          <a:lstStyle/>
          <a:p>
            <a:pPr algn="l">
              <a:lnSpc>
                <a:spcPct val="125000"/>
              </a:lnSpc>
            </a:pPr>
            <a:r>
              <a:rPr sz="1300" b="0">
                <a:solidFill>
                  <a:srgbClr val="000000"/>
                </a:solidFill>
                <a:latin typeface="Source Han Sans SC"/>
              </a:rPr>
              <a:t>the screen shows words</a:t>
            </a:r>
          </a:p>
          <a:p>
            <a:pPr algn="l">
              <a:lnSpc>
                <a:spcPct val="125000"/>
              </a:lnSpc>
            </a:pPr>
            <a:r>
              <a:rPr sz="1300" b="0">
                <a:solidFill>
                  <a:srgbClr val="000000"/>
                </a:solidFill>
                <a:latin typeface="Source Han Sans SC"/>
              </a:rPr>
              <a:t>the light glows</a:t>
            </a:r>
          </a:p>
          <a:p>
            <a:pPr algn="l">
              <a:lnSpc>
                <a:spcPct val="125000"/>
              </a:lnSpc>
            </a:pPr>
            <a:r>
              <a:rPr sz="1300" b="0">
                <a:solidFill>
                  <a:srgbClr val="000000"/>
                </a:solidFill>
                <a:latin typeface="Source Han Sans SC"/>
              </a:rPr>
              <a:t>the buzzer beeps</a:t>
            </a:r>
          </a:p>
          <a:p>
            <a:pPr algn="l">
              <a:lnSpc>
                <a:spcPct val="125000"/>
              </a:lnSpc>
            </a:pPr>
            <a:r>
              <a:rPr sz="1300" b="0">
                <a:solidFill>
                  <a:srgbClr val="000000"/>
                </a:solidFill>
                <a:latin typeface="Source Han Sans SC"/>
              </a:rPr>
              <a:t>Your name lights up on this little screen today.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Sense and Respond | 14 / 28</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000" b="1">
                <a:solidFill>
                  <a:srgbClr val="000000"/>
                </a:solidFill>
                <a:latin typeface="Source Han Sans SC"/>
              </a:rPr>
              <a:t>The Kit — Interacting (how you operate it)</a:t>
            </a:r>
          </a:p>
        </p:txBody>
      </p:sp>
      <p:sp>
        <p:nvSpPr>
          <p:cNvPr id="6" name="Rectangle 5"/>
          <p:cNvSpPr/>
          <p:nvPr/>
        </p:nvSpPr>
        <p:spPr>
          <a:xfrm>
            <a:off x="566928" y="1325880"/>
            <a:ext cx="4846320" cy="30175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09244" y="1506931"/>
            <a:ext cx="4361688" cy="362102"/>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5820" y="1534363"/>
            <a:ext cx="4288536" cy="307238"/>
          </a:xfrm>
          <a:prstGeom prst="rect">
            <a:avLst/>
          </a:prstGeom>
          <a:noFill/>
        </p:spPr>
        <p:txBody>
          <a:bodyPr wrap="square" anchor="t" lIns="0" rIns="0" tIns="0" bIns="0">
            <a:spAutoFit/>
          </a:bodyPr>
          <a:lstStyle/>
          <a:p>
            <a:pPr algn="ctr">
              <a:lnSpc>
                <a:spcPct val="100000"/>
              </a:lnSpc>
            </a:pPr>
            <a:r>
              <a:rPr sz="900" b="1">
                <a:solidFill>
                  <a:srgbClr val="000000"/>
                </a:solidFill>
                <a:latin typeface="Source Han Sans SC"/>
              </a:rPr>
              <a:t>GROVE PORTS</a:t>
            </a:r>
          </a:p>
        </p:txBody>
      </p:sp>
      <p:sp>
        <p:nvSpPr>
          <p:cNvPr id="9" name="Rectangle 8"/>
          <p:cNvSpPr/>
          <p:nvPr/>
        </p:nvSpPr>
        <p:spPr>
          <a:xfrm>
            <a:off x="809244" y="2110435"/>
            <a:ext cx="4361688" cy="482803"/>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5820" y="2137867"/>
            <a:ext cx="4288536" cy="427939"/>
          </a:xfrm>
          <a:prstGeom prst="rect">
            <a:avLst/>
          </a:prstGeom>
          <a:noFill/>
        </p:spPr>
        <p:txBody>
          <a:bodyPr wrap="square" anchor="t" lIns="0" rIns="0" tIns="0" bIns="0">
            <a:spAutoFit/>
          </a:bodyPr>
          <a:lstStyle/>
          <a:p>
            <a:pPr algn="ctr">
              <a:lnSpc>
                <a:spcPct val="100000"/>
              </a:lnSpc>
            </a:pPr>
            <a:r>
              <a:rPr sz="900" b="1">
                <a:solidFill>
                  <a:srgbClr val="000000"/>
                </a:solidFill>
                <a:latin typeface="Source Han Sans SC"/>
              </a:rPr>
              <a:t>SENSING x5</a:t>
            </a:r>
          </a:p>
        </p:txBody>
      </p:sp>
      <p:sp>
        <p:nvSpPr>
          <p:cNvPr id="11" name="Rectangle 10"/>
          <p:cNvSpPr/>
          <p:nvPr/>
        </p:nvSpPr>
        <p:spPr>
          <a:xfrm>
            <a:off x="809244" y="2985515"/>
            <a:ext cx="1260043" cy="1086307"/>
          </a:xfrm>
          <a:prstGeom prst="rect">
            <a:avLst/>
          </a:prstGeom>
          <a:solidFill>
            <a:srgbClr val="F3D23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5820" y="3012947"/>
            <a:ext cx="1186891" cy="1031443"/>
          </a:xfrm>
          <a:prstGeom prst="rect">
            <a:avLst/>
          </a:prstGeom>
          <a:noFill/>
        </p:spPr>
        <p:txBody>
          <a:bodyPr wrap="square" anchor="t" lIns="0" rIns="0" tIns="0" bIns="0">
            <a:spAutoFit/>
          </a:bodyPr>
          <a:lstStyle/>
          <a:p>
            <a:pPr algn="ctr">
              <a:lnSpc>
                <a:spcPct val="100000"/>
              </a:lnSpc>
            </a:pPr>
            <a:r>
              <a:rPr sz="900" b="1">
                <a:solidFill>
                  <a:srgbClr val="000000"/>
                </a:solidFill>
                <a:latin typeface="Source Han Sans SC"/>
              </a:rPr>
              <a:t>INTERACTING</a:t>
            </a:r>
          </a:p>
        </p:txBody>
      </p:sp>
      <p:sp>
        <p:nvSpPr>
          <p:cNvPr id="13" name="Rectangle 12"/>
          <p:cNvSpPr/>
          <p:nvPr/>
        </p:nvSpPr>
        <p:spPr>
          <a:xfrm>
            <a:off x="2311603" y="2985515"/>
            <a:ext cx="1356969" cy="1086307"/>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48179" y="3012947"/>
            <a:ext cx="1283817" cy="1031443"/>
          </a:xfrm>
          <a:prstGeom prst="rect">
            <a:avLst/>
          </a:prstGeom>
          <a:noFill/>
        </p:spPr>
        <p:txBody>
          <a:bodyPr wrap="square" anchor="t" lIns="0" rIns="0" tIns="0" bIns="0">
            <a:spAutoFit/>
          </a:bodyPr>
          <a:lstStyle/>
          <a:p>
            <a:pPr algn="ctr">
              <a:lnSpc>
                <a:spcPct val="100000"/>
              </a:lnSpc>
            </a:pPr>
            <a:r>
              <a:rPr sz="900" b="1">
                <a:solidFill>
                  <a:srgbClr val="000000"/>
                </a:solidFill>
                <a:latin typeface="Source Han Sans SC"/>
              </a:rPr>
              <a:t>BRAIN</a:t>
            </a:r>
          </a:p>
        </p:txBody>
      </p:sp>
      <p:sp>
        <p:nvSpPr>
          <p:cNvPr id="15" name="Rectangle 14"/>
          <p:cNvSpPr/>
          <p:nvPr/>
        </p:nvSpPr>
        <p:spPr>
          <a:xfrm>
            <a:off x="3813962" y="2985515"/>
            <a:ext cx="1356969" cy="1086307"/>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50538" y="3012947"/>
            <a:ext cx="1283817" cy="1031443"/>
          </a:xfrm>
          <a:prstGeom prst="rect">
            <a:avLst/>
          </a:prstGeom>
          <a:noFill/>
        </p:spPr>
        <p:txBody>
          <a:bodyPr wrap="square" anchor="t" lIns="0" rIns="0" tIns="0" bIns="0">
            <a:spAutoFit/>
          </a:bodyPr>
          <a:lstStyle/>
          <a:p>
            <a:pPr algn="ctr">
              <a:lnSpc>
                <a:spcPct val="100000"/>
              </a:lnSpc>
            </a:pPr>
            <a:r>
              <a:rPr sz="900" b="1">
                <a:solidFill>
                  <a:srgbClr val="000000"/>
                </a:solidFill>
                <a:latin typeface="Source Han Sans SC"/>
              </a:rPr>
              <a:t>SPEAKING</a:t>
            </a:r>
          </a:p>
        </p:txBody>
      </p:sp>
      <p:sp>
        <p:nvSpPr>
          <p:cNvPr id="17" name="TextBox 16"/>
          <p:cNvSpPr txBox="1"/>
          <p:nvPr/>
        </p:nvSpPr>
        <p:spPr>
          <a:xfrm>
            <a:off x="5715000" y="1463040"/>
            <a:ext cx="2880360" cy="2651760"/>
          </a:xfrm>
          <a:prstGeom prst="rect">
            <a:avLst/>
          </a:prstGeom>
          <a:noFill/>
        </p:spPr>
        <p:txBody>
          <a:bodyPr wrap="square" anchor="t" lIns="0" rIns="0" tIns="0" bIns="0">
            <a:spAutoFit/>
          </a:bodyPr>
          <a:lstStyle/>
          <a:p>
            <a:pPr algn="l">
              <a:lnSpc>
                <a:spcPct val="125000"/>
              </a:lnSpc>
            </a:pPr>
            <a:r>
              <a:rPr sz="1300" b="0">
                <a:solidFill>
                  <a:srgbClr val="000000"/>
                </a:solidFill>
                <a:latin typeface="Source Han Sans SC"/>
              </a:rPr>
              <a:t>a button</a:t>
            </a:r>
          </a:p>
          <a:p>
            <a:pPr algn="l">
              <a:lnSpc>
                <a:spcPct val="125000"/>
              </a:lnSpc>
            </a:pPr>
            <a:r>
              <a:rPr sz="1300" b="0">
                <a:solidFill>
                  <a:srgbClr val="000000"/>
                </a:solidFill>
                <a:latin typeface="Source Han Sans SC"/>
              </a:rPr>
              <a:t>a knob</a:t>
            </a:r>
          </a:p>
          <a:p>
            <a:pPr algn="l">
              <a:lnSpc>
                <a:spcPct val="125000"/>
              </a:lnSpc>
            </a:pPr>
            <a:r>
              <a:rPr sz="1300" b="0">
                <a:solidFill>
                  <a:srgbClr val="000000"/>
                </a:solidFill>
                <a:latin typeface="Source Han Sans SC"/>
              </a:rPr>
              <a:t>Press, twist — the board can feel both. Build 3 puts them to work.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Sense and Respond | 15 / 28</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000" b="1">
                <a:solidFill>
                  <a:srgbClr val="000000"/>
                </a:solidFill>
                <a:latin typeface="Source Han Sans SC"/>
              </a:rPr>
              <a:t>The Kit — The Brain and the Grove Ports</a:t>
            </a:r>
          </a:p>
        </p:txBody>
      </p:sp>
      <p:sp>
        <p:nvSpPr>
          <p:cNvPr id="6" name="Rectangle 5"/>
          <p:cNvSpPr/>
          <p:nvPr/>
        </p:nvSpPr>
        <p:spPr>
          <a:xfrm>
            <a:off x="566928" y="1325880"/>
            <a:ext cx="4846320" cy="30175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09244" y="1506931"/>
            <a:ext cx="4361688" cy="362102"/>
          </a:xfrm>
          <a:prstGeom prst="rect">
            <a:avLst/>
          </a:prstGeom>
          <a:solidFill>
            <a:srgbClr val="F3D23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5820" y="1534363"/>
            <a:ext cx="4288536" cy="307238"/>
          </a:xfrm>
          <a:prstGeom prst="rect">
            <a:avLst/>
          </a:prstGeom>
          <a:noFill/>
        </p:spPr>
        <p:txBody>
          <a:bodyPr wrap="square" anchor="t" lIns="0" rIns="0" tIns="0" bIns="0">
            <a:spAutoFit/>
          </a:bodyPr>
          <a:lstStyle/>
          <a:p>
            <a:pPr algn="ctr">
              <a:lnSpc>
                <a:spcPct val="100000"/>
              </a:lnSpc>
            </a:pPr>
            <a:r>
              <a:rPr sz="900" b="1">
                <a:solidFill>
                  <a:srgbClr val="000000"/>
                </a:solidFill>
                <a:latin typeface="Source Han Sans SC"/>
              </a:rPr>
              <a:t>GROVE PORTS</a:t>
            </a:r>
          </a:p>
        </p:txBody>
      </p:sp>
      <p:sp>
        <p:nvSpPr>
          <p:cNvPr id="9" name="Rectangle 8"/>
          <p:cNvSpPr/>
          <p:nvPr/>
        </p:nvSpPr>
        <p:spPr>
          <a:xfrm>
            <a:off x="809244" y="2110435"/>
            <a:ext cx="4361688" cy="482803"/>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5820" y="2137867"/>
            <a:ext cx="4288536" cy="427939"/>
          </a:xfrm>
          <a:prstGeom prst="rect">
            <a:avLst/>
          </a:prstGeom>
          <a:noFill/>
        </p:spPr>
        <p:txBody>
          <a:bodyPr wrap="square" anchor="t" lIns="0" rIns="0" tIns="0" bIns="0">
            <a:spAutoFit/>
          </a:bodyPr>
          <a:lstStyle/>
          <a:p>
            <a:pPr algn="ctr">
              <a:lnSpc>
                <a:spcPct val="100000"/>
              </a:lnSpc>
            </a:pPr>
            <a:r>
              <a:rPr sz="900" b="1">
                <a:solidFill>
                  <a:srgbClr val="000000"/>
                </a:solidFill>
                <a:latin typeface="Source Han Sans SC"/>
              </a:rPr>
              <a:t>SENSING x5</a:t>
            </a:r>
          </a:p>
        </p:txBody>
      </p:sp>
      <p:sp>
        <p:nvSpPr>
          <p:cNvPr id="11" name="Rectangle 10"/>
          <p:cNvSpPr/>
          <p:nvPr/>
        </p:nvSpPr>
        <p:spPr>
          <a:xfrm>
            <a:off x="809244" y="2985515"/>
            <a:ext cx="1260043" cy="1086307"/>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5820" y="3012947"/>
            <a:ext cx="1186891" cy="1031443"/>
          </a:xfrm>
          <a:prstGeom prst="rect">
            <a:avLst/>
          </a:prstGeom>
          <a:noFill/>
        </p:spPr>
        <p:txBody>
          <a:bodyPr wrap="square" anchor="t" lIns="0" rIns="0" tIns="0" bIns="0">
            <a:spAutoFit/>
          </a:bodyPr>
          <a:lstStyle/>
          <a:p>
            <a:pPr algn="ctr">
              <a:lnSpc>
                <a:spcPct val="100000"/>
              </a:lnSpc>
            </a:pPr>
            <a:r>
              <a:rPr sz="900" b="1">
                <a:solidFill>
                  <a:srgbClr val="000000"/>
                </a:solidFill>
                <a:latin typeface="Source Han Sans SC"/>
              </a:rPr>
              <a:t>INTERACTING</a:t>
            </a:r>
          </a:p>
        </p:txBody>
      </p:sp>
      <p:sp>
        <p:nvSpPr>
          <p:cNvPr id="13" name="Rectangle 12"/>
          <p:cNvSpPr/>
          <p:nvPr/>
        </p:nvSpPr>
        <p:spPr>
          <a:xfrm>
            <a:off x="2311603" y="2985515"/>
            <a:ext cx="1356969" cy="1086307"/>
          </a:xfrm>
          <a:prstGeom prst="rect">
            <a:avLst/>
          </a:prstGeom>
          <a:solidFill>
            <a:srgbClr val="F3D23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48179" y="3012947"/>
            <a:ext cx="1283817" cy="1031443"/>
          </a:xfrm>
          <a:prstGeom prst="rect">
            <a:avLst/>
          </a:prstGeom>
          <a:noFill/>
        </p:spPr>
        <p:txBody>
          <a:bodyPr wrap="square" anchor="t" lIns="0" rIns="0" tIns="0" bIns="0">
            <a:spAutoFit/>
          </a:bodyPr>
          <a:lstStyle/>
          <a:p>
            <a:pPr algn="ctr">
              <a:lnSpc>
                <a:spcPct val="100000"/>
              </a:lnSpc>
            </a:pPr>
            <a:r>
              <a:rPr sz="900" b="1">
                <a:solidFill>
                  <a:srgbClr val="000000"/>
                </a:solidFill>
                <a:latin typeface="Source Han Sans SC"/>
              </a:rPr>
              <a:t>BRAIN</a:t>
            </a:r>
          </a:p>
        </p:txBody>
      </p:sp>
      <p:sp>
        <p:nvSpPr>
          <p:cNvPr id="15" name="Rectangle 14"/>
          <p:cNvSpPr/>
          <p:nvPr/>
        </p:nvSpPr>
        <p:spPr>
          <a:xfrm>
            <a:off x="3813962" y="2985515"/>
            <a:ext cx="1356969" cy="1086307"/>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50538" y="3012947"/>
            <a:ext cx="1283817" cy="1031443"/>
          </a:xfrm>
          <a:prstGeom prst="rect">
            <a:avLst/>
          </a:prstGeom>
          <a:noFill/>
        </p:spPr>
        <p:txBody>
          <a:bodyPr wrap="square" anchor="t" lIns="0" rIns="0" tIns="0" bIns="0">
            <a:spAutoFit/>
          </a:bodyPr>
          <a:lstStyle/>
          <a:p>
            <a:pPr algn="ctr">
              <a:lnSpc>
                <a:spcPct val="100000"/>
              </a:lnSpc>
            </a:pPr>
            <a:r>
              <a:rPr sz="900" b="1">
                <a:solidFill>
                  <a:srgbClr val="000000"/>
                </a:solidFill>
                <a:latin typeface="Source Han Sans SC"/>
              </a:rPr>
              <a:t>SPEAKING</a:t>
            </a:r>
          </a:p>
        </p:txBody>
      </p:sp>
      <p:sp>
        <p:nvSpPr>
          <p:cNvPr id="17" name="TextBox 16"/>
          <p:cNvSpPr txBox="1"/>
          <p:nvPr/>
        </p:nvSpPr>
        <p:spPr>
          <a:xfrm>
            <a:off x="5715000" y="1463040"/>
            <a:ext cx="2880360" cy="2651760"/>
          </a:xfrm>
          <a:prstGeom prst="rect">
            <a:avLst/>
          </a:prstGeom>
          <a:noFill/>
        </p:spPr>
        <p:txBody>
          <a:bodyPr wrap="square" anchor="t" lIns="0" rIns="0" tIns="0" bIns="0">
            <a:spAutoFit/>
          </a:bodyPr>
          <a:lstStyle/>
          <a:p>
            <a:pPr algn="l">
              <a:lnSpc>
                <a:spcPct val="125000"/>
              </a:lnSpc>
            </a:pPr>
            <a:r>
              <a:rPr sz="1300" b="0">
                <a:solidFill>
                  <a:srgbClr val="000000"/>
                </a:solidFill>
                <a:latin typeface="Source Han Sans SC"/>
              </a:rPr>
              <a:t>The instructions AI writes all live here.</a:t>
            </a:r>
          </a:p>
          <a:p>
            <a:pPr algn="l">
              <a:lnSpc>
                <a:spcPct val="125000"/>
              </a:lnSpc>
            </a:pPr>
            <a:r>
              <a:rPr sz="1300" b="0">
                <a:solidFill>
                  <a:srgbClr val="000000"/>
                </a:solidFill>
                <a:latin typeface="Source Han Sans SC"/>
              </a:rPr>
              <a:t>This row of Grove ports is for later: snap a module off, plug it out, build something bigger. Not today — today nothing snaps.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Sense and Respond | 16 / 28</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400" b="1">
                <a:solidFill>
                  <a:srgbClr val="000000"/>
                </a:solidFill>
                <a:latin typeface="Source Han Sans SC"/>
              </a:rPr>
              <a:t>Connect Codecraft — five steps to lit</a:t>
            </a:r>
          </a:p>
        </p:txBody>
      </p:sp>
      <p:sp>
        <p:nvSpPr>
          <p:cNvPr id="6" name="Rectangle 5"/>
          <p:cNvSpPr/>
          <p:nvPr/>
        </p:nvSpPr>
        <p:spPr>
          <a:xfrm>
            <a:off x="566928" y="1298448"/>
            <a:ext cx="384048" cy="38404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35024"/>
            <a:ext cx="384048"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1</a:t>
            </a:r>
          </a:p>
        </p:txBody>
      </p:sp>
      <p:sp>
        <p:nvSpPr>
          <p:cNvPr id="8" name="TextBox 7"/>
          <p:cNvSpPr txBox="1"/>
          <p:nvPr/>
        </p:nvSpPr>
        <p:spPr>
          <a:xfrm>
            <a:off x="1115568" y="1280160"/>
            <a:ext cx="7132320" cy="411480"/>
          </a:xfrm>
          <a:prstGeom prst="rect">
            <a:avLst/>
          </a:prstGeom>
          <a:noFill/>
        </p:spPr>
        <p:txBody>
          <a:bodyPr wrap="square" anchor="t" lIns="0" rIns="0" tIns="0" bIns="0">
            <a:spAutoFit/>
          </a:bodyPr>
          <a:lstStyle/>
          <a:p>
            <a:pPr algn="l">
              <a:lnSpc>
                <a:spcPct val="100000"/>
              </a:lnSpc>
            </a:pPr>
            <a:r>
              <a:rPr sz="1600" b="0">
                <a:solidFill>
                  <a:srgbClr val="000000"/>
                </a:solidFill>
                <a:latin typeface="Source Han Sans SC"/>
              </a:rPr>
              <a:t>Pick your board — click Grove Beginner Kit</a:t>
            </a:r>
          </a:p>
        </p:txBody>
      </p:sp>
      <p:sp>
        <p:nvSpPr>
          <p:cNvPr id="9" name="Rectangle 8"/>
          <p:cNvSpPr/>
          <p:nvPr/>
        </p:nvSpPr>
        <p:spPr>
          <a:xfrm>
            <a:off x="566928" y="1847088"/>
            <a:ext cx="384048" cy="38404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883664"/>
            <a:ext cx="384048"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2</a:t>
            </a:r>
          </a:p>
        </p:txBody>
      </p:sp>
      <p:sp>
        <p:nvSpPr>
          <p:cNvPr id="11" name="TextBox 10"/>
          <p:cNvSpPr txBox="1"/>
          <p:nvPr/>
        </p:nvSpPr>
        <p:spPr>
          <a:xfrm>
            <a:off x="1115568" y="1828800"/>
            <a:ext cx="7132320" cy="411480"/>
          </a:xfrm>
          <a:prstGeom prst="rect">
            <a:avLst/>
          </a:prstGeom>
          <a:noFill/>
        </p:spPr>
        <p:txBody>
          <a:bodyPr wrap="square" anchor="t" lIns="0" rIns="0" tIns="0" bIns="0">
            <a:spAutoFit/>
          </a:bodyPr>
          <a:lstStyle/>
          <a:p>
            <a:pPr algn="l">
              <a:lnSpc>
                <a:spcPct val="100000"/>
              </a:lnSpc>
            </a:pPr>
            <a:r>
              <a:rPr sz="1600" b="0">
                <a:solidFill>
                  <a:srgbClr val="000000"/>
                </a:solidFill>
                <a:latin typeface="Source Han Sans SC"/>
              </a:rPr>
              <a:t>Type your request in the box, click send</a:t>
            </a:r>
          </a:p>
        </p:txBody>
      </p:sp>
      <p:sp>
        <p:nvSpPr>
          <p:cNvPr id="12" name="Rectangle 11"/>
          <p:cNvSpPr/>
          <p:nvPr/>
        </p:nvSpPr>
        <p:spPr>
          <a:xfrm>
            <a:off x="566928" y="2395728"/>
            <a:ext cx="384048" cy="38404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2432304"/>
            <a:ext cx="384048"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3</a:t>
            </a:r>
          </a:p>
        </p:txBody>
      </p:sp>
      <p:sp>
        <p:nvSpPr>
          <p:cNvPr id="14" name="TextBox 13"/>
          <p:cNvSpPr txBox="1"/>
          <p:nvPr/>
        </p:nvSpPr>
        <p:spPr>
          <a:xfrm>
            <a:off x="1115568" y="2377440"/>
            <a:ext cx="7132320" cy="411480"/>
          </a:xfrm>
          <a:prstGeom prst="rect">
            <a:avLst/>
          </a:prstGeom>
          <a:noFill/>
        </p:spPr>
        <p:txBody>
          <a:bodyPr wrap="square" anchor="t" lIns="0" rIns="0" tIns="0" bIns="0">
            <a:spAutoFit/>
          </a:bodyPr>
          <a:lstStyle/>
          <a:p>
            <a:pPr algn="l">
              <a:lnSpc>
                <a:spcPct val="100000"/>
              </a:lnSpc>
            </a:pPr>
            <a:r>
              <a:rPr sz="1600" b="0">
                <a:solidFill>
                  <a:srgbClr val="000000"/>
                </a:solidFill>
                <a:latin typeface="Source Han Sans SC"/>
              </a:rPr>
              <a:t>Click the green button: Connect and Flash</a:t>
            </a:r>
          </a:p>
        </p:txBody>
      </p:sp>
      <p:sp>
        <p:nvSpPr>
          <p:cNvPr id="15" name="Rectangle 14"/>
          <p:cNvSpPr/>
          <p:nvPr/>
        </p:nvSpPr>
        <p:spPr>
          <a:xfrm>
            <a:off x="566928" y="2944368"/>
            <a:ext cx="384048" cy="38404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980944"/>
            <a:ext cx="384048"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4</a:t>
            </a:r>
          </a:p>
        </p:txBody>
      </p:sp>
      <p:sp>
        <p:nvSpPr>
          <p:cNvPr id="17" name="TextBox 16"/>
          <p:cNvSpPr txBox="1"/>
          <p:nvPr/>
        </p:nvSpPr>
        <p:spPr>
          <a:xfrm>
            <a:off x="1115568" y="2926080"/>
            <a:ext cx="7132320" cy="411480"/>
          </a:xfrm>
          <a:prstGeom prst="rect">
            <a:avLst/>
          </a:prstGeom>
          <a:noFill/>
        </p:spPr>
        <p:txBody>
          <a:bodyPr wrap="square" anchor="t" lIns="0" rIns="0" tIns="0" bIns="0">
            <a:spAutoFit/>
          </a:bodyPr>
          <a:lstStyle/>
          <a:p>
            <a:pPr algn="l">
              <a:lnSpc>
                <a:spcPct val="100000"/>
              </a:lnSpc>
            </a:pPr>
            <a:r>
              <a:rPr sz="1600" b="0">
                <a:solidFill>
                  <a:srgbClr val="000000"/>
                </a:solidFill>
                <a:latin typeface="Source Han Sans SC"/>
              </a:rPr>
              <a:t>Pick the serial port, then Connect</a:t>
            </a:r>
          </a:p>
        </p:txBody>
      </p:sp>
      <p:sp>
        <p:nvSpPr>
          <p:cNvPr id="18" name="Rectangle 17"/>
          <p:cNvSpPr/>
          <p:nvPr/>
        </p:nvSpPr>
        <p:spPr>
          <a:xfrm>
            <a:off x="566928" y="3493008"/>
            <a:ext cx="384048" cy="38404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529584"/>
            <a:ext cx="384048"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5</a:t>
            </a:r>
          </a:p>
        </p:txBody>
      </p:sp>
      <p:sp>
        <p:nvSpPr>
          <p:cNvPr id="20" name="TextBox 19"/>
          <p:cNvSpPr txBox="1"/>
          <p:nvPr/>
        </p:nvSpPr>
        <p:spPr>
          <a:xfrm>
            <a:off x="1115568" y="3474720"/>
            <a:ext cx="7132320" cy="411480"/>
          </a:xfrm>
          <a:prstGeom prst="rect">
            <a:avLst/>
          </a:prstGeom>
          <a:noFill/>
        </p:spPr>
        <p:txBody>
          <a:bodyPr wrap="square" anchor="t" lIns="0" rIns="0" tIns="0" bIns="0">
            <a:spAutoFit/>
          </a:bodyPr>
          <a:lstStyle/>
          <a:p>
            <a:pPr algn="l">
              <a:lnSpc>
                <a:spcPct val="100000"/>
              </a:lnSpc>
            </a:pPr>
            <a:r>
              <a:rPr sz="1600" b="0">
                <a:solidFill>
                  <a:srgbClr val="000000"/>
                </a:solidFill>
                <a:latin typeface="Source Han Sans SC"/>
              </a:rPr>
              <a:t>It flashes automatically — watch the board</a:t>
            </a:r>
          </a:p>
        </p:txBody>
      </p:sp>
      <p:sp>
        <p:nvSpPr>
          <p:cNvPr id="21" name="Rectangle 20"/>
          <p:cNvSpPr/>
          <p:nvPr/>
        </p:nvSpPr>
        <p:spPr>
          <a:xfrm>
            <a:off x="566928" y="4023360"/>
            <a:ext cx="8010144" cy="713232"/>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133088"/>
            <a:ext cx="7680960" cy="493776"/>
          </a:xfrm>
          <a:prstGeom prst="rect">
            <a:avLst/>
          </a:prstGeom>
          <a:noFill/>
        </p:spPr>
        <p:txBody>
          <a:bodyPr wrap="square" anchor="t" lIns="0" rIns="0" tIns="0" bIns="0">
            <a:spAutoFit/>
          </a:bodyPr>
          <a:lstStyle/>
          <a:p>
            <a:pPr algn="l">
              <a:lnSpc>
                <a:spcPct val="125000"/>
              </a:lnSpc>
            </a:pPr>
            <a:r>
              <a:rPr sz="1200" b="0">
                <a:solidFill>
                  <a:srgbClr val="000000"/>
                </a:solidFill>
                <a:latin typeface="Source Han Sans SC"/>
              </a:rPr>
              <a:t>Which serial row? The one with CP2102N / USB — not the Bluetooth row. No popup? Clicked Cancel by accident? Click Connect and Flash again — still stuck, raise your hand: a TA will fix it in 2 minutes.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Sense and Respond | 17 / 28</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Spell 1 | One Thing at a Time</a:t>
            </a:r>
          </a:p>
        </p:txBody>
      </p:sp>
      <p:sp>
        <p:nvSpPr>
          <p:cNvPr id="6" name="Rectangle 5"/>
          <p:cNvSpPr/>
          <p:nvPr/>
        </p:nvSpPr>
        <p:spPr>
          <a:xfrm>
            <a:off x="566928" y="1188720"/>
            <a:ext cx="8010144" cy="82296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80160"/>
            <a:ext cx="7680960" cy="640080"/>
          </a:xfrm>
          <a:prstGeom prst="rect">
            <a:avLst/>
          </a:prstGeom>
          <a:noFill/>
        </p:spPr>
        <p:txBody>
          <a:bodyPr wrap="square" anchor="t" lIns="0" rIns="0" tIns="0" bIns="0">
            <a:spAutoFit/>
          </a:bodyPr>
          <a:lstStyle/>
          <a:p>
            <a:pPr algn="l">
              <a:lnSpc>
                <a:spcPct val="120000"/>
              </a:lnSpc>
            </a:pPr>
            <a:r>
              <a:rPr sz="1250" b="0">
                <a:solidFill>
                  <a:srgbClr val="000000"/>
                </a:solidFill>
                <a:latin typeface="Source Code Pro"/>
              </a:rPr>
              <a:t>I'm using the Grove Beginner Kit. Please do one thing for me: ___ (just one).  It counts as done when ___. Please don't add other features yet.</a:t>
            </a:r>
          </a:p>
        </p:txBody>
      </p:sp>
      <p:sp>
        <p:nvSpPr>
          <p:cNvPr id="8" name="Rectangle 7"/>
          <p:cNvSpPr/>
          <p:nvPr/>
        </p:nvSpPr>
        <p:spPr>
          <a:xfrm>
            <a:off x="566928" y="2240280"/>
            <a:ext cx="914400" cy="27432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286000"/>
            <a:ext cx="914400" cy="219456"/>
          </a:xfrm>
          <a:prstGeom prst="rect">
            <a:avLst/>
          </a:prstGeom>
          <a:noFill/>
        </p:spPr>
        <p:txBody>
          <a:bodyPr wrap="square" anchor="t" lIns="0" rIns="0" tIns="0" bIns="0">
            <a:spAutoFit/>
          </a:bodyPr>
          <a:lstStyle/>
          <a:p>
            <a:pPr algn="ctr">
              <a:lnSpc>
                <a:spcPct val="100000"/>
              </a:lnSpc>
            </a:pPr>
            <a:r>
              <a:rPr sz="1200" b="1">
                <a:solidFill>
                  <a:srgbClr val="000000"/>
                </a:solidFill>
                <a:latin typeface="Source Han Sans SC"/>
              </a:rPr>
              <a:t>GOOD</a:t>
            </a:r>
          </a:p>
        </p:txBody>
      </p:sp>
      <p:sp>
        <p:nvSpPr>
          <p:cNvPr id="10" name="Rectangle 9"/>
          <p:cNvSpPr/>
          <p:nvPr/>
        </p:nvSpPr>
        <p:spPr>
          <a:xfrm>
            <a:off x="566928" y="2542032"/>
            <a:ext cx="8010144" cy="566928"/>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651760"/>
            <a:ext cx="7680960" cy="365760"/>
          </a:xfrm>
          <a:prstGeom prst="rect">
            <a:avLst/>
          </a:prstGeom>
          <a:noFill/>
        </p:spPr>
        <p:txBody>
          <a:bodyPr wrap="square" anchor="t" lIns="0" rIns="0" tIns="0" bIns="0">
            <a:spAutoFit/>
          </a:bodyPr>
          <a:lstStyle/>
          <a:p>
            <a:pPr algn="l">
              <a:lnSpc>
                <a:spcPct val="100000"/>
              </a:lnSpc>
            </a:pPr>
            <a:r>
              <a:rPr sz="1300" b="0">
                <a:solidFill>
                  <a:srgbClr val="000000"/>
                </a:solidFill>
                <a:latin typeface="Source Code Pro"/>
              </a:rPr>
              <a:t>"Display in large text on the screen: Hello, I'm Sam."</a:t>
            </a:r>
          </a:p>
        </p:txBody>
      </p:sp>
      <p:sp>
        <p:nvSpPr>
          <p:cNvPr id="12" name="Rectangle 11"/>
          <p:cNvSpPr/>
          <p:nvPr/>
        </p:nvSpPr>
        <p:spPr>
          <a:xfrm>
            <a:off x="566928" y="3310128"/>
            <a:ext cx="914400" cy="274320"/>
          </a:xfrm>
          <a:prstGeom prst="rect">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3355848"/>
            <a:ext cx="914400" cy="219456"/>
          </a:xfrm>
          <a:prstGeom prst="rect">
            <a:avLst/>
          </a:prstGeom>
          <a:noFill/>
        </p:spPr>
        <p:txBody>
          <a:bodyPr wrap="square" anchor="t" lIns="0" rIns="0" tIns="0" bIns="0">
            <a:spAutoFit/>
          </a:bodyPr>
          <a:lstStyle/>
          <a:p>
            <a:pPr algn="ctr">
              <a:lnSpc>
                <a:spcPct val="100000"/>
              </a:lnSpc>
            </a:pPr>
            <a:r>
              <a:rPr sz="1200" b="1">
                <a:solidFill>
                  <a:srgbClr val="FFFFFF"/>
                </a:solidFill>
                <a:latin typeface="Source Han Sans SC"/>
              </a:rPr>
              <a:t>BAD</a:t>
            </a:r>
          </a:p>
        </p:txBody>
      </p:sp>
      <p:sp>
        <p:nvSpPr>
          <p:cNvPr id="14" name="Rectangle 13"/>
          <p:cNvSpPr/>
          <p:nvPr/>
        </p:nvSpPr>
        <p:spPr>
          <a:xfrm>
            <a:off x="566928" y="3611880"/>
            <a:ext cx="8010144" cy="777240"/>
          </a:xfrm>
          <a:prstGeom prst="rect">
            <a:avLst/>
          </a:prstGeom>
          <a:solidFill>
            <a:srgbClr val="FFFFFF"/>
          </a:solidFill>
          <a:ln w="19050">
            <a:solidFill>
              <a:srgbClr val="D841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703320"/>
            <a:ext cx="7680960" cy="594360"/>
          </a:xfrm>
          <a:prstGeom prst="rect">
            <a:avLst/>
          </a:prstGeom>
          <a:noFill/>
        </p:spPr>
        <p:txBody>
          <a:bodyPr wrap="square" anchor="t" lIns="0" rIns="0" tIns="0" bIns="0">
            <a:spAutoFit/>
          </a:bodyPr>
          <a:lstStyle/>
          <a:p>
            <a:pPr algn="l">
              <a:lnSpc>
                <a:spcPct val="120000"/>
              </a:lnSpc>
            </a:pPr>
            <a:r>
              <a:rPr sz="1250" b="0">
                <a:solidFill>
                  <a:srgbClr val="000000"/>
                </a:solidFill>
                <a:latin typeface="Source Code Pro"/>
              </a:rPr>
              <a:t>"Set up the lights, the screen and the speaker, make it cool."</a:t>
            </a:r>
          </a:p>
          <a:p>
            <a:pPr algn="l">
              <a:lnSpc>
                <a:spcPct val="120000"/>
              </a:lnSpc>
            </a:pPr>
            <a:r>
              <a:rPr sz="1250" b="0">
                <a:solidFill>
                  <a:srgbClr val="000000"/>
                </a:solidFill>
                <a:latin typeface="Source Code Pro"/>
              </a:rPr>
              <a:t>— three jobs plus "cool" — AI can only guess.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Sense and Respond | 18 / 28</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The Two Spells for Talking to AI</a:t>
            </a:r>
          </a:p>
        </p:txBody>
      </p:sp>
      <p:sp>
        <p:nvSpPr>
          <p:cNvPr id="6" name="Rectangle 5"/>
          <p:cNvSpPr/>
          <p:nvPr/>
        </p:nvSpPr>
        <p:spPr>
          <a:xfrm>
            <a:off x="566928" y="1280160"/>
            <a:ext cx="502920" cy="50292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502920" cy="365760"/>
          </a:xfrm>
          <a:prstGeom prst="rect">
            <a:avLst/>
          </a:prstGeom>
          <a:noFill/>
        </p:spPr>
        <p:txBody>
          <a:bodyPr wrap="square" anchor="t" lIns="0" rIns="0" tIns="0" bIns="0">
            <a:spAutoFit/>
          </a:bodyPr>
          <a:lstStyle/>
          <a:p>
            <a:pPr algn="ctr">
              <a:lnSpc>
                <a:spcPct val="100000"/>
              </a:lnSpc>
            </a:pPr>
            <a:r>
              <a:rPr sz="1800" b="1">
                <a:solidFill>
                  <a:srgbClr val="FFFFFF"/>
                </a:solidFill>
                <a:latin typeface="Source Han Sans SC"/>
              </a:rPr>
              <a:t>1</a:t>
            </a:r>
          </a:p>
        </p:txBody>
      </p:sp>
      <p:sp>
        <p:nvSpPr>
          <p:cNvPr id="8" name="TextBox 7"/>
          <p:cNvSpPr txBox="1"/>
          <p:nvPr/>
        </p:nvSpPr>
        <p:spPr>
          <a:xfrm>
            <a:off x="1234440" y="1261872"/>
            <a:ext cx="7315200" cy="548640"/>
          </a:xfrm>
          <a:prstGeom prst="rect">
            <a:avLst/>
          </a:prstGeom>
          <a:noFill/>
        </p:spPr>
        <p:txBody>
          <a:bodyPr wrap="square" anchor="t" lIns="0" rIns="0" tIns="0" bIns="0">
            <a:spAutoFit/>
          </a:bodyPr>
          <a:lstStyle/>
          <a:p>
            <a:pPr algn="l">
              <a:lnSpc>
                <a:spcPct val="100000"/>
              </a:lnSpc>
            </a:pPr>
            <a:r>
              <a:rPr sz="3400" b="1">
                <a:solidFill>
                  <a:srgbClr val="000000"/>
                </a:solidFill>
                <a:latin typeface="Source Han Sans SC"/>
              </a:rPr>
              <a:t>One thing at a time.</a:t>
            </a:r>
          </a:p>
        </p:txBody>
      </p:sp>
      <p:sp>
        <p:nvSpPr>
          <p:cNvPr id="9" name="TextBox 8"/>
          <p:cNvSpPr txBox="1"/>
          <p:nvPr/>
        </p:nvSpPr>
        <p:spPr>
          <a:xfrm>
            <a:off x="1234440" y="1847088"/>
            <a:ext cx="7315200" cy="566928"/>
          </a:xfrm>
          <a:prstGeom prst="rect">
            <a:avLst/>
          </a:prstGeom>
          <a:noFill/>
        </p:spPr>
        <p:txBody>
          <a:bodyPr wrap="square" anchor="t" lIns="0" rIns="0" tIns="0" bIns="0">
            <a:spAutoFit/>
          </a:bodyPr>
          <a:lstStyle/>
          <a:p>
            <a:pPr algn="l">
              <a:lnSpc>
                <a:spcPct val="100000"/>
              </a:lnSpc>
            </a:pPr>
            <a:r>
              <a:rPr sz="1450" b="0">
                <a:solidFill>
                  <a:srgbClr val="000000"/>
                </a:solidFill>
                <a:latin typeface="Source Han Sans SC"/>
              </a:rPr>
              <a:t>Not "set up the lights, the screen and the speaker" — one thing, said clearly, and it gets it right.</a:t>
            </a:r>
          </a:p>
        </p:txBody>
      </p:sp>
      <p:sp>
        <p:nvSpPr>
          <p:cNvPr id="10" name="Rectangle 9"/>
          <p:cNvSpPr/>
          <p:nvPr/>
        </p:nvSpPr>
        <p:spPr>
          <a:xfrm>
            <a:off x="566928" y="2697480"/>
            <a:ext cx="502920" cy="50292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788920"/>
            <a:ext cx="502920" cy="365760"/>
          </a:xfrm>
          <a:prstGeom prst="rect">
            <a:avLst/>
          </a:prstGeom>
          <a:noFill/>
        </p:spPr>
        <p:txBody>
          <a:bodyPr wrap="square" anchor="t" lIns="0" rIns="0" tIns="0" bIns="0">
            <a:spAutoFit/>
          </a:bodyPr>
          <a:lstStyle/>
          <a:p>
            <a:pPr algn="ctr">
              <a:lnSpc>
                <a:spcPct val="100000"/>
              </a:lnSpc>
            </a:pPr>
            <a:r>
              <a:rPr sz="1800" b="1">
                <a:solidFill>
                  <a:srgbClr val="FFFFFF"/>
                </a:solidFill>
                <a:latin typeface="Source Han Sans SC"/>
              </a:rPr>
              <a:t>2</a:t>
            </a:r>
          </a:p>
        </p:txBody>
      </p:sp>
      <p:sp>
        <p:nvSpPr>
          <p:cNvPr id="12" name="TextBox 11"/>
          <p:cNvSpPr txBox="1"/>
          <p:nvPr/>
        </p:nvSpPr>
        <p:spPr>
          <a:xfrm>
            <a:off x="1234440" y="2679192"/>
            <a:ext cx="7315200" cy="548640"/>
          </a:xfrm>
          <a:prstGeom prst="rect">
            <a:avLst/>
          </a:prstGeom>
          <a:noFill/>
        </p:spPr>
        <p:txBody>
          <a:bodyPr wrap="square" anchor="t" lIns="0" rIns="0" tIns="0" bIns="0">
            <a:spAutoFit/>
          </a:bodyPr>
          <a:lstStyle/>
          <a:p>
            <a:pPr algn="l">
              <a:lnSpc>
                <a:spcPct val="100000"/>
              </a:lnSpc>
            </a:pPr>
            <a:r>
              <a:rPr sz="3400" b="1">
                <a:solidFill>
                  <a:srgbClr val="000000"/>
                </a:solidFill>
                <a:latin typeface="Source Han Sans SC"/>
              </a:rPr>
              <a:t>If it's wrong, add one more line.</a:t>
            </a:r>
          </a:p>
        </p:txBody>
      </p:sp>
      <p:sp>
        <p:nvSpPr>
          <p:cNvPr id="13" name="TextBox 12"/>
          <p:cNvSpPr txBox="1"/>
          <p:nvPr/>
        </p:nvSpPr>
        <p:spPr>
          <a:xfrm>
            <a:off x="1234440" y="3264408"/>
            <a:ext cx="7315200" cy="566928"/>
          </a:xfrm>
          <a:prstGeom prst="rect">
            <a:avLst/>
          </a:prstGeom>
          <a:noFill/>
        </p:spPr>
        <p:txBody>
          <a:bodyPr wrap="square" anchor="t" lIns="0" rIns="0" tIns="0" bIns="0">
            <a:spAutoFit/>
          </a:bodyPr>
          <a:lstStyle/>
          <a:p>
            <a:pPr algn="l">
              <a:lnSpc>
                <a:spcPct val="100000"/>
              </a:lnSpc>
            </a:pPr>
            <a:r>
              <a:rPr sz="1450" b="0">
                <a:solidFill>
                  <a:srgbClr val="000000"/>
                </a:solidFill>
                <a:latin typeface="Source Han Sans SC"/>
              </a:rPr>
              <a:t>Don't delete the conversation, don't restart — add one line in the same conversation. AI remembers what you talked about.</a:t>
            </a:r>
          </a:p>
        </p:txBody>
      </p:sp>
      <p:sp>
        <p:nvSpPr>
          <p:cNvPr id="14" name="TextBox 13"/>
          <p:cNvSpPr txBox="1"/>
          <p:nvPr/>
        </p:nvSpPr>
        <p:spPr>
          <a:xfrm>
            <a:off x="566928" y="4114800"/>
            <a:ext cx="8010144" cy="365760"/>
          </a:xfrm>
          <a:prstGeom prst="rect">
            <a:avLst/>
          </a:prstGeom>
          <a:noFill/>
        </p:spPr>
        <p:txBody>
          <a:bodyPr wrap="square" anchor="t" lIns="0" rIns="0" tIns="0" bIns="0">
            <a:spAutoFit/>
          </a:bodyPr>
          <a:lstStyle/>
          <a:p>
            <a:pPr algn="ctr">
              <a:lnSpc>
                <a:spcPct val="100000"/>
              </a:lnSpc>
            </a:pPr>
            <a:r>
              <a:rPr sz="1350" b="0">
                <a:solidFill>
                  <a:srgbClr val="000000"/>
                </a:solidFill>
                <a:latin typeface="Source Han Sans SC"/>
              </a:rPr>
              <a:t>Both spells are in your Student Workbook — check them whenever you forget.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Sense and Respond | 19 / 28</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600" b="1">
                <a:solidFill>
                  <a:srgbClr val="000000"/>
                </a:solidFill>
                <a:latin typeface="Source Han Sans SC"/>
              </a:rPr>
              <a:t>Your First Task — Light Your Name</a:t>
            </a:r>
          </a:p>
        </p:txBody>
      </p:sp>
      <p:sp>
        <p:nvSpPr>
          <p:cNvPr id="6" name="Rectangle 5"/>
          <p:cNvSpPr/>
          <p:nvPr/>
        </p:nvSpPr>
        <p:spPr>
          <a:xfrm>
            <a:off x="566928" y="1280160"/>
            <a:ext cx="2560320" cy="73152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76656" y="1389888"/>
            <a:ext cx="310896"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 y="1426464"/>
            <a:ext cx="310896"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1</a:t>
            </a:r>
          </a:p>
        </p:txBody>
      </p:sp>
      <p:sp>
        <p:nvSpPr>
          <p:cNvPr id="9" name="TextBox 8"/>
          <p:cNvSpPr txBox="1"/>
          <p:nvPr/>
        </p:nvSpPr>
        <p:spPr>
          <a:xfrm>
            <a:off x="1078992" y="1426464"/>
            <a:ext cx="1975104" cy="502920"/>
          </a:xfrm>
          <a:prstGeom prst="rect">
            <a:avLst/>
          </a:prstGeom>
          <a:noFill/>
        </p:spPr>
        <p:txBody>
          <a:bodyPr wrap="square" anchor="t" lIns="0" rIns="0" tIns="0" bIns="0">
            <a:spAutoFit/>
          </a:bodyPr>
          <a:lstStyle/>
          <a:p>
            <a:pPr algn="l">
              <a:lnSpc>
                <a:spcPct val="115000"/>
              </a:lnSpc>
            </a:pPr>
            <a:r>
              <a:rPr sz="1250" b="0">
                <a:solidFill>
                  <a:srgbClr val="000000"/>
                </a:solidFill>
                <a:latin typeface="Source Han Sans SC"/>
              </a:rPr>
              <a:t>Type this sentence (swap in your own name)</a:t>
            </a:r>
          </a:p>
        </p:txBody>
      </p:sp>
      <p:sp>
        <p:nvSpPr>
          <p:cNvPr id="10" name="Rectangle 9"/>
          <p:cNvSpPr/>
          <p:nvPr/>
        </p:nvSpPr>
        <p:spPr>
          <a:xfrm>
            <a:off x="3310128" y="1280160"/>
            <a:ext cx="2560320" cy="73152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19856" y="1389888"/>
            <a:ext cx="310896"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19856" y="1426464"/>
            <a:ext cx="310896"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2</a:t>
            </a:r>
          </a:p>
        </p:txBody>
      </p:sp>
      <p:sp>
        <p:nvSpPr>
          <p:cNvPr id="13" name="TextBox 12"/>
          <p:cNvSpPr txBox="1"/>
          <p:nvPr/>
        </p:nvSpPr>
        <p:spPr>
          <a:xfrm>
            <a:off x="3822191" y="1426464"/>
            <a:ext cx="1975104" cy="502920"/>
          </a:xfrm>
          <a:prstGeom prst="rect">
            <a:avLst/>
          </a:prstGeom>
          <a:noFill/>
        </p:spPr>
        <p:txBody>
          <a:bodyPr wrap="square" anchor="t" lIns="0" rIns="0" tIns="0" bIns="0">
            <a:spAutoFit/>
          </a:bodyPr>
          <a:lstStyle/>
          <a:p>
            <a:pPr algn="l">
              <a:lnSpc>
                <a:spcPct val="115000"/>
              </a:lnSpc>
            </a:pPr>
            <a:r>
              <a:rPr sz="1250" b="0">
                <a:solidFill>
                  <a:srgbClr val="000000"/>
                </a:solidFill>
                <a:latin typeface="Source Han Sans SC"/>
              </a:rPr>
              <a:t>Click Generate, then wait for compile</a:t>
            </a:r>
          </a:p>
        </p:txBody>
      </p:sp>
      <p:sp>
        <p:nvSpPr>
          <p:cNvPr id="14" name="Rectangle 13"/>
          <p:cNvSpPr/>
          <p:nvPr/>
        </p:nvSpPr>
        <p:spPr>
          <a:xfrm>
            <a:off x="6053328" y="1280160"/>
            <a:ext cx="2560320" cy="73152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63056" y="1389888"/>
            <a:ext cx="310896"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63056" y="1426464"/>
            <a:ext cx="310896"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3</a:t>
            </a:r>
          </a:p>
        </p:txBody>
      </p:sp>
      <p:sp>
        <p:nvSpPr>
          <p:cNvPr id="17" name="TextBox 16"/>
          <p:cNvSpPr txBox="1"/>
          <p:nvPr/>
        </p:nvSpPr>
        <p:spPr>
          <a:xfrm>
            <a:off x="6565392" y="1426464"/>
            <a:ext cx="1975104" cy="502920"/>
          </a:xfrm>
          <a:prstGeom prst="rect">
            <a:avLst/>
          </a:prstGeom>
          <a:noFill/>
        </p:spPr>
        <p:txBody>
          <a:bodyPr wrap="square" anchor="t" lIns="0" rIns="0" tIns="0" bIns="0">
            <a:spAutoFit/>
          </a:bodyPr>
          <a:lstStyle/>
          <a:p>
            <a:pPr algn="l">
              <a:lnSpc>
                <a:spcPct val="115000"/>
              </a:lnSpc>
            </a:pPr>
            <a:r>
              <a:rPr sz="1250" b="0">
                <a:solidFill>
                  <a:srgbClr val="000000"/>
                </a:solidFill>
                <a:latin typeface="Source Han Sans SC"/>
              </a:rPr>
              <a:t>Click Flash — watch the screen</a:t>
            </a:r>
          </a:p>
        </p:txBody>
      </p:sp>
      <p:sp>
        <p:nvSpPr>
          <p:cNvPr id="18" name="Rectangle 17"/>
          <p:cNvSpPr/>
          <p:nvPr/>
        </p:nvSpPr>
        <p:spPr>
          <a:xfrm>
            <a:off x="566928" y="2194560"/>
            <a:ext cx="8010144" cy="54864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2286000"/>
            <a:ext cx="7680960" cy="365759"/>
          </a:xfrm>
          <a:prstGeom prst="rect">
            <a:avLst/>
          </a:prstGeom>
          <a:noFill/>
        </p:spPr>
        <p:txBody>
          <a:bodyPr wrap="square" anchor="t" lIns="0" rIns="0" tIns="0" bIns="0">
            <a:spAutoFit/>
          </a:bodyPr>
          <a:lstStyle/>
          <a:p>
            <a:pPr algn="l">
              <a:lnSpc>
                <a:spcPct val="120000"/>
              </a:lnSpc>
            </a:pPr>
            <a:r>
              <a:rPr sz="1300" b="0">
                <a:solidFill>
                  <a:srgbClr val="000000"/>
                </a:solidFill>
                <a:latin typeface="Source Code Pro"/>
              </a:rPr>
              <a:t>Display in large text on the screen: Hello, I'm [your name].</a:t>
            </a:r>
          </a:p>
        </p:txBody>
      </p:sp>
      <p:sp>
        <p:nvSpPr>
          <p:cNvPr id="20" name="TextBox 19"/>
          <p:cNvSpPr txBox="1"/>
          <p:nvPr/>
        </p:nvSpPr>
        <p:spPr>
          <a:xfrm>
            <a:off x="566928" y="2926080"/>
            <a:ext cx="8010144" cy="822960"/>
          </a:xfrm>
          <a:prstGeom prst="rect">
            <a:avLst/>
          </a:prstGeom>
          <a:noFill/>
        </p:spPr>
        <p:txBody>
          <a:bodyPr wrap="square" anchor="t" lIns="0" rIns="0" tIns="0" bIns="0">
            <a:spAutoFit/>
          </a:bodyPr>
          <a:lstStyle/>
          <a:p>
            <a:pPr algn="l">
              <a:lnSpc>
                <a:spcPct val="115000"/>
              </a:lnSpc>
            </a:pPr>
            <a:r>
              <a:rPr sz="1250" b="0">
                <a:solidFill>
                  <a:srgbClr val="000000"/>
                </a:solidFill>
                <a:latin typeface="Source Han Sans SC"/>
              </a:rPr>
              <a:t>generate = AI writes the instructions</a:t>
            </a:r>
          </a:p>
          <a:p>
            <a:pPr algn="l">
              <a:lnSpc>
                <a:spcPct val="115000"/>
              </a:lnSpc>
            </a:pPr>
            <a:r>
              <a:rPr sz="1250" b="0">
                <a:solidFill>
                  <a:srgbClr val="000000"/>
                </a:solidFill>
                <a:latin typeface="Source Han Sans SC"/>
              </a:rPr>
              <a:t>compile = translated into what the board understands</a:t>
            </a:r>
          </a:p>
          <a:p>
            <a:pPr algn="l">
              <a:lnSpc>
                <a:spcPct val="115000"/>
              </a:lnSpc>
            </a:pPr>
            <a:r>
              <a:rPr sz="1250" b="0">
                <a:solidFill>
                  <a:srgbClr val="000000"/>
                </a:solidFill>
                <a:latin typeface="Source Han Sans SC"/>
              </a:rPr>
              <a:t>flash = moved down the USB cable into the board — unplug it, it still remembers</a:t>
            </a:r>
          </a:p>
        </p:txBody>
      </p:sp>
      <p:sp>
        <p:nvSpPr>
          <p:cNvPr id="21" name="TextBox 20"/>
          <p:cNvSpPr txBox="1"/>
          <p:nvPr/>
        </p:nvSpPr>
        <p:spPr>
          <a:xfrm>
            <a:off x="566928" y="4023360"/>
            <a:ext cx="8010144" cy="365760"/>
          </a:xfrm>
          <a:prstGeom prst="rect">
            <a:avLst/>
          </a:prstGeom>
          <a:noFill/>
        </p:spPr>
        <p:txBody>
          <a:bodyPr wrap="square" anchor="t" lIns="0" rIns="0" tIns="0" bIns="0">
            <a:spAutoFit/>
          </a:bodyPr>
          <a:lstStyle/>
          <a:p>
            <a:pPr algn="ctr">
              <a:lnSpc>
                <a:spcPct val="100000"/>
              </a:lnSpc>
            </a:pPr>
            <a:r>
              <a:rPr sz="1500" b="1">
                <a:solidFill>
                  <a:srgbClr val="000000"/>
                </a:solidFill>
                <a:latin typeface="Source Han Sans SC"/>
              </a:rPr>
              <a:t>Raise your hand — a TA will put a flag on your desk.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Sense and Respond | 20 / 28</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Hold Up Your Boards!</a:t>
            </a:r>
          </a:p>
        </p:txBody>
      </p:sp>
      <p:sp>
        <p:nvSpPr>
          <p:cNvPr id="6" name="TextBox 5"/>
          <p:cNvSpPr txBox="1"/>
          <p:nvPr/>
        </p:nvSpPr>
        <p:spPr>
          <a:xfrm>
            <a:off x="566928" y="1691640"/>
            <a:ext cx="8010144" cy="1097280"/>
          </a:xfrm>
          <a:prstGeom prst="rect">
            <a:avLst/>
          </a:prstGeom>
          <a:noFill/>
        </p:spPr>
        <p:txBody>
          <a:bodyPr wrap="square" anchor="t" lIns="0" rIns="0" tIns="0" bIns="0">
            <a:spAutoFit/>
          </a:bodyPr>
          <a:lstStyle/>
          <a:p>
            <a:pPr algn="ctr">
              <a:lnSpc>
                <a:spcPct val="115000"/>
              </a:lnSpc>
            </a:pPr>
            <a:r>
              <a:rPr sz="2600" b="1">
                <a:solidFill>
                  <a:srgbClr val="000000"/>
                </a:solidFill>
                <a:latin typeface="Source Han Sans SC"/>
              </a:rPr>
              <a:t>From this moment, you're people who</a:t>
            </a:r>
          </a:p>
          <a:p>
            <a:pPr algn="ctr">
              <a:lnSpc>
                <a:spcPct val="115000"/>
              </a:lnSpc>
            </a:pPr>
            <a:r>
              <a:rPr sz="2600" b="1">
                <a:solidFill>
                  <a:srgbClr val="000000"/>
                </a:solidFill>
                <a:latin typeface="Source Han Sans SC"/>
              </a:rPr>
              <a:t>can make hardware do what you say.</a:t>
            </a:r>
          </a:p>
        </p:txBody>
      </p:sp>
      <p:sp>
        <p:nvSpPr>
          <p:cNvPr id="7" name="Rectangle 6"/>
          <p:cNvSpPr/>
          <p:nvPr/>
        </p:nvSpPr>
        <p:spPr>
          <a:xfrm>
            <a:off x="4023360" y="3017520"/>
            <a:ext cx="1097280" cy="4572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3291840"/>
            <a:ext cx="8010144" cy="457200"/>
          </a:xfrm>
          <a:prstGeom prst="rect">
            <a:avLst/>
          </a:prstGeom>
          <a:noFill/>
        </p:spPr>
        <p:txBody>
          <a:bodyPr wrap="square" anchor="t" lIns="0" rIns="0" tIns="0" bIns="0">
            <a:spAutoFit/>
          </a:bodyPr>
          <a:lstStyle/>
          <a:p>
            <a:pPr algn="ctr">
              <a:lnSpc>
                <a:spcPct val="100000"/>
              </a:lnSpc>
            </a:pPr>
            <a:r>
              <a:rPr sz="1700" b="0">
                <a:solidFill>
                  <a:srgbClr val="000000"/>
                </a:solidFill>
                <a:latin typeface="Source Han Sans SC"/>
              </a:rPr>
              <a:t>(look at the camera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Sense and Respond | 21 / 28</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Free Round — It's Yours Now</a:t>
            </a:r>
          </a:p>
        </p:txBody>
      </p:sp>
      <p:sp>
        <p:nvSpPr>
          <p:cNvPr id="6" name="TextBox 5"/>
          <p:cNvSpPr txBox="1"/>
          <p:nvPr/>
        </p:nvSpPr>
        <p:spPr>
          <a:xfrm>
            <a:off x="566928" y="1188720"/>
            <a:ext cx="8010144" cy="457200"/>
          </a:xfrm>
          <a:prstGeom prst="rect">
            <a:avLst/>
          </a:prstGeom>
          <a:noFill/>
        </p:spPr>
        <p:txBody>
          <a:bodyPr wrap="square" anchor="t" lIns="0" rIns="0" tIns="0" bIns="0">
            <a:spAutoFit/>
          </a:bodyPr>
          <a:lstStyle/>
          <a:p>
            <a:pPr algn="ctr">
              <a:lnSpc>
                <a:spcPct val="100000"/>
              </a:lnSpc>
            </a:pPr>
            <a:r>
              <a:rPr sz="1600" b="0">
                <a:solidFill>
                  <a:srgbClr val="000000"/>
                </a:solidFill>
                <a:latin typeface="Source Han Sans SC"/>
              </a:rPr>
              <a:t>Add an effect you want — blinking, a beep, an emoji, scrolling. Your pick.</a:t>
            </a:r>
          </a:p>
        </p:txBody>
      </p:sp>
      <p:sp>
        <p:nvSpPr>
          <p:cNvPr id="7" name="Rectangle 6"/>
          <p:cNvSpPr/>
          <p:nvPr/>
        </p:nvSpPr>
        <p:spPr>
          <a:xfrm>
            <a:off x="566928" y="1828800"/>
            <a:ext cx="2560320" cy="91440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2029968"/>
            <a:ext cx="2286000" cy="548640"/>
          </a:xfrm>
          <a:prstGeom prst="rect">
            <a:avLst/>
          </a:prstGeom>
          <a:noFill/>
        </p:spPr>
        <p:txBody>
          <a:bodyPr wrap="square" anchor="t" lIns="0" rIns="0" tIns="0" bIns="0">
            <a:spAutoFit/>
          </a:bodyPr>
          <a:lstStyle/>
          <a:p>
            <a:pPr algn="l">
              <a:lnSpc>
                <a:spcPct val="120000"/>
              </a:lnSpc>
            </a:pPr>
            <a:r>
              <a:rPr sz="1300" b="0">
                <a:solidFill>
                  <a:srgbClr val="000000"/>
                </a:solidFill>
                <a:latin typeface="Source Code Pro"/>
              </a:rPr>
              <a:t>Make the name blink once per second</a:t>
            </a:r>
          </a:p>
        </p:txBody>
      </p:sp>
      <p:sp>
        <p:nvSpPr>
          <p:cNvPr id="9" name="Rectangle 8"/>
          <p:cNvSpPr/>
          <p:nvPr/>
        </p:nvSpPr>
        <p:spPr>
          <a:xfrm>
            <a:off x="3310128" y="1828800"/>
            <a:ext cx="2560320" cy="91440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47288" y="2029968"/>
            <a:ext cx="2286000" cy="548640"/>
          </a:xfrm>
          <a:prstGeom prst="rect">
            <a:avLst/>
          </a:prstGeom>
          <a:noFill/>
        </p:spPr>
        <p:txBody>
          <a:bodyPr wrap="square" anchor="t" lIns="0" rIns="0" tIns="0" bIns="0">
            <a:spAutoFit/>
          </a:bodyPr>
          <a:lstStyle/>
          <a:p>
            <a:pPr algn="l">
              <a:lnSpc>
                <a:spcPct val="120000"/>
              </a:lnSpc>
            </a:pPr>
            <a:r>
              <a:rPr sz="1300" b="0">
                <a:solidFill>
                  <a:srgbClr val="000000"/>
                </a:solidFill>
                <a:latin typeface="Source Code Pro"/>
              </a:rPr>
              <a:t>Make a sound when the name shows</a:t>
            </a:r>
          </a:p>
        </p:txBody>
      </p:sp>
      <p:sp>
        <p:nvSpPr>
          <p:cNvPr id="11" name="Rectangle 10"/>
          <p:cNvSpPr/>
          <p:nvPr/>
        </p:nvSpPr>
        <p:spPr>
          <a:xfrm>
            <a:off x="6053328" y="1828800"/>
            <a:ext cx="2560320" cy="91440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90488" y="2029968"/>
            <a:ext cx="2286000" cy="548640"/>
          </a:xfrm>
          <a:prstGeom prst="rect">
            <a:avLst/>
          </a:prstGeom>
          <a:noFill/>
        </p:spPr>
        <p:txBody>
          <a:bodyPr wrap="square" anchor="t" lIns="0" rIns="0" tIns="0" bIns="0">
            <a:spAutoFit/>
          </a:bodyPr>
          <a:lstStyle/>
          <a:p>
            <a:pPr algn="l">
              <a:lnSpc>
                <a:spcPct val="120000"/>
              </a:lnSpc>
            </a:pPr>
            <a:r>
              <a:rPr sz="1300" b="0">
                <a:solidFill>
                  <a:srgbClr val="000000"/>
                </a:solidFill>
                <a:latin typeface="Source Code Pro"/>
              </a:rPr>
              <a:t>Make the name scroll from right to left</a:t>
            </a:r>
          </a:p>
        </p:txBody>
      </p:sp>
      <p:sp>
        <p:nvSpPr>
          <p:cNvPr id="13" name="Rectangle 12"/>
          <p:cNvSpPr/>
          <p:nvPr/>
        </p:nvSpPr>
        <p:spPr>
          <a:xfrm>
            <a:off x="566928" y="3246120"/>
            <a:ext cx="54864" cy="620902"/>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3264408"/>
            <a:ext cx="7808975" cy="584326"/>
          </a:xfrm>
          <a:prstGeom prst="rect">
            <a:avLst/>
          </a:prstGeom>
          <a:noFill/>
        </p:spPr>
        <p:txBody>
          <a:bodyPr wrap="square" anchor="t" lIns="0" rIns="0" tIns="0" bIns="0">
            <a:spAutoFit/>
          </a:bodyPr>
          <a:lstStyle/>
          <a:p>
            <a:pPr algn="l">
              <a:lnSpc>
                <a:spcPct val="115000"/>
              </a:lnSpc>
            </a:pPr>
            <a:r>
              <a:rPr sz="1400" b="0">
                <a:solidFill>
                  <a:srgbClr val="000000"/>
                </a:solidFill>
                <a:latin typeface="Source Han Sans SC"/>
              </a:rPr>
              <a:t>Spell 2 | If it's wrong, add one more line — don't delete, don't restart. AI remembers what you said before.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Sense and Respond | 22 / 28</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Sense → Logic → Output</a:t>
            </a:r>
          </a:p>
        </p:txBody>
      </p:sp>
      <p:sp>
        <p:nvSpPr>
          <p:cNvPr id="6" name="TextBox 5"/>
          <p:cNvSpPr txBox="1"/>
          <p:nvPr/>
        </p:nvSpPr>
        <p:spPr>
          <a:xfrm>
            <a:off x="566928" y="932688"/>
            <a:ext cx="8138160" cy="365760"/>
          </a:xfrm>
          <a:prstGeom prst="rect">
            <a:avLst/>
          </a:prstGeom>
          <a:noFill/>
        </p:spPr>
        <p:txBody>
          <a:bodyPr wrap="square" anchor="t" lIns="0" rIns="0" tIns="0" bIns="0">
            <a:spAutoFit/>
          </a:bodyPr>
          <a:lstStyle/>
          <a:p>
            <a:pPr algn="l">
              <a:lnSpc>
                <a:spcPct val="100000"/>
              </a:lnSpc>
            </a:pPr>
            <a:r>
              <a:rPr sz="1500" b="0">
                <a:solidFill>
                  <a:srgbClr val="000000"/>
                </a:solidFill>
                <a:latin typeface="Source Han Sans SC"/>
              </a:rPr>
              <a:t>(the only mental model of the whole course)</a:t>
            </a:r>
          </a:p>
        </p:txBody>
      </p:sp>
      <p:sp>
        <p:nvSpPr>
          <p:cNvPr id="7" name="Rectangle 6"/>
          <p:cNvSpPr/>
          <p:nvPr/>
        </p:nvSpPr>
        <p:spPr>
          <a:xfrm>
            <a:off x="566928" y="1371600"/>
            <a:ext cx="2286000" cy="868680"/>
          </a:xfrm>
          <a:prstGeom prst="rect">
            <a:avLst/>
          </a:prstGeom>
          <a:solidFill>
            <a:srgbClr val="F3D23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517904"/>
            <a:ext cx="2286000" cy="548640"/>
          </a:xfrm>
          <a:prstGeom prst="rect">
            <a:avLst/>
          </a:prstGeom>
          <a:noFill/>
        </p:spPr>
        <p:txBody>
          <a:bodyPr wrap="square" anchor="t" lIns="0" rIns="0" tIns="0" bIns="0">
            <a:spAutoFit/>
          </a:bodyPr>
          <a:lstStyle/>
          <a:p>
            <a:pPr algn="ctr">
              <a:lnSpc>
                <a:spcPct val="100000"/>
              </a:lnSpc>
            </a:pPr>
            <a:r>
              <a:rPr sz="2000" b="1">
                <a:solidFill>
                  <a:srgbClr val="000000"/>
                </a:solidFill>
                <a:latin typeface="Source Han Sans SC"/>
              </a:rPr>
              <a:t>SENSE</a:t>
            </a:r>
          </a:p>
        </p:txBody>
      </p:sp>
      <p:sp>
        <p:nvSpPr>
          <p:cNvPr id="9" name="Rectangle 8"/>
          <p:cNvSpPr/>
          <p:nvPr/>
        </p:nvSpPr>
        <p:spPr>
          <a:xfrm>
            <a:off x="3419856" y="1371600"/>
            <a:ext cx="2286000" cy="8686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19856" y="1517904"/>
            <a:ext cx="2286000" cy="548640"/>
          </a:xfrm>
          <a:prstGeom prst="rect">
            <a:avLst/>
          </a:prstGeom>
          <a:noFill/>
        </p:spPr>
        <p:txBody>
          <a:bodyPr wrap="square" anchor="t" lIns="0" rIns="0" tIns="0" bIns="0">
            <a:spAutoFit/>
          </a:bodyPr>
          <a:lstStyle/>
          <a:p>
            <a:pPr algn="ctr">
              <a:lnSpc>
                <a:spcPct val="100000"/>
              </a:lnSpc>
            </a:pPr>
            <a:r>
              <a:rPr sz="2000" b="1">
                <a:solidFill>
                  <a:srgbClr val="000000"/>
                </a:solidFill>
                <a:latin typeface="Source Han Sans SC"/>
              </a:rPr>
              <a:t>LOGIC</a:t>
            </a:r>
          </a:p>
        </p:txBody>
      </p:sp>
      <p:sp>
        <p:nvSpPr>
          <p:cNvPr id="11" name="Rectangle 10"/>
          <p:cNvSpPr/>
          <p:nvPr/>
        </p:nvSpPr>
        <p:spPr>
          <a:xfrm>
            <a:off x="6272784" y="1371600"/>
            <a:ext cx="2286000" cy="868680"/>
          </a:xfrm>
          <a:prstGeom prst="rect">
            <a:avLst/>
          </a:prstGeom>
          <a:solidFill>
            <a:srgbClr val="F3D23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72784" y="1517904"/>
            <a:ext cx="2286000" cy="548640"/>
          </a:xfrm>
          <a:prstGeom prst="rect">
            <a:avLst/>
          </a:prstGeom>
          <a:noFill/>
        </p:spPr>
        <p:txBody>
          <a:bodyPr wrap="square" anchor="t" lIns="0" rIns="0" tIns="0" bIns="0">
            <a:spAutoFit/>
          </a:bodyPr>
          <a:lstStyle/>
          <a:p>
            <a:pPr algn="ctr">
              <a:lnSpc>
                <a:spcPct val="100000"/>
              </a:lnSpc>
            </a:pPr>
            <a:r>
              <a:rPr sz="2000" b="1">
                <a:solidFill>
                  <a:srgbClr val="000000"/>
                </a:solidFill>
                <a:latin typeface="Source Han Sans SC"/>
              </a:rPr>
              <a:t>OUTPUT</a:t>
            </a:r>
          </a:p>
        </p:txBody>
      </p:sp>
      <p:sp>
        <p:nvSpPr>
          <p:cNvPr id="13" name="TextBox 12"/>
          <p:cNvSpPr txBox="1"/>
          <p:nvPr/>
        </p:nvSpPr>
        <p:spPr>
          <a:xfrm>
            <a:off x="2962656" y="1463040"/>
            <a:ext cx="365760" cy="548640"/>
          </a:xfrm>
          <a:prstGeom prst="rect">
            <a:avLst/>
          </a:prstGeom>
          <a:noFill/>
        </p:spPr>
        <p:txBody>
          <a:bodyPr wrap="square" anchor="t" lIns="0" rIns="0" tIns="0" bIns="0">
            <a:spAutoFit/>
          </a:bodyPr>
          <a:lstStyle/>
          <a:p>
            <a:pPr algn="ctr">
              <a:lnSpc>
                <a:spcPct val="100000"/>
              </a:lnSpc>
            </a:pPr>
            <a:r>
              <a:rPr sz="2000" b="1">
                <a:solidFill>
                  <a:srgbClr val="000000"/>
                </a:solidFill>
                <a:latin typeface="Source Han Sans SC"/>
              </a:rPr>
              <a:t>→</a:t>
            </a:r>
          </a:p>
        </p:txBody>
      </p:sp>
      <p:sp>
        <p:nvSpPr>
          <p:cNvPr id="14" name="TextBox 13"/>
          <p:cNvSpPr txBox="1"/>
          <p:nvPr/>
        </p:nvSpPr>
        <p:spPr>
          <a:xfrm>
            <a:off x="5815584" y="1463040"/>
            <a:ext cx="365760" cy="548640"/>
          </a:xfrm>
          <a:prstGeom prst="rect">
            <a:avLst/>
          </a:prstGeom>
          <a:noFill/>
        </p:spPr>
        <p:txBody>
          <a:bodyPr wrap="square" anchor="t" lIns="0" rIns="0" tIns="0" bIns="0">
            <a:spAutoFit/>
          </a:bodyPr>
          <a:lstStyle/>
          <a:p>
            <a:pPr algn="ctr">
              <a:lnSpc>
                <a:spcPct val="100000"/>
              </a:lnSpc>
            </a:pPr>
            <a:r>
              <a:rPr sz="2000" b="1">
                <a:solidFill>
                  <a:srgbClr val="000000"/>
                </a:solidFill>
                <a:latin typeface="Source Han Sans SC"/>
              </a:rPr>
              <a:t>→</a:t>
            </a:r>
          </a:p>
        </p:txBody>
      </p:sp>
      <p:sp>
        <p:nvSpPr>
          <p:cNvPr id="15" name="TextBox 14"/>
          <p:cNvSpPr txBox="1"/>
          <p:nvPr/>
        </p:nvSpPr>
        <p:spPr>
          <a:xfrm>
            <a:off x="566928" y="2514600"/>
            <a:ext cx="8010144" cy="1371600"/>
          </a:xfrm>
          <a:prstGeom prst="rect">
            <a:avLst/>
          </a:prstGeom>
          <a:noFill/>
        </p:spPr>
        <p:txBody>
          <a:bodyPr wrap="square" anchor="t" lIns="0" rIns="0" tIns="0" bIns="0">
            <a:spAutoFit/>
          </a:bodyPr>
          <a:lstStyle/>
          <a:p>
            <a:pPr algn="l">
              <a:lnSpc>
                <a:spcPct val="135000"/>
              </a:lnSpc>
            </a:pPr>
            <a:r>
              <a:rPr sz="1350" b="0">
                <a:solidFill>
                  <a:srgbClr val="000000"/>
                </a:solidFill>
                <a:latin typeface="Source Han Sans SC"/>
              </a:rPr>
              <a:t>The automatic door: it sees someone → decides whether to open → the door opens</a:t>
            </a:r>
          </a:p>
          <a:p>
            <a:pPr algn="l">
              <a:lnSpc>
                <a:spcPct val="135000"/>
              </a:lnSpc>
            </a:pPr>
            <a:r>
              <a:rPr sz="1350" b="0">
                <a:solidFill>
                  <a:srgbClr val="000000"/>
                </a:solidFill>
                <a:latin typeface="Source Han Sans SC"/>
              </a:rPr>
              <a:t>The air conditioner: it measures the temperature → compares → cools</a:t>
            </a:r>
          </a:p>
          <a:p>
            <a:pPr algn="l">
              <a:lnSpc>
                <a:spcPct val="135000"/>
              </a:lnSpc>
            </a:pPr>
            <a:r>
              <a:rPr sz="1350" b="0">
                <a:solidFill>
                  <a:srgbClr val="000000"/>
                </a:solidFill>
                <a:latin typeface="Source Han Sans SC"/>
              </a:rPr>
              <a:t>Your mom: she sees you on your phone → decides whether to yell → she calls you</a:t>
            </a:r>
          </a:p>
        </p:txBody>
      </p:sp>
      <p:sp>
        <p:nvSpPr>
          <p:cNvPr id="16" name="TextBox 15"/>
          <p:cNvSpPr txBox="1"/>
          <p:nvPr/>
        </p:nvSpPr>
        <p:spPr>
          <a:xfrm>
            <a:off x="566928" y="3977639"/>
            <a:ext cx="8010144" cy="548640"/>
          </a:xfrm>
          <a:prstGeom prst="rect">
            <a:avLst/>
          </a:prstGeom>
          <a:noFill/>
        </p:spPr>
        <p:txBody>
          <a:bodyPr wrap="square" anchor="t" lIns="0" rIns="0" tIns="0" bIns="0">
            <a:spAutoFit/>
          </a:bodyPr>
          <a:lstStyle/>
          <a:p>
            <a:pPr algn="ctr">
              <a:lnSpc>
                <a:spcPct val="100000"/>
              </a:lnSpc>
            </a:pPr>
            <a:r>
              <a:rPr sz="1400" b="1">
                <a:solidFill>
                  <a:srgbClr val="000000"/>
                </a:solidFill>
                <a:latin typeface="Source Han Sans SC"/>
              </a:rPr>
              <a:t>Your board: eyes and ears on this side, face and voice on this side. The logic in the middle — that's your call.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Sense and Respond | 23 / 28</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600" b="1">
                <a:solidFill>
                  <a:srgbClr val="000000"/>
                </a:solidFill>
                <a:latin typeface="Source Han Sans SC"/>
              </a:rPr>
              <a:t>Build 1 | Follow-Along — The Dark-Detecting Light</a:t>
            </a:r>
          </a:p>
        </p:txBody>
      </p:sp>
      <p:sp>
        <p:nvSpPr>
          <p:cNvPr id="6" name="Rectangle 5"/>
          <p:cNvSpPr/>
          <p:nvPr/>
        </p:nvSpPr>
        <p:spPr>
          <a:xfrm>
            <a:off x="566928" y="1188720"/>
            <a:ext cx="8010144" cy="77724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80160"/>
            <a:ext cx="7680960" cy="594359"/>
          </a:xfrm>
          <a:prstGeom prst="rect">
            <a:avLst/>
          </a:prstGeom>
          <a:noFill/>
        </p:spPr>
        <p:txBody>
          <a:bodyPr wrap="square" anchor="t" lIns="0" rIns="0" tIns="0" bIns="0">
            <a:spAutoFit/>
          </a:bodyPr>
          <a:lstStyle/>
          <a:p>
            <a:pPr algn="l">
              <a:lnSpc>
                <a:spcPct val="120000"/>
              </a:lnSpc>
            </a:pPr>
            <a:r>
              <a:rPr sz="1400" b="0">
                <a:solidFill>
                  <a:srgbClr val="000000"/>
                </a:solidFill>
                <a:latin typeface="Source Code Pro"/>
              </a:rPr>
              <a:t>When the light gets dim, turn on the LED; when it gets bright, turn it off.</a:t>
            </a:r>
          </a:p>
        </p:txBody>
      </p:sp>
      <p:sp>
        <p:nvSpPr>
          <p:cNvPr id="8" name="Rectangle 7"/>
          <p:cNvSpPr/>
          <p:nvPr/>
        </p:nvSpPr>
        <p:spPr>
          <a:xfrm>
            <a:off x="566928" y="2148840"/>
            <a:ext cx="2560320" cy="68580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76656" y="2258568"/>
            <a:ext cx="292608" cy="29260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2295144"/>
            <a:ext cx="292608"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1</a:t>
            </a:r>
          </a:p>
        </p:txBody>
      </p:sp>
      <p:sp>
        <p:nvSpPr>
          <p:cNvPr id="11" name="TextBox 10"/>
          <p:cNvSpPr txBox="1"/>
          <p:nvPr/>
        </p:nvSpPr>
        <p:spPr>
          <a:xfrm>
            <a:off x="1060704" y="2286000"/>
            <a:ext cx="1993392" cy="457200"/>
          </a:xfrm>
          <a:prstGeom prst="rect">
            <a:avLst/>
          </a:prstGeom>
          <a:noFill/>
        </p:spPr>
        <p:txBody>
          <a:bodyPr wrap="square" anchor="t" lIns="0" rIns="0" tIns="0" bIns="0">
            <a:spAutoFit/>
          </a:bodyPr>
          <a:lstStyle/>
          <a:p>
            <a:pPr algn="l">
              <a:lnSpc>
                <a:spcPct val="110000"/>
              </a:lnSpc>
            </a:pPr>
            <a:r>
              <a:rPr sz="1250" b="0">
                <a:solidFill>
                  <a:srgbClr val="000000"/>
                </a:solidFill>
                <a:latin typeface="Source Han Sans SC"/>
              </a:rPr>
              <a:t>Type the sentence</a:t>
            </a:r>
          </a:p>
        </p:txBody>
      </p:sp>
      <p:sp>
        <p:nvSpPr>
          <p:cNvPr id="12" name="Rectangle 11"/>
          <p:cNvSpPr/>
          <p:nvPr/>
        </p:nvSpPr>
        <p:spPr>
          <a:xfrm>
            <a:off x="3310128" y="2148840"/>
            <a:ext cx="2560320" cy="68580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19856" y="2258568"/>
            <a:ext cx="292608" cy="29260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19856" y="2295144"/>
            <a:ext cx="292608"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2</a:t>
            </a:r>
          </a:p>
        </p:txBody>
      </p:sp>
      <p:sp>
        <p:nvSpPr>
          <p:cNvPr id="15" name="TextBox 14"/>
          <p:cNvSpPr txBox="1"/>
          <p:nvPr/>
        </p:nvSpPr>
        <p:spPr>
          <a:xfrm>
            <a:off x="3803904" y="2286000"/>
            <a:ext cx="1993392" cy="457200"/>
          </a:xfrm>
          <a:prstGeom prst="rect">
            <a:avLst/>
          </a:prstGeom>
          <a:noFill/>
        </p:spPr>
        <p:txBody>
          <a:bodyPr wrap="square" anchor="t" lIns="0" rIns="0" tIns="0" bIns="0">
            <a:spAutoFit/>
          </a:bodyPr>
          <a:lstStyle/>
          <a:p>
            <a:pPr algn="l">
              <a:lnSpc>
                <a:spcPct val="110000"/>
              </a:lnSpc>
            </a:pPr>
            <a:r>
              <a:rPr sz="1250" b="0">
                <a:solidFill>
                  <a:srgbClr val="000000"/>
                </a:solidFill>
                <a:latin typeface="Source Han Sans SC"/>
              </a:rPr>
              <a:t>Generate, compile, flash</a:t>
            </a:r>
          </a:p>
        </p:txBody>
      </p:sp>
      <p:sp>
        <p:nvSpPr>
          <p:cNvPr id="16" name="Rectangle 15"/>
          <p:cNvSpPr/>
          <p:nvPr/>
        </p:nvSpPr>
        <p:spPr>
          <a:xfrm>
            <a:off x="6053328" y="2148840"/>
            <a:ext cx="2560320" cy="68580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63056" y="2258568"/>
            <a:ext cx="292608" cy="29260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63056" y="2295144"/>
            <a:ext cx="292608"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3</a:t>
            </a:r>
          </a:p>
        </p:txBody>
      </p:sp>
      <p:sp>
        <p:nvSpPr>
          <p:cNvPr id="19" name="TextBox 18"/>
          <p:cNvSpPr txBox="1"/>
          <p:nvPr/>
        </p:nvSpPr>
        <p:spPr>
          <a:xfrm>
            <a:off x="6547104" y="2286000"/>
            <a:ext cx="1993392" cy="457200"/>
          </a:xfrm>
          <a:prstGeom prst="rect">
            <a:avLst/>
          </a:prstGeom>
          <a:noFill/>
        </p:spPr>
        <p:txBody>
          <a:bodyPr wrap="square" anchor="t" lIns="0" rIns="0" tIns="0" bIns="0">
            <a:spAutoFit/>
          </a:bodyPr>
          <a:lstStyle/>
          <a:p>
            <a:pPr algn="l">
              <a:lnSpc>
                <a:spcPct val="110000"/>
              </a:lnSpc>
            </a:pPr>
            <a:r>
              <a:rPr sz="1250" b="0">
                <a:solidFill>
                  <a:srgbClr val="000000"/>
                </a:solidFill>
                <a:latin typeface="Source Han Sans SC"/>
              </a:rPr>
              <a:t>Cover the light sensor with your hand</a:t>
            </a:r>
          </a:p>
        </p:txBody>
      </p:sp>
      <p:sp>
        <p:nvSpPr>
          <p:cNvPr id="20" name="TextBox 19"/>
          <p:cNvSpPr txBox="1"/>
          <p:nvPr/>
        </p:nvSpPr>
        <p:spPr>
          <a:xfrm>
            <a:off x="566928" y="3017520"/>
            <a:ext cx="8010144" cy="502920"/>
          </a:xfrm>
          <a:prstGeom prst="rect">
            <a:avLst/>
          </a:prstGeom>
          <a:noFill/>
        </p:spPr>
        <p:txBody>
          <a:bodyPr wrap="square" anchor="t" lIns="0" rIns="0" tIns="0" bIns="0">
            <a:spAutoFit/>
          </a:bodyPr>
          <a:lstStyle/>
          <a:p>
            <a:pPr algn="ctr">
              <a:lnSpc>
                <a:spcPct val="100000"/>
              </a:lnSpc>
            </a:pPr>
            <a:r>
              <a:rPr sz="2200" b="1">
                <a:solidFill>
                  <a:srgbClr val="000000"/>
                </a:solidFill>
                <a:latin typeface="Source Han Sans SC"/>
              </a:rPr>
              <a:t>All together — three, two, one, cover!</a:t>
            </a:r>
          </a:p>
        </p:txBody>
      </p:sp>
      <p:sp>
        <p:nvSpPr>
          <p:cNvPr id="21" name="Rectangle 20"/>
          <p:cNvSpPr/>
          <p:nvPr/>
        </p:nvSpPr>
        <p:spPr>
          <a:xfrm>
            <a:off x="566928" y="3703320"/>
            <a:ext cx="2286000" cy="54864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3803904"/>
            <a:ext cx="2286000" cy="365760"/>
          </a:xfrm>
          <a:prstGeom prst="rect">
            <a:avLst/>
          </a:prstGeom>
          <a:noFill/>
        </p:spPr>
        <p:txBody>
          <a:bodyPr wrap="square" anchor="t" lIns="0" rIns="0" tIns="0" bIns="0">
            <a:spAutoFit/>
          </a:bodyPr>
          <a:lstStyle/>
          <a:p>
            <a:pPr algn="ctr">
              <a:lnSpc>
                <a:spcPct val="100000"/>
              </a:lnSpc>
            </a:pPr>
            <a:r>
              <a:rPr sz="1350" b="1">
                <a:solidFill>
                  <a:srgbClr val="000000"/>
                </a:solidFill>
                <a:latin typeface="Source Han Sans SC"/>
              </a:rPr>
              <a:t>SENSE = light</a:t>
            </a:r>
          </a:p>
        </p:txBody>
      </p:sp>
      <p:sp>
        <p:nvSpPr>
          <p:cNvPr id="23" name="Rectangle 22"/>
          <p:cNvSpPr/>
          <p:nvPr/>
        </p:nvSpPr>
        <p:spPr>
          <a:xfrm>
            <a:off x="3419856" y="3703320"/>
            <a:ext cx="2286000" cy="54864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419856" y="3803904"/>
            <a:ext cx="2286000" cy="365760"/>
          </a:xfrm>
          <a:prstGeom prst="rect">
            <a:avLst/>
          </a:prstGeom>
          <a:noFill/>
        </p:spPr>
        <p:txBody>
          <a:bodyPr wrap="square" anchor="t" lIns="0" rIns="0" tIns="0" bIns="0">
            <a:spAutoFit/>
          </a:bodyPr>
          <a:lstStyle/>
          <a:p>
            <a:pPr algn="ctr">
              <a:lnSpc>
                <a:spcPct val="100000"/>
              </a:lnSpc>
            </a:pPr>
            <a:r>
              <a:rPr sz="1350" b="1">
                <a:solidFill>
                  <a:srgbClr val="000000"/>
                </a:solidFill>
                <a:latin typeface="Source Han Sans SC"/>
              </a:rPr>
              <a:t>LOGIC = dark means on</a:t>
            </a:r>
          </a:p>
        </p:txBody>
      </p:sp>
      <p:sp>
        <p:nvSpPr>
          <p:cNvPr id="25" name="Rectangle 24"/>
          <p:cNvSpPr/>
          <p:nvPr/>
        </p:nvSpPr>
        <p:spPr>
          <a:xfrm>
            <a:off x="6272784" y="3703320"/>
            <a:ext cx="2286000" cy="54864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72784" y="3803904"/>
            <a:ext cx="2286000" cy="365760"/>
          </a:xfrm>
          <a:prstGeom prst="rect">
            <a:avLst/>
          </a:prstGeom>
          <a:noFill/>
        </p:spPr>
        <p:txBody>
          <a:bodyPr wrap="square" anchor="t" lIns="0" rIns="0" tIns="0" bIns="0">
            <a:spAutoFit/>
          </a:bodyPr>
          <a:lstStyle/>
          <a:p>
            <a:pPr algn="ctr">
              <a:lnSpc>
                <a:spcPct val="100000"/>
              </a:lnSpc>
            </a:pPr>
            <a:r>
              <a:rPr sz="1350" b="1">
                <a:solidFill>
                  <a:srgbClr val="000000"/>
                </a:solidFill>
                <a:latin typeface="Source Han Sans SC"/>
              </a:rPr>
              <a:t>OUTPUT = the LED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Sense and Respond | 24 / 28</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600" b="1">
                <a:solidFill>
                  <a:srgbClr val="000000"/>
                </a:solidFill>
                <a:latin typeface="Source Han Sans SC"/>
              </a:rPr>
              <a:t>Build 2 | Semi-Free — Pick One Sensor + One Output</a:t>
            </a:r>
          </a:p>
        </p:txBody>
      </p:sp>
      <p:sp>
        <p:nvSpPr>
          <p:cNvPr id="6" name="TextBox 5"/>
          <p:cNvSpPr txBox="1"/>
          <p:nvPr/>
        </p:nvSpPr>
        <p:spPr>
          <a:xfrm>
            <a:off x="566928" y="1170432"/>
            <a:ext cx="8010144" cy="411480"/>
          </a:xfrm>
          <a:prstGeom prst="rect">
            <a:avLst/>
          </a:prstGeom>
          <a:noFill/>
        </p:spPr>
        <p:txBody>
          <a:bodyPr wrap="square" anchor="t" lIns="0" rIns="0" tIns="0" bIns="0">
            <a:spAutoFit/>
          </a:bodyPr>
          <a:lstStyle/>
          <a:p>
            <a:pPr algn="ctr">
              <a:lnSpc>
                <a:spcPct val="100000"/>
              </a:lnSpc>
            </a:pPr>
            <a:r>
              <a:rPr sz="1550" b="0">
                <a:solidFill>
                  <a:srgbClr val="000000"/>
                </a:solidFill>
                <a:latin typeface="Source Han Sans SC"/>
              </a:rPr>
              <a:t>Pick one sensor and one output from the table card. Your combination.</a:t>
            </a:r>
          </a:p>
        </p:txBody>
      </p:sp>
      <p:sp>
        <p:nvSpPr>
          <p:cNvPr id="7" name="Rectangle 6"/>
          <p:cNvSpPr/>
          <p:nvPr/>
        </p:nvSpPr>
        <p:spPr>
          <a:xfrm>
            <a:off x="566928" y="1737360"/>
            <a:ext cx="2560320" cy="1554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874519"/>
            <a:ext cx="2286000" cy="365760"/>
          </a:xfrm>
          <a:prstGeom prst="rect">
            <a:avLst/>
          </a:prstGeom>
          <a:noFill/>
        </p:spPr>
        <p:txBody>
          <a:bodyPr wrap="square" anchor="t" lIns="0" rIns="0" tIns="0" bIns="0">
            <a:spAutoFit/>
          </a:bodyPr>
          <a:lstStyle/>
          <a:p>
            <a:pPr algn="l">
              <a:lnSpc>
                <a:spcPct val="100000"/>
              </a:lnSpc>
            </a:pPr>
            <a:r>
              <a:rPr sz="1500" b="1">
                <a:solidFill>
                  <a:srgbClr val="000000"/>
                </a:solidFill>
                <a:latin typeface="Source Han Sans SC"/>
              </a:rPr>
              <a:t>Clap light</a:t>
            </a:r>
          </a:p>
        </p:txBody>
      </p:sp>
      <p:sp>
        <p:nvSpPr>
          <p:cNvPr id="9" name="TextBox 8"/>
          <p:cNvSpPr txBox="1"/>
          <p:nvPr/>
        </p:nvSpPr>
        <p:spPr>
          <a:xfrm>
            <a:off x="704088" y="2286000"/>
            <a:ext cx="2286000" cy="868680"/>
          </a:xfrm>
          <a:prstGeom prst="rect">
            <a:avLst/>
          </a:prstGeom>
          <a:noFill/>
        </p:spPr>
        <p:txBody>
          <a:bodyPr wrap="square" anchor="t" lIns="0" rIns="0" tIns="0" bIns="0">
            <a:spAutoFit/>
          </a:bodyPr>
          <a:lstStyle/>
          <a:p>
            <a:pPr algn="l">
              <a:lnSpc>
                <a:spcPct val="125000"/>
              </a:lnSpc>
            </a:pPr>
            <a:r>
              <a:rPr sz="1250" b="0">
                <a:solidFill>
                  <a:srgbClr val="000000"/>
                </a:solidFill>
                <a:latin typeface="Source Han Sans SC"/>
              </a:rPr>
              <a:t>hears a sound → decides it's loud enough → light on</a:t>
            </a:r>
          </a:p>
        </p:txBody>
      </p:sp>
      <p:sp>
        <p:nvSpPr>
          <p:cNvPr id="10" name="Rectangle 9"/>
          <p:cNvSpPr/>
          <p:nvPr/>
        </p:nvSpPr>
        <p:spPr>
          <a:xfrm>
            <a:off x="3310128" y="1737360"/>
            <a:ext cx="2560320" cy="1554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47288" y="1874519"/>
            <a:ext cx="2286000" cy="365760"/>
          </a:xfrm>
          <a:prstGeom prst="rect">
            <a:avLst/>
          </a:prstGeom>
          <a:noFill/>
        </p:spPr>
        <p:txBody>
          <a:bodyPr wrap="square" anchor="t" lIns="0" rIns="0" tIns="0" bIns="0">
            <a:spAutoFit/>
          </a:bodyPr>
          <a:lstStyle/>
          <a:p>
            <a:pPr algn="l">
              <a:lnSpc>
                <a:spcPct val="100000"/>
              </a:lnSpc>
            </a:pPr>
            <a:r>
              <a:rPr sz="1500" b="1">
                <a:solidFill>
                  <a:srgbClr val="000000"/>
                </a:solidFill>
                <a:latin typeface="Source Han Sans SC"/>
              </a:rPr>
              <a:t>Shake alarm</a:t>
            </a:r>
          </a:p>
        </p:txBody>
      </p:sp>
      <p:sp>
        <p:nvSpPr>
          <p:cNvPr id="12" name="TextBox 11"/>
          <p:cNvSpPr txBox="1"/>
          <p:nvPr/>
        </p:nvSpPr>
        <p:spPr>
          <a:xfrm>
            <a:off x="3447288" y="2286000"/>
            <a:ext cx="2286000" cy="868680"/>
          </a:xfrm>
          <a:prstGeom prst="rect">
            <a:avLst/>
          </a:prstGeom>
          <a:noFill/>
        </p:spPr>
        <p:txBody>
          <a:bodyPr wrap="square" anchor="t" lIns="0" rIns="0" tIns="0" bIns="0">
            <a:spAutoFit/>
          </a:bodyPr>
          <a:lstStyle/>
          <a:p>
            <a:pPr algn="l">
              <a:lnSpc>
                <a:spcPct val="125000"/>
              </a:lnSpc>
            </a:pPr>
            <a:r>
              <a:rPr sz="1250" b="0">
                <a:solidFill>
                  <a:srgbClr val="000000"/>
                </a:solidFill>
                <a:latin typeface="Source Han Sans SC"/>
              </a:rPr>
              <a:t>feels a shake → decides it's moving → buzzer beeps</a:t>
            </a:r>
          </a:p>
        </p:txBody>
      </p:sp>
      <p:sp>
        <p:nvSpPr>
          <p:cNvPr id="13" name="Rectangle 12"/>
          <p:cNvSpPr/>
          <p:nvPr/>
        </p:nvSpPr>
        <p:spPr>
          <a:xfrm>
            <a:off x="6053328" y="1737360"/>
            <a:ext cx="2560320" cy="1554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90488" y="1874519"/>
            <a:ext cx="2286000" cy="365760"/>
          </a:xfrm>
          <a:prstGeom prst="rect">
            <a:avLst/>
          </a:prstGeom>
          <a:noFill/>
        </p:spPr>
        <p:txBody>
          <a:bodyPr wrap="square" anchor="t" lIns="0" rIns="0" tIns="0" bIns="0">
            <a:spAutoFit/>
          </a:bodyPr>
          <a:lstStyle/>
          <a:p>
            <a:pPr algn="l">
              <a:lnSpc>
                <a:spcPct val="100000"/>
              </a:lnSpc>
            </a:pPr>
            <a:r>
              <a:rPr sz="1500" b="1">
                <a:solidFill>
                  <a:srgbClr val="000000"/>
                </a:solidFill>
                <a:latin typeface="Source Han Sans SC"/>
              </a:rPr>
              <a:t>Heat alert</a:t>
            </a:r>
          </a:p>
        </p:txBody>
      </p:sp>
      <p:sp>
        <p:nvSpPr>
          <p:cNvPr id="15" name="TextBox 14"/>
          <p:cNvSpPr txBox="1"/>
          <p:nvPr/>
        </p:nvSpPr>
        <p:spPr>
          <a:xfrm>
            <a:off x="6190488" y="2286000"/>
            <a:ext cx="2286000" cy="868680"/>
          </a:xfrm>
          <a:prstGeom prst="rect">
            <a:avLst/>
          </a:prstGeom>
          <a:noFill/>
        </p:spPr>
        <p:txBody>
          <a:bodyPr wrap="square" anchor="t" lIns="0" rIns="0" tIns="0" bIns="0">
            <a:spAutoFit/>
          </a:bodyPr>
          <a:lstStyle/>
          <a:p>
            <a:pPr algn="l">
              <a:lnSpc>
                <a:spcPct val="125000"/>
              </a:lnSpc>
            </a:pPr>
            <a:r>
              <a:rPr sz="1250" b="0">
                <a:solidFill>
                  <a:srgbClr val="000000"/>
                </a:solidFill>
                <a:latin typeface="Source Han Sans SC"/>
              </a:rPr>
              <a:t>measures temperature → decides it's too hot → screen warns</a:t>
            </a:r>
          </a:p>
        </p:txBody>
      </p:sp>
      <p:sp>
        <p:nvSpPr>
          <p:cNvPr id="16" name="Rectangle 15"/>
          <p:cNvSpPr/>
          <p:nvPr/>
        </p:nvSpPr>
        <p:spPr>
          <a:xfrm>
            <a:off x="566928" y="3520440"/>
            <a:ext cx="8010144" cy="82296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630168"/>
            <a:ext cx="7680960" cy="292608"/>
          </a:xfrm>
          <a:prstGeom prst="rect">
            <a:avLst/>
          </a:prstGeom>
          <a:noFill/>
        </p:spPr>
        <p:txBody>
          <a:bodyPr wrap="square" anchor="t" lIns="0" rIns="0" tIns="0" bIns="0">
            <a:spAutoFit/>
          </a:bodyPr>
          <a:lstStyle/>
          <a:p>
            <a:pPr algn="l">
              <a:lnSpc>
                <a:spcPct val="100000"/>
              </a:lnSpc>
            </a:pPr>
            <a:r>
              <a:rPr sz="1500" b="1">
                <a:solidFill>
                  <a:srgbClr val="000000"/>
                </a:solidFill>
                <a:latin typeface="Source Han Sans SC"/>
              </a:rPr>
              <a:t>Tell your neighbor your 3 boxes BEFORE you touch the keyboard.</a:t>
            </a:r>
          </a:p>
        </p:txBody>
      </p:sp>
      <p:sp>
        <p:nvSpPr>
          <p:cNvPr id="18" name="TextBox 17"/>
          <p:cNvSpPr txBox="1"/>
          <p:nvPr/>
        </p:nvSpPr>
        <p:spPr>
          <a:xfrm>
            <a:off x="731520" y="3959352"/>
            <a:ext cx="7680960" cy="237744"/>
          </a:xfrm>
          <a:prstGeom prst="rect">
            <a:avLst/>
          </a:prstGeom>
          <a:noFill/>
        </p:spPr>
        <p:txBody>
          <a:bodyPr wrap="square" anchor="t" lIns="0" rIns="0" tIns="0" bIns="0">
            <a:spAutoFit/>
          </a:bodyPr>
          <a:lstStyle/>
          <a:p>
            <a:pPr algn="l">
              <a:lnSpc>
                <a:spcPct val="125000"/>
              </a:lnSpc>
            </a:pPr>
            <a:r>
              <a:rPr sz="1250" b="0">
                <a:solidFill>
                  <a:srgbClr val="000000"/>
                </a:solidFill>
                <a:latin typeface="Source Han Sans SC"/>
              </a:rPr>
              <a:t>Can't say it, can't code it.</a:t>
            </a:r>
          </a:p>
          <a:p>
            <a:pPr algn="l">
              <a:lnSpc>
                <a:spcPct val="125000"/>
              </a:lnSpc>
            </a:pPr>
            <a:r>
              <a:rPr sz="1250" b="0">
                <a:solidFill>
                  <a:srgbClr val="000000"/>
                </a:solidFill>
                <a:latin typeface="Source Han Sans SC"/>
              </a:rPr>
              <a:t>(Your three boxes, out loud, before you touch the keyboard.)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Sense and Respond | 25 / 28</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The Right Way to Handle an Error</a:t>
            </a:r>
          </a:p>
        </p:txBody>
      </p:sp>
      <p:sp>
        <p:nvSpPr>
          <p:cNvPr id="6" name="TextBox 5"/>
          <p:cNvSpPr txBox="1"/>
          <p:nvPr/>
        </p:nvSpPr>
        <p:spPr>
          <a:xfrm>
            <a:off x="566928" y="1600200"/>
            <a:ext cx="8010144" cy="640080"/>
          </a:xfrm>
          <a:prstGeom prst="rect">
            <a:avLst/>
          </a:prstGeom>
          <a:noFill/>
        </p:spPr>
        <p:txBody>
          <a:bodyPr wrap="square" anchor="t" lIns="0" rIns="0" tIns="0" bIns="0">
            <a:spAutoFit/>
          </a:bodyPr>
          <a:lstStyle/>
          <a:p>
            <a:pPr algn="ctr">
              <a:lnSpc>
                <a:spcPct val="100000"/>
              </a:lnSpc>
            </a:pPr>
            <a:r>
              <a:rPr sz="2200" b="1">
                <a:solidFill>
                  <a:srgbClr val="000000"/>
                </a:solidFill>
                <a:latin typeface="Source Han Sans SC"/>
              </a:rPr>
              <a:t>An error isn't a broken thing — it's AI talking to you.</a:t>
            </a:r>
          </a:p>
        </p:txBody>
      </p:sp>
      <p:sp>
        <p:nvSpPr>
          <p:cNvPr id="7" name="Rectangle 6"/>
          <p:cNvSpPr/>
          <p:nvPr/>
        </p:nvSpPr>
        <p:spPr>
          <a:xfrm>
            <a:off x="1371600" y="2670048"/>
            <a:ext cx="384048" cy="38404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2706624"/>
            <a:ext cx="384048"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1</a:t>
            </a:r>
          </a:p>
        </p:txBody>
      </p:sp>
      <p:sp>
        <p:nvSpPr>
          <p:cNvPr id="9" name="TextBox 8"/>
          <p:cNvSpPr txBox="1"/>
          <p:nvPr/>
        </p:nvSpPr>
        <p:spPr>
          <a:xfrm>
            <a:off x="1920240" y="2651760"/>
            <a:ext cx="6035040" cy="457200"/>
          </a:xfrm>
          <a:prstGeom prst="rect">
            <a:avLst/>
          </a:prstGeom>
          <a:noFill/>
        </p:spPr>
        <p:txBody>
          <a:bodyPr wrap="square" anchor="t" lIns="0" rIns="0" tIns="0" bIns="0">
            <a:spAutoFit/>
          </a:bodyPr>
          <a:lstStyle/>
          <a:p>
            <a:pPr algn="l">
              <a:lnSpc>
                <a:spcPct val="100000"/>
              </a:lnSpc>
            </a:pPr>
            <a:r>
              <a:rPr sz="1700" b="0">
                <a:solidFill>
                  <a:srgbClr val="000000"/>
                </a:solidFill>
                <a:latin typeface="Source Han Sans SC"/>
              </a:rPr>
              <a:t>Copy the full error text</a:t>
            </a:r>
          </a:p>
        </p:txBody>
      </p:sp>
      <p:sp>
        <p:nvSpPr>
          <p:cNvPr id="10" name="Rectangle 9"/>
          <p:cNvSpPr/>
          <p:nvPr/>
        </p:nvSpPr>
        <p:spPr>
          <a:xfrm>
            <a:off x="1371600" y="3310127"/>
            <a:ext cx="384048" cy="38404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1600" y="3346703"/>
            <a:ext cx="384048"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2</a:t>
            </a:r>
          </a:p>
        </p:txBody>
      </p:sp>
      <p:sp>
        <p:nvSpPr>
          <p:cNvPr id="12" name="TextBox 11"/>
          <p:cNvSpPr txBox="1"/>
          <p:nvPr/>
        </p:nvSpPr>
        <p:spPr>
          <a:xfrm>
            <a:off x="1920240" y="3291839"/>
            <a:ext cx="6035040" cy="457200"/>
          </a:xfrm>
          <a:prstGeom prst="rect">
            <a:avLst/>
          </a:prstGeom>
          <a:noFill/>
        </p:spPr>
        <p:txBody>
          <a:bodyPr wrap="square" anchor="t" lIns="0" rIns="0" tIns="0" bIns="0">
            <a:spAutoFit/>
          </a:bodyPr>
          <a:lstStyle/>
          <a:p>
            <a:pPr algn="l">
              <a:lnSpc>
                <a:spcPct val="100000"/>
              </a:lnSpc>
            </a:pPr>
            <a:r>
              <a:rPr sz="1700" b="0">
                <a:solidFill>
                  <a:srgbClr val="000000"/>
                </a:solidFill>
                <a:latin typeface="Source Han Sans SC"/>
              </a:rPr>
              <a:t>Add "here's what I just changed" and throw it all back to AI</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Sense and Respond | 26 / 28</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600" b="1">
                <a:solidFill>
                  <a:srgbClr val="000000"/>
                </a:solidFill>
                <a:latin typeface="Source Han Sans SC"/>
              </a:rPr>
              <a:t>Build 3 | Fully Free — Make Something That Reacts</a:t>
            </a:r>
          </a:p>
        </p:txBody>
      </p:sp>
      <p:sp>
        <p:nvSpPr>
          <p:cNvPr id="6" name="TextBox 5"/>
          <p:cNvSpPr txBox="1"/>
          <p:nvPr/>
        </p:nvSpPr>
        <p:spPr>
          <a:xfrm>
            <a:off x="566928" y="1170432"/>
            <a:ext cx="8010144" cy="411480"/>
          </a:xfrm>
          <a:prstGeom prst="rect">
            <a:avLst/>
          </a:prstGeom>
          <a:noFill/>
        </p:spPr>
        <p:txBody>
          <a:bodyPr wrap="square" anchor="t" lIns="0" rIns="0" tIns="0" bIns="0">
            <a:spAutoFit/>
          </a:bodyPr>
          <a:lstStyle/>
          <a:p>
            <a:pPr algn="ctr">
              <a:lnSpc>
                <a:spcPct val="100000"/>
              </a:lnSpc>
            </a:pPr>
            <a:r>
              <a:rPr sz="1550" b="0">
                <a:solidFill>
                  <a:srgbClr val="000000"/>
                </a:solidFill>
                <a:latin typeface="Source Han Sans SC"/>
              </a:rPr>
              <a:t>One-line brief: make something that reacts. What it reacts to, how it reacts — all yours.</a:t>
            </a:r>
          </a:p>
        </p:txBody>
      </p:sp>
      <p:sp>
        <p:nvSpPr>
          <p:cNvPr id="7" name="Rectangle 6"/>
          <p:cNvSpPr/>
          <p:nvPr/>
        </p:nvSpPr>
        <p:spPr>
          <a:xfrm>
            <a:off x="566928" y="1691640"/>
            <a:ext cx="2560320" cy="164592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828800"/>
            <a:ext cx="2286000" cy="365760"/>
          </a:xfrm>
          <a:prstGeom prst="rect">
            <a:avLst/>
          </a:prstGeom>
          <a:noFill/>
        </p:spPr>
        <p:txBody>
          <a:bodyPr wrap="square" anchor="t" lIns="0" rIns="0" tIns="0" bIns="0">
            <a:spAutoFit/>
          </a:bodyPr>
          <a:lstStyle/>
          <a:p>
            <a:pPr algn="l">
              <a:lnSpc>
                <a:spcPct val="100000"/>
              </a:lnSpc>
            </a:pPr>
            <a:r>
              <a:rPr sz="1500" b="1">
                <a:solidFill>
                  <a:srgbClr val="000000"/>
                </a:solidFill>
                <a:latin typeface="Source Han Sans SC"/>
              </a:rPr>
              <a:t>Clap light</a:t>
            </a:r>
          </a:p>
        </p:txBody>
      </p:sp>
      <p:sp>
        <p:nvSpPr>
          <p:cNvPr id="9" name="TextBox 8"/>
          <p:cNvSpPr txBox="1"/>
          <p:nvPr/>
        </p:nvSpPr>
        <p:spPr>
          <a:xfrm>
            <a:off x="704088" y="2240280"/>
            <a:ext cx="2286000" cy="960120"/>
          </a:xfrm>
          <a:prstGeom prst="rect">
            <a:avLst/>
          </a:prstGeom>
          <a:noFill/>
        </p:spPr>
        <p:txBody>
          <a:bodyPr wrap="square" anchor="t" lIns="0" rIns="0" tIns="0" bIns="0">
            <a:spAutoFit/>
          </a:bodyPr>
          <a:lstStyle/>
          <a:p>
            <a:pPr algn="l">
              <a:lnSpc>
                <a:spcPct val="125000"/>
              </a:lnSpc>
            </a:pPr>
            <a:r>
              <a:rPr sz="1250" b="0">
                <a:solidFill>
                  <a:srgbClr val="000000"/>
                </a:solidFill>
                <a:latin typeface="Source Han Sans SC"/>
              </a:rPr>
              <a:t>one clap on, one clap off</a:t>
            </a:r>
          </a:p>
        </p:txBody>
      </p:sp>
      <p:sp>
        <p:nvSpPr>
          <p:cNvPr id="10" name="Rectangle 9"/>
          <p:cNvSpPr/>
          <p:nvPr/>
        </p:nvSpPr>
        <p:spPr>
          <a:xfrm>
            <a:off x="3310128" y="1691640"/>
            <a:ext cx="2560320" cy="164592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47288" y="1828800"/>
            <a:ext cx="2286000" cy="365760"/>
          </a:xfrm>
          <a:prstGeom prst="rect">
            <a:avLst/>
          </a:prstGeom>
          <a:noFill/>
        </p:spPr>
        <p:txBody>
          <a:bodyPr wrap="square" anchor="t" lIns="0" rIns="0" tIns="0" bIns="0">
            <a:spAutoFit/>
          </a:bodyPr>
          <a:lstStyle/>
          <a:p>
            <a:pPr algn="l">
              <a:lnSpc>
                <a:spcPct val="100000"/>
              </a:lnSpc>
            </a:pPr>
            <a:r>
              <a:rPr sz="1500" b="1">
                <a:solidFill>
                  <a:srgbClr val="000000"/>
                </a:solidFill>
                <a:latin typeface="Source Han Sans SC"/>
              </a:rPr>
              <a:t>Mini alarm</a:t>
            </a:r>
          </a:p>
        </p:txBody>
      </p:sp>
      <p:sp>
        <p:nvSpPr>
          <p:cNvPr id="12" name="TextBox 11"/>
          <p:cNvSpPr txBox="1"/>
          <p:nvPr/>
        </p:nvSpPr>
        <p:spPr>
          <a:xfrm>
            <a:off x="3447288" y="2240280"/>
            <a:ext cx="2286000" cy="960120"/>
          </a:xfrm>
          <a:prstGeom prst="rect">
            <a:avLst/>
          </a:prstGeom>
          <a:noFill/>
        </p:spPr>
        <p:txBody>
          <a:bodyPr wrap="square" anchor="t" lIns="0" rIns="0" tIns="0" bIns="0">
            <a:spAutoFit/>
          </a:bodyPr>
          <a:lstStyle/>
          <a:p>
            <a:pPr algn="l">
              <a:lnSpc>
                <a:spcPct val="125000"/>
              </a:lnSpc>
            </a:pPr>
            <a:r>
              <a:rPr sz="1250" b="0">
                <a:solidFill>
                  <a:srgbClr val="000000"/>
                </a:solidFill>
                <a:latin typeface="Source Han Sans SC"/>
              </a:rPr>
              <a:t>shakes → beeps; hold the button 2 seconds to disarm</a:t>
            </a:r>
          </a:p>
        </p:txBody>
      </p:sp>
      <p:sp>
        <p:nvSpPr>
          <p:cNvPr id="13" name="Rectangle 12"/>
          <p:cNvSpPr/>
          <p:nvPr/>
        </p:nvSpPr>
        <p:spPr>
          <a:xfrm>
            <a:off x="6053328" y="1691640"/>
            <a:ext cx="2560320" cy="164592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90488" y="1828800"/>
            <a:ext cx="2286000" cy="365760"/>
          </a:xfrm>
          <a:prstGeom prst="rect">
            <a:avLst/>
          </a:prstGeom>
          <a:noFill/>
        </p:spPr>
        <p:txBody>
          <a:bodyPr wrap="square" anchor="t" lIns="0" rIns="0" tIns="0" bIns="0">
            <a:spAutoFit/>
          </a:bodyPr>
          <a:lstStyle/>
          <a:p>
            <a:pPr algn="l">
              <a:lnSpc>
                <a:spcPct val="100000"/>
              </a:lnSpc>
            </a:pPr>
            <a:r>
              <a:rPr sz="1500" b="1">
                <a:solidFill>
                  <a:srgbClr val="000000"/>
                </a:solidFill>
                <a:latin typeface="Source Han Sans SC"/>
              </a:rPr>
              <a:t>Desk weather station</a:t>
            </a:r>
          </a:p>
        </p:txBody>
      </p:sp>
      <p:sp>
        <p:nvSpPr>
          <p:cNvPr id="15" name="TextBox 14"/>
          <p:cNvSpPr txBox="1"/>
          <p:nvPr/>
        </p:nvSpPr>
        <p:spPr>
          <a:xfrm>
            <a:off x="6190488" y="2240280"/>
            <a:ext cx="2286000" cy="960120"/>
          </a:xfrm>
          <a:prstGeom prst="rect">
            <a:avLst/>
          </a:prstGeom>
          <a:noFill/>
        </p:spPr>
        <p:txBody>
          <a:bodyPr wrap="square" anchor="t" lIns="0" rIns="0" tIns="0" bIns="0">
            <a:spAutoFit/>
          </a:bodyPr>
          <a:lstStyle/>
          <a:p>
            <a:pPr algn="l">
              <a:lnSpc>
                <a:spcPct val="125000"/>
              </a:lnSpc>
            </a:pPr>
            <a:r>
              <a:rPr sz="1250" b="0">
                <a:solidFill>
                  <a:srgbClr val="000000"/>
                </a:solidFill>
                <a:latin typeface="Source Han Sans SC"/>
              </a:rPr>
              <a:t>screen shows temperature, humidity, light — too dark → light on; too hot → beep</a:t>
            </a:r>
          </a:p>
        </p:txBody>
      </p:sp>
      <p:sp>
        <p:nvSpPr>
          <p:cNvPr id="16" name="Rectangle 15"/>
          <p:cNvSpPr/>
          <p:nvPr/>
        </p:nvSpPr>
        <p:spPr>
          <a:xfrm>
            <a:off x="566928" y="3520440"/>
            <a:ext cx="54864" cy="566134"/>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3538728"/>
            <a:ext cx="7808975" cy="529558"/>
          </a:xfrm>
          <a:prstGeom prst="rect">
            <a:avLst/>
          </a:prstGeom>
          <a:noFill/>
        </p:spPr>
        <p:txBody>
          <a:bodyPr wrap="square" anchor="t" lIns="0" rIns="0" tIns="0" bIns="0">
            <a:spAutoFit/>
          </a:bodyPr>
          <a:lstStyle/>
          <a:p>
            <a:pPr algn="l">
              <a:lnSpc>
                <a:spcPct val="115000"/>
              </a:lnSpc>
            </a:pPr>
            <a:r>
              <a:rPr sz="1250" b="0">
                <a:solidFill>
                  <a:srgbClr val="000000"/>
                </a:solidFill>
                <a:latin typeface="Source Han Sans SC"/>
              </a:rPr>
              <a:t>Done and bored? Two directions — 1 Tiny game: whack-a-mole / reaction-timer (buttons score, screen shows the score) | 2 Board as controller: the board's buttons and knob drive a little game on the screen.</a:t>
            </a:r>
          </a:p>
        </p:txBody>
      </p:sp>
      <p:sp>
        <p:nvSpPr>
          <p:cNvPr id="18" name="TextBox 17"/>
          <p:cNvSpPr txBox="1"/>
          <p:nvPr/>
        </p:nvSpPr>
        <p:spPr>
          <a:xfrm>
            <a:off x="566928" y="4297680"/>
            <a:ext cx="8010144" cy="365760"/>
          </a:xfrm>
          <a:prstGeom prst="rect">
            <a:avLst/>
          </a:prstGeom>
          <a:noFill/>
        </p:spPr>
        <p:txBody>
          <a:bodyPr wrap="square" anchor="t" lIns="0" rIns="0" tIns="0" bIns="0">
            <a:spAutoFit/>
          </a:bodyPr>
          <a:lstStyle/>
          <a:p>
            <a:pPr algn="ctr">
              <a:lnSpc>
                <a:spcPct val="100000"/>
              </a:lnSpc>
            </a:pPr>
            <a:r>
              <a:rPr sz="1300" b="1">
                <a:solidFill>
                  <a:srgbClr val="000000"/>
                </a:solidFill>
                <a:latin typeface="Source Han Sans SC"/>
              </a:rPr>
              <a:t>Done means: it reacts to the thing you chose — and you can say its three boxes.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Sense and Respond | 27 / 28</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200" b="1">
                <a:solidFill>
                  <a:srgbClr val="000000"/>
                </a:solidFill>
                <a:latin typeface="Source Han Sans SC"/>
              </a:rPr>
              <a:t>Flash Show and Tell + Your Full AI Log</a:t>
            </a:r>
          </a:p>
        </p:txBody>
      </p:sp>
      <p:sp>
        <p:nvSpPr>
          <p:cNvPr id="6" name="TextBox 5"/>
          <p:cNvSpPr txBox="1"/>
          <p:nvPr/>
        </p:nvSpPr>
        <p:spPr>
          <a:xfrm>
            <a:off x="566928" y="1170432"/>
            <a:ext cx="8010144" cy="365760"/>
          </a:xfrm>
          <a:prstGeom prst="rect">
            <a:avLst/>
          </a:prstGeom>
          <a:noFill/>
        </p:spPr>
        <p:txBody>
          <a:bodyPr wrap="square" anchor="t" lIns="0" rIns="0" tIns="0" bIns="0">
            <a:spAutoFit/>
          </a:bodyPr>
          <a:lstStyle/>
          <a:p>
            <a:pPr algn="ctr">
              <a:lnSpc>
                <a:spcPct val="100000"/>
              </a:lnSpc>
            </a:pPr>
            <a:r>
              <a:rPr sz="1400" b="0">
                <a:solidFill>
                  <a:srgbClr val="000000"/>
                </a:solidFill>
                <a:latin typeface="Source Han Sans SC"/>
              </a:rPr>
              <a:t>Show and tell: in your table, 30 seconds each — demo your build, say its three boxes.</a:t>
            </a:r>
          </a:p>
        </p:txBody>
      </p:sp>
      <p:sp>
        <p:nvSpPr>
          <p:cNvPr id="7" name="TextBox 6"/>
          <p:cNvSpPr txBox="1"/>
          <p:nvPr/>
        </p:nvSpPr>
        <p:spPr>
          <a:xfrm>
            <a:off x="566928" y="1645920"/>
            <a:ext cx="8010144" cy="320040"/>
          </a:xfrm>
          <a:prstGeom prst="rect">
            <a:avLst/>
          </a:prstGeom>
          <a:noFill/>
        </p:spPr>
        <p:txBody>
          <a:bodyPr wrap="square" anchor="t" lIns="0" rIns="0" tIns="0" bIns="0">
            <a:spAutoFit/>
          </a:bodyPr>
          <a:lstStyle/>
          <a:p>
            <a:pPr algn="l">
              <a:lnSpc>
                <a:spcPct val="100000"/>
              </a:lnSpc>
            </a:pPr>
            <a:r>
              <a:rPr sz="1400" b="1">
                <a:solidFill>
                  <a:srgbClr val="000000"/>
                </a:solidFill>
                <a:latin typeface="Source Han Sans SC"/>
              </a:rPr>
              <a:t>Your log, four sentences:</a:t>
            </a:r>
          </a:p>
        </p:txBody>
      </p:sp>
      <p:sp>
        <p:nvSpPr>
          <p:cNvPr id="8" name="TextBox 7"/>
          <p:cNvSpPr txBox="1"/>
          <p:nvPr/>
        </p:nvSpPr>
        <p:spPr>
          <a:xfrm>
            <a:off x="566928" y="1993392"/>
            <a:ext cx="8010144" cy="777240"/>
          </a:xfrm>
          <a:prstGeom prst="rect">
            <a:avLst/>
          </a:prstGeom>
          <a:noFill/>
        </p:spPr>
        <p:txBody>
          <a:bodyPr wrap="square" anchor="t" lIns="0" rIns="0" tIns="0" bIns="0">
            <a:spAutoFit/>
          </a:bodyPr>
          <a:lstStyle/>
          <a:p>
            <a:pPr algn="l">
              <a:lnSpc>
                <a:spcPct val="118000"/>
              </a:lnSpc>
            </a:pPr>
            <a:r>
              <a:rPr sz="1350" b="0">
                <a:solidFill>
                  <a:srgbClr val="000000"/>
                </a:solidFill>
                <a:latin typeface="Source Han Sans SC"/>
              </a:rPr>
              <a:t>·  Today I made ___</a:t>
            </a:r>
          </a:p>
          <a:p>
            <a:pPr algn="l">
              <a:lnSpc>
                <a:spcPct val="118000"/>
              </a:lnSpc>
            </a:pPr>
            <a:r>
              <a:rPr sz="1350" b="0">
                <a:solidFill>
                  <a:srgbClr val="000000"/>
                </a:solidFill>
                <a:latin typeface="Source Han Sans SC"/>
              </a:rPr>
              <a:t>·  I got stuck on ___</a:t>
            </a:r>
          </a:p>
          <a:p>
            <a:pPr algn="l">
              <a:lnSpc>
                <a:spcPct val="118000"/>
              </a:lnSpc>
            </a:pPr>
            <a:r>
              <a:rPr sz="1350" b="0">
                <a:solidFill>
                  <a:srgbClr val="000000"/>
                </a:solidFill>
                <a:latin typeface="Source Han Sans SC"/>
              </a:rPr>
              <a:t>·  Then ___</a:t>
            </a:r>
          </a:p>
          <a:p>
            <a:pPr algn="l">
              <a:lnSpc>
                <a:spcPct val="118000"/>
              </a:lnSpc>
            </a:pPr>
            <a:r>
              <a:rPr sz="1350" b="0">
                <a:solidFill>
                  <a:srgbClr val="000000"/>
                </a:solidFill>
                <a:latin typeface="Source Han Sans SC"/>
              </a:rPr>
              <a:t>·  Next time I want ___</a:t>
            </a:r>
          </a:p>
        </p:txBody>
      </p:sp>
      <p:sp>
        <p:nvSpPr>
          <p:cNvPr id="9" name="Rectangle 8"/>
          <p:cNvSpPr/>
          <p:nvPr/>
        </p:nvSpPr>
        <p:spPr>
          <a:xfrm>
            <a:off x="566928" y="2926080"/>
            <a:ext cx="8010144" cy="73152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017520"/>
            <a:ext cx="7680960" cy="548640"/>
          </a:xfrm>
          <a:prstGeom prst="rect">
            <a:avLst/>
          </a:prstGeom>
          <a:noFill/>
        </p:spPr>
        <p:txBody>
          <a:bodyPr wrap="square" anchor="t" lIns="0" rIns="0" tIns="0" bIns="0">
            <a:spAutoFit/>
          </a:bodyPr>
          <a:lstStyle/>
          <a:p>
            <a:pPr algn="l">
              <a:lnSpc>
                <a:spcPct val="120000"/>
              </a:lnSpc>
            </a:pPr>
            <a:r>
              <a:rPr sz="1200" b="0">
                <a:solidFill>
                  <a:srgbClr val="000000"/>
                </a:solidFill>
                <a:latin typeface="Source Code Pro"/>
              </a:rPr>
              <a:t>Say it to your phone, then send it to AI with one more line: "Tidy this into a learning log — only what I said, nothing I didn't say."</a:t>
            </a:r>
          </a:p>
        </p:txBody>
      </p:sp>
      <p:sp>
        <p:nvSpPr>
          <p:cNvPr id="11" name="Rectangle 10"/>
          <p:cNvSpPr/>
          <p:nvPr/>
        </p:nvSpPr>
        <p:spPr>
          <a:xfrm>
            <a:off x="566928" y="3840480"/>
            <a:ext cx="54864" cy="777240"/>
          </a:xfrm>
          <a:prstGeom prst="rect">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950208"/>
            <a:ext cx="100584" cy="100584"/>
          </a:xfrm>
          <a:prstGeom prst="ellipse">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895344"/>
            <a:ext cx="7507223" cy="320040"/>
          </a:xfrm>
          <a:prstGeom prst="rect">
            <a:avLst/>
          </a:prstGeom>
          <a:noFill/>
        </p:spPr>
        <p:txBody>
          <a:bodyPr wrap="square" anchor="t" lIns="0" rIns="0" tIns="0" bIns="0">
            <a:spAutoFit/>
          </a:bodyPr>
          <a:lstStyle/>
          <a:p>
            <a:pPr algn="l">
              <a:lnSpc>
                <a:spcPct val="100000"/>
              </a:lnSpc>
            </a:pPr>
            <a:r>
              <a:rPr sz="2000" b="1">
                <a:solidFill>
                  <a:srgbClr val="000000"/>
                </a:solidFill>
                <a:latin typeface="Source Han Sans SC"/>
              </a:rPr>
              <a:t>Warning</a:t>
            </a:r>
          </a:p>
        </p:txBody>
      </p:sp>
      <p:sp>
        <p:nvSpPr>
          <p:cNvPr id="14" name="TextBox 13"/>
          <p:cNvSpPr txBox="1"/>
          <p:nvPr/>
        </p:nvSpPr>
        <p:spPr>
          <a:xfrm>
            <a:off x="932688" y="4242816"/>
            <a:ext cx="7507223" cy="320040"/>
          </a:xfrm>
          <a:prstGeom prst="rect">
            <a:avLst/>
          </a:prstGeom>
          <a:noFill/>
        </p:spPr>
        <p:txBody>
          <a:bodyPr wrap="square" anchor="t" lIns="0" rIns="0" tIns="0" bIns="0">
            <a:spAutoFit/>
          </a:bodyPr>
          <a:lstStyle/>
          <a:p>
            <a:pPr algn="l">
              <a:lnSpc>
                <a:spcPct val="115000"/>
              </a:lnSpc>
            </a:pPr>
            <a:r>
              <a:rPr sz="1500" b="0">
                <a:solidFill>
                  <a:srgbClr val="000000"/>
                </a:solidFill>
                <a:latin typeface="Source Han Sans SC"/>
              </a:rPr>
              <a:t>AI will make things up with a straight face. Proofreading is your job.</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Sense and Respond | 28 / 28</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Next Time</a:t>
            </a:r>
          </a:p>
        </p:txBody>
      </p:sp>
      <p:sp>
        <p:nvSpPr>
          <p:cNvPr id="6" name="Rectangle 5"/>
          <p:cNvSpPr/>
          <p:nvPr/>
        </p:nvSpPr>
        <p:spPr>
          <a:xfrm>
            <a:off x="566928" y="1325880"/>
            <a:ext cx="8010144" cy="8686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35607"/>
            <a:ext cx="7680960" cy="292608"/>
          </a:xfrm>
          <a:prstGeom prst="rect">
            <a:avLst/>
          </a:prstGeom>
          <a:noFill/>
        </p:spPr>
        <p:txBody>
          <a:bodyPr wrap="square" anchor="t" lIns="0" rIns="0" tIns="0" bIns="0">
            <a:spAutoFit/>
          </a:bodyPr>
          <a:lstStyle/>
          <a:p>
            <a:pPr algn="l">
              <a:lnSpc>
                <a:spcPct val="100000"/>
              </a:lnSpc>
            </a:pPr>
            <a:r>
              <a:rPr sz="1500" b="1">
                <a:solidFill>
                  <a:srgbClr val="000000"/>
                </a:solidFill>
                <a:latin typeface="Source Han Sans SC"/>
              </a:rPr>
              <a:t>Your logs are saved — that's the growth story of your builds.</a:t>
            </a:r>
          </a:p>
        </p:txBody>
      </p:sp>
      <p:sp>
        <p:nvSpPr>
          <p:cNvPr id="8" name="TextBox 7"/>
          <p:cNvSpPr txBox="1"/>
          <p:nvPr/>
        </p:nvSpPr>
        <p:spPr>
          <a:xfrm>
            <a:off x="731520" y="1764791"/>
            <a:ext cx="7680960" cy="283463"/>
          </a:xfrm>
          <a:prstGeom prst="rect">
            <a:avLst/>
          </a:prstGeom>
          <a:noFill/>
        </p:spPr>
        <p:txBody>
          <a:bodyPr wrap="square" anchor="t" lIns="0" rIns="0" tIns="0" bIns="0">
            <a:spAutoFit/>
          </a:bodyPr>
          <a:lstStyle/>
          <a:p>
            <a:pPr algn="l">
              <a:lnSpc>
                <a:spcPct val="125000"/>
              </a:lnSpc>
            </a:pPr>
            <a:r>
              <a:rPr sz="1350" b="0">
                <a:solidFill>
                  <a:srgbClr val="000000"/>
                </a:solidFill>
                <a:latin typeface="Source Han Sans SC"/>
              </a:rPr>
              <a:t>By the end of the course, it's worth more than the builds themselves.</a:t>
            </a:r>
          </a:p>
        </p:txBody>
      </p:sp>
      <p:sp>
        <p:nvSpPr>
          <p:cNvPr id="9" name="TextBox 8"/>
          <p:cNvSpPr txBox="1"/>
          <p:nvPr/>
        </p:nvSpPr>
        <p:spPr>
          <a:xfrm>
            <a:off x="566928" y="2560320"/>
            <a:ext cx="8010144" cy="548640"/>
          </a:xfrm>
          <a:prstGeom prst="rect">
            <a:avLst/>
          </a:prstGeom>
          <a:noFill/>
        </p:spPr>
        <p:txBody>
          <a:bodyPr wrap="square" anchor="t" lIns="0" rIns="0" tIns="0" bIns="0">
            <a:spAutoFit/>
          </a:bodyPr>
          <a:lstStyle/>
          <a:p>
            <a:pPr algn="ctr">
              <a:lnSpc>
                <a:spcPct val="100000"/>
              </a:lnSpc>
            </a:pPr>
            <a:r>
              <a:rPr sz="2800" b="1">
                <a:solidFill>
                  <a:srgbClr val="000000"/>
                </a:solidFill>
                <a:latin typeface="Source Han Sans SC"/>
              </a:rPr>
              <a:t>Lesson 2: Find a Problem Worth Solving</a:t>
            </a:r>
          </a:p>
        </p:txBody>
      </p:sp>
      <p:sp>
        <p:nvSpPr>
          <p:cNvPr id="10" name="TextBox 9"/>
          <p:cNvSpPr txBox="1"/>
          <p:nvPr/>
        </p:nvSpPr>
        <p:spPr>
          <a:xfrm>
            <a:off x="566928" y="3291840"/>
            <a:ext cx="8010144" cy="731520"/>
          </a:xfrm>
          <a:prstGeom prst="rect">
            <a:avLst/>
          </a:prstGeom>
          <a:noFill/>
        </p:spPr>
        <p:txBody>
          <a:bodyPr wrap="square" anchor="t" lIns="0" rIns="0" tIns="0" bIns="0">
            <a:spAutoFit/>
          </a:bodyPr>
          <a:lstStyle/>
          <a:p>
            <a:pPr algn="ctr">
              <a:lnSpc>
                <a:spcPct val="130000"/>
              </a:lnSpc>
            </a:pPr>
            <a:r>
              <a:rPr sz="1700" b="0">
                <a:solidFill>
                  <a:srgbClr val="000000"/>
                </a:solidFill>
                <a:latin typeface="Source Han Sans SC"/>
              </a:rPr>
              <a:t>Start thinking on the way home — what's one small thing in your daily life that annoys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