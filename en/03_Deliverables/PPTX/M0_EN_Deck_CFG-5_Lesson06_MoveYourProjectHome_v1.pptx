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page only; students see it as they sit down. No script. When the session starts, go straight to slide 02 — the opener's 30-second look-back is spoken, not projected. Right side: aily-blockly blocks-view screenshot (an open project) + a small XIAO board photo ('the new house') — placeholder card until the rehearsal capture; yellow rule under the subtitle.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look-back: last session, you taught your hardware to see — you ran a ready model, then trained a model that's entirely yours. From Lesson 1 to now, your projects keep coming, and they keep getting better. Then the close-the-tab demo: today we don't create. Today we do one big thing: until now, your projects have lived on someone else's server — close the browser, and they're gone. Today, you move from tenant to owner. (demo: close the Codecraft tab) See? Closed. Where's your project? — At someone else's house. (open a local folder) Now look here: after class today, your project will live in this folder. Unplug the internet — it's there. Shut down the website — it's there. Ten years after graduation — it's still there. Moving isn't a step back — it's buying the house. Then the five steps (point at the screen) and the Lesson 7 hook: once the house is set up, what's next? — Next session, you give your project a brief: the topic grows out of your own experience, not copied from the internet. Brief done, the marathon starts. 'Why move if the web version works fine?' — the web version isn't retiring; during the marathon you'll use both. But the feeling of owning it — you have to taste that once today. Flat energy — this is a celebration, not moving day: over-act the opener.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Finished your install homework? Open the tool, fill in the self-test on screen (it's in your workbook too): three checks — it's installed / it opens / I can reach the main screen. Not done — raise your hand. No more installing now; you pair up on the spot: share one computer with your neighbor, you're the commander — you say what to do, they press the buttons. Give your name to a TA; we'll make sure you're set up within 10 minutes after class. More than 1/3 not installed — the homework pipeline broke: extend this block 5 minutes for a focused group install (all TAs on it); whoever still isn't done pairs up; note it on the reflection page. Installed but the board won't connect — TA B handles one-on-one (cable, port, permission); not fixed in 5 minutes — pair up. Whole-room permission block (a night policy change) — execute the 4.1 downgrade. The red line is the deck's first red — the 14:18 close is today's iron law, never softened. No install steps ever appear on this page.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house needs a name — this one is aily-blockly. Three facts, and that's it. One: it's open source and free — the site is yiyu.pro, anyone can install it. Two: it's universal — not some one-board companion app; it takes 100+ development boards, so when you change boards later, it's still your home. Three: it's AI-native — say what you need, get a wiring diagram, get code, get errors fixed — AI is there the whole way. The third one matters most: the people who built it set out to break the line between professional and amateur — to let anyone make hardware with plain language. It was built for you. The old home got you daring quickly; the new home gets you finishing properly. Three facts skimmed fast — the page is a name-introduction, not a lecture.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Words are cheap — look at the real thing (point at the screen). This is the first screen aily-blockly shows: pick your board. Look for it: Grove Beginner Kit is in there — and so is Wio Terminal. That's what 'universal' means. Whatever board you use next, it's got a place here. Screenshot = evidence — '100+ boards' isn't claimed, it's shown. The screenshot is already English UI — no localization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Build-along — 'where I click, you click'. Intro done — time to build your first empty house. Four steps: new project → pick the board: today, Wio Terminal → name it: use English, and point the save path at your projects folder → create. The sign it worked: you're in the blocks screen, and the folder already has it. Why the Wio today? — spoken, not on screen: the Wio is the board we'll team up with this afternoon — build its house first. Students follow on their own machines; paired groups: the installed partner operates, the other points and commands (commander mode carries over). Can't find the project folder — whole-class sync: 'Where I click, you click — found it? Hands up.' This page is a V3 addition the CN v2 plan never had — the build-along is part of the 12-minute 'meet the new home' block, not a separate lesson.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Tour the new house — three rooms. First room (open the file manager): this is where your projects live from now on. This folder is your project — copy it out and it's portable, send it and it's shared. Second room (back to the tool): this is the blocks view — drag and drop, same graphical feel you already know. Third room (click the code view): this is the code view — one of today's main courses; we lift that floor in a few minutes. Whatever buttons there are, remember just two today. One: AI coding — tell it what you need in plain language, it writes your code and fixes your errors; today runs on it. Two: flash — click, and the program goes into the board; know what the 'upload' button looks like. Every other button — ask AI when you need it. It knows them better than you. Students point to where 'AI coding' and 'flash (upload)' live in the interface (the 'did it land' check). Stand-still during the tour. The two-buttons box is 6.2 verbatim — shared text with the Teacher's Guide and the workbook; any later edit must sync all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thing after moving in: put out your most precious old thing — your very first project: showing your name on screen. Don't roll your eyes. In Lesson 1, how long did it take you? (wait for answers) Timer starts now — I bet you finish in half the time. This isn't repetition; it's watching yourself grow in real time. The one step that matters most when you're done: save, then open the folder and see it with your own eyes. That ritual has a name — the ownership ritual. From today, every project you make takes this step. Redo = AI-coding entry + the flash five-step (rule: pick the right port first, then click upload). 'This is boring' — the frame is built in; still resisting — let them redo any old project — but the ownership ritual is never skipped; fast students go straight into the night-light block (give them the 6.4 prompt early). Paired groups — both students must do the save→folder→confirm run themselves (acceptance: each partner operates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eyes on the big screen. I'm lifting the floor. (switch to code view) This is what AI has been writing for you all along. From the first time you said 'show my name on screen,' it has been writing this every time. Today, we look at what it looks like. Then one correspondence: look at this pair — this one block is these few lines. Blocks and code are two looks at the same project — blocks are for hands, code is for machines. You don't need to read it all — today is about one feeling: code is not mysterious. Find one match, and you graduate. This is the visual-contrast peak of the lesson — the code's first full-screen appearance. A student scared off by the code — 'You don't need to read it all — one match and you graduate' (step one only; steps two and three optional). The page stays minimal — no task list, no code box; the contrast image carries it. [Asset: block ⇄ code side-by-side screenshot — captured on the teacher machine at rehearsal; live 'drag a block and point' is the static base's stand-in]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follow me. Step one: find the match. Go back to the blocks view, drag one block — watch: what changed over here in the code? (wait for someone to point) Right — this one block is these few lines. Step two: ask AI. Select a chunk of code you don't understand, send it to your AI (project the prompt): 'What's this code doing?' Have it explain in plain language. From today, AI has a new job: not just doing the work for you — teaching you to read it. Old rule: ask in the conversation you already have. No new windows. Step three: change one line. Find the line that shows your name — change only the letters inside the quotes to your nickname. Run it. (wait) See that? You just touched code with your own hands — and you didn't break it. Changing a letter can't break it. That's your first time. The red line is the deck's second red — the boundary of the first-ever hand-touch of code. They break a line (deleted a quote or bracket) — teach the save, on the spot: no panic — go back to the last version. See? This is why engineers save constantly. Someone wants to change logic (numbers, conditions) — 'Today, letters only. The fire to change logic — hold it until the marathon starts, when you have your requirements sheet.' New window opened — point at the reminder line. Stand-still during the students' solo walk; the instructor circulates.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point, then we move: why did you just do all this? Three reasons — it's yours (your project, your folder, your house); you're not afraid of it (from black box to clear box); the door opened (competitions, final projects, the real engineer's world — this is where you walk in). The door's open — now step through it. Just now you read what AI wrote. Next, you'll direct AI to write something brand new. No code box, no task list — the page is deliberately set apart from the operation pages (same energy as slide 02).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working in a local tool run on this loop (point, read the five stations): say it → AI builds → check → upload → verify. Verification fails? Back to the first station — say the need more clearly, run another lap. This loop is the motion of every lap of the marathon — today we get fluent on a small project. How do you say a need clearly? You already know — the three boxes: what it senses (input), what it does under what condition (logic), how it shows itself (output). The first new project: the night-light. Uses the Grove Beginner Kit in your hand — light sensor and LED are built into the board, not a single wire to connect, short code, fast upload, verdict in two minutes. Dark — light on. Bright — light off. Use the prompt on screen; leave the number in brackets blank — what the sensor actually reads, you'll see on the serial monitor in a moment, and fill in yourself. Then cut to slide 14 to hand out the 6.4 prompt (3 min), then to slide 13 as the solo base. The loop diagram returns on demand when a student asks 'what do I do next?' — the loop is the map.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base — stand-still; the instructor circulates only. The single whole-class call at 15:35 — 'Time to open the serial monitor — take the number you measured with your hand over it and put it back into your need.' Circulate, three things: the conversation (is the need getting more specific, or are they re-pasting the same sentence?) / the serial (did the number come out?) / the LED (cover the sensor — does the light obey?). Intervention red line: ask, don't fix — 'What number is dark in your need? How do you know?' Errors go back to AI verbatim (old rule: one step at a time). No serial data — students run their own three-check out loud: did it upload? is the monitor open? is the sensor reading? Whole class stuck on the serial — demo once on the teacher machine: open the monitor, cover the sensor, read the number — 30 seconds, then back to solo running. AI didn't get it on the first try — teaching point, not an incident: 'See — this is iteration. Engineers saying a need three times is normal.' Output anchor: at least one solo lap of the loop (say → build → upload → measure → fill the threshold → iterate) + the loop record in the workbook. The discipline line is not red — it's the old course-wide rule, bold black on yellow.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is on screen — copy it into the conversation you already have. All three boxes are in there: input, logic, output. Leave the threshold blank — the number in your need is measured by your own hand, not made up by AI. Send it. Cut out once to hand out the prompt, students copy it, return to slide 13 (the solo base). 6.4 verbatim — shared text with the Teacher's Guide and the workbook; any edit must sync all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now, one board worked alone. Now, upgrade: two boards work together — and that's what the real world looks like: a doorbell — one button outside, one speaker inside, each doing its own job, one wire between them. The joint project: the dusk alarm station. The Beginner Kit is the lookout: when it's dark, it lights its own LED and 'raises its hand' on a signal pin. The Wio Terminal is the alarm post: when it sees the hand go up, the screen says 'It's dark!' and the buzzer beeps once. Two boards, two programs, each minding its own job, linked by one wire. The need also splits into two parts — first have AI sort out the division and the wiring (prompt part one), then ask for the two programs (part two, part three). Same conversation window — AI remembers the whole picture. The two whole-class calls — 16:15: 'Both programs flashed? Run each board solo first — then link them'; 16:30: 'Linking check, two things — is the Grove cable in the right port? Is it clicked in firmly?' Circulate, three things: the division (can they say who senses and who performs?) / solo-run first (each end runs alone before linking — no skipped steps) / the Grove cable (nine dead links out of ten are a wrong port or a loose cable). Intervention red line: ask, don't fix — 'Which pin is the lookout's hand? How does the alarm post know?' Wiring questions go to AI for a diagram (it was asked in the prompt) — the teacher doesn't check wires for them. Link dead → the three checks: did each board run solo? is the signal wire on the agreed pins at both ends? is it clicked in firmly? Still dead: unplug and re-seat, or swap in a fresh Grove cable; if it persists, demo one working pair on the teacher machine. One board 'occupied' by the computer, the other won't flash → normal: flash the two boards alternately on one computer, or split across the pair's two machines.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send them in order, all in the conversation you already have. Notice part one says 'don't write code yet' — first have AI sort out the division and the wiring, and read it before you go on. Then ask for the two programs separately — generate and flash each one, run each board solo first, then link them. The 'don't write code yet' opener is itself the teaching point — the order is the lesson. Text volume is licensed on this page (three full prompt blocks must be copyable). 6.8 verbatim — shared text; any edit must sync all three documents.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instructor flips to this page at each clock time, reads the call out loud, and immediately returns to the current solo base (13 or 15). The current call is highlighted with a yellow light fill behind its card. Timings follow the EN Teacher's Guide (15:35 for the serial call; 16:15 / 16:30 for the joint calls). Big-type single lines — a rhythm page, not a task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sentences to close: it's yours; you're not afraid of it; the door opened. Two more from today: you can loop — say it, build, check, upload, verify, and if it's wrong, say it again; and you can link — today's alarm station is the proof: set the spec first (the standard), build one function at a time (each board runs its own loop), then link them into a system (one signal wire). That's how engineers take on big projects — and that's how your three marathon legs will run.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 home's manual — Natural-Language Hardware Development, 15 chapters, from lighting your first project to full systems, and every chapter drills today's loop. It's going to the class group; put it in your workbook. You don't need to read it today — open it when you're stuck. Log time. Four lines as usual — the 'done' line is required: today I built ___ with AI guiding me, and I linked it to another board; our link's first failure was because ___. A student can't write the log — point at their cheat sheet: 'Five stations of the loop — where were you stuck, and how did you get past it? Write that. One sentence is enough.' 'I want to play with it at home' — that's exactly what it was installed for — it's on your computer, play all you want. And the manual's in your hands. The link goes to the class group + workbook.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back at today — four things done. One: your project moved off someone else's server and into your own computer — you're the owner. Two: you read a piece of code for the first time, and changed one line by hand — nothing broke. Three: you directed AI to build a new project from zero — you ran the engineer's loop. Four: you made two boards cooperate — one senses, one performs, one wire, one system. Next session preview: give your project a brief. Good topics grow from your own experience, not from the internet. You'll write a requirements sheet: input, logic, output — and only one core function survives. Brief done, the marathon starts — today you said 'I want to build'; soon you'll say 'I'm building.' Project folders stay where they are. Boards in the box. No ability-card lighting ceremony today — the ceremony peaks were slide 02 (the close-the-tab demo) and slide 08 (the ownership ritual); this close lands the four wins and previews Lesson 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01 / 20</a:t>
            </a:r>
          </a:p>
        </p:txBody>
      </p:sp>
      <p:sp>
        <p:nvSpPr>
          <p:cNvPr id="4" name="TextBox 3"/>
          <p:cNvSpPr txBox="1"/>
          <p:nvPr/>
        </p:nvSpPr>
        <p:spPr>
          <a:xfrm>
            <a:off x="566928" y="1097280"/>
            <a:ext cx="5852160" cy="27432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Chaihuo Maker Academy · Smart Hardware Fundamentals (M0)</a:t>
            </a:r>
          </a:p>
        </p:txBody>
      </p:sp>
      <p:sp>
        <p:nvSpPr>
          <p:cNvPr id="5" name="TextBox 4"/>
          <p:cNvSpPr txBox="1"/>
          <p:nvPr/>
        </p:nvSpPr>
        <p:spPr>
          <a:xfrm>
            <a:off x="566928" y="1417320"/>
            <a:ext cx="8010144" cy="68580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Move Your Project Home</a:t>
            </a:r>
          </a:p>
        </p:txBody>
      </p:sp>
      <p:sp>
        <p:nvSpPr>
          <p:cNvPr id="6" name="Rectangle 5"/>
          <p:cNvSpPr/>
          <p:nvPr/>
        </p:nvSpPr>
        <p:spPr>
          <a:xfrm>
            <a:off x="566928" y="2286000"/>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50592"/>
            <a:ext cx="5669280" cy="548640"/>
          </a:xfrm>
          <a:prstGeom prst="rect">
            <a:avLst/>
          </a:prstGeom>
          <a:noFill/>
        </p:spPr>
        <p:txBody>
          <a:bodyPr wrap="square" anchor="t" lIns="0" rIns="0" tIns="0" bIns="0">
            <a:spAutoFit/>
          </a:bodyPr>
          <a:lstStyle/>
          <a:p>
            <a:pPr algn="l">
              <a:lnSpc>
                <a:spcPct val="120000"/>
              </a:lnSpc>
            </a:pPr>
            <a:r>
              <a:rPr sz="1400" b="0">
                <a:solidFill>
                  <a:srgbClr val="000000"/>
                </a:solidFill>
                <a:latin typeface="Source Han Sans SC"/>
              </a:rPr>
              <a:t>The Big Move: from the Web into Your Own Computer · Chaihuo Maker Academy · M0 Lesson 6</a:t>
            </a:r>
          </a:p>
        </p:txBody>
      </p:sp>
      <p:sp>
        <p:nvSpPr>
          <p:cNvPr id="8" name="TextBox 7"/>
          <p:cNvSpPr txBox="1"/>
          <p:nvPr/>
        </p:nvSpPr>
        <p:spPr>
          <a:xfrm>
            <a:off x="566928" y="3154680"/>
            <a:ext cx="566928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Lesson 6 · From Tenant to Owner</a:t>
            </a:r>
          </a:p>
        </p:txBody>
      </p:sp>
      <p:sp>
        <p:nvSpPr>
          <p:cNvPr id="9" name="TextBox 8"/>
          <p:cNvSpPr txBox="1"/>
          <p:nvPr/>
        </p:nvSpPr>
        <p:spPr>
          <a:xfrm>
            <a:off x="566928" y="3566160"/>
            <a:ext cx="5669280" cy="502920"/>
          </a:xfrm>
          <a:prstGeom prst="rect">
            <a:avLst/>
          </a:prstGeom>
          <a:noFill/>
        </p:spPr>
        <p:txBody>
          <a:bodyPr wrap="square" anchor="t" lIns="0" rIns="0" tIns="0" bIns="0">
            <a:spAutoFit/>
          </a:bodyPr>
          <a:lstStyle/>
          <a:p>
            <a:pPr algn="l">
              <a:lnSpc>
                <a:spcPct val="120000"/>
              </a:lnSpc>
            </a:pPr>
            <a:r>
              <a:rPr sz="1250" b="0">
                <a:solidFill>
                  <a:srgbClr val="000000"/>
                </a:solidFill>
                <a:latin typeface="Source Han Sans SC"/>
              </a:rPr>
              <a:t>New tool: aily-blockly — the open-source hardware dev environment that lives on your computer</a:t>
            </a:r>
          </a:p>
        </p:txBody>
      </p:sp>
      <p:sp>
        <p:nvSpPr>
          <p:cNvPr id="10" name="Rectangle 9"/>
          <p:cNvSpPr/>
          <p:nvPr/>
        </p:nvSpPr>
        <p:spPr>
          <a:xfrm>
            <a:off x="6400800" y="3017520"/>
            <a:ext cx="2157984" cy="13716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246120"/>
            <a:ext cx="1975104" cy="822960"/>
          </a:xfrm>
          <a:prstGeom prst="rect">
            <a:avLst/>
          </a:prstGeom>
          <a:noFill/>
        </p:spPr>
        <p:txBody>
          <a:bodyPr wrap="square" anchor="t" lIns="0" rIns="0" tIns="0" bIns="0">
            <a:spAutoFit/>
          </a:bodyPr>
          <a:lstStyle/>
          <a:p>
            <a:pPr algn="ctr">
              <a:lnSpc>
                <a:spcPct val="120000"/>
              </a:lnSpc>
            </a:pPr>
            <a:r>
              <a:rPr sz="900" b="0">
                <a:solidFill>
                  <a:srgbClr val="000000"/>
                </a:solidFill>
                <a:latin typeface="Source Code Pro"/>
              </a:rPr>
              <a:t>[ aily-blockly blocks view — screenshot at rehearsal ]</a:t>
            </a:r>
          </a:p>
        </p:txBody>
      </p:sp>
      <p:sp>
        <p:nvSpPr>
          <p:cNvPr id="12" name="TextBox 11"/>
          <p:cNvSpPr txBox="1"/>
          <p:nvPr/>
        </p:nvSpPr>
        <p:spPr>
          <a:xfrm>
            <a:off x="6400800" y="4462272"/>
            <a:ext cx="2157984" cy="182880"/>
          </a:xfrm>
          <a:prstGeom prst="rect">
            <a:avLst/>
          </a:prstGeom>
          <a:noFill/>
        </p:spPr>
        <p:txBody>
          <a:bodyPr wrap="square" anchor="t" lIns="0" rIns="0" tIns="0" bIns="0">
            <a:spAutoFit/>
          </a:bodyPr>
          <a:lstStyle/>
          <a:p>
            <a:pPr algn="ctr">
              <a:lnSpc>
                <a:spcPct val="100000"/>
              </a:lnSpc>
            </a:pPr>
            <a:r>
              <a:rPr sz="950" b="0">
                <a:solidFill>
                  <a:srgbClr val="000000"/>
                </a:solidFill>
                <a:latin typeface="Source Han Sans SC"/>
              </a:rPr>
              <a:t>the new house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Today We Don't Create. Today We Move.</a:t>
            </a:r>
          </a:p>
        </p:txBody>
      </p:sp>
      <p:sp>
        <p:nvSpPr>
          <p:cNvPr id="6" name="Rectangle 5"/>
          <p:cNvSpPr/>
          <p:nvPr/>
        </p:nvSpPr>
        <p:spPr>
          <a:xfrm>
            <a:off x="566928" y="1188720"/>
            <a:ext cx="3657600" cy="1417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298448"/>
            <a:ext cx="3364992" cy="1207008"/>
          </a:xfrm>
          <a:prstGeom prst="rect">
            <a:avLst/>
          </a:prstGeom>
          <a:noFill/>
        </p:spPr>
        <p:txBody>
          <a:bodyPr wrap="square" anchor="t" lIns="0" rIns="0" tIns="0" bIns="0">
            <a:spAutoFit/>
          </a:bodyPr>
          <a:lstStyle/>
          <a:p>
            <a:pPr algn="l">
              <a:lnSpc>
                <a:spcPct val="125000"/>
              </a:lnSpc>
            </a:pPr>
            <a:r>
              <a:rPr sz="1400" b="1">
                <a:solidFill>
                  <a:srgbClr val="000000"/>
                </a:solidFill>
                <a:latin typeface="Source Han Sans SC"/>
              </a:rPr>
              <a:t>OLD</a:t>
            </a:r>
          </a:p>
          <a:p>
            <a:pPr algn="l">
              <a:lnSpc>
                <a:spcPct val="125000"/>
              </a:lnSpc>
            </a:pPr>
            <a:r>
              <a:rPr sz="1150" b="0">
                <a:solidFill>
                  <a:srgbClr val="000000"/>
                </a:solidFill>
                <a:latin typeface="Source Han Sans SC"/>
              </a:rPr>
              <a:t>lived on someone else's server; close the browser, it's gone</a:t>
            </a:r>
          </a:p>
        </p:txBody>
      </p:sp>
      <p:sp>
        <p:nvSpPr>
          <p:cNvPr id="8" name="TextBox 7"/>
          <p:cNvSpPr txBox="1"/>
          <p:nvPr/>
        </p:nvSpPr>
        <p:spPr>
          <a:xfrm>
            <a:off x="4279392" y="1691640"/>
            <a:ext cx="640080" cy="457200"/>
          </a:xfrm>
          <a:prstGeom prst="rect">
            <a:avLst/>
          </a:prstGeom>
          <a:noFill/>
        </p:spPr>
        <p:txBody>
          <a:bodyPr wrap="square" anchor="t" lIns="0" rIns="0" tIns="0" bIns="0">
            <a:spAutoFit/>
          </a:bodyPr>
          <a:lstStyle/>
          <a:p>
            <a:pPr algn="ctr">
              <a:lnSpc>
                <a:spcPct val="100000"/>
              </a:lnSpc>
            </a:pPr>
            <a:r>
              <a:rPr sz="2800" b="1">
                <a:solidFill>
                  <a:srgbClr val="F3D230"/>
                </a:solidFill>
                <a:latin typeface="Source Han Sans SC"/>
              </a:rPr>
              <a:t>→</a:t>
            </a:r>
          </a:p>
        </p:txBody>
      </p:sp>
      <p:sp>
        <p:nvSpPr>
          <p:cNvPr id="9" name="Rectangle 8"/>
          <p:cNvSpPr/>
          <p:nvPr/>
        </p:nvSpPr>
        <p:spPr>
          <a:xfrm>
            <a:off x="4974336" y="1188720"/>
            <a:ext cx="3657600" cy="1417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298448"/>
            <a:ext cx="3364992" cy="1207008"/>
          </a:xfrm>
          <a:prstGeom prst="rect">
            <a:avLst/>
          </a:prstGeom>
          <a:noFill/>
        </p:spPr>
        <p:txBody>
          <a:bodyPr wrap="square" anchor="t" lIns="0" rIns="0" tIns="0" bIns="0">
            <a:spAutoFit/>
          </a:bodyPr>
          <a:lstStyle/>
          <a:p>
            <a:pPr algn="l">
              <a:lnSpc>
                <a:spcPct val="125000"/>
              </a:lnSpc>
            </a:pPr>
            <a:r>
              <a:rPr sz="1400" b="1">
                <a:solidFill>
                  <a:srgbClr val="000000"/>
                </a:solidFill>
                <a:latin typeface="Source Han Sans SC"/>
              </a:rPr>
              <a:t>NEW</a:t>
            </a:r>
          </a:p>
          <a:p>
            <a:pPr algn="l">
              <a:lnSpc>
                <a:spcPct val="125000"/>
              </a:lnSpc>
            </a:pPr>
            <a:r>
              <a:rPr sz="1150" b="0">
                <a:solidFill>
                  <a:srgbClr val="000000"/>
                </a:solidFill>
                <a:latin typeface="Source Han Sans SC"/>
              </a:rPr>
              <a:t>lives in MY computer — unplug the internet, it's there; shut down the website, it's there; ten years later, it's still there</a:t>
            </a:r>
          </a:p>
        </p:txBody>
      </p:sp>
      <p:sp>
        <p:nvSpPr>
          <p:cNvPr id="11" name="Rectangle 10"/>
          <p:cNvSpPr/>
          <p:nvPr/>
        </p:nvSpPr>
        <p:spPr>
          <a:xfrm>
            <a:off x="566928" y="2834640"/>
            <a:ext cx="54864" cy="4018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852928"/>
            <a:ext cx="7808975" cy="365252"/>
          </a:xfrm>
          <a:prstGeom prst="rect">
            <a:avLst/>
          </a:prstGeom>
          <a:noFill/>
        </p:spPr>
        <p:txBody>
          <a:bodyPr wrap="square" anchor="t" lIns="0" rIns="0" tIns="0" bIns="0">
            <a:spAutoFit/>
          </a:bodyPr>
          <a:lstStyle/>
          <a:p>
            <a:pPr algn="l">
              <a:lnSpc>
                <a:spcPct val="115000"/>
              </a:lnSpc>
            </a:pPr>
            <a:r>
              <a:rPr sz="1600" b="0">
                <a:solidFill>
                  <a:srgbClr val="000000"/>
                </a:solidFill>
                <a:latin typeface="Source Han Sans SC"/>
              </a:rPr>
              <a:t>Moving isn't a step back — it's buying the house.</a:t>
            </a:r>
          </a:p>
        </p:txBody>
      </p:sp>
      <p:sp>
        <p:nvSpPr>
          <p:cNvPr id="13" name="TextBox 12"/>
          <p:cNvSpPr txBox="1"/>
          <p:nvPr/>
        </p:nvSpPr>
        <p:spPr>
          <a:xfrm>
            <a:off x="566928" y="3493008"/>
            <a:ext cx="8010144" cy="21945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TODAY'S FIVE STEPS</a:t>
            </a:r>
          </a:p>
        </p:txBody>
      </p:sp>
      <p:sp>
        <p:nvSpPr>
          <p:cNvPr id="14" name="Rectangle 13"/>
          <p:cNvSpPr/>
          <p:nvPr/>
        </p:nvSpPr>
        <p:spPr>
          <a:xfrm>
            <a:off x="566928" y="3767328"/>
            <a:ext cx="1517904"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67328"/>
            <a:ext cx="1371600" cy="868680"/>
          </a:xfrm>
          <a:prstGeom prst="rect">
            <a:avLst/>
          </a:prstGeom>
          <a:noFill/>
        </p:spPr>
        <p:txBody>
          <a:bodyPr wrap="square" anchor="ctr" lIns="0" rIns="0" tIns="0" bIns="0">
            <a:spAutoFit/>
          </a:bodyPr>
          <a:lstStyle/>
          <a:p>
            <a:pPr algn="ctr">
              <a:lnSpc>
                <a:spcPct val="115000"/>
              </a:lnSpc>
            </a:pPr>
            <a:r>
              <a:rPr sz="950" b="0">
                <a:solidFill>
                  <a:srgbClr val="000000"/>
                </a:solidFill>
                <a:latin typeface="Source Han Sans SC"/>
              </a:rPr>
              <a:t>checkpoint</a:t>
            </a:r>
          </a:p>
        </p:txBody>
      </p:sp>
      <p:sp>
        <p:nvSpPr>
          <p:cNvPr id="16" name="Rectangle 15"/>
          <p:cNvSpPr/>
          <p:nvPr/>
        </p:nvSpPr>
        <p:spPr>
          <a:xfrm>
            <a:off x="2185416" y="3767328"/>
            <a:ext cx="1517904"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58568" y="3767328"/>
            <a:ext cx="1371600" cy="868680"/>
          </a:xfrm>
          <a:prstGeom prst="rect">
            <a:avLst/>
          </a:prstGeom>
          <a:noFill/>
        </p:spPr>
        <p:txBody>
          <a:bodyPr wrap="square" anchor="ctr" lIns="0" rIns="0" tIns="0" bIns="0">
            <a:spAutoFit/>
          </a:bodyPr>
          <a:lstStyle/>
          <a:p>
            <a:pPr algn="ctr">
              <a:lnSpc>
                <a:spcPct val="115000"/>
              </a:lnSpc>
            </a:pPr>
            <a:r>
              <a:rPr sz="950" b="0">
                <a:solidFill>
                  <a:srgbClr val="000000"/>
                </a:solidFill>
                <a:latin typeface="Source Han Sans SC"/>
              </a:rPr>
              <a:t>tour the new home</a:t>
            </a:r>
          </a:p>
        </p:txBody>
      </p:sp>
      <p:sp>
        <p:nvSpPr>
          <p:cNvPr id="18" name="Rectangle 17"/>
          <p:cNvSpPr/>
          <p:nvPr/>
        </p:nvSpPr>
        <p:spPr>
          <a:xfrm>
            <a:off x="3803904" y="3767328"/>
            <a:ext cx="1517904"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77056" y="3767328"/>
            <a:ext cx="1371600" cy="868680"/>
          </a:xfrm>
          <a:prstGeom prst="rect">
            <a:avLst/>
          </a:prstGeom>
          <a:noFill/>
        </p:spPr>
        <p:txBody>
          <a:bodyPr wrap="square" anchor="ctr" lIns="0" rIns="0" tIns="0" bIns="0">
            <a:spAutoFit/>
          </a:bodyPr>
          <a:lstStyle/>
          <a:p>
            <a:pPr algn="ctr">
              <a:lnSpc>
                <a:spcPct val="115000"/>
              </a:lnSpc>
            </a:pPr>
            <a:r>
              <a:rPr sz="950" b="0">
                <a:solidFill>
                  <a:srgbClr val="000000"/>
                </a:solidFill>
                <a:latin typeface="Source Han Sans SC"/>
              </a:rPr>
              <a:t>unpack the old project</a:t>
            </a:r>
          </a:p>
        </p:txBody>
      </p:sp>
      <p:sp>
        <p:nvSpPr>
          <p:cNvPr id="20" name="Rectangle 19"/>
          <p:cNvSpPr/>
          <p:nvPr/>
        </p:nvSpPr>
        <p:spPr>
          <a:xfrm>
            <a:off x="5422392" y="3767328"/>
            <a:ext cx="1517904"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95544" y="3767328"/>
            <a:ext cx="1371600" cy="868680"/>
          </a:xfrm>
          <a:prstGeom prst="rect">
            <a:avLst/>
          </a:prstGeom>
          <a:noFill/>
        </p:spPr>
        <p:txBody>
          <a:bodyPr wrap="square" anchor="ctr" lIns="0" rIns="0" tIns="0" bIns="0">
            <a:spAutoFit/>
          </a:bodyPr>
          <a:lstStyle/>
          <a:p>
            <a:pPr algn="ctr">
              <a:lnSpc>
                <a:spcPct val="115000"/>
              </a:lnSpc>
            </a:pPr>
            <a:r>
              <a:rPr sz="950" b="0">
                <a:solidFill>
                  <a:srgbClr val="000000"/>
                </a:solidFill>
                <a:latin typeface="Source Han Sans SC"/>
              </a:rPr>
              <a:t>lift the floor</a:t>
            </a:r>
          </a:p>
        </p:txBody>
      </p:sp>
      <p:sp>
        <p:nvSpPr>
          <p:cNvPr id="22" name="Rectangle 21"/>
          <p:cNvSpPr/>
          <p:nvPr/>
        </p:nvSpPr>
        <p:spPr>
          <a:xfrm>
            <a:off x="7040880" y="3767328"/>
            <a:ext cx="1517904" cy="868680"/>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2" y="3767328"/>
            <a:ext cx="1371600" cy="868680"/>
          </a:xfrm>
          <a:prstGeom prst="rect">
            <a:avLst/>
          </a:prstGeom>
          <a:noFill/>
        </p:spPr>
        <p:txBody>
          <a:bodyPr wrap="square" anchor="ctr" lIns="0" rIns="0" tIns="0" bIns="0">
            <a:spAutoFit/>
          </a:bodyPr>
          <a:lstStyle/>
          <a:p>
            <a:pPr algn="ctr">
              <a:lnSpc>
                <a:spcPct val="115000"/>
              </a:lnSpc>
            </a:pPr>
            <a:r>
              <a:rPr sz="950" b="0">
                <a:solidFill>
                  <a:srgbClr val="000000"/>
                </a:solidFill>
                <a:latin typeface="Source Han Sans SC"/>
              </a:rPr>
              <a:t>build something new with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Install Checkpoint — Three Checks</a:t>
            </a:r>
          </a:p>
        </p:txBody>
      </p:sp>
      <p:sp>
        <p:nvSpPr>
          <p:cNvPr id="6" name="Rectangle 5"/>
          <p:cNvSpPr/>
          <p:nvPr/>
        </p:nvSpPr>
        <p:spPr>
          <a:xfrm>
            <a:off x="566928" y="1143000"/>
            <a:ext cx="8010144" cy="11887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307592"/>
            <a:ext cx="201168"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0432" y="1261872"/>
            <a:ext cx="7150607" cy="292608"/>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It's installed</a:t>
            </a:r>
          </a:p>
        </p:txBody>
      </p:sp>
      <p:sp>
        <p:nvSpPr>
          <p:cNvPr id="9" name="Rectangle 8"/>
          <p:cNvSpPr/>
          <p:nvPr/>
        </p:nvSpPr>
        <p:spPr>
          <a:xfrm>
            <a:off x="822960" y="1655063"/>
            <a:ext cx="201168"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609343"/>
            <a:ext cx="7150607" cy="292608"/>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It opens</a:t>
            </a:r>
          </a:p>
        </p:txBody>
      </p:sp>
      <p:sp>
        <p:nvSpPr>
          <p:cNvPr id="11" name="Rectangle 10"/>
          <p:cNvSpPr/>
          <p:nvPr/>
        </p:nvSpPr>
        <p:spPr>
          <a:xfrm>
            <a:off x="822960" y="2002535"/>
            <a:ext cx="201168" cy="2011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0432" y="1956815"/>
            <a:ext cx="7150607" cy="292608"/>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I can reach the main screen</a:t>
            </a:r>
          </a:p>
        </p:txBody>
      </p:sp>
      <p:sp>
        <p:nvSpPr>
          <p:cNvPr id="13" name="Rectangle 12"/>
          <p:cNvSpPr/>
          <p:nvPr/>
        </p:nvSpPr>
        <p:spPr>
          <a:xfrm>
            <a:off x="566928" y="2514600"/>
            <a:ext cx="8010144" cy="9601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624328"/>
            <a:ext cx="7680960" cy="74066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Not done? Share one computer with your neighbor — you're the COMMANDER: you say what to do, they press the buttons.</a:t>
            </a:r>
          </a:p>
          <a:p>
            <a:pPr algn="l">
              <a:lnSpc>
                <a:spcPct val="125000"/>
              </a:lnSpc>
            </a:pPr>
            <a:r>
              <a:rPr sz="1250" b="0">
                <a:solidFill>
                  <a:srgbClr val="000000"/>
                </a:solidFill>
                <a:latin typeface="Source Han Sans SC"/>
              </a:rPr>
              <a:t>Give your name to a TA — we'll get you set up within 10 minutes after class.</a:t>
            </a:r>
          </a:p>
        </p:txBody>
      </p:sp>
      <p:sp>
        <p:nvSpPr>
          <p:cNvPr id="15" name="Rectangle 14"/>
          <p:cNvSpPr/>
          <p:nvPr/>
        </p:nvSpPr>
        <p:spPr>
          <a:xfrm>
            <a:off x="566928" y="3703320"/>
            <a:ext cx="64008" cy="77724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3794760"/>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749039"/>
            <a:ext cx="7552944" cy="292608"/>
          </a:xfrm>
          <a:prstGeom prst="rect">
            <a:avLst/>
          </a:prstGeom>
          <a:noFill/>
        </p:spPr>
        <p:txBody>
          <a:bodyPr wrap="square" anchor="t" lIns="0" rIns="0" tIns="0" bIns="0">
            <a:spAutoFit/>
          </a:bodyPr>
          <a:lstStyle/>
          <a:p>
            <a:pPr algn="l">
              <a:lnSpc>
                <a:spcPct val="100000"/>
              </a:lnSpc>
            </a:pPr>
            <a:r>
              <a:rPr sz="1500" b="1">
                <a:solidFill>
                  <a:srgbClr val="D84144"/>
                </a:solidFill>
                <a:latin typeface="Source Han Sans SC"/>
              </a:rPr>
              <a:t>THE CHECKPOINT CLOSES AT 14:18 — NOT INSTALLED? PAIR UP ON THE SPOT.</a:t>
            </a:r>
          </a:p>
        </p:txBody>
      </p:sp>
      <p:sp>
        <p:nvSpPr>
          <p:cNvPr id="18" name="TextBox 17"/>
          <p:cNvSpPr txBox="1"/>
          <p:nvPr/>
        </p:nvSpPr>
        <p:spPr>
          <a:xfrm>
            <a:off x="1024128" y="4096512"/>
            <a:ext cx="7552944" cy="256032"/>
          </a:xfrm>
          <a:prstGeom prst="rect">
            <a:avLst/>
          </a:prstGeom>
          <a:noFill/>
        </p:spPr>
        <p:txBody>
          <a:bodyPr wrap="square" anchor="t" lIns="0" rIns="0" tIns="0" bIns="0">
            <a:spAutoFit/>
          </a:bodyPr>
          <a:lstStyle/>
          <a:p>
            <a:pPr algn="l">
              <a:lnSpc>
                <a:spcPct val="100000"/>
              </a:lnSpc>
            </a:pPr>
            <a:r>
              <a:rPr sz="1500" b="1">
                <a:solidFill>
                  <a:srgbClr val="D84144"/>
                </a:solidFill>
                <a:latin typeface="Source Han Sans SC"/>
              </a:rPr>
              <a:t>NO INSTALLING IN CLASS.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Your New Tool Is Called aily-blockly</a:t>
            </a:r>
          </a:p>
        </p:txBody>
      </p:sp>
      <p:sp>
        <p:nvSpPr>
          <p:cNvPr id="6" name="TextBox 5"/>
          <p:cNvSpPr txBox="1"/>
          <p:nvPr/>
        </p:nvSpPr>
        <p:spPr>
          <a:xfrm>
            <a:off x="566928" y="1005840"/>
            <a:ext cx="8010144"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A hardware dev environment that lives on your computer — open source and free (GPL),</a:t>
            </a:r>
          </a:p>
        </p:txBody>
      </p:sp>
      <p:sp>
        <p:nvSpPr>
          <p:cNvPr id="7" name="TextBox 6"/>
          <p:cNvSpPr txBox="1"/>
          <p:nvPr/>
        </p:nvSpPr>
        <p:spPr>
          <a:xfrm>
            <a:off x="566928" y="1298448"/>
            <a:ext cx="8010144"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Code Pro"/>
              </a:rPr>
              <a:t>by the aily Project · the site is yiyu.pro</a:t>
            </a:r>
          </a:p>
        </p:txBody>
      </p:sp>
      <p:sp>
        <p:nvSpPr>
          <p:cNvPr id="8" name="Rectangle 7"/>
          <p:cNvSpPr/>
          <p:nvPr/>
        </p:nvSpPr>
        <p:spPr>
          <a:xfrm>
            <a:off x="566928" y="1737360"/>
            <a:ext cx="2596896" cy="1920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47088"/>
            <a:ext cx="2322576"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UNIVERSAL</a:t>
            </a:r>
          </a:p>
        </p:txBody>
      </p:sp>
      <p:sp>
        <p:nvSpPr>
          <p:cNvPr id="10" name="TextBox 9"/>
          <p:cNvSpPr txBox="1"/>
          <p:nvPr/>
        </p:nvSpPr>
        <p:spPr>
          <a:xfrm>
            <a:off x="704088" y="2139696"/>
            <a:ext cx="2322576" cy="141732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not some one-board companion app; 100+ development boards fit here, and your future boards will too</a:t>
            </a:r>
          </a:p>
        </p:txBody>
      </p:sp>
      <p:sp>
        <p:nvSpPr>
          <p:cNvPr id="11" name="Rectangle 10"/>
          <p:cNvSpPr/>
          <p:nvPr/>
        </p:nvSpPr>
        <p:spPr>
          <a:xfrm>
            <a:off x="3273552" y="1737360"/>
            <a:ext cx="2596896" cy="1920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0712" y="1847088"/>
            <a:ext cx="2322576"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AI-NATIVE</a:t>
            </a:r>
          </a:p>
        </p:txBody>
      </p:sp>
      <p:sp>
        <p:nvSpPr>
          <p:cNvPr id="13" name="TextBox 12"/>
          <p:cNvSpPr txBox="1"/>
          <p:nvPr/>
        </p:nvSpPr>
        <p:spPr>
          <a:xfrm>
            <a:off x="3410712" y="2139696"/>
            <a:ext cx="2322576" cy="141732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say what you need, get a wiring diagram, get code, get errors fixed — AI is there the whole way</a:t>
            </a:r>
          </a:p>
        </p:txBody>
      </p:sp>
      <p:sp>
        <p:nvSpPr>
          <p:cNvPr id="14" name="Rectangle 13"/>
          <p:cNvSpPr/>
          <p:nvPr/>
        </p:nvSpPr>
        <p:spPr>
          <a:xfrm>
            <a:off x="5980176" y="1737360"/>
            <a:ext cx="2596896" cy="1920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17336" y="1847088"/>
            <a:ext cx="2322576"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MADE FOR BEGINNERS</a:t>
            </a:r>
          </a:p>
        </p:txBody>
      </p:sp>
      <p:sp>
        <p:nvSpPr>
          <p:cNvPr id="16" name="TextBox 15"/>
          <p:cNvSpPr txBox="1"/>
          <p:nvPr/>
        </p:nvSpPr>
        <p:spPr>
          <a:xfrm>
            <a:off x="6117336" y="2139696"/>
            <a:ext cx="2322576" cy="141732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the official goal in one line: break the line between professional and amateur — let anyone make hardware with plain language</a:t>
            </a:r>
          </a:p>
        </p:txBody>
      </p:sp>
      <p:sp>
        <p:nvSpPr>
          <p:cNvPr id="17" name="Rectangle 16"/>
          <p:cNvSpPr/>
          <p:nvPr/>
        </p:nvSpPr>
        <p:spPr>
          <a:xfrm>
            <a:off x="566928" y="3858768"/>
            <a:ext cx="8010144" cy="5486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68496"/>
            <a:ext cx="7680960" cy="329184"/>
          </a:xfrm>
          <a:prstGeom prst="rect">
            <a:avLst/>
          </a:prstGeom>
          <a:noFill/>
        </p:spPr>
        <p:txBody>
          <a:bodyPr wrap="square" anchor="t" lIns="0" rIns="0" tIns="0" bIns="0">
            <a:spAutoFit/>
          </a:bodyPr>
          <a:lstStyle/>
          <a:p>
            <a:pPr algn="l">
              <a:lnSpc>
                <a:spcPct val="125000"/>
              </a:lnSpc>
            </a:pPr>
            <a:r>
              <a:rPr sz="1350" b="0">
                <a:solidFill>
                  <a:srgbClr val="000000"/>
                </a:solidFill>
                <a:latin typeface="Source Han Sans SC"/>
              </a:rPr>
              <a:t>The old home got you daring quickly; the new home gets you finishing properly.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Look at the Real Thing — Pick Your Board</a:t>
            </a:r>
          </a:p>
        </p:txBody>
      </p:sp>
      <p:pic>
        <p:nvPicPr>
          <p:cNvPr id="6" name="Picture 5" descr="screenshot-20260803-154849.png"/>
          <p:cNvPicPr>
            <a:picLocks noChangeAspect="1"/>
          </p:cNvPicPr>
          <p:nvPr/>
        </p:nvPicPr>
        <p:blipFill>
          <a:blip r:embed="rId2"/>
          <a:stretch>
            <a:fillRect/>
          </a:stretch>
        </p:blipFill>
        <p:spPr>
          <a:xfrm>
            <a:off x="2011680" y="1005840"/>
            <a:ext cx="5120640" cy="2944368"/>
          </a:xfrm>
          <a:prstGeom prst="rect">
            <a:avLst/>
          </a:prstGeom>
        </p:spPr>
      </p:pic>
      <p:sp>
        <p:nvSpPr>
          <p:cNvPr id="7" name="Rectangle 6"/>
          <p:cNvSpPr/>
          <p:nvPr/>
        </p:nvSpPr>
        <p:spPr>
          <a:xfrm>
            <a:off x="566928" y="4096512"/>
            <a:ext cx="8010144" cy="62179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206240"/>
            <a:ext cx="7680960" cy="402336"/>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Grove Beginner Kit is in there — and so is Wio Terminal. That's what "universal" means.</a:t>
            </a:r>
          </a:p>
          <a:p>
            <a:pPr algn="l">
              <a:lnSpc>
                <a:spcPct val="125000"/>
              </a:lnSpc>
            </a:pPr>
            <a:r>
              <a:rPr sz="1200" b="0">
                <a:solidFill>
                  <a:srgbClr val="000000"/>
                </a:solidFill>
                <a:latin typeface="Source Han Sans SC"/>
              </a:rPr>
              <a:t>Whatever board you use next, it's got a place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Build Your First Empty House — Four Steps</a:t>
            </a:r>
          </a:p>
        </p:txBody>
      </p:sp>
      <p:sp>
        <p:nvSpPr>
          <p:cNvPr id="6" name="Rectangle 5"/>
          <p:cNvSpPr/>
          <p:nvPr/>
        </p:nvSpPr>
        <p:spPr>
          <a:xfrm>
            <a:off x="566928" y="123444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27101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097280" y="1252728"/>
            <a:ext cx="4846320" cy="292608"/>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NEW PROJECT</a:t>
            </a:r>
          </a:p>
        </p:txBody>
      </p:sp>
      <p:sp>
        <p:nvSpPr>
          <p:cNvPr id="9" name="Rectangle 8"/>
          <p:cNvSpPr/>
          <p:nvPr/>
        </p:nvSpPr>
        <p:spPr>
          <a:xfrm>
            <a:off x="566928" y="1764792"/>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01368"/>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097280" y="1783080"/>
            <a:ext cx="4846320" cy="292608"/>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PICK THE BOARD — today: WIO TERMINAL</a:t>
            </a:r>
          </a:p>
        </p:txBody>
      </p:sp>
      <p:sp>
        <p:nvSpPr>
          <p:cNvPr id="12" name="Rectangle 11"/>
          <p:cNvSpPr/>
          <p:nvPr/>
        </p:nvSpPr>
        <p:spPr>
          <a:xfrm>
            <a:off x="566928" y="2295144"/>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331720"/>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1097280" y="2313432"/>
            <a:ext cx="4846320" cy="2743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NAME IT — use English</a:t>
            </a:r>
          </a:p>
        </p:txBody>
      </p:sp>
      <p:sp>
        <p:nvSpPr>
          <p:cNvPr id="15" name="TextBox 14"/>
          <p:cNvSpPr txBox="1"/>
          <p:nvPr/>
        </p:nvSpPr>
        <p:spPr>
          <a:xfrm>
            <a:off x="1097280" y="2587752"/>
            <a:ext cx="4846320" cy="219456"/>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point the save path at your projects folder</a:t>
            </a:r>
          </a:p>
        </p:txBody>
      </p:sp>
      <p:sp>
        <p:nvSpPr>
          <p:cNvPr id="16" name="Rectangle 15"/>
          <p:cNvSpPr/>
          <p:nvPr/>
        </p:nvSpPr>
        <p:spPr>
          <a:xfrm>
            <a:off x="566928" y="2825496"/>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862072"/>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18" name="TextBox 17"/>
          <p:cNvSpPr txBox="1"/>
          <p:nvPr/>
        </p:nvSpPr>
        <p:spPr>
          <a:xfrm>
            <a:off x="1097280" y="2843784"/>
            <a:ext cx="4846320" cy="292608"/>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CREATE</a:t>
            </a:r>
          </a:p>
        </p:txBody>
      </p:sp>
      <p:sp>
        <p:nvSpPr>
          <p:cNvPr id="19" name="Rectangle 18"/>
          <p:cNvSpPr/>
          <p:nvPr/>
        </p:nvSpPr>
        <p:spPr>
          <a:xfrm>
            <a:off x="6126480" y="1234440"/>
            <a:ext cx="2450592" cy="19202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417320"/>
            <a:ext cx="2176272" cy="1554480"/>
          </a:xfrm>
          <a:prstGeom prst="rect">
            <a:avLst/>
          </a:prstGeom>
          <a:noFill/>
        </p:spPr>
        <p:txBody>
          <a:bodyPr wrap="square" anchor="t" lIns="0" rIns="0" tIns="0" bIns="0">
            <a:spAutoFit/>
          </a:bodyPr>
          <a:lstStyle/>
          <a:p>
            <a:pPr algn="ctr">
              <a:lnSpc>
                <a:spcPct val="130000"/>
              </a:lnSpc>
            </a:pPr>
            <a:r>
              <a:rPr sz="950" b="0">
                <a:solidFill>
                  <a:srgbClr val="000000"/>
                </a:solidFill>
                <a:latin typeface="Source Code Pro"/>
              </a:rPr>
              <a:t>[ four-step screenshots — captured on the teacher machine at rehearsal, English UI ]</a:t>
            </a:r>
          </a:p>
        </p:txBody>
      </p:sp>
      <p:sp>
        <p:nvSpPr>
          <p:cNvPr id="21" name="Rectangle 20"/>
          <p:cNvSpPr/>
          <p:nvPr/>
        </p:nvSpPr>
        <p:spPr>
          <a:xfrm>
            <a:off x="566928" y="3520440"/>
            <a:ext cx="8010144" cy="5943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630168"/>
            <a:ext cx="7680960" cy="374904"/>
          </a:xfrm>
          <a:prstGeom prst="rect">
            <a:avLst/>
          </a:prstGeom>
          <a:noFill/>
        </p:spPr>
        <p:txBody>
          <a:bodyPr wrap="square" anchor="t" lIns="0" rIns="0" tIns="0" bIns="0">
            <a:spAutoFit/>
          </a:bodyPr>
          <a:lstStyle/>
          <a:p>
            <a:pPr algn="l">
              <a:lnSpc>
                <a:spcPct val="125000"/>
              </a:lnSpc>
            </a:pPr>
            <a:r>
              <a:rPr sz="1350" b="0">
                <a:solidFill>
                  <a:srgbClr val="000000"/>
                </a:solidFill>
                <a:latin typeface="Source Han Sans SC"/>
              </a:rPr>
              <a:t>You're in the blocks screen — and the folder already has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Tour the New House — Three Rooms</a:t>
            </a:r>
          </a:p>
        </p:txBody>
      </p:sp>
      <p:sp>
        <p:nvSpPr>
          <p:cNvPr id="6" name="Rectangle 5"/>
          <p:cNvSpPr/>
          <p:nvPr/>
        </p:nvSpPr>
        <p:spPr>
          <a:xfrm>
            <a:off x="566928" y="1188720"/>
            <a:ext cx="2596896" cy="15544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16736"/>
            <a:ext cx="2322576" cy="457200"/>
          </a:xfrm>
          <a:prstGeom prst="rect">
            <a:avLst/>
          </a:prstGeom>
          <a:noFill/>
        </p:spPr>
        <p:txBody>
          <a:bodyPr wrap="square" anchor="t" lIns="0" rIns="0" tIns="0" bIns="0">
            <a:spAutoFit/>
          </a:bodyPr>
          <a:lstStyle/>
          <a:p>
            <a:pPr algn="l">
              <a:lnSpc>
                <a:spcPct val="110000"/>
              </a:lnSpc>
            </a:pPr>
            <a:r>
              <a:rPr sz="1150" b="1">
                <a:solidFill>
                  <a:srgbClr val="000000"/>
                </a:solidFill>
                <a:latin typeface="Source Han Sans SC"/>
              </a:rPr>
              <a:t>YOUR PROJECTS' HOME</a:t>
            </a:r>
          </a:p>
        </p:txBody>
      </p:sp>
      <p:sp>
        <p:nvSpPr>
          <p:cNvPr id="8" name="TextBox 7"/>
          <p:cNvSpPr txBox="1"/>
          <p:nvPr/>
        </p:nvSpPr>
        <p:spPr>
          <a:xfrm>
            <a:off x="704088" y="1847088"/>
            <a:ext cx="2322576" cy="82296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this folder IS your project: copy it out and it's portable, send it and it's shared</a:t>
            </a:r>
          </a:p>
        </p:txBody>
      </p:sp>
      <p:sp>
        <p:nvSpPr>
          <p:cNvPr id="9" name="Rectangle 8"/>
          <p:cNvSpPr/>
          <p:nvPr/>
        </p:nvSpPr>
        <p:spPr>
          <a:xfrm>
            <a:off x="3273552" y="1188720"/>
            <a:ext cx="2596896" cy="15544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316736"/>
            <a:ext cx="2322576" cy="457200"/>
          </a:xfrm>
          <a:prstGeom prst="rect">
            <a:avLst/>
          </a:prstGeom>
          <a:noFill/>
        </p:spPr>
        <p:txBody>
          <a:bodyPr wrap="square" anchor="t" lIns="0" rIns="0" tIns="0" bIns="0">
            <a:spAutoFit/>
          </a:bodyPr>
          <a:lstStyle/>
          <a:p>
            <a:pPr algn="l">
              <a:lnSpc>
                <a:spcPct val="110000"/>
              </a:lnSpc>
            </a:pPr>
            <a:r>
              <a:rPr sz="1150" b="1">
                <a:solidFill>
                  <a:srgbClr val="000000"/>
                </a:solidFill>
                <a:latin typeface="Source Han Sans SC"/>
              </a:rPr>
              <a:t>THE BLOCKS VIEW</a:t>
            </a:r>
          </a:p>
        </p:txBody>
      </p:sp>
      <p:sp>
        <p:nvSpPr>
          <p:cNvPr id="11" name="TextBox 10"/>
          <p:cNvSpPr txBox="1"/>
          <p:nvPr/>
        </p:nvSpPr>
        <p:spPr>
          <a:xfrm>
            <a:off x="3410712" y="1847088"/>
            <a:ext cx="2322576" cy="82296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drag and drop, the same graphical feel you already know</a:t>
            </a:r>
          </a:p>
        </p:txBody>
      </p:sp>
      <p:sp>
        <p:nvSpPr>
          <p:cNvPr id="12" name="Rectangle 11"/>
          <p:cNvSpPr/>
          <p:nvPr/>
        </p:nvSpPr>
        <p:spPr>
          <a:xfrm>
            <a:off x="5980176" y="1188720"/>
            <a:ext cx="2596896" cy="15544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17336" y="1316736"/>
            <a:ext cx="2322576" cy="457200"/>
          </a:xfrm>
          <a:prstGeom prst="rect">
            <a:avLst/>
          </a:prstGeom>
          <a:noFill/>
        </p:spPr>
        <p:txBody>
          <a:bodyPr wrap="square" anchor="t" lIns="0" rIns="0" tIns="0" bIns="0">
            <a:spAutoFit/>
          </a:bodyPr>
          <a:lstStyle/>
          <a:p>
            <a:pPr algn="l">
              <a:lnSpc>
                <a:spcPct val="110000"/>
              </a:lnSpc>
            </a:pPr>
            <a:r>
              <a:rPr sz="1150" b="1">
                <a:solidFill>
                  <a:srgbClr val="000000"/>
                </a:solidFill>
                <a:latin typeface="Source Han Sans SC"/>
              </a:rPr>
              <a:t>THE CODE VIEW</a:t>
            </a:r>
          </a:p>
        </p:txBody>
      </p:sp>
      <p:sp>
        <p:nvSpPr>
          <p:cNvPr id="14" name="TextBox 13"/>
          <p:cNvSpPr txBox="1"/>
          <p:nvPr/>
        </p:nvSpPr>
        <p:spPr>
          <a:xfrm>
            <a:off x="6117336" y="1847088"/>
            <a:ext cx="2322576" cy="82296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what AI has been writing for you; we lift that floor in a few minutes</a:t>
            </a:r>
          </a:p>
        </p:txBody>
      </p:sp>
      <p:sp>
        <p:nvSpPr>
          <p:cNvPr id="15" name="Rectangle 14"/>
          <p:cNvSpPr/>
          <p:nvPr/>
        </p:nvSpPr>
        <p:spPr>
          <a:xfrm>
            <a:off x="566928" y="2926080"/>
            <a:ext cx="8010144" cy="16459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35808"/>
            <a:ext cx="7680960" cy="1426464"/>
          </a:xfrm>
          <a:prstGeom prst="rect">
            <a:avLst/>
          </a:prstGeom>
          <a:noFill/>
        </p:spPr>
        <p:txBody>
          <a:bodyPr wrap="square" anchor="t" lIns="0" rIns="0" tIns="0" bIns="0">
            <a:spAutoFit/>
          </a:bodyPr>
          <a:lstStyle/>
          <a:p>
            <a:pPr algn="l">
              <a:lnSpc>
                <a:spcPct val="120000"/>
              </a:lnSpc>
            </a:pPr>
            <a:r>
              <a:rPr sz="1250" b="1">
                <a:solidFill>
                  <a:srgbClr val="000000"/>
                </a:solidFill>
                <a:latin typeface="Source Han Sans SC"/>
              </a:rPr>
              <a:t>Whatever buttons there are, remember two today</a:t>
            </a:r>
          </a:p>
          <a:p>
            <a:pPr algn="l">
              <a:lnSpc>
                <a:spcPct val="120000"/>
              </a:lnSpc>
            </a:pPr>
            <a:r>
              <a:rPr sz="1050" b="0">
                <a:solidFill>
                  <a:srgbClr val="000000"/>
                </a:solidFill>
                <a:latin typeface="Source Han Sans SC"/>
              </a:rPr>
              <a:t>1 · AI CODING — tell it what you need in plain language; it writes code and fixes errors (today runs on it)</a:t>
            </a:r>
          </a:p>
          <a:p>
            <a:pPr algn="l">
              <a:lnSpc>
                <a:spcPct val="120000"/>
              </a:lnSpc>
            </a:pPr>
            <a:r>
              <a:rPr sz="1050" b="0">
                <a:solidFill>
                  <a:srgbClr val="000000"/>
                </a:solidFill>
                <a:latin typeface="Source Han Sans SC"/>
              </a:rPr>
              <a:t>2 · FLASH — click, and the program goes into the board (know what the "upload" button looks like)</a:t>
            </a:r>
          </a:p>
          <a:p>
            <a:pPr algn="l">
              <a:lnSpc>
                <a:spcPct val="120000"/>
              </a:lnSpc>
            </a:pPr>
            <a:r>
              <a:rPr sz="1050" b="0">
                <a:solidFill>
                  <a:srgbClr val="000000"/>
                </a:solidFill>
                <a:latin typeface="Source Han Sans SC"/>
              </a:rPr>
              <a:t>Every other button — ask AI when you need it. It knows them better than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08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Unpack Your Most Precious Thing</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your very first project</a:t>
            </a:r>
          </a:p>
        </p:txBody>
      </p:sp>
      <p:sp>
        <p:nvSpPr>
          <p:cNvPr id="7" name="Rectangle 6"/>
          <p:cNvSpPr/>
          <p:nvPr/>
        </p:nvSpPr>
        <p:spPr>
          <a:xfrm>
            <a:off x="566928" y="1280160"/>
            <a:ext cx="8010144" cy="10515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7680960" cy="868680"/>
          </a:xfrm>
          <a:prstGeom prst="rect">
            <a:avLst/>
          </a:prstGeom>
          <a:noFill/>
        </p:spPr>
        <p:txBody>
          <a:bodyPr wrap="square" anchor="t" lIns="0" rIns="0" tIns="0" bIns="0">
            <a:spAutoFit/>
          </a:bodyPr>
          <a:lstStyle/>
          <a:p>
            <a:pPr algn="l">
              <a:lnSpc>
                <a:spcPct val="130000"/>
              </a:lnSpc>
            </a:pPr>
            <a:r>
              <a:rPr sz="1250" b="1">
                <a:solidFill>
                  <a:srgbClr val="000000"/>
                </a:solidFill>
                <a:latin typeface="Source Han Sans SC"/>
              </a:rPr>
              <a:t>Redo "show your name on screen" in the new tool.</a:t>
            </a:r>
          </a:p>
          <a:p>
            <a:pPr algn="l">
              <a:lnSpc>
                <a:spcPct val="130000"/>
              </a:lnSpc>
            </a:pPr>
            <a:r>
              <a:rPr sz="1250" b="0">
                <a:solidFill>
                  <a:srgbClr val="000000"/>
                </a:solidFill>
                <a:latin typeface="Source Han Sans SC"/>
              </a:rPr>
              <a:t>Lesson 1: how long did it take you? I bet you finish in HALF the time today.</a:t>
            </a:r>
          </a:p>
          <a:p>
            <a:pPr algn="l">
              <a:lnSpc>
                <a:spcPct val="130000"/>
              </a:lnSpc>
            </a:pPr>
            <a:r>
              <a:rPr sz="1250" b="0">
                <a:solidFill>
                  <a:srgbClr val="000000"/>
                </a:solidFill>
                <a:latin typeface="Source Han Sans SC"/>
              </a:rPr>
              <a:t>This isn't repetition — it's watching yourself grow in real time.</a:t>
            </a:r>
          </a:p>
        </p:txBody>
      </p:sp>
      <p:sp>
        <p:nvSpPr>
          <p:cNvPr id="9" name="Rectangle 8"/>
          <p:cNvSpPr/>
          <p:nvPr/>
        </p:nvSpPr>
        <p:spPr>
          <a:xfrm>
            <a:off x="566928" y="2487168"/>
            <a:ext cx="8010144" cy="5029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96896"/>
            <a:ext cx="7680960" cy="283464"/>
          </a:xfrm>
          <a:prstGeom prst="rect">
            <a:avLst/>
          </a:prstGeom>
          <a:noFill/>
        </p:spPr>
        <p:txBody>
          <a:bodyPr wrap="square" anchor="t" lIns="0" rIns="0" tIns="0" bIns="0">
            <a:spAutoFit/>
          </a:bodyPr>
          <a:lstStyle/>
          <a:p>
            <a:pPr algn="l">
              <a:lnSpc>
                <a:spcPct val="125000"/>
              </a:lnSpc>
            </a:pPr>
            <a:r>
              <a:rPr sz="1600" b="0">
                <a:solidFill>
                  <a:srgbClr val="000000"/>
                </a:solidFill>
                <a:latin typeface="Source Han Sans SC"/>
              </a:rPr>
              <a:t>Lesson 1: ___ min   →   today: ___ min</a:t>
            </a:r>
          </a:p>
        </p:txBody>
      </p:sp>
      <p:sp>
        <p:nvSpPr>
          <p:cNvPr id="11" name="TextBox 10"/>
          <p:cNvSpPr txBox="1"/>
          <p:nvPr/>
        </p:nvSpPr>
        <p:spPr>
          <a:xfrm>
            <a:off x="566928" y="3200400"/>
            <a:ext cx="8010144" cy="21945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THE OWNERSHIP RITUAL</a:t>
            </a:r>
          </a:p>
        </p:txBody>
      </p:sp>
      <p:sp>
        <p:nvSpPr>
          <p:cNvPr id="12" name="Rectangle 11"/>
          <p:cNvSpPr/>
          <p:nvPr/>
        </p:nvSpPr>
        <p:spPr>
          <a:xfrm>
            <a:off x="566928" y="3474720"/>
            <a:ext cx="2468880" cy="5486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474720"/>
            <a:ext cx="2468880" cy="548640"/>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SAVE</a:t>
            </a:r>
          </a:p>
        </p:txBody>
      </p:sp>
      <p:sp>
        <p:nvSpPr>
          <p:cNvPr id="14" name="TextBox 13"/>
          <p:cNvSpPr txBox="1"/>
          <p:nvPr/>
        </p:nvSpPr>
        <p:spPr>
          <a:xfrm>
            <a:off x="3035808" y="3474720"/>
            <a:ext cx="301752" cy="548640"/>
          </a:xfrm>
          <a:prstGeom prst="rect">
            <a:avLst/>
          </a:prstGeom>
          <a:noFill/>
        </p:spPr>
        <p:txBody>
          <a:bodyPr wrap="none" anchor="ctr" lIns="0" rIns="0" tIns="0" bIns="0">
            <a:spAutoFit/>
          </a:bodyPr>
          <a:lstStyle/>
          <a:p>
            <a:pPr algn="ctr">
              <a:lnSpc>
                <a:spcPct val="100000"/>
              </a:lnSpc>
            </a:pPr>
            <a:r>
              <a:rPr sz="1600" b="1">
                <a:solidFill>
                  <a:srgbClr val="F3D230"/>
                </a:solidFill>
                <a:latin typeface="Source Han Sans SC"/>
              </a:rPr>
              <a:t>→</a:t>
            </a:r>
          </a:p>
        </p:txBody>
      </p:sp>
      <p:sp>
        <p:nvSpPr>
          <p:cNvPr id="15" name="Rectangle 14"/>
          <p:cNvSpPr/>
          <p:nvPr/>
        </p:nvSpPr>
        <p:spPr>
          <a:xfrm>
            <a:off x="3337560" y="3474720"/>
            <a:ext cx="2468880" cy="5486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3474720"/>
            <a:ext cx="2468880" cy="548640"/>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OPEN THE FOLDER</a:t>
            </a:r>
          </a:p>
        </p:txBody>
      </p:sp>
      <p:sp>
        <p:nvSpPr>
          <p:cNvPr id="17" name="TextBox 16"/>
          <p:cNvSpPr txBox="1"/>
          <p:nvPr/>
        </p:nvSpPr>
        <p:spPr>
          <a:xfrm>
            <a:off x="5806440" y="3474720"/>
            <a:ext cx="301752" cy="548640"/>
          </a:xfrm>
          <a:prstGeom prst="rect">
            <a:avLst/>
          </a:prstGeom>
          <a:noFill/>
        </p:spPr>
        <p:txBody>
          <a:bodyPr wrap="none" anchor="ctr" lIns="0" rIns="0" tIns="0" bIns="0">
            <a:spAutoFit/>
          </a:bodyPr>
          <a:lstStyle/>
          <a:p>
            <a:pPr algn="ctr">
              <a:lnSpc>
                <a:spcPct val="100000"/>
              </a:lnSpc>
            </a:pPr>
            <a:r>
              <a:rPr sz="1600" b="1">
                <a:solidFill>
                  <a:srgbClr val="F3D230"/>
                </a:solidFill>
                <a:latin typeface="Source Han Sans SC"/>
              </a:rPr>
              <a:t>→</a:t>
            </a:r>
          </a:p>
        </p:txBody>
      </p:sp>
      <p:sp>
        <p:nvSpPr>
          <p:cNvPr id="18" name="Rectangle 17"/>
          <p:cNvSpPr/>
          <p:nvPr/>
        </p:nvSpPr>
        <p:spPr>
          <a:xfrm>
            <a:off x="6108192" y="3474720"/>
            <a:ext cx="2468880" cy="5486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08192" y="3474720"/>
            <a:ext cx="2468880" cy="548640"/>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SEE IT WITH YOUR OWN EYES</a:t>
            </a:r>
          </a:p>
        </p:txBody>
      </p:sp>
      <p:sp>
        <p:nvSpPr>
          <p:cNvPr id="20" name="TextBox 19"/>
          <p:cNvSpPr txBox="1"/>
          <p:nvPr/>
        </p:nvSpPr>
        <p:spPr>
          <a:xfrm>
            <a:off x="566928" y="4160520"/>
            <a:ext cx="8010144" cy="256032"/>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From today, every project you make takes this step.</a:t>
            </a:r>
          </a:p>
        </p:txBody>
      </p:sp>
      <p:sp>
        <p:nvSpPr>
          <p:cNvPr id="21" name="TextBox 20"/>
          <p:cNvSpPr txBox="1"/>
          <p:nvPr/>
        </p:nvSpPr>
        <p:spPr>
          <a:xfrm>
            <a:off x="566928" y="4526280"/>
            <a:ext cx="8010144" cy="219456"/>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Write your two times in the workbook — Lesson 1 vs today.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09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What AI Has Been Writing for You All Along</a:t>
            </a:r>
          </a:p>
        </p:txBody>
      </p:sp>
      <p:sp>
        <p:nvSpPr>
          <p:cNvPr id="6" name="Rectangle 5"/>
          <p:cNvSpPr/>
          <p:nvPr/>
        </p:nvSpPr>
        <p:spPr>
          <a:xfrm>
            <a:off x="566928" y="1325880"/>
            <a:ext cx="3291840" cy="16916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2962656" cy="822960"/>
          </a:xfrm>
          <a:prstGeom prst="rect">
            <a:avLst/>
          </a:prstGeom>
          <a:noFill/>
        </p:spPr>
        <p:txBody>
          <a:bodyPr wrap="square" anchor="t" lIns="0" rIns="0" tIns="0" bIns="0">
            <a:spAutoFit/>
          </a:bodyPr>
          <a:lstStyle/>
          <a:p>
            <a:pPr algn="ctr">
              <a:lnSpc>
                <a:spcPct val="130000"/>
              </a:lnSpc>
            </a:pPr>
            <a:r>
              <a:rPr sz="1000" b="0">
                <a:solidFill>
                  <a:srgbClr val="000000"/>
                </a:solidFill>
                <a:latin typeface="Source Code Pro"/>
              </a:rPr>
              <a:t>[ blocks view — one block, enlarged ]</a:t>
            </a:r>
          </a:p>
        </p:txBody>
      </p:sp>
      <p:sp>
        <p:nvSpPr>
          <p:cNvPr id="8" name="TextBox 7"/>
          <p:cNvSpPr txBox="1"/>
          <p:nvPr/>
        </p:nvSpPr>
        <p:spPr>
          <a:xfrm>
            <a:off x="731520" y="2514600"/>
            <a:ext cx="2962656" cy="274320"/>
          </a:xfrm>
          <a:prstGeom prst="rect">
            <a:avLst/>
          </a:prstGeom>
          <a:noFill/>
        </p:spPr>
        <p:txBody>
          <a:bodyPr wrap="square" anchor="t" lIns="0" rIns="0" tIns="0" bIns="0">
            <a:spAutoFit/>
          </a:bodyPr>
          <a:lstStyle/>
          <a:p>
            <a:pPr algn="ctr">
              <a:lnSpc>
                <a:spcPct val="100000"/>
              </a:lnSpc>
            </a:pPr>
            <a:r>
              <a:rPr sz="1050" b="1">
                <a:solidFill>
                  <a:srgbClr val="000000"/>
                </a:solidFill>
                <a:latin typeface="Source Han Sans SC"/>
              </a:rPr>
              <a:t>BLOCKS</a:t>
            </a:r>
          </a:p>
        </p:txBody>
      </p:sp>
      <p:sp>
        <p:nvSpPr>
          <p:cNvPr id="9" name="TextBox 8"/>
          <p:cNvSpPr txBox="1"/>
          <p:nvPr/>
        </p:nvSpPr>
        <p:spPr>
          <a:xfrm>
            <a:off x="4023360" y="1874519"/>
            <a:ext cx="1097280" cy="594360"/>
          </a:xfrm>
          <a:prstGeom prst="rect">
            <a:avLst/>
          </a:prstGeom>
          <a:noFill/>
        </p:spPr>
        <p:txBody>
          <a:bodyPr wrap="none" anchor="t" lIns="0" rIns="0" tIns="0" bIns="0">
            <a:spAutoFit/>
          </a:bodyPr>
          <a:lstStyle/>
          <a:p>
            <a:pPr algn="ctr">
              <a:lnSpc>
                <a:spcPct val="100000"/>
              </a:lnSpc>
            </a:pPr>
            <a:r>
              <a:rPr sz="4000" b="1">
                <a:solidFill>
                  <a:srgbClr val="F3D230"/>
                </a:solidFill>
                <a:latin typeface="Source Han Sans SC"/>
              </a:rPr>
              <a:t>⇄</a:t>
            </a:r>
          </a:p>
        </p:txBody>
      </p:sp>
      <p:sp>
        <p:nvSpPr>
          <p:cNvPr id="10" name="Rectangle 9"/>
          <p:cNvSpPr/>
          <p:nvPr/>
        </p:nvSpPr>
        <p:spPr>
          <a:xfrm>
            <a:off x="5266944" y="1325880"/>
            <a:ext cx="3310128" cy="1691640"/>
          </a:xfrm>
          <a:prstGeom prst="rect">
            <a:avLst/>
          </a:prstGeom>
          <a:solidFill>
            <a:srgbClr val="F5F5F5"/>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31536" y="1645920"/>
            <a:ext cx="2980944" cy="822960"/>
          </a:xfrm>
          <a:prstGeom prst="rect">
            <a:avLst/>
          </a:prstGeom>
          <a:noFill/>
        </p:spPr>
        <p:txBody>
          <a:bodyPr wrap="square" anchor="t" lIns="0" rIns="0" tIns="0" bIns="0">
            <a:spAutoFit/>
          </a:bodyPr>
          <a:lstStyle/>
          <a:p>
            <a:pPr algn="ctr">
              <a:lnSpc>
                <a:spcPct val="130000"/>
              </a:lnSpc>
            </a:pPr>
            <a:r>
              <a:rPr sz="1000" b="0">
                <a:solidFill>
                  <a:srgbClr val="000000"/>
                </a:solidFill>
                <a:latin typeface="Source Code Pro"/>
              </a:rPr>
              <a:t>[ code view — the matching lines ]</a:t>
            </a:r>
          </a:p>
        </p:txBody>
      </p:sp>
      <p:sp>
        <p:nvSpPr>
          <p:cNvPr id="12" name="TextBox 11"/>
          <p:cNvSpPr txBox="1"/>
          <p:nvPr/>
        </p:nvSpPr>
        <p:spPr>
          <a:xfrm>
            <a:off x="5431536" y="2514600"/>
            <a:ext cx="2980944" cy="274320"/>
          </a:xfrm>
          <a:prstGeom prst="rect">
            <a:avLst/>
          </a:prstGeom>
          <a:noFill/>
        </p:spPr>
        <p:txBody>
          <a:bodyPr wrap="square" anchor="t" lIns="0" rIns="0" tIns="0" bIns="0">
            <a:spAutoFit/>
          </a:bodyPr>
          <a:lstStyle/>
          <a:p>
            <a:pPr algn="ctr">
              <a:lnSpc>
                <a:spcPct val="100000"/>
              </a:lnSpc>
            </a:pPr>
            <a:r>
              <a:rPr sz="1050" b="1">
                <a:solidFill>
                  <a:srgbClr val="000000"/>
                </a:solidFill>
                <a:latin typeface="Source Han Sans SC"/>
              </a:rPr>
              <a:t>CODE</a:t>
            </a:r>
          </a:p>
        </p:txBody>
      </p:sp>
      <p:sp>
        <p:nvSpPr>
          <p:cNvPr id="13" name="TextBox 12"/>
          <p:cNvSpPr txBox="1"/>
          <p:nvPr/>
        </p:nvSpPr>
        <p:spPr>
          <a:xfrm>
            <a:off x="566928" y="3182112"/>
            <a:ext cx="8010144" cy="320040"/>
          </a:xfrm>
          <a:prstGeom prst="rect">
            <a:avLst/>
          </a:prstGeom>
          <a:noFill/>
        </p:spPr>
        <p:txBody>
          <a:bodyPr wrap="square" anchor="t" lIns="0" rIns="0" tIns="0" bIns="0">
            <a:spAutoFit/>
          </a:bodyPr>
          <a:lstStyle/>
          <a:p>
            <a:pPr algn="ctr">
              <a:lnSpc>
                <a:spcPct val="100000"/>
              </a:lnSpc>
            </a:pPr>
            <a:r>
              <a:rPr sz="1600" b="1">
                <a:solidFill>
                  <a:srgbClr val="000000"/>
                </a:solidFill>
                <a:latin typeface="Source Han Sans SC"/>
              </a:rPr>
              <a:t>ONE BLOCK  ⇄  A FEW LINES OF CODE</a:t>
            </a:r>
          </a:p>
        </p:txBody>
      </p:sp>
      <p:sp>
        <p:nvSpPr>
          <p:cNvPr id="14" name="TextBox 13"/>
          <p:cNvSpPr txBox="1"/>
          <p:nvPr/>
        </p:nvSpPr>
        <p:spPr>
          <a:xfrm>
            <a:off x="566928" y="3547872"/>
            <a:ext cx="8010144" cy="256032"/>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"two looks at the same project"</a:t>
            </a:r>
          </a:p>
        </p:txBody>
      </p:sp>
      <p:sp>
        <p:nvSpPr>
          <p:cNvPr id="15" name="TextBox 14"/>
          <p:cNvSpPr txBox="1"/>
          <p:nvPr/>
        </p:nvSpPr>
        <p:spPr>
          <a:xfrm>
            <a:off x="566928" y="3840480"/>
            <a:ext cx="8010144" cy="256032"/>
          </a:xfrm>
          <a:prstGeom prst="rect">
            <a:avLst/>
          </a:prstGeom>
          <a:noFill/>
        </p:spPr>
        <p:txBody>
          <a:bodyPr wrap="square" anchor="t" lIns="0" rIns="0" tIns="0" bIns="0">
            <a:spAutoFit/>
          </a:bodyPr>
          <a:lstStyle/>
          <a:p>
            <a:pPr algn="ctr">
              <a:lnSpc>
                <a:spcPct val="100000"/>
              </a:lnSpc>
            </a:pPr>
            <a:r>
              <a:rPr sz="1300" b="0">
                <a:solidFill>
                  <a:srgbClr val="000000"/>
                </a:solidFill>
                <a:latin typeface="Source Han Sans SC"/>
              </a:rPr>
              <a:t>Blocks are for hands  |  Code is for machines</a:t>
            </a:r>
          </a:p>
        </p:txBody>
      </p:sp>
      <p:sp>
        <p:nvSpPr>
          <p:cNvPr id="16" name="Rectangle 15"/>
          <p:cNvSpPr/>
          <p:nvPr/>
        </p:nvSpPr>
        <p:spPr>
          <a:xfrm>
            <a:off x="566928" y="4160520"/>
            <a:ext cx="8010144" cy="62179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70248"/>
            <a:ext cx="7680960" cy="402336"/>
          </a:xfrm>
          <a:prstGeom prst="rect">
            <a:avLst/>
          </a:prstGeom>
          <a:noFill/>
        </p:spPr>
        <p:txBody>
          <a:bodyPr wrap="square" anchor="t" lIns="0" rIns="0" tIns="0" bIns="0">
            <a:spAutoFit/>
          </a:bodyPr>
          <a:lstStyle/>
          <a:p>
            <a:pPr algn="l">
              <a:lnSpc>
                <a:spcPct val="125000"/>
              </a:lnSpc>
            </a:pPr>
            <a:r>
              <a:rPr sz="1150" b="0">
                <a:solidFill>
                  <a:srgbClr val="000000"/>
                </a:solidFill>
                <a:latin typeface="Source Han Sans SC"/>
              </a:rPr>
              <a:t>You don't need to read it all — today is about one feeling: CODE IS NOT MYSTERIOUS. Find one match, and you graduate.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Three Steps — Follow Me, Then Walk Alone</a:t>
            </a:r>
          </a:p>
        </p:txBody>
      </p:sp>
      <p:sp>
        <p:nvSpPr>
          <p:cNvPr id="6" name="Rectangle 5"/>
          <p:cNvSpPr/>
          <p:nvPr/>
        </p:nvSpPr>
        <p:spPr>
          <a:xfrm>
            <a:off x="566928" y="1005840"/>
            <a:ext cx="8010144" cy="731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060704"/>
            <a:ext cx="7680960" cy="219456"/>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STEP 1 · FIND THE MATCH</a:t>
            </a:r>
          </a:p>
        </p:txBody>
      </p:sp>
      <p:sp>
        <p:nvSpPr>
          <p:cNvPr id="8" name="TextBox 7"/>
          <p:cNvSpPr txBox="1"/>
          <p:nvPr/>
        </p:nvSpPr>
        <p:spPr>
          <a:xfrm>
            <a:off x="731520" y="1298448"/>
            <a:ext cx="7680960" cy="402336"/>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Back to the blocks view, drag one block — watch what changed over here in the code. One "this block = these lines" — you graduate.</a:t>
            </a:r>
          </a:p>
        </p:txBody>
      </p:sp>
      <p:sp>
        <p:nvSpPr>
          <p:cNvPr id="9" name="Rectangle 8"/>
          <p:cNvSpPr/>
          <p:nvPr/>
        </p:nvSpPr>
        <p:spPr>
          <a:xfrm>
            <a:off x="566928" y="1810512"/>
            <a:ext cx="8010144" cy="731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65376"/>
            <a:ext cx="7680960" cy="219456"/>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STEP 2 · ASK AI</a:t>
            </a:r>
          </a:p>
        </p:txBody>
      </p:sp>
      <p:sp>
        <p:nvSpPr>
          <p:cNvPr id="11" name="TextBox 10"/>
          <p:cNvSpPr txBox="1"/>
          <p:nvPr/>
        </p:nvSpPr>
        <p:spPr>
          <a:xfrm>
            <a:off x="731520" y="2103120"/>
            <a:ext cx="7680960" cy="402336"/>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Select a chunk you don't understand, send it to your AI. From today, AI has a new job: not just doing the work for you — teaching you to read it.</a:t>
            </a:r>
          </a:p>
        </p:txBody>
      </p:sp>
      <p:sp>
        <p:nvSpPr>
          <p:cNvPr id="12" name="Rectangle 11"/>
          <p:cNvSpPr/>
          <p:nvPr/>
        </p:nvSpPr>
        <p:spPr>
          <a:xfrm>
            <a:off x="566928" y="2615184"/>
            <a:ext cx="8010144" cy="5486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670048"/>
            <a:ext cx="7680960" cy="438912"/>
          </a:xfrm>
          <a:prstGeom prst="rect">
            <a:avLst/>
          </a:prstGeom>
          <a:noFill/>
        </p:spPr>
        <p:txBody>
          <a:bodyPr wrap="square" anchor="t" lIns="0" rIns="0" tIns="0" bIns="0">
            <a:spAutoFit/>
          </a:bodyPr>
          <a:lstStyle/>
          <a:p>
            <a:pPr algn="l">
              <a:lnSpc>
                <a:spcPct val="120000"/>
              </a:lnSpc>
            </a:pPr>
            <a:r>
              <a:rPr sz="1000" b="0">
                <a:solidFill>
                  <a:srgbClr val="000000"/>
                </a:solidFill>
                <a:latin typeface="Source Code Pro"/>
              </a:rPr>
              <a:t>(select a code chunk, send in the conversation you already have)</a:t>
            </a:r>
          </a:p>
          <a:p>
            <a:pPr algn="l">
              <a:lnSpc>
                <a:spcPct val="120000"/>
              </a:lnSpc>
            </a:pPr>
            <a:r>
              <a:rPr sz="1000" b="0">
                <a:solidFill>
                  <a:srgbClr val="000000"/>
                </a:solidFill>
                <a:latin typeface="Source Code Pro"/>
              </a:rPr>
              <a:t>What's this code doing? Explain in plain language I can understand — two or three sentences max.</a:t>
            </a:r>
          </a:p>
        </p:txBody>
      </p:sp>
      <p:sp>
        <p:nvSpPr>
          <p:cNvPr id="14" name="Rectangle 13"/>
          <p:cNvSpPr/>
          <p:nvPr/>
        </p:nvSpPr>
        <p:spPr>
          <a:xfrm>
            <a:off x="566928" y="3236976"/>
            <a:ext cx="8010144"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91840"/>
            <a:ext cx="7680960" cy="219456"/>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STEP 3 · CHANGE ONE LINE</a:t>
            </a:r>
          </a:p>
        </p:txBody>
      </p:sp>
      <p:sp>
        <p:nvSpPr>
          <p:cNvPr id="16" name="TextBox 15"/>
          <p:cNvSpPr txBox="1"/>
          <p:nvPr/>
        </p:nvSpPr>
        <p:spPr>
          <a:xfrm>
            <a:off x="731520" y="3529584"/>
            <a:ext cx="7680960"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Find the line that shows your name — change only the letters inside the quotes to your nickname. Run it.</a:t>
            </a:r>
          </a:p>
        </p:txBody>
      </p:sp>
      <p:sp>
        <p:nvSpPr>
          <p:cNvPr id="17" name="TextBox 16"/>
          <p:cNvSpPr txBox="1"/>
          <p:nvPr/>
        </p:nvSpPr>
        <p:spPr>
          <a:xfrm>
            <a:off x="566928" y="3858768"/>
            <a:ext cx="8010144" cy="201168"/>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Ask in the conversation you already have — no new windows. It knows your project, so its answers fit your code.</a:t>
            </a:r>
          </a:p>
        </p:txBody>
      </p:sp>
      <p:sp>
        <p:nvSpPr>
          <p:cNvPr id="18" name="TextBox 17"/>
          <p:cNvSpPr txBox="1"/>
          <p:nvPr/>
        </p:nvSpPr>
        <p:spPr>
          <a:xfrm>
            <a:off x="566928" y="4078224"/>
            <a:ext cx="8010144" cy="201168"/>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Write in your workbook — the two-views cheat sheet: one block = which lines?</a:t>
            </a:r>
          </a:p>
        </p:txBody>
      </p:sp>
      <p:sp>
        <p:nvSpPr>
          <p:cNvPr id="19" name="Rectangle 18"/>
          <p:cNvSpPr/>
          <p:nvPr/>
        </p:nvSpPr>
        <p:spPr>
          <a:xfrm>
            <a:off x="566928" y="4334256"/>
            <a:ext cx="64008" cy="45720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4389120"/>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352544"/>
            <a:ext cx="7552944" cy="237744"/>
          </a:xfrm>
          <a:prstGeom prst="rect">
            <a:avLst/>
          </a:prstGeom>
          <a:noFill/>
        </p:spPr>
        <p:txBody>
          <a:bodyPr wrap="square" anchor="t" lIns="0" rIns="0" tIns="0" bIns="0">
            <a:spAutoFit/>
          </a:bodyPr>
          <a:lstStyle/>
          <a:p>
            <a:pPr algn="l">
              <a:lnSpc>
                <a:spcPct val="100000"/>
              </a:lnSpc>
            </a:pPr>
            <a:r>
              <a:rPr sz="1250" b="1">
                <a:solidFill>
                  <a:srgbClr val="D84144"/>
                </a:solidFill>
                <a:latin typeface="Source Han Sans SC"/>
              </a:rPr>
              <a:t>CHANGE ONLY THE LETTERS INSIDE THE QUOTES — DON'T TOUCH THE QUOTES OR BRACKETS</a:t>
            </a:r>
          </a:p>
        </p:txBody>
      </p:sp>
      <p:sp>
        <p:nvSpPr>
          <p:cNvPr id="22" name="TextBox 21"/>
          <p:cNvSpPr txBox="1"/>
          <p:nvPr/>
        </p:nvSpPr>
        <p:spPr>
          <a:xfrm>
            <a:off x="1024128" y="4590288"/>
            <a:ext cx="7552944" cy="182880"/>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(broke it? go back to the last version — that's why engineers save constantly)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11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Why Did You Just Do All This?</a:t>
            </a:r>
          </a:p>
        </p:txBody>
      </p:sp>
      <p:sp>
        <p:nvSpPr>
          <p:cNvPr id="6" name="Rectangle 5"/>
          <p:cNvSpPr/>
          <p:nvPr/>
        </p:nvSpPr>
        <p:spPr>
          <a:xfrm>
            <a:off x="566928" y="1417320"/>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435608"/>
            <a:ext cx="7808975" cy="530352"/>
          </a:xfrm>
          <a:prstGeom prst="rect">
            <a:avLst/>
          </a:prstGeom>
          <a:noFill/>
        </p:spPr>
        <p:txBody>
          <a:bodyPr wrap="square" anchor="t" lIns="0" rIns="0" tIns="0" bIns="0">
            <a:spAutoFit/>
          </a:bodyPr>
          <a:lstStyle/>
          <a:p>
            <a:pPr algn="l">
              <a:lnSpc>
                <a:spcPct val="115000"/>
              </a:lnSpc>
            </a:pPr>
            <a:r>
              <a:rPr sz="3200" b="0">
                <a:solidFill>
                  <a:srgbClr val="000000"/>
                </a:solidFill>
                <a:latin typeface="Source Han Sans SC"/>
              </a:rPr>
              <a:t>It's yours.</a:t>
            </a:r>
          </a:p>
        </p:txBody>
      </p:sp>
      <p:sp>
        <p:nvSpPr>
          <p:cNvPr id="8" name="Rectangle 7"/>
          <p:cNvSpPr/>
          <p:nvPr/>
        </p:nvSpPr>
        <p:spPr>
          <a:xfrm>
            <a:off x="566928" y="2148840"/>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67128"/>
            <a:ext cx="7808975" cy="530352"/>
          </a:xfrm>
          <a:prstGeom prst="rect">
            <a:avLst/>
          </a:prstGeom>
          <a:noFill/>
        </p:spPr>
        <p:txBody>
          <a:bodyPr wrap="square" anchor="t" lIns="0" rIns="0" tIns="0" bIns="0">
            <a:spAutoFit/>
          </a:bodyPr>
          <a:lstStyle/>
          <a:p>
            <a:pPr algn="l">
              <a:lnSpc>
                <a:spcPct val="115000"/>
              </a:lnSpc>
            </a:pPr>
            <a:r>
              <a:rPr sz="3200" b="0">
                <a:solidFill>
                  <a:srgbClr val="000000"/>
                </a:solidFill>
                <a:latin typeface="Source Han Sans SC"/>
              </a:rPr>
              <a:t>You're not afraid of it.</a:t>
            </a:r>
          </a:p>
        </p:txBody>
      </p:sp>
      <p:sp>
        <p:nvSpPr>
          <p:cNvPr id="10" name="Rectangle 9"/>
          <p:cNvSpPr/>
          <p:nvPr/>
        </p:nvSpPr>
        <p:spPr>
          <a:xfrm>
            <a:off x="566928" y="2880360"/>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898648"/>
            <a:ext cx="7808975" cy="530352"/>
          </a:xfrm>
          <a:prstGeom prst="rect">
            <a:avLst/>
          </a:prstGeom>
          <a:noFill/>
        </p:spPr>
        <p:txBody>
          <a:bodyPr wrap="square" anchor="t" lIns="0" rIns="0" tIns="0" bIns="0">
            <a:spAutoFit/>
          </a:bodyPr>
          <a:lstStyle/>
          <a:p>
            <a:pPr algn="l">
              <a:lnSpc>
                <a:spcPct val="115000"/>
              </a:lnSpc>
            </a:pPr>
            <a:r>
              <a:rPr sz="3200" b="0">
                <a:solidFill>
                  <a:srgbClr val="000000"/>
                </a:solidFill>
                <a:latin typeface="Source Han Sans SC"/>
              </a:rPr>
              <a:t>The door opened.</a:t>
            </a:r>
          </a:p>
        </p:txBody>
      </p:sp>
      <p:sp>
        <p:nvSpPr>
          <p:cNvPr id="12" name="Rectangle 11"/>
          <p:cNvSpPr/>
          <p:nvPr/>
        </p:nvSpPr>
        <p:spPr>
          <a:xfrm>
            <a:off x="566928" y="3840480"/>
            <a:ext cx="8010144" cy="6858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950208"/>
            <a:ext cx="7680960" cy="466344"/>
          </a:xfrm>
          <a:prstGeom prst="rect">
            <a:avLst/>
          </a:prstGeom>
          <a:noFill/>
        </p:spPr>
        <p:txBody>
          <a:bodyPr wrap="square" anchor="t" lIns="0" rIns="0" tIns="0" bIns="0">
            <a:spAutoFit/>
          </a:bodyPr>
          <a:lstStyle/>
          <a:p>
            <a:pPr algn="l">
              <a:lnSpc>
                <a:spcPct val="125000"/>
              </a:lnSpc>
            </a:pPr>
            <a:r>
              <a:rPr sz="1400" b="0">
                <a:solidFill>
                  <a:srgbClr val="000000"/>
                </a:solidFill>
                <a:latin typeface="Source Han Sans SC"/>
              </a:rPr>
              <a:t>Just now you READ what AI wrote.</a:t>
            </a:r>
          </a:p>
          <a:p>
            <a:pPr algn="l">
              <a:lnSpc>
                <a:spcPct val="125000"/>
              </a:lnSpc>
            </a:pPr>
            <a:r>
              <a:rPr sz="1400" b="0">
                <a:solidFill>
                  <a:srgbClr val="000000"/>
                </a:solidFill>
                <a:latin typeface="Source Han Sans SC"/>
              </a:rPr>
              <a:t>Next, you'll DIRECT AI to write something brand new.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Engineer's Loop</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every lap of the marathon runs it</a:t>
            </a:r>
          </a:p>
        </p:txBody>
      </p:sp>
      <p:sp>
        <p:nvSpPr>
          <p:cNvPr id="7" name="Rectangle 6"/>
          <p:cNvSpPr/>
          <p:nvPr/>
        </p:nvSpPr>
        <p:spPr>
          <a:xfrm>
            <a:off x="566928" y="1280160"/>
            <a:ext cx="1371600"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80160"/>
            <a:ext cx="1371600" cy="566928"/>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say it</a:t>
            </a:r>
          </a:p>
        </p:txBody>
      </p:sp>
      <p:sp>
        <p:nvSpPr>
          <p:cNvPr id="9" name="TextBox 8"/>
          <p:cNvSpPr txBox="1"/>
          <p:nvPr/>
        </p:nvSpPr>
        <p:spPr>
          <a:xfrm>
            <a:off x="1938528" y="1280160"/>
            <a:ext cx="201168" cy="566928"/>
          </a:xfrm>
          <a:prstGeom prst="rect">
            <a:avLst/>
          </a:prstGeom>
          <a:noFill/>
        </p:spPr>
        <p:txBody>
          <a:bodyPr wrap="none" anchor="ctr" lIns="0" rIns="0" tIns="0" bIns="0">
            <a:spAutoFit/>
          </a:bodyPr>
          <a:lstStyle/>
          <a:p>
            <a:pPr algn="ctr">
              <a:lnSpc>
                <a:spcPct val="100000"/>
              </a:lnSpc>
            </a:pPr>
            <a:r>
              <a:rPr sz="1500" b="1">
                <a:solidFill>
                  <a:srgbClr val="F3D230"/>
                </a:solidFill>
                <a:latin typeface="Source Han Sans SC"/>
              </a:rPr>
              <a:t>→</a:t>
            </a:r>
          </a:p>
        </p:txBody>
      </p:sp>
      <p:sp>
        <p:nvSpPr>
          <p:cNvPr id="10" name="Rectangle 9"/>
          <p:cNvSpPr/>
          <p:nvPr/>
        </p:nvSpPr>
        <p:spPr>
          <a:xfrm>
            <a:off x="2139696" y="1280160"/>
            <a:ext cx="1371600"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39696" y="1280160"/>
            <a:ext cx="1371600" cy="566928"/>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AI builds</a:t>
            </a:r>
          </a:p>
        </p:txBody>
      </p:sp>
      <p:sp>
        <p:nvSpPr>
          <p:cNvPr id="12" name="TextBox 11"/>
          <p:cNvSpPr txBox="1"/>
          <p:nvPr/>
        </p:nvSpPr>
        <p:spPr>
          <a:xfrm>
            <a:off x="3511296" y="1280160"/>
            <a:ext cx="201168" cy="566928"/>
          </a:xfrm>
          <a:prstGeom prst="rect">
            <a:avLst/>
          </a:prstGeom>
          <a:noFill/>
        </p:spPr>
        <p:txBody>
          <a:bodyPr wrap="none" anchor="ctr" lIns="0" rIns="0" tIns="0" bIns="0">
            <a:spAutoFit/>
          </a:bodyPr>
          <a:lstStyle/>
          <a:p>
            <a:pPr algn="ctr">
              <a:lnSpc>
                <a:spcPct val="100000"/>
              </a:lnSpc>
            </a:pPr>
            <a:r>
              <a:rPr sz="1500" b="1">
                <a:solidFill>
                  <a:srgbClr val="F3D230"/>
                </a:solidFill>
                <a:latin typeface="Source Han Sans SC"/>
              </a:rPr>
              <a:t>→</a:t>
            </a:r>
          </a:p>
        </p:txBody>
      </p:sp>
      <p:sp>
        <p:nvSpPr>
          <p:cNvPr id="13" name="Rectangle 12"/>
          <p:cNvSpPr/>
          <p:nvPr/>
        </p:nvSpPr>
        <p:spPr>
          <a:xfrm>
            <a:off x="3712463" y="1280160"/>
            <a:ext cx="1371600"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12463" y="1280160"/>
            <a:ext cx="1371600" cy="566928"/>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check</a:t>
            </a:r>
          </a:p>
        </p:txBody>
      </p:sp>
      <p:sp>
        <p:nvSpPr>
          <p:cNvPr id="15" name="TextBox 14"/>
          <p:cNvSpPr txBox="1"/>
          <p:nvPr/>
        </p:nvSpPr>
        <p:spPr>
          <a:xfrm>
            <a:off x="5084064" y="1280160"/>
            <a:ext cx="201168" cy="566928"/>
          </a:xfrm>
          <a:prstGeom prst="rect">
            <a:avLst/>
          </a:prstGeom>
          <a:noFill/>
        </p:spPr>
        <p:txBody>
          <a:bodyPr wrap="none" anchor="ctr" lIns="0" rIns="0" tIns="0" bIns="0">
            <a:spAutoFit/>
          </a:bodyPr>
          <a:lstStyle/>
          <a:p>
            <a:pPr algn="ctr">
              <a:lnSpc>
                <a:spcPct val="100000"/>
              </a:lnSpc>
            </a:pPr>
            <a:r>
              <a:rPr sz="1500" b="1">
                <a:solidFill>
                  <a:srgbClr val="F3D230"/>
                </a:solidFill>
                <a:latin typeface="Source Han Sans SC"/>
              </a:rPr>
              <a:t>→</a:t>
            </a:r>
          </a:p>
        </p:txBody>
      </p:sp>
      <p:sp>
        <p:nvSpPr>
          <p:cNvPr id="16" name="Rectangle 15"/>
          <p:cNvSpPr/>
          <p:nvPr/>
        </p:nvSpPr>
        <p:spPr>
          <a:xfrm>
            <a:off x="5285232" y="1280160"/>
            <a:ext cx="1371600"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232" y="1280160"/>
            <a:ext cx="1371600" cy="566928"/>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upload</a:t>
            </a:r>
          </a:p>
        </p:txBody>
      </p:sp>
      <p:sp>
        <p:nvSpPr>
          <p:cNvPr id="18" name="TextBox 17"/>
          <p:cNvSpPr txBox="1"/>
          <p:nvPr/>
        </p:nvSpPr>
        <p:spPr>
          <a:xfrm>
            <a:off x="6656832" y="1280160"/>
            <a:ext cx="201168" cy="566928"/>
          </a:xfrm>
          <a:prstGeom prst="rect">
            <a:avLst/>
          </a:prstGeom>
          <a:noFill/>
        </p:spPr>
        <p:txBody>
          <a:bodyPr wrap="none" anchor="ctr" lIns="0" rIns="0" tIns="0" bIns="0">
            <a:spAutoFit/>
          </a:bodyPr>
          <a:lstStyle/>
          <a:p>
            <a:pPr algn="ctr">
              <a:lnSpc>
                <a:spcPct val="100000"/>
              </a:lnSpc>
            </a:pPr>
            <a:r>
              <a:rPr sz="1500" b="1">
                <a:solidFill>
                  <a:srgbClr val="F3D230"/>
                </a:solidFill>
                <a:latin typeface="Source Han Sans SC"/>
              </a:rPr>
              <a:t>→</a:t>
            </a:r>
          </a:p>
        </p:txBody>
      </p:sp>
      <p:sp>
        <p:nvSpPr>
          <p:cNvPr id="19" name="Rectangle 18"/>
          <p:cNvSpPr/>
          <p:nvPr/>
        </p:nvSpPr>
        <p:spPr>
          <a:xfrm>
            <a:off x="6858000" y="1280160"/>
            <a:ext cx="1371600"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1280160"/>
            <a:ext cx="1371600" cy="566928"/>
          </a:xfrm>
          <a:prstGeom prst="rect">
            <a:avLst/>
          </a:prstGeom>
          <a:noFill/>
        </p:spPr>
        <p:txBody>
          <a:bodyPr wrap="square" anchor="ctr" lIns="0" rIns="0" tIns="0" bIns="0">
            <a:spAutoFit/>
          </a:bodyPr>
          <a:lstStyle/>
          <a:p>
            <a:pPr algn="ctr">
              <a:lnSpc>
                <a:spcPct val="100000"/>
              </a:lnSpc>
            </a:pPr>
            <a:r>
              <a:rPr sz="1200" b="1">
                <a:solidFill>
                  <a:srgbClr val="000000"/>
                </a:solidFill>
                <a:latin typeface="Source Han Sans SC"/>
              </a:rPr>
              <a:t>verify</a:t>
            </a:r>
          </a:p>
        </p:txBody>
      </p:sp>
      <p:sp>
        <p:nvSpPr>
          <p:cNvPr id="21" name="Rectangle 20"/>
          <p:cNvSpPr/>
          <p:nvPr/>
        </p:nvSpPr>
        <p:spPr>
          <a:xfrm>
            <a:off x="822960" y="2029968"/>
            <a:ext cx="7040880" cy="182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084831"/>
            <a:ext cx="8010144" cy="219456"/>
          </a:xfrm>
          <a:prstGeom prst="rect">
            <a:avLst/>
          </a:prstGeom>
          <a:noFill/>
        </p:spPr>
        <p:txBody>
          <a:bodyPr wrap="square" anchor="t" lIns="0" rIns="0" tIns="0" bIns="0">
            <a:spAutoFit/>
          </a:bodyPr>
          <a:lstStyle/>
          <a:p>
            <a:pPr algn="ctr">
              <a:lnSpc>
                <a:spcPct val="100000"/>
              </a:lnSpc>
            </a:pPr>
            <a:r>
              <a:rPr sz="1050" b="0">
                <a:solidFill>
                  <a:srgbClr val="000000"/>
                </a:solidFill>
                <a:latin typeface="Source Han Sans SC"/>
              </a:rPr>
              <a:t>wrong? say the need more clearly, run another lap</a:t>
            </a:r>
          </a:p>
        </p:txBody>
      </p:sp>
      <p:sp>
        <p:nvSpPr>
          <p:cNvPr id="23" name="Rectangle 22"/>
          <p:cNvSpPr/>
          <p:nvPr/>
        </p:nvSpPr>
        <p:spPr>
          <a:xfrm>
            <a:off x="566928" y="2432304"/>
            <a:ext cx="2596896"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2432304"/>
            <a:ext cx="2596896" cy="502920"/>
          </a:xfrm>
          <a:prstGeom prst="rect">
            <a:avLst/>
          </a:prstGeom>
          <a:noFill/>
        </p:spPr>
        <p:txBody>
          <a:bodyPr wrap="square" anchor="ctr" lIns="0" rIns="0" tIns="0" bIns="0">
            <a:spAutoFit/>
          </a:bodyPr>
          <a:lstStyle/>
          <a:p>
            <a:pPr algn="ctr">
              <a:lnSpc>
                <a:spcPct val="100000"/>
              </a:lnSpc>
            </a:pPr>
            <a:r>
              <a:rPr sz="1150" b="1">
                <a:solidFill>
                  <a:srgbClr val="000000"/>
                </a:solidFill>
                <a:latin typeface="Source Han Sans SC"/>
              </a:rPr>
              <a:t>what it senses (input)</a:t>
            </a:r>
          </a:p>
        </p:txBody>
      </p:sp>
      <p:sp>
        <p:nvSpPr>
          <p:cNvPr id="25" name="Rectangle 24"/>
          <p:cNvSpPr/>
          <p:nvPr/>
        </p:nvSpPr>
        <p:spPr>
          <a:xfrm>
            <a:off x="3273552" y="2432304"/>
            <a:ext cx="2596896"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73552" y="2432304"/>
            <a:ext cx="2596896" cy="502920"/>
          </a:xfrm>
          <a:prstGeom prst="rect">
            <a:avLst/>
          </a:prstGeom>
          <a:noFill/>
        </p:spPr>
        <p:txBody>
          <a:bodyPr wrap="square" anchor="ctr" lIns="0" rIns="0" tIns="0" bIns="0">
            <a:spAutoFit/>
          </a:bodyPr>
          <a:lstStyle/>
          <a:p>
            <a:pPr algn="ctr">
              <a:lnSpc>
                <a:spcPct val="100000"/>
              </a:lnSpc>
            </a:pPr>
            <a:r>
              <a:rPr sz="1150" b="1">
                <a:solidFill>
                  <a:srgbClr val="000000"/>
                </a:solidFill>
                <a:latin typeface="Source Han Sans SC"/>
              </a:rPr>
              <a:t>what it does under what condition (logic)</a:t>
            </a:r>
          </a:p>
        </p:txBody>
      </p:sp>
      <p:sp>
        <p:nvSpPr>
          <p:cNvPr id="27" name="Rectangle 26"/>
          <p:cNvSpPr/>
          <p:nvPr/>
        </p:nvSpPr>
        <p:spPr>
          <a:xfrm>
            <a:off x="5980176" y="2432304"/>
            <a:ext cx="2596896"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80176" y="2432304"/>
            <a:ext cx="2596896" cy="502920"/>
          </a:xfrm>
          <a:prstGeom prst="rect">
            <a:avLst/>
          </a:prstGeom>
          <a:noFill/>
        </p:spPr>
        <p:txBody>
          <a:bodyPr wrap="square" anchor="ctr" lIns="0" rIns="0" tIns="0" bIns="0">
            <a:spAutoFit/>
          </a:bodyPr>
          <a:lstStyle/>
          <a:p>
            <a:pPr algn="ctr">
              <a:lnSpc>
                <a:spcPct val="100000"/>
              </a:lnSpc>
            </a:pPr>
            <a:r>
              <a:rPr sz="1150" b="1">
                <a:solidFill>
                  <a:srgbClr val="000000"/>
                </a:solidFill>
                <a:latin typeface="Source Han Sans SC"/>
              </a:rPr>
              <a:t>how it shows itself (output)</a:t>
            </a:r>
          </a:p>
        </p:txBody>
      </p:sp>
      <p:sp>
        <p:nvSpPr>
          <p:cNvPr id="29" name="Rectangle 28"/>
          <p:cNvSpPr/>
          <p:nvPr/>
        </p:nvSpPr>
        <p:spPr>
          <a:xfrm>
            <a:off x="566928" y="3072384"/>
            <a:ext cx="8010144" cy="13716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182112"/>
            <a:ext cx="7680960" cy="1152144"/>
          </a:xfrm>
          <a:prstGeom prst="rect">
            <a:avLst/>
          </a:prstGeom>
          <a:noFill/>
        </p:spPr>
        <p:txBody>
          <a:bodyPr wrap="square" anchor="t" lIns="0" rIns="0" tIns="0" bIns="0">
            <a:spAutoFit/>
          </a:bodyPr>
          <a:lstStyle/>
          <a:p>
            <a:pPr algn="l">
              <a:lnSpc>
                <a:spcPct val="120000"/>
              </a:lnSpc>
            </a:pPr>
            <a:r>
              <a:rPr sz="1250" b="1">
                <a:solidFill>
                  <a:srgbClr val="000000"/>
                </a:solidFill>
                <a:latin typeface="Source Han Sans SC"/>
              </a:rPr>
              <a:t>Today's first new project: THE NIGHT-LIGHT — Grove Beginner Kit,</a:t>
            </a:r>
          </a:p>
          <a:p>
            <a:pPr algn="l">
              <a:lnSpc>
                <a:spcPct val="120000"/>
              </a:lnSpc>
            </a:pPr>
            <a:r>
              <a:rPr sz="1150" b="0">
                <a:solidFill>
                  <a:srgbClr val="000000"/>
                </a:solidFill>
                <a:latin typeface="Source Han Sans SC"/>
              </a:rPr>
              <a:t>light sensor + LED built into the board, NOT A SINGLE WIRE to connect — short code, fast upload, verdict in two minutes.</a:t>
            </a:r>
          </a:p>
          <a:p>
            <a:pPr algn="l">
              <a:lnSpc>
                <a:spcPct val="120000"/>
              </a:lnSpc>
            </a:pPr>
            <a:r>
              <a:rPr sz="1050" b="0">
                <a:solidFill>
                  <a:srgbClr val="000000"/>
                </a:solidFill>
                <a:latin typeface="Source Han Sans SC"/>
              </a:rPr>
              <a:t>Leave the number in brackets blank — you'll read the real value on the serial monitor and fill it in yourself.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Today's Four Steps — Run Solo</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from your workbook</a:t>
            </a:r>
          </a:p>
        </p:txBody>
      </p:sp>
      <p:sp>
        <p:nvSpPr>
          <p:cNvPr id="7" name="Rectangle 6"/>
          <p:cNvSpPr/>
          <p:nvPr/>
        </p:nvSpPr>
        <p:spPr>
          <a:xfrm>
            <a:off x="566928" y="1188720"/>
            <a:ext cx="8010144" cy="2011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298448"/>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35024"/>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0" name="TextBox 9"/>
          <p:cNvSpPr txBox="1"/>
          <p:nvPr/>
        </p:nvSpPr>
        <p:spPr>
          <a:xfrm>
            <a:off x="1152144" y="1280160"/>
            <a:ext cx="7223760" cy="475488"/>
          </a:xfrm>
          <a:prstGeom prst="rect">
            <a:avLst/>
          </a:prstGeom>
          <a:noFill/>
        </p:spPr>
        <p:txBody>
          <a:bodyPr wrap="square" anchor="t" lIns="0" rIns="0" tIns="0" bIns="0">
            <a:spAutoFit/>
          </a:bodyPr>
          <a:lstStyle/>
          <a:p>
            <a:pPr algn="l">
              <a:lnSpc>
                <a:spcPct val="115000"/>
              </a:lnSpc>
            </a:pPr>
            <a:r>
              <a:rPr sz="1100" b="0">
                <a:solidFill>
                  <a:srgbClr val="000000"/>
                </a:solidFill>
                <a:latin typeface="Source Han Sans SC"/>
              </a:rPr>
              <a:t>Send the 6.4 prompt with your need → read what AI explains first; point to the light sensor and LED on your board before you build</a:t>
            </a:r>
          </a:p>
        </p:txBody>
      </p:sp>
      <p:sp>
        <p:nvSpPr>
          <p:cNvPr id="11" name="Rectangle 10"/>
          <p:cNvSpPr/>
          <p:nvPr/>
        </p:nvSpPr>
        <p:spPr>
          <a:xfrm>
            <a:off x="731520" y="1847088"/>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883664"/>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3" name="TextBox 12"/>
          <p:cNvSpPr txBox="1"/>
          <p:nvPr/>
        </p:nvSpPr>
        <p:spPr>
          <a:xfrm>
            <a:off x="1152144" y="1828800"/>
            <a:ext cx="7223760" cy="292608"/>
          </a:xfrm>
          <a:prstGeom prst="rect">
            <a:avLst/>
          </a:prstGeom>
          <a:noFill/>
        </p:spPr>
        <p:txBody>
          <a:bodyPr wrap="square" anchor="t" lIns="0" rIns="0" tIns="0" bIns="0">
            <a:spAutoFit/>
          </a:bodyPr>
          <a:lstStyle/>
          <a:p>
            <a:pPr algn="l">
              <a:lnSpc>
                <a:spcPct val="115000"/>
              </a:lnSpc>
            </a:pPr>
            <a:r>
              <a:rPr sz="1100" b="0">
                <a:solidFill>
                  <a:srgbClr val="000000"/>
                </a:solidFill>
                <a:latin typeface="Source Han Sans SC"/>
              </a:rPr>
              <a:t>Build + upload (paste errors back verbatim, one step at a time)</a:t>
            </a:r>
          </a:p>
        </p:txBody>
      </p:sp>
      <p:sp>
        <p:nvSpPr>
          <p:cNvPr id="14" name="Rectangle 13"/>
          <p:cNvSpPr/>
          <p:nvPr/>
        </p:nvSpPr>
        <p:spPr>
          <a:xfrm>
            <a:off x="731520" y="2212848"/>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249424"/>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6" name="TextBox 15"/>
          <p:cNvSpPr txBox="1"/>
          <p:nvPr/>
        </p:nvSpPr>
        <p:spPr>
          <a:xfrm>
            <a:off x="1152144" y="2194560"/>
            <a:ext cx="7223760" cy="475488"/>
          </a:xfrm>
          <a:prstGeom prst="rect">
            <a:avLst/>
          </a:prstGeom>
          <a:noFill/>
        </p:spPr>
        <p:txBody>
          <a:bodyPr wrap="square" anchor="t" lIns="0" rIns="0" tIns="0" bIns="0">
            <a:spAutoFit/>
          </a:bodyPr>
          <a:lstStyle/>
          <a:p>
            <a:pPr algn="l">
              <a:lnSpc>
                <a:spcPct val="115000"/>
              </a:lnSpc>
            </a:pPr>
            <a:r>
              <a:rPr sz="1100" b="0">
                <a:solidFill>
                  <a:srgbClr val="000000"/>
                </a:solidFill>
                <a:latin typeface="Source Han Sans SC"/>
              </a:rPr>
              <a:t>Open the serial monitor: normal ___ / hand over it ___ → put the threshold back into your need, have AI use your number</a:t>
            </a:r>
          </a:p>
        </p:txBody>
      </p:sp>
      <p:sp>
        <p:nvSpPr>
          <p:cNvPr id="17" name="Rectangle 16"/>
          <p:cNvSpPr/>
          <p:nvPr/>
        </p:nvSpPr>
        <p:spPr>
          <a:xfrm>
            <a:off x="731520" y="2761488"/>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798064"/>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19" name="TextBox 18"/>
          <p:cNvSpPr txBox="1"/>
          <p:nvPr/>
        </p:nvSpPr>
        <p:spPr>
          <a:xfrm>
            <a:off x="1152144" y="2743200"/>
            <a:ext cx="7223760" cy="329184"/>
          </a:xfrm>
          <a:prstGeom prst="rect">
            <a:avLst/>
          </a:prstGeom>
          <a:noFill/>
        </p:spPr>
        <p:txBody>
          <a:bodyPr wrap="square" anchor="t" lIns="0" rIns="0" tIns="0" bIns="0">
            <a:spAutoFit/>
          </a:bodyPr>
          <a:lstStyle/>
          <a:p>
            <a:pPr algn="l">
              <a:lnSpc>
                <a:spcPct val="115000"/>
              </a:lnSpc>
            </a:pPr>
            <a:r>
              <a:rPr sz="1100" b="0">
                <a:solidFill>
                  <a:srgbClr val="000000"/>
                </a:solidFill>
                <a:latin typeface="Source Han Sans SC"/>
              </a:rPr>
              <a:t>Iterate one lap: change the threshold / add "when dark, the buzzer also beeps" (pick one)</a:t>
            </a:r>
          </a:p>
        </p:txBody>
      </p:sp>
      <p:sp>
        <p:nvSpPr>
          <p:cNvPr id="20" name="Rectangle 19"/>
          <p:cNvSpPr/>
          <p:nvPr/>
        </p:nvSpPr>
        <p:spPr>
          <a:xfrm>
            <a:off x="566928" y="3337560"/>
            <a:ext cx="8010144" cy="53035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47288"/>
            <a:ext cx="7680960" cy="310896"/>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Paste errors back verbatim — one step at a time. Don't guess and fiddle on your own.</a:t>
            </a:r>
          </a:p>
        </p:txBody>
      </p:sp>
      <p:sp>
        <p:nvSpPr>
          <p:cNvPr id="22" name="Rectangle 21"/>
          <p:cNvSpPr/>
          <p:nvPr/>
        </p:nvSpPr>
        <p:spPr>
          <a:xfrm>
            <a:off x="566928" y="3950208"/>
            <a:ext cx="8010144" cy="62179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59936"/>
            <a:ext cx="7680960" cy="402336"/>
          </a:xfrm>
          <a:prstGeom prst="rect">
            <a:avLst/>
          </a:prstGeom>
          <a:noFill/>
        </p:spPr>
        <p:txBody>
          <a:bodyPr wrap="square" anchor="t" lIns="0" rIns="0" tIns="0" bIns="0">
            <a:spAutoFit/>
          </a:bodyPr>
          <a:lstStyle/>
          <a:p>
            <a:pPr algn="l">
              <a:lnSpc>
                <a:spcPct val="125000"/>
              </a:lnSpc>
            </a:pPr>
            <a:r>
              <a:rPr sz="1050" b="0">
                <a:solidFill>
                  <a:srgbClr val="000000"/>
                </a:solidFill>
                <a:latin typeface="Source Han Sans SC"/>
              </a:rPr>
              <a:t>Done? Upgrade the need — "when it's dark, the buzzer also beeps once"; or play acceptance-tester: cover your neighbor's sensor — does their light obey?</a:t>
            </a:r>
          </a:p>
        </p:txBody>
      </p:sp>
      <p:sp>
        <p:nvSpPr>
          <p:cNvPr id="24" name="TextBox 23"/>
          <p:cNvSpPr txBox="1"/>
          <p:nvPr/>
        </p:nvSpPr>
        <p:spPr>
          <a:xfrm>
            <a:off x="566928" y="4626864"/>
            <a:ext cx="8010144" cy="201168"/>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Workbook — the loop record: my need took ___ tries to say clearly; light reading: normal ___ / hand over it ___ → my threshold is 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Send This to AI</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in the conversation you already have</a:t>
            </a:r>
          </a:p>
        </p:txBody>
      </p:sp>
      <p:sp>
        <p:nvSpPr>
          <p:cNvPr id="7" name="Rectangle 6"/>
          <p:cNvSpPr/>
          <p:nvPr/>
        </p:nvSpPr>
        <p:spPr>
          <a:xfrm>
            <a:off x="566928" y="1261872"/>
            <a:ext cx="8010144" cy="23957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371600"/>
            <a:ext cx="7571231" cy="2176272"/>
          </a:xfrm>
          <a:prstGeom prst="rect">
            <a:avLst/>
          </a:prstGeom>
          <a:noFill/>
        </p:spPr>
        <p:txBody>
          <a:bodyPr wrap="square" anchor="t" lIns="0" rIns="0" tIns="0" bIns="0">
            <a:spAutoFit/>
          </a:bodyPr>
          <a:lstStyle/>
          <a:p>
            <a:pPr algn="l">
              <a:lnSpc>
                <a:spcPct val="130000"/>
              </a:lnSpc>
            </a:pPr>
            <a:r>
              <a:rPr sz="1050" b="0">
                <a:solidFill>
                  <a:srgbClr val="000000"/>
                </a:solidFill>
                <a:latin typeface="Source Code Pro"/>
              </a:rPr>
              <a:t>I'm using aily-blockly, with a Grove Beginner Kit for Arduino</a:t>
            </a:r>
          </a:p>
          <a:p>
            <a:pPr algn="l">
              <a:lnSpc>
                <a:spcPct val="130000"/>
              </a:lnSpc>
            </a:pPr>
            <a:r>
              <a:rPr sz="1050" b="0">
                <a:solidFill>
                  <a:srgbClr val="000000"/>
                </a:solidFill>
                <a:latin typeface="Source Code Pro"/>
              </a:rPr>
              <a:t>(Seeeduino Lotus, with an onboard light sensor and LED — no wiring needed).</a:t>
            </a:r>
          </a:p>
          <a:p>
            <a:pPr algn="l">
              <a:lnSpc>
                <a:spcPct val="130000"/>
              </a:lnSpc>
            </a:pPr>
            <a:r>
              <a:rPr sz="1050" b="0">
                <a:solidFill>
                  <a:srgbClr val="000000"/>
                </a:solidFill>
                <a:latin typeface="Source Code Pro"/>
              </a:rPr>
              <a:t>Make me a new project: a night-light —</a:t>
            </a:r>
          </a:p>
          <a:p>
            <a:pPr algn="l">
              <a:lnSpc>
                <a:spcPct val="130000"/>
              </a:lnSpc>
            </a:pPr>
            <a:r>
              <a:rPr sz="1050" b="0">
                <a:solidFill>
                  <a:srgbClr val="000000"/>
                </a:solidFill>
                <a:latin typeface="Source Code Pro"/>
              </a:rPr>
              <a:t>input: light sensor reading; logic: reading below ___ counts as "dark";</a:t>
            </a:r>
          </a:p>
          <a:p>
            <a:pPr algn="l">
              <a:lnSpc>
                <a:spcPct val="130000"/>
              </a:lnSpc>
            </a:pPr>
            <a:r>
              <a:rPr sz="1050" b="0">
                <a:solidFill>
                  <a:srgbClr val="000000"/>
                </a:solidFill>
                <a:latin typeface="Source Code Pro"/>
              </a:rPr>
              <a:t>output: LED on when dark, off when bright.</a:t>
            </a:r>
          </a:p>
          <a:p>
            <a:pPr algn="l">
              <a:lnSpc>
                <a:spcPct val="130000"/>
              </a:lnSpc>
            </a:pPr>
            <a:r>
              <a:rPr sz="1050" b="0">
                <a:solidFill>
                  <a:srgbClr val="000000"/>
                </a:solidFill>
                <a:latin typeface="Source Code Pro"/>
              </a:rPr>
              <a:t>First tell me where the light sensor and LED are on the board and which pins they use,</a:t>
            </a:r>
          </a:p>
          <a:p>
            <a:pPr algn="l">
              <a:lnSpc>
                <a:spcPct val="130000"/>
              </a:lnSpc>
            </a:pPr>
            <a:r>
              <a:rPr sz="1050" b="0">
                <a:solidFill>
                  <a:srgbClr val="000000"/>
                </a:solidFill>
                <a:latin typeface="Source Code Pro"/>
              </a:rPr>
              <a:t>then give me the code, one step at a time.</a:t>
            </a:r>
          </a:p>
          <a:p>
            <a:pPr algn="l">
              <a:lnSpc>
                <a:spcPct val="130000"/>
              </a:lnSpc>
            </a:pPr>
            <a:r>
              <a:rPr sz="1050" b="0">
                <a:solidFill>
                  <a:srgbClr val="000000"/>
                </a:solidFill>
                <a:latin typeface="Source Code Pro"/>
              </a:rPr>
              <a:t>Leave the threshold number blank — I'll read the real value on the serial</a:t>
            </a:r>
          </a:p>
          <a:p>
            <a:pPr algn="l">
              <a:lnSpc>
                <a:spcPct val="130000"/>
              </a:lnSpc>
            </a:pPr>
            <a:r>
              <a:rPr sz="1050" b="0">
                <a:solidFill>
                  <a:srgbClr val="000000"/>
                </a:solidFill>
                <a:latin typeface="Source Code Pro"/>
              </a:rPr>
              <a:t>monitor and fill it in myself.</a:t>
            </a:r>
          </a:p>
        </p:txBody>
      </p:sp>
      <p:sp>
        <p:nvSpPr>
          <p:cNvPr id="9" name="Rectangle 8"/>
          <p:cNvSpPr/>
          <p:nvPr/>
        </p:nvSpPr>
        <p:spPr>
          <a:xfrm>
            <a:off x="566928" y="3785615"/>
            <a:ext cx="64008" cy="8686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822191"/>
            <a:ext cx="7589520" cy="804672"/>
          </a:xfrm>
          <a:prstGeom prst="rect">
            <a:avLst/>
          </a:prstGeom>
          <a:noFill/>
        </p:spPr>
        <p:txBody>
          <a:bodyPr wrap="square" anchor="t" lIns="0" rIns="0" tIns="0" bIns="0">
            <a:spAutoFit/>
          </a:bodyPr>
          <a:lstStyle/>
          <a:p>
            <a:pPr algn="l">
              <a:lnSpc>
                <a:spcPct val="125000"/>
              </a:lnSpc>
            </a:pPr>
            <a:r>
              <a:rPr sz="1050" b="1">
                <a:solidFill>
                  <a:srgbClr val="000000"/>
                </a:solidFill>
                <a:latin typeface="Source Han Sans SC"/>
              </a:rPr>
              <a:t>All three boxes are in there — input, logic, output.</a:t>
            </a:r>
          </a:p>
          <a:p>
            <a:pPr algn="l">
              <a:lnSpc>
                <a:spcPct val="125000"/>
              </a:lnSpc>
            </a:pPr>
            <a:r>
              <a:rPr sz="1050" b="0">
                <a:solidFill>
                  <a:srgbClr val="000000"/>
                </a:solidFill>
                <a:latin typeface="Source Han Sans SC"/>
              </a:rPr>
              <a:t>Leave the threshold blank: the number in your need is measured</a:t>
            </a:r>
          </a:p>
          <a:p>
            <a:pPr algn="l">
              <a:lnSpc>
                <a:spcPct val="125000"/>
              </a:lnSpc>
            </a:pPr>
            <a:r>
              <a:rPr sz="1050" b="0">
                <a:solidFill>
                  <a:srgbClr val="000000"/>
                </a:solidFill>
                <a:latin typeface="Source Han Sans SC"/>
              </a:rPr>
              <a:t>by your own hand, not made up by 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Dusk Alarm Station</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two boards, two programs, one wire linking them</a:t>
            </a:r>
          </a:p>
        </p:txBody>
      </p:sp>
      <p:sp>
        <p:nvSpPr>
          <p:cNvPr id="7" name="Rectangle 6"/>
          <p:cNvSpPr/>
          <p:nvPr/>
        </p:nvSpPr>
        <p:spPr>
          <a:xfrm>
            <a:off x="566928" y="1097280"/>
            <a:ext cx="3749039" cy="10058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170432"/>
            <a:ext cx="3456432" cy="868680"/>
          </a:xfrm>
          <a:prstGeom prst="rect">
            <a:avLst/>
          </a:prstGeom>
          <a:noFill/>
        </p:spPr>
        <p:txBody>
          <a:bodyPr wrap="square" anchor="t" lIns="0" rIns="0" tIns="0" bIns="0">
            <a:spAutoFit/>
          </a:bodyPr>
          <a:lstStyle/>
          <a:p>
            <a:pPr algn="l">
              <a:lnSpc>
                <a:spcPct val="120000"/>
              </a:lnSpc>
            </a:pPr>
            <a:r>
              <a:rPr sz="1150" b="1">
                <a:solidFill>
                  <a:srgbClr val="000000"/>
                </a:solidFill>
                <a:latin typeface="Source Han Sans SC"/>
              </a:rPr>
              <a:t>THE LOOKOUT — Grove Beginner Kit</a:t>
            </a:r>
          </a:p>
          <a:p>
            <a:pPr algn="l">
              <a:lnSpc>
                <a:spcPct val="120000"/>
              </a:lnSpc>
            </a:pPr>
            <a:r>
              <a:rPr sz="1000" b="0">
                <a:solidFill>
                  <a:srgbClr val="000000"/>
                </a:solidFill>
                <a:latin typeface="Source Han Sans SC"/>
              </a:rPr>
              <a:t>light sensor watches the sky → when dark: lights its own LED + "raises its hand" on the signal pin (HIGH)</a:t>
            </a:r>
          </a:p>
        </p:txBody>
      </p:sp>
      <p:sp>
        <p:nvSpPr>
          <p:cNvPr id="9" name="Rectangle 8"/>
          <p:cNvSpPr/>
          <p:nvPr/>
        </p:nvSpPr>
        <p:spPr>
          <a:xfrm>
            <a:off x="4828032" y="1097280"/>
            <a:ext cx="3749039" cy="10058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74336" y="1170432"/>
            <a:ext cx="3456432" cy="868680"/>
          </a:xfrm>
          <a:prstGeom prst="rect">
            <a:avLst/>
          </a:prstGeom>
          <a:noFill/>
        </p:spPr>
        <p:txBody>
          <a:bodyPr wrap="square" anchor="t" lIns="0" rIns="0" tIns="0" bIns="0">
            <a:spAutoFit/>
          </a:bodyPr>
          <a:lstStyle/>
          <a:p>
            <a:pPr algn="l">
              <a:lnSpc>
                <a:spcPct val="120000"/>
              </a:lnSpc>
            </a:pPr>
            <a:r>
              <a:rPr sz="1150" b="1">
                <a:solidFill>
                  <a:srgbClr val="000000"/>
                </a:solidFill>
                <a:latin typeface="Source Han Sans SC"/>
              </a:rPr>
              <a:t>THE ALARM POST — Wio Terminal</a:t>
            </a:r>
          </a:p>
          <a:p>
            <a:pPr algn="l">
              <a:lnSpc>
                <a:spcPct val="120000"/>
              </a:lnSpc>
            </a:pPr>
            <a:r>
              <a:rPr sz="1000" b="0">
                <a:solidFill>
                  <a:srgbClr val="000000"/>
                </a:solidFill>
                <a:latin typeface="Source Han Sans SC"/>
              </a:rPr>
              <a:t>watches the signal pin: sees the hand → screen "It's dark!" + beep; no signal → screen "All clear"</a:t>
            </a:r>
          </a:p>
        </p:txBody>
      </p:sp>
      <p:sp>
        <p:nvSpPr>
          <p:cNvPr id="11" name="Rectangle 10"/>
          <p:cNvSpPr/>
          <p:nvPr/>
        </p:nvSpPr>
        <p:spPr>
          <a:xfrm>
            <a:off x="1097280" y="2340864"/>
            <a:ext cx="6949440" cy="182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0" y="2194560"/>
            <a:ext cx="5120640"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2231136"/>
            <a:ext cx="5120640" cy="237744"/>
          </a:xfrm>
          <a:prstGeom prst="rect">
            <a:avLst/>
          </a:prstGeom>
          <a:noFill/>
        </p:spPr>
        <p:txBody>
          <a:bodyPr wrap="square" anchor="t" lIns="0" rIns="0" tIns="0" bIns="0">
            <a:spAutoFit/>
          </a:bodyPr>
          <a:lstStyle/>
          <a:p>
            <a:pPr algn="ctr">
              <a:lnSpc>
                <a:spcPct val="100000"/>
              </a:lnSpc>
            </a:pPr>
            <a:r>
              <a:rPr sz="1050" b="1">
                <a:solidFill>
                  <a:srgbClr val="000000"/>
                </a:solidFill>
                <a:latin typeface="Source Han Sans SC"/>
              </a:rPr>
              <a:t>ONE GROVE CABLE: signal + ground, agreed pin → agreed pin</a:t>
            </a:r>
          </a:p>
        </p:txBody>
      </p:sp>
      <p:sp>
        <p:nvSpPr>
          <p:cNvPr id="14" name="Rectangle 13"/>
          <p:cNvSpPr/>
          <p:nvPr/>
        </p:nvSpPr>
        <p:spPr>
          <a:xfrm>
            <a:off x="566928" y="2606040"/>
            <a:ext cx="8010144" cy="11887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2697480"/>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34056"/>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7" name="TextBox 16"/>
          <p:cNvSpPr txBox="1"/>
          <p:nvPr/>
        </p:nvSpPr>
        <p:spPr>
          <a:xfrm>
            <a:off x="1152144" y="2679192"/>
            <a:ext cx="7223760" cy="256032"/>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Send part one: split the job, ask for the wiring explanation (no code yet)</a:t>
            </a:r>
          </a:p>
        </p:txBody>
      </p:sp>
      <p:sp>
        <p:nvSpPr>
          <p:cNvPr id="18" name="Rectangle 17"/>
          <p:cNvSpPr/>
          <p:nvPr/>
        </p:nvSpPr>
        <p:spPr>
          <a:xfrm>
            <a:off x="731520" y="3044952"/>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081528"/>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20" name="TextBox 19"/>
          <p:cNvSpPr txBox="1"/>
          <p:nvPr/>
        </p:nvSpPr>
        <p:spPr>
          <a:xfrm>
            <a:off x="1152144" y="3026664"/>
            <a:ext cx="7223760" cy="256032"/>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Send parts two and three: generate and flash each program separately — run each board solo first</a:t>
            </a:r>
          </a:p>
        </p:txBody>
      </p:sp>
      <p:sp>
        <p:nvSpPr>
          <p:cNvPr id="21" name="Rectangle 20"/>
          <p:cNvSpPr/>
          <p:nvPr/>
        </p:nvSpPr>
        <p:spPr>
          <a:xfrm>
            <a:off x="731520" y="3392424"/>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429000"/>
            <a:ext cx="292608"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23" name="TextBox 22"/>
          <p:cNvSpPr txBox="1"/>
          <p:nvPr/>
        </p:nvSpPr>
        <p:spPr>
          <a:xfrm>
            <a:off x="1152144" y="3374136"/>
            <a:ext cx="7223760" cy="384048"/>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Link and verify: cover the light sensor, watch the alarm post — dead link? run the three checks (did each board run solo? / is the signal wire on the agreed pins? / is the ground shared?)</a:t>
            </a:r>
          </a:p>
        </p:txBody>
      </p:sp>
      <p:sp>
        <p:nvSpPr>
          <p:cNvPr id="24" name="Rectangle 23"/>
          <p:cNvSpPr/>
          <p:nvPr/>
        </p:nvSpPr>
        <p:spPr>
          <a:xfrm>
            <a:off x="566928" y="3877056"/>
            <a:ext cx="8010144" cy="5029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986784"/>
            <a:ext cx="7680960" cy="283464"/>
          </a:xfrm>
          <a:prstGeom prst="rect">
            <a:avLst/>
          </a:prstGeom>
          <a:noFill/>
        </p:spPr>
        <p:txBody>
          <a:bodyPr wrap="square" anchor="t" lIns="0" rIns="0" tIns="0" bIns="0">
            <a:spAutoFit/>
          </a:bodyPr>
          <a:lstStyle/>
          <a:p>
            <a:pPr algn="l">
              <a:lnSpc>
                <a:spcPct val="125000"/>
              </a:lnSpc>
            </a:pPr>
            <a:r>
              <a:rPr sz="1050" b="0">
                <a:solidFill>
                  <a:srgbClr val="000000"/>
                </a:solidFill>
                <a:latin typeface="Source Han Sans SC"/>
              </a:rPr>
              <a:t>NINE DEAD LINKS OUT OF TEN ARE A WRONG PORT OR A LOOSE CABLE — is it CLICKED IN FIRMLY?</a:t>
            </a:r>
          </a:p>
        </p:txBody>
      </p:sp>
      <p:sp>
        <p:nvSpPr>
          <p:cNvPr id="26" name="TextBox 25"/>
          <p:cNvSpPr txBox="1"/>
          <p:nvPr/>
        </p:nvSpPr>
        <p:spPr>
          <a:xfrm>
            <a:off x="566928" y="4425696"/>
            <a:ext cx="8010144" cy="182880"/>
          </a:xfrm>
          <a:prstGeom prst="rect">
            <a:avLst/>
          </a:prstGeom>
          <a:noFill/>
        </p:spPr>
        <p:txBody>
          <a:bodyPr wrap="square" anchor="t" lIns="0" rIns="0" tIns="0" bIns="0">
            <a:spAutoFit/>
          </a:bodyPr>
          <a:lstStyle/>
          <a:p>
            <a:pPr algn="l">
              <a:lnSpc>
                <a:spcPct val="100000"/>
              </a:lnSpc>
            </a:pPr>
            <a:r>
              <a:rPr sz="900" b="0">
                <a:solidFill>
                  <a:srgbClr val="000000"/>
                </a:solidFill>
                <a:latin typeface="Source Han Sans SC"/>
              </a:rPr>
              <a:t>Fast lane: Wio shows the current light reading · press the Wio button to clear the alarm · flip it (Wio becomes the lookout)</a:t>
            </a:r>
          </a:p>
        </p:txBody>
      </p:sp>
      <p:sp>
        <p:nvSpPr>
          <p:cNvPr id="27" name="TextBox 26"/>
          <p:cNvSpPr txBox="1"/>
          <p:nvPr/>
        </p:nvSpPr>
        <p:spPr>
          <a:xfrm>
            <a:off x="566928" y="4608576"/>
            <a:ext cx="8010144" cy="182880"/>
          </a:xfrm>
          <a:prstGeom prst="rect">
            <a:avLst/>
          </a:prstGeom>
          <a:noFill/>
        </p:spPr>
        <p:txBody>
          <a:bodyPr wrap="square" anchor="t" lIns="0" rIns="0" tIns="0" bIns="0">
            <a:spAutoFit/>
          </a:bodyPr>
          <a:lstStyle/>
          <a:p>
            <a:pPr algn="l">
              <a:lnSpc>
                <a:spcPct val="100000"/>
              </a:lnSpc>
            </a:pPr>
            <a:r>
              <a:rPr sz="900" b="0">
                <a:solidFill>
                  <a:srgbClr val="000000"/>
                </a:solidFill>
                <a:latin typeface="Source Han Sans SC"/>
              </a:rPr>
              <a:t>Workbook — the lookout's hand pin is ___; the alarm post knows because ___; our link's first failure was because ___.</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Three Parts, Same Window — Send in Order</a:t>
            </a:r>
          </a:p>
        </p:txBody>
      </p:sp>
      <p:sp>
        <p:nvSpPr>
          <p:cNvPr id="6" name="Rectangle 5"/>
          <p:cNvSpPr/>
          <p:nvPr/>
        </p:nvSpPr>
        <p:spPr>
          <a:xfrm>
            <a:off x="566928" y="960120"/>
            <a:ext cx="8010144" cy="198424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014984"/>
            <a:ext cx="7607808" cy="1892807"/>
          </a:xfrm>
          <a:prstGeom prst="rect">
            <a:avLst/>
          </a:prstGeom>
          <a:noFill/>
        </p:spPr>
        <p:txBody>
          <a:bodyPr wrap="square" anchor="t" lIns="0" rIns="0" tIns="0" bIns="0">
            <a:spAutoFit/>
          </a:bodyPr>
          <a:lstStyle/>
          <a:p>
            <a:pPr algn="l">
              <a:lnSpc>
                <a:spcPct val="125000"/>
              </a:lnSpc>
            </a:pPr>
            <a:r>
              <a:rPr sz="850" b="1">
                <a:solidFill>
                  <a:srgbClr val="000000"/>
                </a:solidFill>
                <a:latin typeface="Source Code Pro"/>
              </a:rPr>
              <a:t>PART ONE — SPLIT THE JOB FIRST</a:t>
            </a:r>
          </a:p>
          <a:p>
            <a:pPr algn="l">
              <a:lnSpc>
                <a:spcPct val="125000"/>
              </a:lnSpc>
            </a:pPr>
            <a:r>
              <a:rPr sz="850" b="0">
                <a:solidFill>
                  <a:srgbClr val="000000"/>
                </a:solidFill>
                <a:latin typeface="Source Code Pro"/>
              </a:rPr>
              <a:t>I have two boards: a Grove Beginner Kit for Arduino (Seeeduino Lotus,</a:t>
            </a:r>
          </a:p>
          <a:p>
            <a:pPr algn="l">
              <a:lnSpc>
                <a:spcPct val="125000"/>
              </a:lnSpc>
            </a:pPr>
            <a:r>
              <a:rPr sz="850" b="0">
                <a:solidFill>
                  <a:srgbClr val="000000"/>
                </a:solidFill>
                <a:latin typeface="Source Code Pro"/>
              </a:rPr>
              <a:t>with onboard light sensor and LED) and a Wio Terminal (with screen and buzzer).</a:t>
            </a:r>
          </a:p>
          <a:p>
            <a:pPr algn="l">
              <a:lnSpc>
                <a:spcPct val="125000"/>
              </a:lnSpc>
            </a:pPr>
            <a:r>
              <a:rPr sz="850" b="0">
                <a:solidFill>
                  <a:srgbClr val="000000"/>
                </a:solidFill>
                <a:latin typeface="Source Code Pro"/>
              </a:rPr>
              <a:t>I want to build a "dusk alarm station": the Beginner Kit is the lookout —</a:t>
            </a:r>
          </a:p>
          <a:p>
            <a:pPr algn="l">
              <a:lnSpc>
                <a:spcPct val="125000"/>
              </a:lnSpc>
            </a:pPr>
            <a:r>
              <a:rPr sz="850" b="0">
                <a:solidFill>
                  <a:srgbClr val="000000"/>
                </a:solidFill>
                <a:latin typeface="Source Code Pro"/>
              </a:rPr>
              <a:t>when it's dark it lights its LED and "raises its hand" (outputs HIGH) on one</a:t>
            </a:r>
          </a:p>
          <a:p>
            <a:pPr algn="l">
              <a:lnSpc>
                <a:spcPct val="125000"/>
              </a:lnSpc>
            </a:pPr>
            <a:r>
              <a:rPr sz="850" b="0">
                <a:solidFill>
                  <a:srgbClr val="000000"/>
                </a:solidFill>
                <a:latin typeface="Source Code Pro"/>
              </a:rPr>
              <a:t>digital pin; the Wio Terminal is the alarm post — when it reads that signal,</a:t>
            </a:r>
          </a:p>
          <a:p>
            <a:pPr algn="l">
              <a:lnSpc>
                <a:spcPct val="125000"/>
              </a:lnSpc>
            </a:pPr>
            <a:r>
              <a:rPr sz="850" b="0">
                <a:solidFill>
                  <a:srgbClr val="000000"/>
                </a:solidFill>
                <a:latin typeface="Source Code Pro"/>
              </a:rPr>
              <a:t>the screen shows "It's dark!" and the buzzer beeps once.</a:t>
            </a:r>
          </a:p>
          <a:p>
            <a:pPr algn="l">
              <a:lnSpc>
                <a:spcPct val="125000"/>
              </a:lnSpc>
            </a:pPr>
            <a:r>
              <a:rPr sz="850" b="0">
                <a:solidFill>
                  <a:srgbClr val="000000"/>
                </a:solidFill>
                <a:latin typeface="Source Code Pro"/>
              </a:rPr>
              <a:t>First help me sort this out: what does each end do? How do the signal wire</a:t>
            </a:r>
          </a:p>
          <a:p>
            <a:pPr algn="l">
              <a:lnSpc>
                <a:spcPct val="125000"/>
              </a:lnSpc>
            </a:pPr>
            <a:r>
              <a:rPr sz="850" b="0">
                <a:solidFill>
                  <a:srgbClr val="000000"/>
                </a:solidFill>
                <a:latin typeface="Source Code Pro"/>
              </a:rPr>
              <a:t>and ground connect (which two pins)? Draw me a wiring explanation I can</a:t>
            </a:r>
          </a:p>
          <a:p>
            <a:pPr algn="l">
              <a:lnSpc>
                <a:spcPct val="125000"/>
              </a:lnSpc>
            </a:pPr>
            <a:r>
              <a:rPr sz="850" b="0">
                <a:solidFill>
                  <a:srgbClr val="000000"/>
                </a:solidFill>
                <a:latin typeface="Source Code Pro"/>
              </a:rPr>
              <a:t>understand. Don't write code yet.</a:t>
            </a:r>
          </a:p>
        </p:txBody>
      </p:sp>
      <p:sp>
        <p:nvSpPr>
          <p:cNvPr id="8" name="Rectangle 7"/>
          <p:cNvSpPr/>
          <p:nvPr/>
        </p:nvSpPr>
        <p:spPr>
          <a:xfrm>
            <a:off x="566928" y="2258568"/>
            <a:ext cx="8010144" cy="859536"/>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13432"/>
            <a:ext cx="7607808" cy="768096"/>
          </a:xfrm>
          <a:prstGeom prst="rect">
            <a:avLst/>
          </a:prstGeom>
          <a:noFill/>
        </p:spPr>
        <p:txBody>
          <a:bodyPr wrap="square" anchor="t" lIns="0" rIns="0" tIns="0" bIns="0">
            <a:spAutoFit/>
          </a:bodyPr>
          <a:lstStyle/>
          <a:p>
            <a:pPr algn="l">
              <a:lnSpc>
                <a:spcPct val="125000"/>
              </a:lnSpc>
            </a:pPr>
            <a:r>
              <a:rPr sz="850" b="1">
                <a:solidFill>
                  <a:srgbClr val="000000"/>
                </a:solidFill>
                <a:latin typeface="Source Code Pro"/>
              </a:rPr>
              <a:t>PART TWO — ASK FOR THE LOOKOUT PROGRAM</a:t>
            </a:r>
          </a:p>
          <a:p>
            <a:pPr algn="l">
              <a:lnSpc>
                <a:spcPct val="125000"/>
              </a:lnSpc>
            </a:pPr>
            <a:r>
              <a:rPr sz="850" b="0">
                <a:solidFill>
                  <a:srgbClr val="000000"/>
                </a:solidFill>
                <a:latin typeface="Source Code Pro"/>
              </a:rPr>
              <a:t>Division's clear. Now give me the program for the Beginner Kit (the lookout):</a:t>
            </a:r>
          </a:p>
          <a:p>
            <a:pPr algn="l">
              <a:lnSpc>
                <a:spcPct val="125000"/>
              </a:lnSpc>
            </a:pPr>
            <a:r>
              <a:rPr sz="850" b="0">
                <a:solidFill>
                  <a:srgbClr val="000000"/>
                </a:solidFill>
                <a:latin typeface="Source Code Pro"/>
              </a:rPr>
              <a:t>read the light sensor; when it's dark, LED on + signal pin raises its hand;</a:t>
            </a:r>
          </a:p>
          <a:p>
            <a:pPr algn="l">
              <a:lnSpc>
                <a:spcPct val="125000"/>
              </a:lnSpc>
            </a:pPr>
            <a:r>
              <a:rPr sz="850" b="0">
                <a:solidFill>
                  <a:srgbClr val="000000"/>
                </a:solidFill>
                <a:latin typeface="Source Code Pro"/>
              </a:rPr>
              <a:t>when bright, the reverse. Use the threshold I measured: ___. One step at a time.</a:t>
            </a:r>
          </a:p>
        </p:txBody>
      </p:sp>
      <p:sp>
        <p:nvSpPr>
          <p:cNvPr id="10" name="Rectangle 9"/>
          <p:cNvSpPr/>
          <p:nvPr/>
        </p:nvSpPr>
        <p:spPr>
          <a:xfrm>
            <a:off x="566928" y="3557015"/>
            <a:ext cx="8010144" cy="859536"/>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611879"/>
            <a:ext cx="7607808" cy="768096"/>
          </a:xfrm>
          <a:prstGeom prst="rect">
            <a:avLst/>
          </a:prstGeom>
          <a:noFill/>
        </p:spPr>
        <p:txBody>
          <a:bodyPr wrap="square" anchor="t" lIns="0" rIns="0" tIns="0" bIns="0">
            <a:spAutoFit/>
          </a:bodyPr>
          <a:lstStyle/>
          <a:p>
            <a:pPr algn="l">
              <a:lnSpc>
                <a:spcPct val="125000"/>
              </a:lnSpc>
            </a:pPr>
            <a:r>
              <a:rPr sz="850" b="1">
                <a:solidFill>
                  <a:srgbClr val="000000"/>
                </a:solidFill>
                <a:latin typeface="Source Code Pro"/>
              </a:rPr>
              <a:t>PART THREE — ASK FOR THE ALARM POST PROGRAM</a:t>
            </a:r>
          </a:p>
          <a:p>
            <a:pPr algn="l">
              <a:lnSpc>
                <a:spcPct val="125000"/>
              </a:lnSpc>
            </a:pPr>
            <a:r>
              <a:rPr sz="850" b="0">
                <a:solidFill>
                  <a:srgbClr val="000000"/>
                </a:solidFill>
                <a:latin typeface="Source Code Pro"/>
              </a:rPr>
              <a:t>Now the program for the Wio Terminal (the alarm post): watch the signal pin —</a:t>
            </a:r>
          </a:p>
          <a:p>
            <a:pPr algn="l">
              <a:lnSpc>
                <a:spcPct val="125000"/>
              </a:lnSpc>
            </a:pPr>
            <a:r>
              <a:rPr sz="850" b="0">
                <a:solidFill>
                  <a:srgbClr val="000000"/>
                </a:solidFill>
                <a:latin typeface="Source Code Pro"/>
              </a:rPr>
              <a:t>when it sees the hand go up, the screen shows "It's dark!" and the buzzer</a:t>
            </a:r>
          </a:p>
          <a:p>
            <a:pPr algn="l">
              <a:lnSpc>
                <a:spcPct val="125000"/>
              </a:lnSpc>
            </a:pPr>
            <a:r>
              <a:rPr sz="850" b="0">
                <a:solidFill>
                  <a:srgbClr val="000000"/>
                </a:solidFill>
                <a:latin typeface="Source Code Pro"/>
              </a:rPr>
              <a:t>beeps once; when it doesn't, the screen shows "All clear." One step at a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Three Whole-Class Calls</a:t>
            </a:r>
          </a:p>
        </p:txBody>
      </p:sp>
      <p:sp>
        <p:nvSpPr>
          <p:cNvPr id="6" name="Rectangle 5"/>
          <p:cNvSpPr/>
          <p:nvPr/>
        </p:nvSpPr>
        <p:spPr>
          <a:xfrm>
            <a:off x="566928" y="1234440"/>
            <a:ext cx="8010144"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234440"/>
            <a:ext cx="64008" cy="9144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25880"/>
            <a:ext cx="7589520" cy="219456"/>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CALL 1 · 15:35</a:t>
            </a:r>
          </a:p>
        </p:txBody>
      </p:sp>
      <p:sp>
        <p:nvSpPr>
          <p:cNvPr id="9" name="TextBox 8"/>
          <p:cNvSpPr txBox="1"/>
          <p:nvPr/>
        </p:nvSpPr>
        <p:spPr>
          <a:xfrm>
            <a:off x="822960" y="1581912"/>
            <a:ext cx="7589520" cy="256032"/>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Time to open the serial monitor — write down your normal number and your hand-over number.</a:t>
            </a:r>
          </a:p>
        </p:txBody>
      </p:sp>
      <p:sp>
        <p:nvSpPr>
          <p:cNvPr id="10" name="TextBox 9"/>
          <p:cNvSpPr txBox="1"/>
          <p:nvPr/>
        </p:nvSpPr>
        <p:spPr>
          <a:xfrm>
            <a:off x="822960" y="1837944"/>
            <a:ext cx="7589520" cy="256032"/>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PUT YOUR NUMBER BACK INTO YOUR NEED.</a:t>
            </a:r>
          </a:p>
        </p:txBody>
      </p:sp>
      <p:sp>
        <p:nvSpPr>
          <p:cNvPr id="11" name="Rectangle 10"/>
          <p:cNvSpPr/>
          <p:nvPr/>
        </p:nvSpPr>
        <p:spPr>
          <a:xfrm>
            <a:off x="566928" y="2331720"/>
            <a:ext cx="8010144"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331720"/>
            <a:ext cx="64008" cy="9144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423160"/>
            <a:ext cx="7589520" cy="219456"/>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CALL 2 · 16:15</a:t>
            </a:r>
          </a:p>
        </p:txBody>
      </p:sp>
      <p:sp>
        <p:nvSpPr>
          <p:cNvPr id="14" name="TextBox 13"/>
          <p:cNvSpPr txBox="1"/>
          <p:nvPr/>
        </p:nvSpPr>
        <p:spPr>
          <a:xfrm>
            <a:off x="822960" y="2679191"/>
            <a:ext cx="7589520" cy="256032"/>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Both programs flashed?</a:t>
            </a:r>
          </a:p>
        </p:txBody>
      </p:sp>
      <p:sp>
        <p:nvSpPr>
          <p:cNvPr id="15" name="TextBox 14"/>
          <p:cNvSpPr txBox="1"/>
          <p:nvPr/>
        </p:nvSpPr>
        <p:spPr>
          <a:xfrm>
            <a:off x="822960" y="2935224"/>
            <a:ext cx="7589520" cy="256032"/>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RUN EACH BOARD SOLO FIRST — THEN LINK THEM.</a:t>
            </a:r>
          </a:p>
        </p:txBody>
      </p:sp>
      <p:sp>
        <p:nvSpPr>
          <p:cNvPr id="16" name="Rectangle 15"/>
          <p:cNvSpPr/>
          <p:nvPr/>
        </p:nvSpPr>
        <p:spPr>
          <a:xfrm>
            <a:off x="566928" y="3429000"/>
            <a:ext cx="8010144"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429000"/>
            <a:ext cx="64008" cy="9144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520440"/>
            <a:ext cx="7589520" cy="219456"/>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CALL 3 · 16:30</a:t>
            </a:r>
          </a:p>
        </p:txBody>
      </p:sp>
      <p:sp>
        <p:nvSpPr>
          <p:cNvPr id="19" name="TextBox 18"/>
          <p:cNvSpPr txBox="1"/>
          <p:nvPr/>
        </p:nvSpPr>
        <p:spPr>
          <a:xfrm>
            <a:off x="822960" y="3776472"/>
            <a:ext cx="7589520" cy="256032"/>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Linking check, two things — is the Grove cable in the right port?</a:t>
            </a:r>
          </a:p>
        </p:txBody>
      </p:sp>
      <p:sp>
        <p:nvSpPr>
          <p:cNvPr id="20" name="TextBox 19"/>
          <p:cNvSpPr txBox="1"/>
          <p:nvPr/>
        </p:nvSpPr>
        <p:spPr>
          <a:xfrm>
            <a:off x="822960" y="4032504"/>
            <a:ext cx="7589520" cy="256032"/>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IS IT CLICKED IN FIRMLY?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18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Three Sentences — and How Big Projects Run</a:t>
            </a:r>
          </a:p>
        </p:txBody>
      </p:sp>
      <p:sp>
        <p:nvSpPr>
          <p:cNvPr id="6" name="Rectangle 5"/>
          <p:cNvSpPr/>
          <p:nvPr/>
        </p:nvSpPr>
        <p:spPr>
          <a:xfrm>
            <a:off x="566928" y="118872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207008"/>
            <a:ext cx="7808975" cy="374904"/>
          </a:xfrm>
          <a:prstGeom prst="rect">
            <a:avLst/>
          </a:prstGeom>
          <a:noFill/>
        </p:spPr>
        <p:txBody>
          <a:bodyPr wrap="square" anchor="t" lIns="0" rIns="0" tIns="0" bIns="0">
            <a:spAutoFit/>
          </a:bodyPr>
          <a:lstStyle/>
          <a:p>
            <a:pPr algn="l">
              <a:lnSpc>
                <a:spcPct val="115000"/>
              </a:lnSpc>
            </a:pPr>
            <a:r>
              <a:rPr sz="2100" b="0">
                <a:solidFill>
                  <a:srgbClr val="000000"/>
                </a:solidFill>
                <a:latin typeface="Source Han Sans SC"/>
              </a:rPr>
              <a:t>It's yours.</a:t>
            </a:r>
          </a:p>
        </p:txBody>
      </p:sp>
      <p:sp>
        <p:nvSpPr>
          <p:cNvPr id="8" name="Rectangle 7"/>
          <p:cNvSpPr/>
          <p:nvPr/>
        </p:nvSpPr>
        <p:spPr>
          <a:xfrm>
            <a:off x="566928" y="169164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9928"/>
            <a:ext cx="7808975" cy="374904"/>
          </a:xfrm>
          <a:prstGeom prst="rect">
            <a:avLst/>
          </a:prstGeom>
          <a:noFill/>
        </p:spPr>
        <p:txBody>
          <a:bodyPr wrap="square" anchor="t" lIns="0" rIns="0" tIns="0" bIns="0">
            <a:spAutoFit/>
          </a:bodyPr>
          <a:lstStyle/>
          <a:p>
            <a:pPr algn="l">
              <a:lnSpc>
                <a:spcPct val="115000"/>
              </a:lnSpc>
            </a:pPr>
            <a:r>
              <a:rPr sz="2100" b="0">
                <a:solidFill>
                  <a:srgbClr val="000000"/>
                </a:solidFill>
                <a:latin typeface="Source Han Sans SC"/>
              </a:rPr>
              <a:t>You're not afraid of it.</a:t>
            </a:r>
          </a:p>
        </p:txBody>
      </p:sp>
      <p:sp>
        <p:nvSpPr>
          <p:cNvPr id="10" name="Rectangle 9"/>
          <p:cNvSpPr/>
          <p:nvPr/>
        </p:nvSpPr>
        <p:spPr>
          <a:xfrm>
            <a:off x="566928" y="219456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212848"/>
            <a:ext cx="7808975" cy="374904"/>
          </a:xfrm>
          <a:prstGeom prst="rect">
            <a:avLst/>
          </a:prstGeom>
          <a:noFill/>
        </p:spPr>
        <p:txBody>
          <a:bodyPr wrap="square" anchor="t" lIns="0" rIns="0" tIns="0" bIns="0">
            <a:spAutoFit/>
          </a:bodyPr>
          <a:lstStyle/>
          <a:p>
            <a:pPr algn="l">
              <a:lnSpc>
                <a:spcPct val="115000"/>
              </a:lnSpc>
            </a:pPr>
            <a:r>
              <a:rPr sz="2100" b="0">
                <a:solidFill>
                  <a:srgbClr val="000000"/>
                </a:solidFill>
                <a:latin typeface="Source Han Sans SC"/>
              </a:rPr>
              <a:t>The door opened.</a:t>
            </a:r>
          </a:p>
        </p:txBody>
      </p:sp>
      <p:sp>
        <p:nvSpPr>
          <p:cNvPr id="12" name="TextBox 11"/>
          <p:cNvSpPr txBox="1"/>
          <p:nvPr/>
        </p:nvSpPr>
        <p:spPr>
          <a:xfrm>
            <a:off x="566928" y="2880360"/>
            <a:ext cx="8010144" cy="21945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HOW BIG PROJECTS RUN</a:t>
            </a:r>
          </a:p>
        </p:txBody>
      </p:sp>
      <p:sp>
        <p:nvSpPr>
          <p:cNvPr id="13" name="Rectangle 12"/>
          <p:cNvSpPr/>
          <p:nvPr/>
        </p:nvSpPr>
        <p:spPr>
          <a:xfrm>
            <a:off x="566928" y="3154680"/>
            <a:ext cx="2487168"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46120"/>
            <a:ext cx="2304288" cy="457200"/>
          </a:xfrm>
          <a:prstGeom prst="rect">
            <a:avLst/>
          </a:prstGeom>
          <a:noFill/>
        </p:spPr>
        <p:txBody>
          <a:bodyPr wrap="square" anchor="t" lIns="0" rIns="0" tIns="0" bIns="0">
            <a:spAutoFit/>
          </a:bodyPr>
          <a:lstStyle/>
          <a:p>
            <a:pPr algn="ctr">
              <a:lnSpc>
                <a:spcPct val="110000"/>
              </a:lnSpc>
            </a:pPr>
            <a:r>
              <a:rPr sz="1100" b="1">
                <a:solidFill>
                  <a:srgbClr val="000000"/>
                </a:solidFill>
                <a:latin typeface="Source Han Sans SC"/>
              </a:rPr>
              <a:t>SET THE SPEC FIRST</a:t>
            </a:r>
          </a:p>
        </p:txBody>
      </p:sp>
      <p:sp>
        <p:nvSpPr>
          <p:cNvPr id="15" name="TextBox 14"/>
          <p:cNvSpPr txBox="1"/>
          <p:nvPr/>
        </p:nvSpPr>
        <p:spPr>
          <a:xfrm>
            <a:off x="658368" y="3703320"/>
            <a:ext cx="2304288" cy="256032"/>
          </a:xfrm>
          <a:prstGeom prst="rect">
            <a:avLst/>
          </a:prstGeom>
          <a:noFill/>
        </p:spPr>
        <p:txBody>
          <a:bodyPr wrap="square" anchor="t" lIns="0" rIns="0" tIns="0" bIns="0">
            <a:spAutoFit/>
          </a:bodyPr>
          <a:lstStyle/>
          <a:p>
            <a:pPr algn="ctr">
              <a:lnSpc>
                <a:spcPct val="100000"/>
              </a:lnSpc>
            </a:pPr>
            <a:r>
              <a:rPr sz="1000" b="0">
                <a:solidFill>
                  <a:srgbClr val="000000"/>
                </a:solidFill>
                <a:latin typeface="Source Han Sans SC"/>
              </a:rPr>
              <a:t>(the standard)</a:t>
            </a:r>
          </a:p>
        </p:txBody>
      </p:sp>
      <p:sp>
        <p:nvSpPr>
          <p:cNvPr id="16" name="TextBox 15"/>
          <p:cNvSpPr txBox="1"/>
          <p:nvPr/>
        </p:nvSpPr>
        <p:spPr>
          <a:xfrm>
            <a:off x="3054096" y="3154680"/>
            <a:ext cx="274320" cy="868680"/>
          </a:xfrm>
          <a:prstGeom prst="rect">
            <a:avLst/>
          </a:prstGeom>
          <a:noFill/>
        </p:spPr>
        <p:txBody>
          <a:bodyPr wrap="none" anchor="ctr" lIns="0" rIns="0" tIns="0" bIns="0">
            <a:spAutoFit/>
          </a:bodyPr>
          <a:lstStyle/>
          <a:p>
            <a:pPr algn="ctr">
              <a:lnSpc>
                <a:spcPct val="100000"/>
              </a:lnSpc>
            </a:pPr>
            <a:r>
              <a:rPr sz="1800" b="1">
                <a:solidFill>
                  <a:srgbClr val="F3D230"/>
                </a:solidFill>
                <a:latin typeface="Source Han Sans SC"/>
              </a:rPr>
              <a:t>→</a:t>
            </a:r>
          </a:p>
        </p:txBody>
      </p:sp>
      <p:sp>
        <p:nvSpPr>
          <p:cNvPr id="17" name="Rectangle 16"/>
          <p:cNvSpPr/>
          <p:nvPr/>
        </p:nvSpPr>
        <p:spPr>
          <a:xfrm>
            <a:off x="3328416" y="3154680"/>
            <a:ext cx="2487168"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19856" y="3246120"/>
            <a:ext cx="2304288" cy="457200"/>
          </a:xfrm>
          <a:prstGeom prst="rect">
            <a:avLst/>
          </a:prstGeom>
          <a:noFill/>
        </p:spPr>
        <p:txBody>
          <a:bodyPr wrap="square" anchor="t" lIns="0" rIns="0" tIns="0" bIns="0">
            <a:spAutoFit/>
          </a:bodyPr>
          <a:lstStyle/>
          <a:p>
            <a:pPr algn="ctr">
              <a:lnSpc>
                <a:spcPct val="110000"/>
              </a:lnSpc>
            </a:pPr>
            <a:r>
              <a:rPr sz="1100" b="1">
                <a:solidFill>
                  <a:srgbClr val="000000"/>
                </a:solidFill>
                <a:latin typeface="Source Han Sans SC"/>
              </a:rPr>
              <a:t>BUILD ONE FUNCTION AT A TIME</a:t>
            </a:r>
          </a:p>
        </p:txBody>
      </p:sp>
      <p:sp>
        <p:nvSpPr>
          <p:cNvPr id="19" name="TextBox 18"/>
          <p:cNvSpPr txBox="1"/>
          <p:nvPr/>
        </p:nvSpPr>
        <p:spPr>
          <a:xfrm>
            <a:off x="3419856" y="3703320"/>
            <a:ext cx="2304288" cy="256032"/>
          </a:xfrm>
          <a:prstGeom prst="rect">
            <a:avLst/>
          </a:prstGeom>
          <a:noFill/>
        </p:spPr>
        <p:txBody>
          <a:bodyPr wrap="square" anchor="t" lIns="0" rIns="0" tIns="0" bIns="0">
            <a:spAutoFit/>
          </a:bodyPr>
          <a:lstStyle/>
          <a:p>
            <a:pPr algn="ctr">
              <a:lnSpc>
                <a:spcPct val="100000"/>
              </a:lnSpc>
            </a:pPr>
            <a:r>
              <a:rPr sz="1000" b="0">
                <a:solidFill>
                  <a:srgbClr val="000000"/>
                </a:solidFill>
                <a:latin typeface="Source Han Sans SC"/>
              </a:rPr>
              <a:t>(each board runs its own loop)</a:t>
            </a:r>
          </a:p>
        </p:txBody>
      </p:sp>
      <p:sp>
        <p:nvSpPr>
          <p:cNvPr id="20" name="TextBox 19"/>
          <p:cNvSpPr txBox="1"/>
          <p:nvPr/>
        </p:nvSpPr>
        <p:spPr>
          <a:xfrm>
            <a:off x="5815584" y="3154680"/>
            <a:ext cx="274320" cy="868680"/>
          </a:xfrm>
          <a:prstGeom prst="rect">
            <a:avLst/>
          </a:prstGeom>
          <a:noFill/>
        </p:spPr>
        <p:txBody>
          <a:bodyPr wrap="none" anchor="ctr" lIns="0" rIns="0" tIns="0" bIns="0">
            <a:spAutoFit/>
          </a:bodyPr>
          <a:lstStyle/>
          <a:p>
            <a:pPr algn="ctr">
              <a:lnSpc>
                <a:spcPct val="100000"/>
              </a:lnSpc>
            </a:pPr>
            <a:r>
              <a:rPr sz="1800" b="1">
                <a:solidFill>
                  <a:srgbClr val="F3D230"/>
                </a:solidFill>
                <a:latin typeface="Source Han Sans SC"/>
              </a:rPr>
              <a:t>→</a:t>
            </a:r>
          </a:p>
        </p:txBody>
      </p:sp>
      <p:sp>
        <p:nvSpPr>
          <p:cNvPr id="21" name="Rectangle 20"/>
          <p:cNvSpPr/>
          <p:nvPr/>
        </p:nvSpPr>
        <p:spPr>
          <a:xfrm>
            <a:off x="6089904" y="3154680"/>
            <a:ext cx="2487168"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81344" y="3246120"/>
            <a:ext cx="2304288" cy="457200"/>
          </a:xfrm>
          <a:prstGeom prst="rect">
            <a:avLst/>
          </a:prstGeom>
          <a:noFill/>
        </p:spPr>
        <p:txBody>
          <a:bodyPr wrap="square" anchor="t" lIns="0" rIns="0" tIns="0" bIns="0">
            <a:spAutoFit/>
          </a:bodyPr>
          <a:lstStyle/>
          <a:p>
            <a:pPr algn="ctr">
              <a:lnSpc>
                <a:spcPct val="110000"/>
              </a:lnSpc>
            </a:pPr>
            <a:r>
              <a:rPr sz="1100" b="1">
                <a:solidFill>
                  <a:srgbClr val="000000"/>
                </a:solidFill>
                <a:latin typeface="Source Han Sans SC"/>
              </a:rPr>
              <a:t>LINK THEM INTO A SYSTEM</a:t>
            </a:r>
          </a:p>
        </p:txBody>
      </p:sp>
      <p:sp>
        <p:nvSpPr>
          <p:cNvPr id="23" name="TextBox 22"/>
          <p:cNvSpPr txBox="1"/>
          <p:nvPr/>
        </p:nvSpPr>
        <p:spPr>
          <a:xfrm>
            <a:off x="6181344" y="3703320"/>
            <a:ext cx="2304288" cy="256032"/>
          </a:xfrm>
          <a:prstGeom prst="rect">
            <a:avLst/>
          </a:prstGeom>
          <a:noFill/>
        </p:spPr>
        <p:txBody>
          <a:bodyPr wrap="square" anchor="t" lIns="0" rIns="0" tIns="0" bIns="0">
            <a:spAutoFit/>
          </a:bodyPr>
          <a:lstStyle/>
          <a:p>
            <a:pPr algn="ctr">
              <a:lnSpc>
                <a:spcPct val="100000"/>
              </a:lnSpc>
            </a:pPr>
            <a:r>
              <a:rPr sz="1000" b="0">
                <a:solidFill>
                  <a:srgbClr val="000000"/>
                </a:solidFill>
                <a:latin typeface="Source Han Sans SC"/>
              </a:rPr>
              <a:t>(one signal wire)</a:t>
            </a:r>
          </a:p>
        </p:txBody>
      </p:sp>
      <p:sp>
        <p:nvSpPr>
          <p:cNvPr id="24" name="TextBox 23"/>
          <p:cNvSpPr txBox="1"/>
          <p:nvPr/>
        </p:nvSpPr>
        <p:spPr>
          <a:xfrm>
            <a:off x="566928" y="4206240"/>
            <a:ext cx="8010144" cy="256032"/>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Today's alarm station did exactly this — and it's how your three marathon legs will run.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19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New Home's Manual</a:t>
            </a:r>
          </a:p>
        </p:txBody>
      </p:sp>
      <p:sp>
        <p:nvSpPr>
          <p:cNvPr id="6" name="Rectangle 5"/>
          <p:cNvSpPr/>
          <p:nvPr/>
        </p:nvSpPr>
        <p:spPr>
          <a:xfrm>
            <a:off x="566928" y="1188720"/>
            <a:ext cx="8010144" cy="11887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98448"/>
            <a:ext cx="7644383" cy="969264"/>
          </a:xfrm>
          <a:prstGeom prst="rect">
            <a:avLst/>
          </a:prstGeom>
          <a:noFill/>
        </p:spPr>
        <p:txBody>
          <a:bodyPr wrap="square" anchor="t" lIns="0" rIns="0" tIns="0" bIns="0">
            <a:spAutoFit/>
          </a:bodyPr>
          <a:lstStyle/>
          <a:p>
            <a:pPr algn="l">
              <a:lnSpc>
                <a:spcPct val="130000"/>
              </a:lnSpc>
            </a:pPr>
            <a:r>
              <a:rPr sz="1150" b="0">
                <a:solidFill>
                  <a:srgbClr val="000000"/>
                </a:solidFill>
                <a:latin typeface="Source Code Pro"/>
              </a:rPr>
              <a:t>The new home's manual: Natural-Language Hardware Development (NLHD, 15 chapters)</a:t>
            </a:r>
          </a:p>
          <a:p>
            <a:pPr algn="l">
              <a:lnSpc>
                <a:spcPct val="130000"/>
              </a:lnSpc>
            </a:pPr>
            <a:r>
              <a:rPr sz="1150" b="0">
                <a:solidFill>
                  <a:srgbClr val="000000"/>
                </a:solidFill>
                <a:latin typeface="Source Code Pro"/>
              </a:rPr>
              <a:t>https://github.com/ailyProject/Natural-Language-Hardware-Development</a:t>
            </a:r>
          </a:p>
          <a:p>
            <a:pPr algn="l">
              <a:lnSpc>
                <a:spcPct val="130000"/>
              </a:lnSpc>
            </a:pPr>
            <a:r>
              <a:rPr sz="1050" b="0">
                <a:solidFill>
                  <a:srgbClr val="000000"/>
                </a:solidFill>
                <a:latin typeface="Source Code Pro"/>
              </a:rPr>
              <a:t>— every chapter drills today's loop. You don't need to read it today — open it when you're stuck.</a:t>
            </a:r>
          </a:p>
        </p:txBody>
      </p:sp>
      <p:sp>
        <p:nvSpPr>
          <p:cNvPr id="8" name="Rectangle 7"/>
          <p:cNvSpPr/>
          <p:nvPr/>
        </p:nvSpPr>
        <p:spPr>
          <a:xfrm>
            <a:off x="566928" y="2651760"/>
            <a:ext cx="8010144" cy="9601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761488"/>
            <a:ext cx="7680960" cy="740664"/>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Log time — four lines as usual; the "done" line is required:</a:t>
            </a:r>
          </a:p>
          <a:p>
            <a:pPr algn="l">
              <a:lnSpc>
                <a:spcPct val="125000"/>
              </a:lnSpc>
            </a:pPr>
            <a:r>
              <a:rPr sz="1200" b="0">
                <a:solidFill>
                  <a:srgbClr val="000000"/>
                </a:solidFill>
                <a:latin typeface="Source Han Sans SC"/>
              </a:rPr>
              <a:t>TODAY I BUILT ___ WITH AI GUIDING ME, AND I LINKED IT TO ANOTHER BOARD;</a:t>
            </a:r>
          </a:p>
          <a:p>
            <a:pPr algn="l">
              <a:lnSpc>
                <a:spcPct val="125000"/>
              </a:lnSpc>
            </a:pPr>
            <a:r>
              <a:rPr sz="1200" b="0">
                <a:solidFill>
                  <a:srgbClr val="000000"/>
                </a:solidFill>
                <a:latin typeface="Source Han Sans SC"/>
              </a:rPr>
              <a:t>OUR LINK'S FIRST FAILURE WAS BECAUSE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Move Your Project Home | 20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Today You Moved From Tenant to Owner</a:t>
            </a:r>
          </a:p>
        </p:txBody>
      </p:sp>
      <p:sp>
        <p:nvSpPr>
          <p:cNvPr id="6" name="Rectangle 5"/>
          <p:cNvSpPr/>
          <p:nvPr/>
        </p:nvSpPr>
        <p:spPr>
          <a:xfrm>
            <a:off x="566928" y="114300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161288"/>
            <a:ext cx="7808975" cy="374904"/>
          </a:xfrm>
          <a:prstGeom prst="rect">
            <a:avLst/>
          </a:prstGeom>
          <a:noFill/>
        </p:spPr>
        <p:txBody>
          <a:bodyPr wrap="square" anchor="t" lIns="0" rIns="0" tIns="0" bIns="0">
            <a:spAutoFit/>
          </a:bodyPr>
          <a:lstStyle/>
          <a:p>
            <a:pPr algn="l">
              <a:lnSpc>
                <a:spcPct val="115000"/>
              </a:lnSpc>
            </a:pPr>
            <a:r>
              <a:rPr sz="1200" b="0">
                <a:solidFill>
                  <a:srgbClr val="000000"/>
                </a:solidFill>
                <a:latin typeface="Source Han Sans SC"/>
              </a:rPr>
              <a:t>Your project moved off someone else's server and into YOUR OWN COMPUTER — you're the owner</a:t>
            </a:r>
          </a:p>
        </p:txBody>
      </p:sp>
      <p:sp>
        <p:nvSpPr>
          <p:cNvPr id="8" name="Rectangle 7"/>
          <p:cNvSpPr/>
          <p:nvPr/>
        </p:nvSpPr>
        <p:spPr>
          <a:xfrm>
            <a:off x="566928" y="164592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64208"/>
            <a:ext cx="7808975" cy="374904"/>
          </a:xfrm>
          <a:prstGeom prst="rect">
            <a:avLst/>
          </a:prstGeom>
          <a:noFill/>
        </p:spPr>
        <p:txBody>
          <a:bodyPr wrap="square" anchor="t" lIns="0" rIns="0" tIns="0" bIns="0">
            <a:spAutoFit/>
          </a:bodyPr>
          <a:lstStyle/>
          <a:p>
            <a:pPr algn="l">
              <a:lnSpc>
                <a:spcPct val="115000"/>
              </a:lnSpc>
            </a:pPr>
            <a:r>
              <a:rPr sz="1200" b="0">
                <a:solidFill>
                  <a:srgbClr val="000000"/>
                </a:solidFill>
                <a:latin typeface="Source Han Sans SC"/>
              </a:rPr>
              <a:t>You READ a piece of code for the first time — and changed one line by hand; nothing broke</a:t>
            </a:r>
          </a:p>
        </p:txBody>
      </p:sp>
      <p:sp>
        <p:nvSpPr>
          <p:cNvPr id="10" name="Rectangle 9"/>
          <p:cNvSpPr/>
          <p:nvPr/>
        </p:nvSpPr>
        <p:spPr>
          <a:xfrm>
            <a:off x="566928" y="214884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67128"/>
            <a:ext cx="7808975" cy="374904"/>
          </a:xfrm>
          <a:prstGeom prst="rect">
            <a:avLst/>
          </a:prstGeom>
          <a:noFill/>
        </p:spPr>
        <p:txBody>
          <a:bodyPr wrap="square" anchor="t" lIns="0" rIns="0" tIns="0" bIns="0">
            <a:spAutoFit/>
          </a:bodyPr>
          <a:lstStyle/>
          <a:p>
            <a:pPr algn="l">
              <a:lnSpc>
                <a:spcPct val="115000"/>
              </a:lnSpc>
            </a:pPr>
            <a:r>
              <a:rPr sz="1200" b="0">
                <a:solidFill>
                  <a:srgbClr val="000000"/>
                </a:solidFill>
                <a:latin typeface="Source Han Sans SC"/>
              </a:rPr>
              <a:t>You DIRECTED AI to build a new project from zero — you ran the engineer's loop</a:t>
            </a:r>
          </a:p>
        </p:txBody>
      </p:sp>
      <p:sp>
        <p:nvSpPr>
          <p:cNvPr id="12" name="Rectangle 11"/>
          <p:cNvSpPr/>
          <p:nvPr/>
        </p:nvSpPr>
        <p:spPr>
          <a:xfrm>
            <a:off x="566928" y="2651760"/>
            <a:ext cx="54864" cy="4114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670048"/>
            <a:ext cx="7808975" cy="374904"/>
          </a:xfrm>
          <a:prstGeom prst="rect">
            <a:avLst/>
          </a:prstGeom>
          <a:noFill/>
        </p:spPr>
        <p:txBody>
          <a:bodyPr wrap="square" anchor="t" lIns="0" rIns="0" tIns="0" bIns="0">
            <a:spAutoFit/>
          </a:bodyPr>
          <a:lstStyle/>
          <a:p>
            <a:pPr algn="l">
              <a:lnSpc>
                <a:spcPct val="115000"/>
              </a:lnSpc>
            </a:pPr>
            <a:r>
              <a:rPr sz="1200" b="0">
                <a:solidFill>
                  <a:srgbClr val="000000"/>
                </a:solidFill>
                <a:latin typeface="Source Han Sans SC"/>
              </a:rPr>
              <a:t>You made TWO BOARDS COOPERATE — one senses, one performs, one wire, one system</a:t>
            </a:r>
          </a:p>
        </p:txBody>
      </p:sp>
      <p:sp>
        <p:nvSpPr>
          <p:cNvPr id="14" name="Rectangle 13"/>
          <p:cNvSpPr/>
          <p:nvPr/>
        </p:nvSpPr>
        <p:spPr>
          <a:xfrm>
            <a:off x="566928" y="3246120"/>
            <a:ext cx="8010144" cy="11887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337560"/>
            <a:ext cx="7644383" cy="1005840"/>
          </a:xfrm>
          <a:prstGeom prst="rect">
            <a:avLst/>
          </a:prstGeom>
          <a:noFill/>
        </p:spPr>
        <p:txBody>
          <a:bodyPr wrap="square" anchor="t" lIns="0" rIns="0" tIns="0" bIns="0">
            <a:spAutoFit/>
          </a:bodyPr>
          <a:lstStyle/>
          <a:p>
            <a:pPr algn="l">
              <a:lnSpc>
                <a:spcPct val="125000"/>
              </a:lnSpc>
            </a:pPr>
            <a:r>
              <a:rPr sz="1200" b="1">
                <a:solidFill>
                  <a:srgbClr val="000000"/>
                </a:solidFill>
                <a:latin typeface="Source Han Sans SC"/>
              </a:rPr>
              <a:t>NEXT TIME — Lesson 7: give your project a brief.</a:t>
            </a:r>
          </a:p>
          <a:p>
            <a:pPr algn="l">
              <a:lnSpc>
                <a:spcPct val="125000"/>
              </a:lnSpc>
            </a:pPr>
            <a:r>
              <a:rPr sz="1050" b="0">
                <a:solidFill>
                  <a:srgbClr val="000000"/>
                </a:solidFill>
                <a:latin typeface="Source Han Sans SC"/>
              </a:rPr>
              <a:t>Good topics grow from your own experience, not from the internet.</a:t>
            </a:r>
          </a:p>
          <a:p>
            <a:pPr algn="l">
              <a:lnSpc>
                <a:spcPct val="125000"/>
              </a:lnSpc>
            </a:pPr>
            <a:r>
              <a:rPr sz="1050" b="0">
                <a:solidFill>
                  <a:srgbClr val="000000"/>
                </a:solidFill>
                <a:latin typeface="Source Han Sans SC"/>
              </a:rPr>
              <a:t>You'll write a requirements sheet: input, logic, output — only one core function survives. Brief done, the marathon starts.</a:t>
            </a:r>
          </a:p>
        </p:txBody>
      </p:sp>
      <p:sp>
        <p:nvSpPr>
          <p:cNvPr id="16" name="TextBox 15"/>
          <p:cNvSpPr txBox="1"/>
          <p:nvPr/>
        </p:nvSpPr>
        <p:spPr>
          <a:xfrm>
            <a:off x="566928" y="4572000"/>
            <a:ext cx="8010144" cy="201168"/>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Project folders stay where they are. Boards in the 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