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page only; students see it as they sit down. No script. When the session starts, go straight to slide 02 — the opener's 30-second look-back is spoken, not projected. Left side: a small sticky-note line icon (the Brief Wall motif); yellow rule under the subtitle. Footer: Chaihuo Maker Academy · M0 · Brief Your Project | 07 / 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look-back: last session, you moved your project into your own computer — from tenant to owner. Before that, in Lesson 5, you taught your board to recognize rock, paper, scissors — and to do something after recognizing: light up, beep. And you found AI's biggest secret: it's not dumb — you just taught it too little. Three things today. One: finish last session's project — AI becomes the tester, your classmate tests your board, and we drag the faults out into the open. Two — the big one: your big project gets its brief today — starting from the sentence you pinned on the wall in Lesson 2, and walking it all the way to 'ready to build.' Three: tour the parts pool, and stock up for your big project. First thing first. Lesson 5's link not finished — raise your hand. (note names) No problem: in a moment, during the self-check, a TA runs you through the fallback prompt — five minutes to 'recognize scissors and light the LED.' Then you join the peer test normally. Still not working? You share your neighbor's board and test as a team — records count the same. A student missed Lesson 5 entirely → deploy the teacher's pre-trained model on a spare board; they join the peer test straight away (the 'tester' role doesn't need their own model). 'How far does the big project have to go?' → 'The first five lessons were learning moves. The marathon starts next session (Lesson 8) — this is what you'll run. Today, you make it official.' The second thing is the page's visual peak — the yellow highlight sells the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Plug in your little eye board — throw a scissors. Does it still know you? Knows you: sit tight. Doesn't: think back to last session's attribution — did the light change? Did you move seats? — Quick rescue: against today's light, take 10 new photos and retrain. That's 'fix the data' — you all know how. Half the models dead (new room / new light — common) → don't panic; this is the afternoon's first live teaching material: 'See — new room, and it doesn't know you. Guess what item #1 on today's trouble list is going to be. You already know it.' Retraining over 8 minutes → stop; use the 'accept' strategy: write 'this model only works at my original seat' on the record, and enter the peer test. Unfinished students catch up with TA B via the fallback prompt in this window. Stand-still — the page is a reference, not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the end of last session I said: today, AI becomes the tester. Remember Quinn — the one who helped you break your Pomodoro timer in Lesson 4? This is Quinn's vision-edition moment. Send this to AI (project it), and replace the brackets with your own project. Got your list? Don't test yet — filter it first: items too vague ('might be inaccurate') go back to AI for a specific scenario; items irrelevant to your project get crossed off. Keep at least 3 you can genuinely try. List too vague → the return prompt: 'Please rewrite item X as a concrete test: what action I do, in what environment, what I watch for.' Time collapses against the peer test → cut the list to protect the peer test: 3 items are enough; the peer test's minutes are never borrowed (it's this half's acceptance condition). Stand-still. The prompt box is 6.1 verbatim — shared text with the Teacher's Guide and the workbook; any edit must sync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 projects. In your hands: your neighbor's board + the trouble list they wrote. Test item by item, record on their list: pass, checkmark; broke, write exactly how it broke. Three rules. One: the harassment is only 'show it things' — no touching wires, no taking parts off, no covering anything except the lens. Two: if you find a fault, don't laugh at them — the list you hand over is a knife, and it's a badge of honor too: your list getting tested to the breaking point means your neighbor is a real professional. Three: after you test theirs, they test yours — both lists get filled. The red line is the deck's first red — the hardware boundary. The peer test turns into actual sabotage (pulling wires / covering the lens) → restate the rules once; repeat offenders get promoted to power-cycle tester (their official test: 'unplug the power and plug it back — does it recover?' — which is, genuinely, an effective test). One side's project doesn't run → pair up on the working one; the student without a running board takes the tester+recorder role (records are still a deliverable). Finished early → free-form escalation: 'Forget the list. Think of the nastiest move yourself.' This block is this half's acceptance condition — never compress it. Stand-still.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back your own list — look at what it's become: your project's full list of sins. Now judge them one by one: Accept or Reject. Reject? Fix it now. Three paths (write on the board): fix the data — go back into SenseCraft and photograph the scene where it broke; fix the logic — have Codecraft change a condition, like 'only counts if it recognizes it twice in a row'; fix the threshold — raise the confidence line from 70% to 85%. Not sure which path? Don't wait for me — send the failure to AI: 'My model misjudges in ___ situation. Fix the data, fix the logic, or fix the threshold — which do you recommend, and why?' Advice is advice — which path is still your call. Fixing the logic and threshold also goes to AI; your only job is the old rule: say the input and output clearly. Accept? Write one line: 'I know it fails when ___, and I accept it.' You made this call in Lesson 2 — today you make it more professionally. Everyone chooses 'accept' (too lazy to fix) → require at least one rejection: 'Pick the fault you'd most hate a judge to catch live.' Everyone chooses 'reject' (perfectionism) → remind them of the time: 'You can't fix 5 faults in 15 minutes. Pick the most deadly one and fix it; the rest get accepted — that's what a trade-off looks like.' Someone fixes via 'the data' → point at the loop closing: 'See — you're back at last session's attribution: whatever situation breaks it is whatever data you never fed it.' Stand-still.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pick per table: 'the most vicious misread + my counter' — 30 seconds to the class. Then log line one. Four lines as usual; today 'done' reads: I had AI open a trouble list, my classmate found ___ faults in my project, I fixed ___ and accepted ___. Collect the best one-liners — they're showcase material (the reflection page asks for them). Fast flip; no stand-still needed — the log card stays up while students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half. First, listen to someone for a minute — Neil, the founder of MIT's Fab Academy. He says: learning to make things is not about making what you can buy in a store — that's not yours to make. It's about making what you can't buy — personalized, for yourself and the people you care about. And he keeps telling students: a project idea isn't a 'good idea' you think up — it grows out of your own experience — the things that annoy you, the things the people you care about put up with every day. A flashy idea copied from the internet won't survive three lessons. A problem that grew out of your experience can survive four marathons. Fab Academy students write down their Final Project in week one — and for twenty weeks, everything they do is collecting modules for it. That's exactly what you're doing today. First mention of Neil — introduce him in one breath ('MIT's Fab Academy'), no school history. This page is one of the two golden-line peaks of the brief arc (the other is slide 18) — big type, wide white space, no task list. A NEW page the CN v2 plan never had.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Neil's course actually teach? Sensors, circuits, embedded systems, structural design — the same family as what's in your hands. Look at what past students built with this skill set (scan down the list): during the pandemic, a lab making protective gear; homemade oscilloscopes and microscopes; someone in the mountains pulling a 10-kilometer link out of a parabolic antenna; educational satellites, soft robots, drones, hydroponic systems, homemade instruments. Notice: not one of them is a flashy idea copied from the internet — every one is a real problem from the maker's own experience. Your topic can grow from these directions too. Source: the Fab Academy graduation lecture (vimeo 949353). The icons degrade to plain text cards (names only — the page still lands). A NEW page the CN v2 plan never had.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what counts as a good project? Neil's four notes. One: a masterpiece means skilled, not grand — a finished ordinary project beats an unfinished grand vision. Two: spiral development — every lap ends with a running version. Three: modular — cut it into small pieces, build and test each separately. Four: document as you go — the documentation grows with the project. Sound familiar? You already know all four: Lesson 4's Pomodoro timer was built lap by lap in a spiral; your four-line log is documentation. Today's requirements sheet is the first line of your project's document. The 'you already know all four' line is the connective tissue — it ties the four notes to the students' own experience. A NEW page the CN v2 plan never had.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up — walk to the Project Wall. In Lesson 2, you pinned a sentence here: I'm making a ___ for ___ because ___. Four weeks later — you've lit up hardware, led an AI team, taught a board to recognize things. Now look at your own sentence, and I ask you: do you still love this topic? Love it: sit back down; we'll deepen it in a minute. Don't love it — or you're unsure: you can change it. Changing today is not embarrassing. Carrying something you don't love all the way to Lesson 10 — that's the embarrassing one. Changing rules: 5 minutes, a three-question self-check (projected): all three answered: change. Can't answer: stay on the original, and if you're stuck, raise your hand and a TA gets you past it. Note rule two: you can't change to a 'flashy copied idea' — change only to a real problem from your own experience. Still can't decide in 5 minutes — come to me. I have three backup topics ready; done beautifully, they're still good projects. Nothing to be ashamed of. The teacher's hand itches to pick a topic for a student (this lesson's biggest teaching accident): self-check your language — you may only ask 'Who did you say it's for? When does that person hit this problem?' — never 'I think you should make ___ instead.' However ordinary the answer, it's the student's topic. Re-topic rate over 30% → don't handle it live; note it on the reflection page (the Lesson 2 → today gap needs review). A student's topic collapses and they're genuinely lost → give a backup topic verbally: 'Take one and start building; your own idea will come while you work — the requirements sheet is allowed to change. Cross it out; don't erase it.' This page is the slimmed version of the CN plan's page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 to your seats — summon your product manager. John — you know this role. Today we go deep. The opener (project it), and note: it must carry your Lesson 2 real user's name — a need without a real name is a fake need. How does Neil's 'start from personal experience' get tested here? Watch John's first question: 'When did this last happen?' — if you can answer with a specific day, it's a real experience; if you can't, the topic is still just an idea. Old discipline: keep going in the conversation you already have — no new windows. Open a new one and every conclusion so far is gone. User written as 'everyone / people' → TA A sends it back: 'Say one person's name. Who was on your Lesson 2 list?' The chat contains none of the student's own information (AI inventing needs on its own) → the circulation red line — the citation check — send it back to fill in. A student actually interviewed someone (asked mom/sister over the weekend) → invite a 30-second share; set the benchmark. Output anchor 5: the PM's three sentences. Stand-still. The prompt box is 6.2 verbatim — shared text; any edit must sync all three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Summon the experience designer. Sally. She produces one thing: the usage scenario — who uses it, where, how. Watch my example (project it): 'Mom walks past the coffee table; it's been two hours since the water cup moved, so it flashes three times and gives one soft ding.' — a person, a place, an action, a reaction. Write yours in that shape. The scenario has no person and no place ('it automatically detects and reminds') → send it back: 'Who? Where? Say the name.' A student starts agonizing over colors → 'Colors go on the later list. Today we decide what it does.' Output anchor 6: the usage scenario. Stand-still. The prompt box is 6.3 verbatim — shared text; any edit must sync all three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this table on screen — it's your big project's building permit. Its proper name is the requirements sheet — on a real job site, they call it requirements.md — and it means one thing: before you start, write down exactly what 'it does' means. Why write it? Three reasons. One: the marathon starts at Lesson 8 — every time you start work, you check it first. It keeps you from drifting. Two: it's alive — you can change it later, but cross it out, don't erase it, so everyone can see you changed your mind. Three: if you still can't say it after writing three sections, you haven't thought it through. No essays — three sections only, three lines max each. Fill it in — in your workbook or notebook. AI may help you polish the wording, but the facts must come from your two conversations just now — copy what AI invented, and you've given your project a fake birth certificate. Students fill the first six rows (the hardware row stays blank until after the tour). Written as an essay → TA C runs the template ruler and sends it back: three sections, 3 lines max each — can't fit = not thought through, go cut. A student has AI write the whole thing → the citation check: 'The names and scenes in here — yours, or invented?' Output anchor 7: the first six rows. Stand-still. After they finish, cut to slide 15 for the 2-minute Brandy contract talk, then return here. The template is 6.5 verbatim — identical to the workbook; any edit must sync all three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just filled a requirements sheet. Now look at what a professional engineer writes before starting — Brandy, Seeed's application engineer, the one who built a voice keyboard with zero code. Before she starts, she writes an input/output contract: input, constraints, output, success criteria — four lines. Compare with yours: your real user = who she makes it for; your usage scenario = her use case; your input·logic·output = her input and output; your core feature + what counts as success = her success criteria. She calls it a contract; you call it a requirements sheet — it's the same thing. You're already using an engineer's method. Starting next session, every new module you take on can start with those four lines. This page is a V4 addition the CN v2 plan never had — the 19th page. Cut in once after the students finish the first six rows, then immediately return to slide 14 (the stand-still base). No output anchor — the talk is framing, not a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step — bring in the Scope Killer. The rules: send AI your requirements sheet, and it may ask only one question: 'Would it die without this?' It may not say 'this feature is bad' — the veto is always yours. Goal: the core feature row holds exactly one item. Whatever gets cut goes into the 'later' list, one line each, with the reason. Cut things keep their names — only then has a trade-off actually happened. The red line is the deck's second red — the veto ownership. Not a single cut → watch closely: it's not a perfect scope, it's an unwillingness to let go. A TA sits down and cuts one with them. Cut down to a hollow shell (even the core got cut) → rescue it: 'Which function, if gone, makes it not it anymore? That one comes back.' AI itself starts inflating the scope ('should I add networking?') → teaching point, say it to the whole class once: 'See — AI can talk a need bigger and bigger too. It needs managing as much as anything else. Interrupt it: First ask me: would it die without this?' Output anchor 8: the cut record. Stand-still. The prompt box is 6.4 verbatim — shared text; any edit must sync all three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 sheet in hand — one last question: can the things in your hands actually make this? — The parts pool has the answer. The tour is not window-shopping. Four tasks (project them): 1. tick the modules your sheet needs and find the physical parts; 2. not in the pool — find a substitute using the four-table sort on screen; 3. the three discovery picks — touch one module you've never seen at each table, guess what it does, check with a TA; 4. back at your seat, sign the hardware row. Four groups rotate; 7 minutes per table; the whistle moves you. The red line is the deck's third red — the iron line: change the need, not the purchase. The tour turns into a general-store stroll → the task sheet is the brake: TAs ask only one question per table — 'Which task are you on?' The module they need isn't in the pool → 'An engineer's first lesson: solve the problem with what you have. Can't buy it? It goes on the later list.' (we don't promise purchases). A student wants to take a module away → make it clear: today is look, touch, and register only; checking parts out happens at the Lesson 8 marathon start. 4 groups × 4 tables (7 min each + 1 min rotation); complete the task sheet; sign the hardware row. Output anchor 9: the hardware row signed. The task sheet is 6.6 verbatim — identical to the workbook; any edit must sync all three documents. (Buffer 16:45–16:50: no slide — this page stays up or the screen goes dark; the instructor counts acceptance numbers and gets the Brief Wall ready.)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Everyone take a sticky note. Write two things: your project's name, and its core feature in one sentence. Line up — and stick it on the Brief Wall. Say it aloud as you stick it. (one by one, stick and say) The requirements sheet itself stays in your workbook — it's your building permit; every marathon work session starts by checking it. The stickies on this wall are the whole class's reference. It can change — but cross it out, don't erase it, so everyone can see you changed your mind. A student's sheet isn't finished → the sticky still goes up (a name + core feature is enough); the sheet is completed after class. The ceremony doesn't wait. Can't say the core feature aloud → the neighbor reads it and the student nods — no skipping; named participation is part of the ceremony. This page is the lesson's ceremony peak — deliberately bare, deliberately set apart from the operation pages (same register as slide 08). The Brief Wall is the physical wall next to the Project Wall (set up before class).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 Academy graduates say that on the day their Final Project finished, they realized: it wasn't just a graduation project — it was the start of a life project. The sentence you wrote today is that too. Look back at today: this morning you put your project through the wringer and made Accept-or-Reject calls. This afternoon, your topic walked off a wall and into a requirements sheet — you cut things, and you can say why. That's 'making trade-offs' — and today, you really did it. Log, four lines as usual; 'done' reads: my big project got its brief today — it's called ___, its core feature is ___, I cut ___. Next session preview: the marathon's first leg. Bring your requirements sheet: check out parts, start building, the stand-up — and AI as reviewer appears for the first time. Your project already has a home on your own computer; the brief is already on the wall — everything's ready. Run. Today you said 'I want to build.' Next session, you'll say 'I'm building.' No ability-card ceremony today; the ceremony peak was slide 18, and this close settles the arc + previews the marathon.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01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972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Chaihuo Maker Academy · Smart Hardware Fundamentals (M0)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801014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Brief Your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86000"/>
            <a:ext cx="1463040" cy="54864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45059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00000"/>
                </a:solidFill>
                <a:latin typeface="Source Han Sans SC"/>
              </a:rPr>
              <a:t>From the Project Wall to a Requirements Sheet · Chaihuo Maker Academy · M0 Lesson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546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0000"/>
                </a:solidFill>
                <a:latin typeface="Source Han Sans SC"/>
              </a:rPr>
              <a:t>Lesson 7 · The milestone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84448"/>
            <a:ext cx="5669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000000"/>
                </a:solidFill>
                <a:latin typeface="Source Han Sans SC"/>
              </a:rPr>
              <a:t>This morning: AI becomes the tester — your classmate finds fault in your project.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000000"/>
                </a:solidFill>
                <a:latin typeface="Source Han Sans SC"/>
              </a:rPr>
              <a:t>This afternoon: your big project gets its brief — and its building permit.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017520"/>
            <a:ext cx="1645920" cy="1645920"/>
          </a:xfrm>
          <a:prstGeom prst="rect">
            <a:avLst/>
          </a:prstGeom>
          <a:solidFill>
            <a:srgbClr val="F3D23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4389120"/>
            <a:ext cx="16459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749039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00000"/>
                </a:solidFill>
                <a:latin typeface="Source Han Sans SC"/>
              </a:rPr>
              <a:t>the
Brief Wall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02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Today's Three Things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51560"/>
            <a:ext cx="365760" cy="36576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042415"/>
            <a:ext cx="7132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Finish last session's project — AI becomes the tester, your classmate tests your board, and we drag the faults out into the 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37943"/>
            <a:ext cx="8010144" cy="713232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92807"/>
            <a:ext cx="365760" cy="36576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39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1883664"/>
            <a:ext cx="7132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THE BIG ONE: YOUR BIG PROJECT GETS ITS BRIEF TODAY — from the sentence you pinned on the wall in Lesson 2, all the way to "ready to build"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34056"/>
            <a:ext cx="365760" cy="36576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61487"/>
            <a:ext cx="365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724912"/>
            <a:ext cx="71323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Tour the parts pool, and stock up for your big project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611880"/>
            <a:ext cx="8010144" cy="100584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21608"/>
            <a:ext cx="768096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Lesson 5's link not finished? Report to a TA — during the self-check, five minutes to "recognize scissors and light the LED," then join the peer test.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Today isn't about how pretty the project is. It's about whether you can find 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03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00000"/>
                </a:solidFill>
                <a:latin typeface="Source Han Sans SC"/>
              </a:rPr>
              <a:t>Warm-Up Self-Check — Does It Still Know You?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80101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0000"/>
                </a:solidFill>
                <a:latin typeface="Source Han Sans SC"/>
              </a:rPr>
              <a:t>Plug in your little eye board — throw a scissors.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3840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35112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000000"/>
                </a:solidFill>
                <a:latin typeface="Source Han Sans SC"/>
              </a:rPr>
              <a:t>KNOWS YOU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sit tight — next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6592" y="1371600"/>
            <a:ext cx="38404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184" y="1481328"/>
            <a:ext cx="35112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0000"/>
                </a:solidFill>
                <a:latin typeface="Source Han Sans SC"/>
              </a:rPr>
              <a:t>DOESN'T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think back to last session's attribution: did the light change? Did you move seats?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Quick rescue: against today's light, take 10 new photos and retrain. That's "fix the data" — you know how.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246120"/>
            <a:ext cx="8010144" cy="65836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55848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000000"/>
                </a:solidFill>
                <a:latin typeface="Source Han Sans SC"/>
              </a:rPr>
              <a:t>The board recognizes your gesture — or your retrain is underway.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04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Make AI Your Tester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010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Remember Quinn — the one who helped you BREAK your Pomodoro timer in Lesson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8010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This is Quinn's vision-edition moment. Send this — replace the brackets with your project: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8010144" cy="1572768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572768"/>
            <a:ext cx="7717536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Code Pro"/>
              </a:rPr>
              <a:t>Quinn, my project: a board with a camera that can recognize scissors, rock, and paper.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Code Pro"/>
              </a:rPr>
              <a:t>When it sees scissors it lights the LED; when it sees rock the buzzer beeps; when it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Code Pro"/>
              </a:rPr>
              <a:t>can't recognize anything, everything stays off.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Code Pro"/>
              </a:rPr>
              <a:t>You're a picky test engineer. Give me 5 tests for "how to make it misjudge or fail,"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Code Pro"/>
              </a:rPr>
              <a:t>each one specific: what I should do, and what I expect to see.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Code Pro"/>
              </a:rPr>
              <a:t>For example: hand gesture in backlight? Hand only half-visible? Switching gestures fast?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18688"/>
            <a:ext cx="8010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FILTER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493008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520439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483864"/>
            <a:ext cx="7552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Too vague ("might be inaccurate")? Send it back — ask for a specific scenario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95344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922776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86200"/>
            <a:ext cx="7552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Irrelevant to your project? Cross it off. KEEP AT LEAST 3 YOU CAN GENUINELY TRY — write them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315968"/>
            <a:ext cx="8010144" cy="4572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Your workbook holds a 3+ item list — each says "how to do it, what you expect to see."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05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00000"/>
                </a:solidFill>
                <a:latin typeface="Source Han Sans SC"/>
              </a:rPr>
              <a:t>Swap Projects — Test Item by Item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0101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0000"/>
                </a:solidFill>
                <a:latin typeface="Source Han Sans SC"/>
              </a:rPr>
              <a:t>In your hands: your neighbor's board + the trouble list they wrote.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Test item by item — record on their list: pass, checkmark; broke, write exactly how it broke. Then they test yours. BOTH LISTS GET FILLED.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8010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THREE RULES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21408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48839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03120"/>
            <a:ext cx="75529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Find a fault? Don't laugh — the list you hand over is a knife, and a badge of honor too: your list getting tested to the breaking point means your neighbor is a real professional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688336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715768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70048"/>
            <a:ext cx="7552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After you test theirs, they test yours — both lists get filled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72384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099815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054096"/>
            <a:ext cx="64008" cy="621792"/>
          </a:xfrm>
          <a:prstGeom prst="rect">
            <a:avLst/>
          </a:prstGeom>
          <a:solidFill>
            <a:srgbClr val="D8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6384" y="3108960"/>
            <a:ext cx="109728" cy="109728"/>
          </a:xfrm>
          <a:prstGeom prst="ellipse">
            <a:avLst/>
          </a:prstGeom>
          <a:solidFill>
            <a:srgbClr val="D8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3072384"/>
            <a:ext cx="755294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84144"/>
                </a:solidFill>
                <a:latin typeface="Source Han Sans SC"/>
              </a:rPr>
              <a:t>THE HARASSMENT IS ONLY "SHOW IT THINGS" —</a:t>
            </a:r>
          </a:p>
          <a:p>
            <a:pPr algn="l">
              <a:lnSpc>
                <a:spcPct val="120000"/>
              </a:lnSpc>
            </a:pPr>
            <a:r>
              <a:rPr sz="1150" b="1">
                <a:solidFill>
                  <a:srgbClr val="D84144"/>
                </a:solidFill>
                <a:latin typeface="Source Han Sans SC"/>
              </a:rPr>
              <a:t>NO TOUCHING WIRES, NO TAKING PARTS OFF, NO COVERING ANYTHING EXCEPT THE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49039"/>
            <a:ext cx="8010144" cy="54864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858768"/>
            <a:ext cx="7680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Both lists carry real results — checkmarks and "here's how it broke."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06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000000"/>
                </a:solidFill>
                <a:latin typeface="Source Han Sans SC"/>
              </a:rPr>
              <a:t>Accept or Reject — One Fix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80101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000000"/>
                </a:solidFill>
                <a:latin typeface="Source Han Sans SC"/>
              </a:rPr>
              <a:t>Take back your own list — look at what it's become: your project's full list of sins.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000000"/>
                </a:solidFill>
                <a:latin typeface="Source Han Sans SC"/>
              </a:rPr>
              <a:t>Judge them one by one: ACCEPT, or REJECT?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39319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ource Han Sans SC"/>
              </a:rPr>
              <a:t>REJECT → FIX IT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39319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3639312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FIX THE DATA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back into SenseCraft, photograph the scene where it broke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670048"/>
            <a:ext cx="39319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743200"/>
            <a:ext cx="3639312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FIX THE LOGIC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have Codecraft change a condition, like "only counts if it recognizes it twice in a row"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93008"/>
            <a:ext cx="39319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566160"/>
            <a:ext cx="3639312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FIX THE THRESHOLD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raise the confidence line from 70% to 85%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72768"/>
            <a:ext cx="382219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ource Han Sans SC"/>
              </a:rPr>
              <a:t>ACCEPT → WRITE ONE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847088"/>
            <a:ext cx="3822191" cy="129844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1956816"/>
            <a:ext cx="34930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000000"/>
                </a:solidFill>
                <a:latin typeface="Source Han Sans SC"/>
              </a:rPr>
              <a:t>"I know it fails when ___, and I accept it."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You made this call in Lesson 2. Today you make it more professionally.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310128"/>
            <a:ext cx="3822191" cy="13533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310128"/>
            <a:ext cx="64008" cy="1353312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3401568"/>
            <a:ext cx="3474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Not sure which path? Send the failure to AI: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"My model misjudges in ___ situation. Fix the data, fix the logic, or fix the threshold — which do you recommend, and why?"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Advice is advice. WHICH PATH IS STILL YOUR CALL.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07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Share-Out + Log Line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801014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000000"/>
                </a:solidFill>
                <a:latin typeface="Source Han Sans SC"/>
              </a:rPr>
              <a:t>One pick per table: "the most vicious misread + my counter"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30 seconds to the class.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40280"/>
            <a:ext cx="8010144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377440"/>
            <a:ext cx="760780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Four lines as usual — today's "done" line: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000000"/>
                </a:solidFill>
                <a:latin typeface="Source Han Sans SC"/>
              </a:rPr>
              <a:t>I HAD AI OPEN A TROUBLE LIST, MY CLASSMATE FOUND ___ FAULTS IN MY PROJECT, I FIXED ___ AND ACCEPTED ___</a:t>
            </a:r>
          </a:p>
          <a:p>
            <a:pPr algn="l">
              <a:lnSpc>
                <a:spcPct val="16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(fill the blanks in your workbook — the yellow slots)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08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Neil's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first, listen to someone for a minute — Neil, founder of MIT's Fab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82296" cy="1417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417320"/>
            <a:ext cx="7589520" cy="1353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000000"/>
                </a:solidFill>
                <a:latin typeface="Source Han Sans SC"/>
              </a:rPr>
              <a:t>Learning to make things is not about making what you can BUY IN A STORE — that's not yours to make.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000000"/>
                </a:solidFill>
                <a:latin typeface="Source Han Sans SC"/>
              </a:rPr>
              <a:t>It's about making what you CAN'T BUY — personalized, for yourself and the people you care about.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926080"/>
            <a:ext cx="82296" cy="86868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962656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And a project idea isn't a "good idea" you think up — IT GROWS OUT OF YOUR OWN EXPERIENCE — the things that annoy you, the things the people you care about put up with every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50208"/>
            <a:ext cx="8010144" cy="82296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59936"/>
            <a:ext cx="7680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A flashy idea copied from the internet won't survive three lessons. A problem that grew out of your experience can survive four marathons. Fab Academy students write down their Final Project in week one — and for twenty weeks, everything they do is collecting modules for it. That's exactly what you're doing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09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00000"/>
                </a:solidFill>
                <a:latin typeface="Source Han Sans SC"/>
              </a:rPr>
              <a:t>Same Skills — What Did They Build?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0101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What Neil's course actually teaches: sensors, circuits, embedded systems, structural design — the same family as what's in your hands.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Look at what past students built with this skill set: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protective gear (a lab made it during the pandemic)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53619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160934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homemade oscilloscopes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53619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160934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homemade microscopes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56832" y="153619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60934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a 10-km link out of a parabolic antenna (in the mountains)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3347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0662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educational satellites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6896" y="263347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88336" y="270662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soft robots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26864" y="263347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8304" y="270662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drones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56832" y="2633472"/>
            <a:ext cx="1920240" cy="987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2706624"/>
            <a:ext cx="17373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hydroponic systems &amp; homemade instruments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77056"/>
            <a:ext cx="64008" cy="84124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777240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NOT ONE OF THEM IS A FLASHY IDEA COPIED FROM THE INTERNET — EVERY ONE IS A REAL PROBLEM FROM THE MAKER'S OWN EXPERIENCE.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Your topic can grow from these directions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10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Neil's Four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what counts as a good project?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25880"/>
            <a:ext cx="3913632" cy="10607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453895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444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A MASTERPIECE MEANS SKILLED, NOT GRAND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1929384"/>
            <a:ext cx="3200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a finished ordinary project beats an unfinished grand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25880"/>
            <a:ext cx="3913632" cy="10607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09744" y="1453895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9744" y="1481328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144475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SPIRAL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1929384"/>
            <a:ext cx="3200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every lap ends with a running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14600"/>
            <a:ext cx="3913632" cy="10607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642616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670048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263347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MODULAR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3118104"/>
            <a:ext cx="3200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cut it into small pieces, build and test each separately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2514600"/>
            <a:ext cx="3913632" cy="10607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9744" y="2642616"/>
            <a:ext cx="310896" cy="3108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2670048"/>
            <a:ext cx="31089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6" y="2633472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DOCUMENT AS YOU 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6" y="3118104"/>
            <a:ext cx="32004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the documentation grows with the 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767328"/>
            <a:ext cx="8010144" cy="9601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77056"/>
            <a:ext cx="7680960" cy="7406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Sound familiar? You already know all four — Lesson 4's Pomodoro timer was built lap by lap in a spiral; your four-line log IS documentation.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Today's requirements sheet is the first line of your project's document.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11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00000"/>
                </a:solidFill>
                <a:latin typeface="Source Han Sans SC"/>
              </a:rPr>
              <a:t>The Project Wall — Do You Still Love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01014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In Lesson 2, you pinned a sentence here: I'm making a ___ for ___ because ___.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Four weeks later — now look at your own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801014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0000"/>
                </a:solidFill>
                <a:latin typeface="Source Han Sans SC"/>
              </a:rPr>
              <a:t>DO YOU STILL LOVE THIS TOPIC?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3913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584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LOVE IT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sit back down; we'll deepen it in a minute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920240"/>
            <a:ext cx="3913632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2011680"/>
            <a:ext cx="3584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DON'T LOVE IT / UNSURE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000000"/>
                </a:solidFill>
                <a:latin typeface="Source Han Sans SC"/>
              </a:rPr>
              <a:t>you can change it. Changing today is not embarrassing. Carrying something you don't love all the way to Lesson 10 — that's the embarrassing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61488"/>
            <a:ext cx="80101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RE-TOPIC SELF-CHECK — 5-MINUTE TIMER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99232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26663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990088"/>
            <a:ext cx="7607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Do I really not love it, or am I just stuck?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28416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55848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3319272"/>
            <a:ext cx="7607808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Does the new topic come from my own experience — who's it for? Can I name a real person and one real time they were annoyed?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85615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813048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3776472"/>
            <a:ext cx="76078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Can the boards in my hands actually make it?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114800"/>
            <a:ext cx="8010144" cy="65836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24528"/>
            <a:ext cx="76809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All three answered: change. Can't answer: stay on the original — stuck? raise your hand, a TA gets you past it. You can't change to a "flashy copied idea" — change only to a real problem from your own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12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Source Han Sans SC"/>
              </a:rPr>
              <a:t>Summon Your Product Manager — John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go deep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61872"/>
            <a:ext cx="8010144" cy="85953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5024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The opener MUST carry your Lesson 2 real user's name — a need without a real name is a fake need.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Watch John's first question: "When did this last happen?" — can you answer with a specific day? Then it's a real experience. Can't? The topic is still just an idea.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31136"/>
            <a:ext cx="8010144" cy="1700784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22576"/>
            <a:ext cx="7717536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John, my topic is "I'm making a (what) for (a real person's name),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because (the real problem they have)."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You're my product manager. Interview me and go deep: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1. In what situation does this problem happen? When did it last happen?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2. Without this thing, how do they get by right now?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3. When and where will they use the thing I make?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When you're done asking, organize my answers into three sentences.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986784"/>
            <a:ext cx="640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005072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Keep going in the conversation you already have — no new windows. Open a new one and every conclusion so far is gone.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334256"/>
            <a:ext cx="8010144" cy="438912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43984"/>
            <a:ext cx="7680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AI's three sentences contain a real name and a real scene — copied into your workbook.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13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Source Han Sans SC"/>
              </a:rPr>
              <a:t>Summon the Experience Designer — Sally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00000"/>
                </a:solidFill>
                <a:latin typeface="Source Han Sans SC"/>
              </a:rPr>
              <a:t>one thing: the usage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8010144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64008" cy="10241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389888"/>
            <a:ext cx="7644383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"Mom walks past the coffee table; it's been two hours since the water cup moved, so it flashes three times and gives one soft ding."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A PERSON, A PLACE, AN ACTION, A REACTION. Write yours in that shape.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50592"/>
            <a:ext cx="8010144" cy="1572768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542032"/>
            <a:ext cx="7717536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Sally, based on the previous round: (paste John's three sentences).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You're my experience designer. Write me a "usage scenario":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who uses it, where, how they use it, and how it reacts. Use a specific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person and place, no more than four sentences. Then tell me: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what does this thing look like, and where does it live?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151376"/>
            <a:ext cx="8010144" cy="621792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61104"/>
            <a:ext cx="76809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Your scenario can point to all four — who, where, how, reaction — copied into your workbook or notebook.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14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Source Han Sans SC"/>
              </a:rPr>
              <a:t>This Table Is Your Project's Building Permit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01014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Its proper name is the requirements sheet — on a real job site, they call it requirements.md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Source Han Sans SC"/>
              </a:rPr>
              <a:t>— and it means one thing: BEFORE YOU START, WRITE DOWN EXACTLY WHAT "IT DOES" MEANS.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63040"/>
            <a:ext cx="484632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54480"/>
            <a:ext cx="4553712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 My Project Requirements Sheet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Name: ______  Date: ______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Who it helps and what problem it solves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   (one sentence, with a real name)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Usage scenario (who uses it, where, how — 4 sentences max)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Input (what it senses, 3 lines max)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Logic (what it does under what condition, 3 lines max;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   include one: what happens with no signal / can't recognize)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Output (how it shows itself, 3 lines max)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Core feature (exactly 1)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The "later" list (what got cut lives here, 1 item min)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1. ______ (why it was cut: ______)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## Hardware check (fill after the tour)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Modules needed: ______  in the pool / substitute: ______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000000"/>
                </a:solidFill>
                <a:latin typeface="Source Code Pro"/>
              </a:rPr>
              <a:t>signature: 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481328"/>
            <a:ext cx="299923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WHY WRITE IT?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755648"/>
            <a:ext cx="2926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783080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1737360"/>
            <a:ext cx="25786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It keeps you from drifting — every marathon work session checks it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2468880"/>
            <a:ext cx="2926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2496312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450592"/>
            <a:ext cx="25786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It's alive — you can change it later, but CROSS IT OUT, DON'T ERASE IT, so everyone can see you changed your mind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182112"/>
            <a:ext cx="2926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209544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3163824"/>
            <a:ext cx="2578608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Three sections only, THREE LINES MAX EACH — no essays. Can't fit it = not thought through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3950208"/>
            <a:ext cx="2999232" cy="804672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24144" y="4023360"/>
            <a:ext cx="2706624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AI may help you polish the wording — but the facts must come from your two conversations just now.</a:t>
            </a:r>
          </a:p>
          <a:p>
            <a:pPr algn="l">
              <a:lnSpc>
                <a:spcPct val="120000"/>
              </a:lnSpc>
            </a:pPr>
            <a:r>
              <a:rPr sz="950" b="1">
                <a:solidFill>
                  <a:srgbClr val="000000"/>
                </a:solidFill>
                <a:latin typeface="Source Han Sans SC"/>
              </a:rPr>
              <a:t>Copy what AI invented, and you've given your project a fake birth certificate.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15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00000"/>
                </a:solidFill>
                <a:latin typeface="Source Han Sans SC"/>
              </a:rPr>
              <a:t>Look What a Professional Engineer Writes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0120"/>
            <a:ext cx="80101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Brandy — Seeed's application engineer, the one who built a voice keyboard with ZERO code.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000000"/>
                </a:solidFill>
                <a:latin typeface="Source Han Sans SC"/>
              </a:rPr>
              <a:t>Before she starts, she writes an input/output contract — four lines: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45920"/>
            <a:ext cx="1828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645920"/>
            <a:ext cx="219456" cy="6583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D230"/>
                </a:solidFill>
                <a:latin typeface="Source Han Sans S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15184" y="1645920"/>
            <a:ext cx="1828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164592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645920"/>
            <a:ext cx="219456" cy="6583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D230"/>
                </a:solidFill>
                <a:latin typeface="Source Han Sans S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645920"/>
            <a:ext cx="1828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64592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219456" cy="6583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3D230"/>
                </a:solidFill>
                <a:latin typeface="Source Han Sans S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11696" y="1645920"/>
            <a:ext cx="182880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1645920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SUCCESS CRITERIA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542032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569463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2532888"/>
            <a:ext cx="7607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HER "who she makes it for" = YOUR REAL USER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89503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916935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2880360"/>
            <a:ext cx="7607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HER "use case" = YOUR USAGE SCENARIO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36975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264407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3227832"/>
            <a:ext cx="7607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HER "input and output" = YOUR INPUT · LOGIC ·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84447"/>
            <a:ext cx="274320" cy="2743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611879"/>
            <a:ext cx="274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575303"/>
            <a:ext cx="7607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HER "success criteria" = YOUR CORE FEATURE + WHAT COUNTS AS SUCCESS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005072"/>
            <a:ext cx="64008" cy="768096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041648"/>
            <a:ext cx="7772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SHE CALLS IT A CONTRACT; YOU CALL IT A REQUIREMENTS SHEET — IT'S THE SAME THING. You're already using an engineer's method.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Starting next session, every new module you take on can start with those four lines.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16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Source Han Sans SC"/>
              </a:rPr>
              <a:t>The Scope Killer — Exactly One Core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32688"/>
            <a:ext cx="801014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0000"/>
                </a:solidFill>
                <a:latin typeface="Source Han Sans SC"/>
              </a:rPr>
              <a:t>Send AI your requirements sheet. It may ask ONLY ONE question: "Would it die without this?"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It may not say "this feature is bad."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17904"/>
            <a:ext cx="64008" cy="420624"/>
          </a:xfrm>
          <a:prstGeom prst="rect">
            <a:avLst/>
          </a:prstGeom>
          <a:solidFill>
            <a:srgbClr val="D8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572768"/>
            <a:ext cx="109728" cy="109728"/>
          </a:xfrm>
          <a:prstGeom prst="ellipse">
            <a:avLst/>
          </a:prstGeom>
          <a:solidFill>
            <a:srgbClr val="D8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36192"/>
            <a:ext cx="7552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D84144"/>
                </a:solidFill>
                <a:latin typeface="Source Han Sans SC"/>
              </a:rPr>
              <a:t>IT MAY NOT DECIDE FOR YOU. THE VETO IS ALWAYS YOURS.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8010144" cy="146304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771753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This is my requirements sheet: (paste the whole thing).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Act as the "Scope Killer": for every feature I wrote, ask me only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"Would it die without this?" — one at a time, one question each.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Don't decide for me. I make the final call on what gets cut.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000000"/>
                </a:solidFill>
                <a:latin typeface="Source Code Pro"/>
              </a:rPr>
              <a:t>Whatever gets cut, organize into a "later" list for 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675887"/>
            <a:ext cx="64008" cy="603504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712463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000000"/>
                </a:solidFill>
                <a:latin typeface="Source Han Sans SC"/>
              </a:rPr>
              <a:t>The core-feature row holds exactly one item. Whatever gets cut goes into the "later" list, one line each, with the reason.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CUT THINGS KEEP THEIR NAMES — ONLY THEN HAS A TRADE-OFF ACTUALLY HAPPENED.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15968"/>
            <a:ext cx="8010144" cy="45720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7680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Core feature = exactly 1  |  "later" list 1 item min, each with its reason.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17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00000"/>
                </a:solidFill>
                <a:latin typeface="Source Han Sans SC"/>
              </a:rPr>
              <a:t>The Parts-Pool Tour — Not Window-Shopping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14400"/>
            <a:ext cx="80101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Requirements sheet in hand — one last question: can the things in your hands actually make this?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The parts pool has the answer.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44752"/>
            <a:ext cx="1920240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1737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Table 1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000000"/>
                </a:solidFill>
                <a:latin typeface="Source Han Sans SC"/>
              </a:rPr>
              <a:t>SENSE (sensors/cameras)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444752"/>
            <a:ext cx="1920240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1499616"/>
            <a:ext cx="1737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Table 2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000000"/>
                </a:solidFill>
                <a:latin typeface="Source Han Sans SC"/>
              </a:rPr>
              <a:t>OUTPUT (lights/buzzers/screens)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6864" y="1444752"/>
            <a:ext cx="1920240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1499616"/>
            <a:ext cx="1737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Table 3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000000"/>
                </a:solidFill>
                <a:latin typeface="Source Han Sans SC"/>
              </a:rPr>
              <a:t>ACTUATION (servos/motors)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56832" y="1444752"/>
            <a:ext cx="1920240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8272" y="1499616"/>
            <a:ext cx="17373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Source Han Sans SC"/>
              </a:rPr>
              <a:t>Table 4</a:t>
            </a:r>
          </a:p>
          <a:p>
            <a:pPr algn="l">
              <a:lnSpc>
                <a:spcPct val="115000"/>
              </a:lnSpc>
            </a:pPr>
            <a:r>
              <a:rPr sz="850" b="0">
                <a:solidFill>
                  <a:srgbClr val="000000"/>
                </a:solidFill>
                <a:latin typeface="Source Han Sans SC"/>
              </a:rPr>
              <a:t>MIXED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57984"/>
            <a:ext cx="8010144" cy="1700784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249424"/>
            <a:ext cx="7607808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Source Code Pro"/>
              </a:rPr>
              <a:t>1. Modules my sheet needs: ______ → found the real thing? (tick)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Source Code Pro"/>
              </a:rPr>
              <a:t>2. Not in the pool: ______ → substitute: ______ (ask a TA, check the four-table sort)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Source Code Pro"/>
              </a:rPr>
              <a:t>3. Discovery picks: touch one module you've never seen at each table, write its name + your guess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Source Code Pro"/>
              </a:rPr>
              <a:t>Table 1: ______   Table 2: ______   Table 3: ______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000000"/>
                </a:solidFill>
                <a:latin typeface="Source Code Pro"/>
              </a:rPr>
              <a:t>4. Back at your seat: fill the "hardware check" row and 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50208"/>
            <a:ext cx="8010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0000"/>
                </a:solidFill>
                <a:latin typeface="Source Han Sans SC"/>
              </a:rPr>
              <a:t>Four groups rotate; 7 minutes per table; the whistle moves you.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261104"/>
            <a:ext cx="64008" cy="493776"/>
          </a:xfrm>
          <a:prstGeom prst="rect">
            <a:avLst/>
          </a:prstGeom>
          <a:solidFill>
            <a:srgbClr val="D8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4315968"/>
            <a:ext cx="109728" cy="109728"/>
          </a:xfrm>
          <a:prstGeom prst="ellipse">
            <a:avLst/>
          </a:prstGeom>
          <a:solidFill>
            <a:srgbClr val="D84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279392"/>
            <a:ext cx="7552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144"/>
                </a:solidFill>
                <a:latin typeface="Source Han Sans SC"/>
              </a:rPr>
              <a:t>NOT IN THE POOL? FIND A SUBSTITUTE — OR IT GOES ON THE "LATER" LIST.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84144"/>
                </a:solidFill>
                <a:latin typeface="Source Han Sans SC"/>
              </a:rPr>
              <a:t>CHANGE THE NEED, NOT THE PURCHASE — today is look, touch, and register only; checking parts out happens at the Lesson 8 marathon start.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18 /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0101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Source Han Sans SC"/>
              </a:rPr>
              <a:t>MY PROJECT GOT ITS BRIEF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259689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2121408"/>
            <a:ext cx="2926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48839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03120"/>
            <a:ext cx="19385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Take a sticky note: project name + core feature in one sentence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011680"/>
            <a:ext cx="259689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2121408"/>
            <a:ext cx="2926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2148839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2103120"/>
            <a:ext cx="19385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Line up — stick it on the Brief Wall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0176" y="2011680"/>
            <a:ext cx="259689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08192" y="2121408"/>
            <a:ext cx="292608" cy="29260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2148839"/>
            <a:ext cx="29260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103120"/>
            <a:ext cx="193852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Say it aloud as you stick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64008" cy="118872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145536"/>
            <a:ext cx="777240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0000"/>
                </a:solidFill>
                <a:latin typeface="Source Han Sans SC"/>
              </a:rPr>
              <a:t>The requirements sheet stays in your workbook — it's your building permit; every marathon work session starts by checking it.</a:t>
            </a: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0000"/>
                </a:solidFill>
                <a:latin typeface="Source Han Sans SC"/>
              </a:rPr>
              <a:t>The stickies on this wall are the whole class's reference. It can change — but CROSS IT OUT, DON'T ERASE IT, so everyone can see you changed your mind.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Chaihuo Maker Academy · M0 · Brief Your Project | 19 /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219456"/>
            <a:ext cx="54864" cy="56692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46304"/>
            <a:ext cx="8138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00000"/>
                </a:solidFill>
                <a:latin typeface="Source Han Sans SC"/>
              </a:rPr>
              <a:t>Today, You Really Did a Trade-Off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96696"/>
            <a:ext cx="182880" cy="18288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960120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You put your project through the wringer — AI opened the list, your classmate tested it for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344168"/>
            <a:ext cx="182880" cy="18288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307592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You made a call on every fault — accept, or reject — and you can say 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91640"/>
            <a:ext cx="182880" cy="182880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55064"/>
            <a:ext cx="7699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Your topic walked off a wall and into a requirements sheet — you cut things, and you can say 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48256"/>
            <a:ext cx="8010144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139696"/>
            <a:ext cx="760780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000000"/>
                </a:solidFill>
                <a:latin typeface="Source Han Sans SC"/>
              </a:rPr>
              <a:t>Four lines as usual — today's "done" line: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000000"/>
                </a:solidFill>
                <a:latin typeface="Source Han Sans SC"/>
              </a:rPr>
              <a:t>MY BIG PROJECT GOT ITS BRIEF TODAY — IT'S CALLED ___, ITS CORE FEATURE IS ___, I CUT 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90672"/>
            <a:ext cx="8010144" cy="841248"/>
          </a:xfrm>
          <a:prstGeom prst="rect">
            <a:avLst/>
          </a:prstGeom>
          <a:solidFill>
            <a:srgbClr val="F3D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76809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00000"/>
                </a:solidFill>
                <a:latin typeface="Source Han Sans SC"/>
              </a:rPr>
              <a:t>Fab Academy graduates say that on the day their Final Project finished, they realized: it wasn't just a graduation project — it was THE START OF A LIFE PROJECT. The sentence you wrote today is that too.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041648"/>
            <a:ext cx="8010144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096512"/>
            <a:ext cx="7680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000000"/>
                </a:solidFill>
                <a:latin typeface="Source Han Sans SC"/>
              </a:rPr>
              <a:t>NEXT TIME — the marathon's first leg. Bring your requirements sheet: check out parts, start building, the stand-up — and AI as reviewer appears for the first time. Today you said "I want to build." Next session, you'll say "I'm building."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626864"/>
            <a:ext cx="80101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00000"/>
                </a:solidFill>
                <a:latin typeface="Source Han Sans SC"/>
              </a:rPr>
              <a:t>Sticky notes on the wall stay. Boards in the box.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