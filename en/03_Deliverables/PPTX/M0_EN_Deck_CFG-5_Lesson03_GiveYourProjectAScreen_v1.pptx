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5" d="100"/>
          <a:sy n="115" d="100"/>
        </p:scale>
        <p:origin x="42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88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 loops before class. Open with one welcome line and go straight to slide 02 — the cover is not a talking page. Wio Terminal photo on the right (screen lit, 45-degree angle — line-art placeholder until the photo shoot), yellow rule under the subtitle.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start, let's collect last session's work: if you used an online doc, send me the link; if you wrote by hand, send a photo — if it's not in yet, make a note of it and finish before you leave today. (point at the Project Wall) Look — last session's wall: everyone's manifesto is up there. Last time you set your topic and learned the five rules; today we hand out new gear — your project gets a real interface from today. Keep your manifesto and three-box design sheet at hand — we won't touch them today, but they're the north star for every big project after this. Hard 5-minute timebox on the collection — no per-item feedback; the not-yet-in list goes to the TA to register, don't haggle. Output anchor: last session's four outputs are in (manifesto / design sheet / review &amp; trade-off / log). [Project Wall photo: select from Lesson 2's TA shot — wall only, no faces.]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 up the Wio) New gear. It's called the Wio Terminal — think of it as a handheld little computer: a color screen, three buttons, a five-way joystick, and sensors built in. One thing is different from the old board: (hold it up, point at the switch) before you flash, slide the switch on the side — slide, slide — that's how you tell the board 'get ready for new instructions.' Everyone: drill it with me twice. The switch drill happens NOW, and the problems surface NOW — that saves 20 minutes of rescue attempts during coding. The mantra card goes on every desk: 'No response? Slide it.' [Switch close-up photo: yellow circle marking the switch — to photograph.]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the board type in Codecraft — choose Wio Terminal, same old flow. Then send the line you've known since your first lesson: 'Display in large text on the screen: HELLO and my name (pinyin or English): ___.' (wait for the room to light up) See — new hardware, and everything you already know still works. Nothing is wasted. Why English on screen — this board's Chinese font library is unreliable; all screen display today is English / numbers / graphics (course-wide rule from Lesson 1). 'Switching hardware costs zero learning' is today's confidence anchor — point at the color screen and add: 'and the letters are prettier now.' Serial-port problems follow the old plan: swap cable -&gt; swap machine -&gt; pair up. [Warm-up success screen: Rehearsal-1 backup.]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walk around and meet your new partner. (hold up the Wio and label as you go, one sentence each) The color screen — your project's face. Three buttons plus a five-way joystick — the human's hand. The light sensor — it knows light from dark. The microphone — it hears things. The accelerometer — it knows whether it's moving and which way it's tilted. The buzzer — it can make sound. Two small things over here, ears only today: the SD card slot — it can store things; the Grove port — the door for adding new modules later. These two, just know they exist. The walk-around never becomes a manual read — every time you name a part, students find it on their own board with a finger and touch it. A student presses on internet? 'It can — that's a later lesson. Today, just remember it exists.' [Annotated tour diagram to be made: base = top-down photo, nine 2px leader lines + yellow dots; line-art placeholder until then.]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compare with the old board: the old one's strength is sensing the world — sensors soldered on, plug and play. This one adds a color screen, a joystick and wireless — its strength is letting people interact with your project. One sentence: why did we change gear? From today, your project has a face and hands. Then the two workbook lines. Output anchor: the two lines written in everyone's workbook.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Touching isn't knowing — lighting it up is. Five micro-experiments, one line each, watch it come alive. The lines are printed in your Student Workbook — follow me on the screen. The rhythm: I send mine first, then you send yours — don't just watch me, send a line and try it yourself. Flip fast — this page is the round's instructions, not a talking page.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one, the three-key piano. Watch me send it — (send) press A: DO; press B: MI; press C: SOL. Your turn — send it, try it. Can play a little tune? Raise your hand. New line counts only if it ran in rehearsal — a line that won't run falls back to the original 'number-report' version; a single dead unit gets swapped, not fixed. One experiment stuck more than 2 minutes is too long — protect the round's rhythm.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one, push the ball. Push the joystick and the ball runs that way. (demo) Your turn — see who can park the ball steadily in the corner. A student discovers the joystick also presses in (it has a button)? Affirm the discovery — it goes on the list of usable inputs for the free round. Line won't run -&gt; fall back to the number-report version (UP / DOWN / LEFT / RIGHT).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one, blow out the candle. Send it — blow at the microphone, the flame goes out; after 2 seconds it lights again. Your turn. A student asks how it knows they blew? One sentence: 'Blow hard enough and it counts as blowing out the candle; the exact units don't matter.'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fourth one, the board afraid of the dark. Send it — cover the board with your palm, the eyes close, ZZZ appears; take your hand away, it wakes up. This is last lesson's 'dark-detecting light' skill, in a new costume. Point back to Lesson 1 as you go — the Sense -&gt; Logic -&gt; Output model is still the engine under every one of these toys.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one, the balance ball. Send it — tilt the board, and the ball rolls downhill. It can feel how you move it. All five tried? Open your workbook, tick the boxes, and write one line: what surprised me most, and why. Fast students add a free line on top of the current experiment ('make the ball a different color' / 'beep when the ball touches the edge'); slow students pass by keeping the first three. Output anchor: the ticks + one line in everyone's workbook.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Hardware's all lit up — now lesson one of using it well: how do you get AI to give you a good screen? An experiment, one idea two ways of saying it. First way: (send) 'Make a counter screen.' — see what it gives you. (show the result) Second way: (send) 'Show a number in the largest text in the center of the screen; show COUNTER in small text at the top-left; make the number red.' — now see what it gives you. (project side by side) What's the difference? Describing a screen means saying three things clearly: position, size, color. Land the extension line: 'Logic says do this when that happens. Screens say what something is, where it sits, what it looks like. Two ways of speaking — you need both.' If AI does well both times: 'Today it guessed your mind right — but your project is ten times more complex. You can't afford the wrong guess.' NON-NEGOTIABLE: really send both lines live in the same conversation — the screenshots are backups only; live authenticity can't be faked.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along, and we say it in two steps on purpose. Step one, the screen only: 'Show the number 0 in the largest text in the center of the screen, and COUNTER in small text at the top-left.' Flash it, look at it. Step two, the behavior: 'When I press button A, add one to the number; when I press B, reset to zero.' Flash again — then one more line to the whole class: 'Every time the count reaches 10, the buzzer beeps once to celebrate.' (the room fills with button presses; count to 10 and hear the beep) See? First describe the looks, then the actions — two ways of speaking, two separate lines, and it doesn't get confused. Wrong? Add one more line. That's also the old Five-Rules rule: one thing at a time. The number-one reason buttons don't respond: flash mode never exited — 'No response? Slide it (back to run mode).' The TA checks this first. Text overflowing / color not showing? One sentence: 'This is exactly the precision problem of describing looks — add one more line of description and have it change.' Someone already making a joystick game? Don't forbid: 'Fine to play — but the two-screens requirement stays.' Stays fixed during follow-along.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Free build, one-line brief: make something with two screens, and switch between them with a button or the joystick. A clock / a mood display / a stopwatch / a menu of your own / a reaction tester (the screen turns green, you press A, it shows your milliseconds — naturally two screens) — anything works (screen content in English, numbers or graphics). You now have five inputs in your hands — pick what's comfortable. Old discipline: tell your neighbor what your two screens each look like BEFORE you touch the keyboard — position, size, color, said clearly — then talk to AI. Collect 1-2 'described unclearly -&gt; AI drifted off' cases (the drift gallery needs them next). Fast students: add a sensor link to the two-screen project. Slow students' bar: the counter + one custom change. A student dumps the whole job on AI at once? 'Directors shoot one scene at a time. Get the first screen described beautifully, then the second, and only at the end how to switch.' Two screens degrade to one? Lower the bar to 'counter + one custom change' and have them log 'where I got stuck trying to make two screens.' Someone's screen looks great and people gather? Invite them to project it — but push one question: 'What exactly did you say to AI?' Output anchor: everyone copies one line into the workbook. Stays fixed during the free round.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Whole room, come look at a treasure. (project) See: they said ___, AI made ___. Which sentence went wrong? (lead the class to find it) There — they forgot to say where. Thank this student — they stepped in the pit so the whole class doesn't have to. A crash isn't a joke; it's teaching material. The volunteer is always voluntary; no volunteer -&gt; use the pre-made case from Rehearsal 5; once someone volunteers, the pre-made case is dropped. The tone is set: the volunteer is the hero — anyone snickering, take the line back on the spot: 'They stepped in the pit for the whole class. That's a hero.'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question: what's different between describing a screen to AI and describing logic? (lead them to: logic says 'do this when that happens'; screens say 'what something is, where it sits, what it looks like') — so, three takeaways for using this handheld well. First: describe a screen with position, size and color — you saw it with your own eyes; say the three things or don't, and you get two different things. Second: make state visible — the board has a screen; have it show you where it is in its steps, so you always know what it's doing. Third: with many inputs, try combinations — the best projects often come from trying 'which input feels most natural.' Then the log: take a photo of the screen project, say thirty seconds, the usual four sentences — today's 'stuck on' must be specific: position, size, or color. Send to AI with the tidy line; when it's done, read it: 'AI will make things up with a straight face. Proofreading is your job — nobody can do it for you.' The TA takes extra build photos (hands only, no faces); students without phones get photos taken by the TA, filed by table number. Output anchor: circled takeaway + the proofread four-sentence log in the workbook.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tone at the start (announce today's exit per your pre-class choice): 'Next 30 minutes work like this: if your two-screen project isn't done, finish it — that's the line everyone must cross today. Crossed it? [announce today's plan: take a challenge task / help your neighbor / add a sensor link to your project].' Circulation order: first sweep who hasn't crossed the line (the TA watches these), then lead the fast ones through challenges. Challenge tasks: only the ones you rehearsed — unrehearsed tasks don't go out; if none of them run, the buffer keeps only 'finish to standard' and 'help a neighbor.' Challenge done? Steer toward one line: 'You've got the joystick down — later it becomes a controller for your computer. That's the road ahead.' A student says 'I'm done, can I leave / play on my phone?' — point to the three exits. Everyone clears the bar with 20 minutes left? Don't drag — move into the show &amp; tell early and finish the wrap at a relaxed pace. Output anchor (challenge students): the 'I used ___ to make ___' line in the workbook. Stays fixed during the buffer.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your table, 30 seconds each: demo your project, say one line — 'which input I used, and how I switch screens.' (after the show &amp; tell) Last two minutes — take stock. One: you met the new gear — the Wio has a screen, buttons, a joystick and three sensors, and you lit every one of them up yourself. Two: you learned lesson one of using it: describe a screen — position, size, color — and your project has a real interface from today. Next session is a big day: we give AI a team — so it's more than one person working for you — and build one complete project end to end: your own smart Pomodoro timer. It runs on this very color screen, so today's screen skills get used all the way through. Bring your topic. Class dismissed! Localize the Pomodoro explanation if needed: 'a Pomodoro = a focus timer — 25 minutes focused, 5 minutes off, that kind of thing.' After class: collect today's work (links or photos), note what's missing; leave the mantra cards on the desks and collect them — reusable next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01 / 19</a:t>
            </a:r>
          </a:p>
        </p:txBody>
      </p:sp>
      <p:sp>
        <p:nvSpPr>
          <p:cNvPr id="4" name="TextBox 3"/>
          <p:cNvSpPr txBox="1"/>
          <p:nvPr/>
        </p:nvSpPr>
        <p:spPr>
          <a:xfrm>
            <a:off x="566928" y="1188720"/>
            <a:ext cx="5852160" cy="320040"/>
          </a:xfrm>
          <a:prstGeom prst="rect">
            <a:avLst/>
          </a:prstGeom>
          <a:noFill/>
        </p:spPr>
        <p:txBody>
          <a:bodyPr wrap="square" lIns="0" tIns="0" rIns="0" bIns="0" anchor="t">
            <a:spAutoFit/>
          </a:bodyPr>
          <a:lstStyle/>
          <a:p>
            <a:pPr algn="l">
              <a:lnSpc>
                <a:spcPct val="100000"/>
              </a:lnSpc>
            </a:pPr>
            <a:r>
              <a:rPr sz="1400" b="0">
                <a:solidFill>
                  <a:srgbClr val="000000"/>
                </a:solidFill>
                <a:latin typeface="Source Han Sans SC"/>
              </a:rPr>
              <a:t>Chaihuo Maker Academy · Smart Hardware Fundamentals (M0)</a:t>
            </a:r>
          </a:p>
        </p:txBody>
      </p:sp>
      <p:sp>
        <p:nvSpPr>
          <p:cNvPr id="5" name="TextBox 4"/>
          <p:cNvSpPr txBox="1"/>
          <p:nvPr/>
        </p:nvSpPr>
        <p:spPr>
          <a:xfrm>
            <a:off x="566928" y="1536192"/>
            <a:ext cx="8010144"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Give Your Project a Screen</a:t>
            </a:r>
          </a:p>
        </p:txBody>
      </p:sp>
      <p:sp>
        <p:nvSpPr>
          <p:cNvPr id="6" name="Rectangle 5"/>
          <p:cNvSpPr/>
          <p:nvPr/>
        </p:nvSpPr>
        <p:spPr>
          <a:xfrm>
            <a:off x="566928" y="2395728"/>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2670048"/>
            <a:ext cx="8010144" cy="365760"/>
          </a:xfrm>
          <a:prstGeom prst="rect">
            <a:avLst/>
          </a:prstGeom>
          <a:noFill/>
        </p:spPr>
        <p:txBody>
          <a:bodyPr wrap="square" lIns="0" tIns="0" rIns="0" bIns="0" anchor="t">
            <a:spAutoFit/>
          </a:bodyPr>
          <a:lstStyle/>
          <a:p>
            <a:pPr algn="l">
              <a:lnSpc>
                <a:spcPct val="100000"/>
              </a:lnSpc>
            </a:pPr>
            <a:r>
              <a:rPr sz="1500" b="0">
                <a:solidFill>
                  <a:srgbClr val="000000"/>
                </a:solidFill>
                <a:latin typeface="Source Han Sans SC"/>
              </a:rPr>
              <a:t>Wio Terminal · HMI (Human-Machine Interface) board · M0 Lesson 3</a:t>
            </a:r>
          </a:p>
        </p:txBody>
      </p:sp>
      <p:sp>
        <p:nvSpPr>
          <p:cNvPr id="8" name="TextBox 7"/>
          <p:cNvSpPr txBox="1"/>
          <p:nvPr/>
        </p:nvSpPr>
        <p:spPr>
          <a:xfrm>
            <a:off x="566928" y="3154680"/>
            <a:ext cx="5852160" cy="457200"/>
          </a:xfrm>
          <a:prstGeom prst="rect">
            <a:avLst/>
          </a:prstGeom>
          <a:noFill/>
        </p:spPr>
        <p:txBody>
          <a:bodyPr wrap="square" lIns="0" tIns="0" rIns="0" bIns="0" anchor="t">
            <a:spAutoFit/>
          </a:bodyPr>
          <a:lstStyle/>
          <a:p>
            <a:pPr algn="l">
              <a:lnSpc>
                <a:spcPct val="100000"/>
              </a:lnSpc>
            </a:pPr>
            <a:r>
              <a:rPr sz="1800" b="1">
                <a:solidFill>
                  <a:srgbClr val="000000"/>
                </a:solidFill>
                <a:latin typeface="Source Han Sans SC"/>
              </a:rPr>
              <a:t>From today, your builds have a real interface.</a:t>
            </a:r>
          </a:p>
        </p:txBody>
      </p:sp>
      <p:sp>
        <p:nvSpPr>
          <p:cNvPr id="9" name="Rectangle 8"/>
          <p:cNvSpPr/>
          <p:nvPr/>
        </p:nvSpPr>
        <p:spPr>
          <a:xfrm>
            <a:off x="6400800" y="3017520"/>
            <a:ext cx="2103120" cy="1463040"/>
          </a:xfrm>
          <a:prstGeom prst="rect">
            <a:avLst/>
          </a:prstGeom>
          <a:solidFill>
            <a:srgbClr val="FFFF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00392" y="3127248"/>
            <a:ext cx="1303934" cy="7607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00392" y="3343046"/>
            <a:ext cx="1303934" cy="329184"/>
          </a:xfrm>
          <a:prstGeom prst="rect">
            <a:avLst/>
          </a:prstGeom>
          <a:noFill/>
        </p:spPr>
        <p:txBody>
          <a:bodyPr wrap="square" lIns="0" tIns="0" rIns="0" bIns="0" anchor="t">
            <a:spAutoFit/>
          </a:bodyPr>
          <a:lstStyle/>
          <a:p>
            <a:pPr algn="ctr">
              <a:lnSpc>
                <a:spcPct val="100000"/>
              </a:lnSpc>
            </a:pPr>
            <a:r>
              <a:rPr sz="1300" b="1">
                <a:solidFill>
                  <a:srgbClr val="000000"/>
                </a:solidFill>
                <a:latin typeface="Source Code Pro"/>
              </a:rPr>
              <a:t>HELLO</a:t>
            </a:r>
          </a:p>
        </p:txBody>
      </p:sp>
      <p:sp>
        <p:nvSpPr>
          <p:cNvPr id="12" name="Oval 11"/>
          <p:cNvSpPr/>
          <p:nvPr/>
        </p:nvSpPr>
        <p:spPr>
          <a:xfrm>
            <a:off x="6656832" y="416966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040880" y="416966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24928" y="416966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046720" y="4105656"/>
            <a:ext cx="237744" cy="237744"/>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526280"/>
            <a:ext cx="2103120" cy="256032"/>
          </a:xfrm>
          <a:prstGeom prst="rect">
            <a:avLst/>
          </a:prstGeom>
          <a:noFill/>
        </p:spPr>
        <p:txBody>
          <a:bodyPr wrap="square" lIns="0" tIns="0" rIns="0" bIns="0" anchor="t">
            <a:spAutoFit/>
          </a:bodyPr>
          <a:lstStyle/>
          <a:p>
            <a:pPr algn="ctr">
              <a:lnSpc>
                <a:spcPct val="100000"/>
              </a:lnSpc>
            </a:pPr>
            <a:r>
              <a:rPr sz="1000" b="0">
                <a:solidFill>
                  <a:srgbClr val="000000"/>
                </a:solidFill>
                <a:latin typeface="Source Han Sans SC"/>
              </a:rPr>
              <a:t>Wio Terminal (screen lit)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02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200" b="1">
                <a:solidFill>
                  <a:srgbClr val="000000"/>
                </a:solidFill>
                <a:latin typeface="Source Han Sans SC"/>
              </a:rPr>
              <a:t>First, Let's Collect Last Session's Work</a:t>
            </a:r>
          </a:p>
        </p:txBody>
      </p:sp>
      <p:sp>
        <p:nvSpPr>
          <p:cNvPr id="6" name="Rectangle 5"/>
          <p:cNvSpPr/>
          <p:nvPr/>
        </p:nvSpPr>
        <p:spPr>
          <a:xfrm>
            <a:off x="566928" y="128016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316736"/>
            <a:ext cx="365760"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280160"/>
            <a:ext cx="7223760" cy="777240"/>
          </a:xfrm>
          <a:prstGeom prst="rect">
            <a:avLst/>
          </a:prstGeom>
          <a:noFill/>
        </p:spPr>
        <p:txBody>
          <a:bodyPr wrap="square" lIns="0" tIns="0" rIns="0" bIns="0" anchor="t">
            <a:spAutoFit/>
          </a:bodyPr>
          <a:lstStyle/>
          <a:p>
            <a:pPr algn="l">
              <a:lnSpc>
                <a:spcPct val="130000"/>
              </a:lnSpc>
            </a:pPr>
            <a:r>
              <a:rPr sz="1400" b="1">
                <a:solidFill>
                  <a:srgbClr val="000000"/>
                </a:solidFill>
                <a:latin typeface="Source Han Sans SC"/>
              </a:rPr>
              <a:t>Hand in your work — online doc? send the link.</a:t>
            </a:r>
          </a:p>
          <a:p>
            <a:pPr algn="l">
              <a:lnSpc>
                <a:spcPct val="130000"/>
              </a:lnSpc>
            </a:pPr>
            <a:r>
              <a:rPr sz="1250" b="0">
                <a:solidFill>
                  <a:srgbClr val="000000"/>
                </a:solidFill>
                <a:latin typeface="Source Han Sans SC"/>
              </a:rPr>
              <a:t>Handwritten? send a photo. Not in yet? Note it down — finish before you leave today.</a:t>
            </a:r>
          </a:p>
        </p:txBody>
      </p:sp>
      <p:sp>
        <p:nvSpPr>
          <p:cNvPr id="9" name="Rectangle 8"/>
          <p:cNvSpPr/>
          <p:nvPr/>
        </p:nvSpPr>
        <p:spPr>
          <a:xfrm>
            <a:off x="566928" y="224028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2276856"/>
            <a:ext cx="365760"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097280" y="2240280"/>
            <a:ext cx="7223760" cy="777240"/>
          </a:xfrm>
          <a:prstGeom prst="rect">
            <a:avLst/>
          </a:prstGeom>
          <a:noFill/>
        </p:spPr>
        <p:txBody>
          <a:bodyPr wrap="square" lIns="0" tIns="0" rIns="0" bIns="0" anchor="t">
            <a:spAutoFit/>
          </a:bodyPr>
          <a:lstStyle/>
          <a:p>
            <a:pPr algn="l">
              <a:lnSpc>
                <a:spcPct val="130000"/>
              </a:lnSpc>
            </a:pPr>
            <a:r>
              <a:rPr sz="1400" b="1">
                <a:solidFill>
                  <a:srgbClr val="000000"/>
                </a:solidFill>
                <a:latin typeface="Source Han Sans SC"/>
              </a:rPr>
              <a:t>Look at the Project Wall — everyone's manifesto is up there.</a:t>
            </a:r>
          </a:p>
          <a:p>
            <a:pPr algn="l">
              <a:lnSpc>
                <a:spcPct val="130000"/>
              </a:lnSpc>
            </a:pPr>
            <a:r>
              <a:rPr sz="1250" b="0">
                <a:solidFill>
                  <a:srgbClr val="000000"/>
                </a:solidFill>
                <a:latin typeface="Source Han Sans SC"/>
              </a:rPr>
              <a:t>It's the north star for every big project after this.</a:t>
            </a:r>
          </a:p>
        </p:txBody>
      </p:sp>
      <p:sp>
        <p:nvSpPr>
          <p:cNvPr id="12" name="Rectangle 11"/>
          <p:cNvSpPr/>
          <p:nvPr/>
        </p:nvSpPr>
        <p:spPr>
          <a:xfrm>
            <a:off x="566928" y="3291840"/>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401568"/>
            <a:ext cx="7680960" cy="557784"/>
          </a:xfrm>
          <a:prstGeom prst="rect">
            <a:avLst/>
          </a:prstGeom>
          <a:noFill/>
        </p:spPr>
        <p:txBody>
          <a:bodyPr wrap="square" lIns="0" tIns="0" rIns="0" bIns="0" anchor="t">
            <a:spAutoFit/>
          </a:bodyPr>
          <a:lstStyle/>
          <a:p>
            <a:pPr algn="l">
              <a:lnSpc>
                <a:spcPct val="125000"/>
              </a:lnSpc>
            </a:pPr>
            <a:r>
              <a:rPr sz="1300" b="0">
                <a:solidFill>
                  <a:srgbClr val="000000"/>
                </a:solidFill>
                <a:latin typeface="Source Han Sans SC"/>
              </a:rPr>
              <a:t>Open your Student Workbook (or notebook) —</a:t>
            </a:r>
          </a:p>
          <a:p>
            <a:pPr algn="l">
              <a:lnSpc>
                <a:spcPct val="125000"/>
              </a:lnSpc>
            </a:pPr>
            <a:r>
              <a:rPr sz="1300" b="0">
                <a:solidFill>
                  <a:srgbClr val="000000"/>
                </a:solidFill>
                <a:latin typeface="Source Han Sans SC"/>
              </a:rPr>
              <a:t>everything produced today continues in your own document.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03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400" b="1">
                <a:solidFill>
                  <a:srgbClr val="000000"/>
                </a:solidFill>
                <a:latin typeface="Source Han Sans SC"/>
              </a:rPr>
              <a:t>New Gear — From Board to Handheld</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Meet the Wio Terminal: a handheld little computer</a:t>
            </a:r>
          </a:p>
        </p:txBody>
      </p:sp>
      <p:sp>
        <p:nvSpPr>
          <p:cNvPr id="7" name="Rectangle 6"/>
          <p:cNvSpPr/>
          <p:nvPr/>
        </p:nvSpPr>
        <p:spPr>
          <a:xfrm>
            <a:off x="6309360" y="1371600"/>
            <a:ext cx="2194560" cy="1554480"/>
          </a:xfrm>
          <a:prstGeom prst="rect">
            <a:avLst/>
          </a:prstGeom>
          <a:solidFill>
            <a:srgbClr val="FFFF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726326" y="1481328"/>
            <a:ext cx="1360627" cy="808329"/>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26326" y="1720900"/>
            <a:ext cx="1360627" cy="329184"/>
          </a:xfrm>
          <a:prstGeom prst="rect">
            <a:avLst/>
          </a:prstGeom>
          <a:noFill/>
        </p:spPr>
        <p:txBody>
          <a:bodyPr wrap="square" lIns="0" tIns="0" rIns="0" bIns="0" anchor="t">
            <a:spAutoFit/>
          </a:bodyPr>
          <a:lstStyle/>
          <a:p>
            <a:pPr algn="ctr">
              <a:lnSpc>
                <a:spcPct val="100000"/>
              </a:lnSpc>
            </a:pPr>
            <a:r>
              <a:rPr sz="1300" b="1">
                <a:solidFill>
                  <a:srgbClr val="000000"/>
                </a:solidFill>
                <a:latin typeface="Source Code Pro"/>
              </a:rPr>
              <a:t>WIO</a:t>
            </a:r>
          </a:p>
        </p:txBody>
      </p:sp>
      <p:sp>
        <p:nvSpPr>
          <p:cNvPr id="10" name="Oval 9"/>
          <p:cNvSpPr/>
          <p:nvPr/>
        </p:nvSpPr>
        <p:spPr>
          <a:xfrm>
            <a:off x="6565392" y="261518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949440" y="261518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333488" y="261518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46720" y="2551176"/>
            <a:ext cx="237744" cy="237744"/>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8368" y="146304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1371600"/>
            <a:ext cx="5157216" cy="548640"/>
          </a:xfrm>
          <a:prstGeom prst="rect">
            <a:avLst/>
          </a:prstGeom>
          <a:noFill/>
        </p:spPr>
        <p:txBody>
          <a:bodyPr wrap="square" lIns="0" tIns="0" rIns="0" bIns="0" anchor="t">
            <a:spAutoFit/>
          </a:bodyPr>
          <a:lstStyle/>
          <a:p>
            <a:pPr algn="l">
              <a:lnSpc>
                <a:spcPct val="110000"/>
              </a:lnSpc>
            </a:pPr>
            <a:r>
              <a:rPr sz="1500" b="0">
                <a:solidFill>
                  <a:srgbClr val="000000"/>
                </a:solidFill>
                <a:latin typeface="Source Han Sans SC"/>
              </a:rPr>
              <a:t>Color screen</a:t>
            </a:r>
          </a:p>
        </p:txBody>
      </p:sp>
      <p:sp>
        <p:nvSpPr>
          <p:cNvPr id="16" name="Oval 15"/>
          <p:cNvSpPr/>
          <p:nvPr/>
        </p:nvSpPr>
        <p:spPr>
          <a:xfrm>
            <a:off x="658368" y="1874519"/>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1783080"/>
            <a:ext cx="5157216" cy="548640"/>
          </a:xfrm>
          <a:prstGeom prst="rect">
            <a:avLst/>
          </a:prstGeom>
          <a:noFill/>
        </p:spPr>
        <p:txBody>
          <a:bodyPr wrap="square" lIns="0" tIns="0" rIns="0" bIns="0" anchor="t">
            <a:spAutoFit/>
          </a:bodyPr>
          <a:lstStyle/>
          <a:p>
            <a:pPr algn="l">
              <a:lnSpc>
                <a:spcPct val="110000"/>
              </a:lnSpc>
            </a:pPr>
            <a:r>
              <a:rPr sz="1500" b="0">
                <a:solidFill>
                  <a:srgbClr val="000000"/>
                </a:solidFill>
                <a:latin typeface="Source Han Sans SC"/>
              </a:rPr>
              <a:t>Three buttons + a five-way joystick</a:t>
            </a:r>
          </a:p>
        </p:txBody>
      </p:sp>
      <p:sp>
        <p:nvSpPr>
          <p:cNvPr id="18" name="Oval 17"/>
          <p:cNvSpPr/>
          <p:nvPr/>
        </p:nvSpPr>
        <p:spPr>
          <a:xfrm>
            <a:off x="658368" y="22860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2194560"/>
            <a:ext cx="5157216" cy="548640"/>
          </a:xfrm>
          <a:prstGeom prst="rect">
            <a:avLst/>
          </a:prstGeom>
          <a:noFill/>
        </p:spPr>
        <p:txBody>
          <a:bodyPr wrap="square" lIns="0" tIns="0" rIns="0" bIns="0" anchor="t">
            <a:spAutoFit/>
          </a:bodyPr>
          <a:lstStyle/>
          <a:p>
            <a:pPr algn="l">
              <a:lnSpc>
                <a:spcPct val="110000"/>
              </a:lnSpc>
            </a:pPr>
            <a:r>
              <a:rPr sz="1500" b="0">
                <a:solidFill>
                  <a:srgbClr val="000000"/>
                </a:solidFill>
                <a:latin typeface="Source Han Sans SC"/>
              </a:rPr>
              <a:t>Sensors built in</a:t>
            </a:r>
          </a:p>
        </p:txBody>
      </p:sp>
      <p:sp>
        <p:nvSpPr>
          <p:cNvPr id="20" name="Rectangle 19"/>
          <p:cNvSpPr/>
          <p:nvPr/>
        </p:nvSpPr>
        <p:spPr>
          <a:xfrm>
            <a:off x="566928" y="2743200"/>
            <a:ext cx="5394960" cy="9144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2852928"/>
            <a:ext cx="5065776" cy="731520"/>
          </a:xfrm>
          <a:prstGeom prst="rect">
            <a:avLst/>
          </a:prstGeom>
          <a:noFill/>
        </p:spPr>
        <p:txBody>
          <a:bodyPr wrap="square" lIns="0" tIns="0" rIns="0" bIns="0" anchor="t">
            <a:spAutoFit/>
          </a:bodyPr>
          <a:lstStyle/>
          <a:p>
            <a:pPr algn="l">
              <a:lnSpc>
                <a:spcPct val="130000"/>
              </a:lnSpc>
            </a:pPr>
            <a:r>
              <a:rPr sz="1250" b="1">
                <a:solidFill>
                  <a:srgbClr val="000000"/>
                </a:solidFill>
                <a:latin typeface="Source Han Sans SC"/>
              </a:rPr>
              <a:t>BEFORE YOU FLASH: slide the switch on the side — slide, slide.</a:t>
            </a:r>
          </a:p>
          <a:p>
            <a:pPr algn="l">
              <a:lnSpc>
                <a:spcPct val="130000"/>
              </a:lnSpc>
            </a:pPr>
            <a:r>
              <a:rPr sz="1250" b="0">
                <a:solidFill>
                  <a:srgbClr val="000000"/>
                </a:solidFill>
                <a:latin typeface="Source Han Sans SC"/>
              </a:rPr>
              <a:t>That tells the board: "get ready for new instructions."</a:t>
            </a:r>
          </a:p>
        </p:txBody>
      </p:sp>
      <p:sp>
        <p:nvSpPr>
          <p:cNvPr id="22" name="Rectangle 21"/>
          <p:cNvSpPr/>
          <p:nvPr/>
        </p:nvSpPr>
        <p:spPr>
          <a:xfrm>
            <a:off x="566928" y="3886200"/>
            <a:ext cx="5394960"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995928"/>
            <a:ext cx="5065776" cy="512064"/>
          </a:xfrm>
          <a:prstGeom prst="rect">
            <a:avLst/>
          </a:prstGeom>
          <a:noFill/>
        </p:spPr>
        <p:txBody>
          <a:bodyPr wrap="square" lIns="0" tIns="0" rIns="0" bIns="0" anchor="t">
            <a:spAutoFit/>
          </a:bodyPr>
          <a:lstStyle/>
          <a:p>
            <a:pPr algn="l">
              <a:lnSpc>
                <a:spcPct val="125000"/>
              </a:lnSpc>
            </a:pPr>
            <a:r>
              <a:rPr sz="1350" b="0">
                <a:solidFill>
                  <a:srgbClr val="000000"/>
                </a:solidFill>
                <a:latin typeface="Source Han Sans SC"/>
              </a:rPr>
              <a:t>No response? Slide it. — Everyone, drill it with me twice.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04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2600" b="1">
                <a:solidFill>
                  <a:srgbClr val="000000"/>
                </a:solidFill>
                <a:latin typeface="Source Han Sans SC"/>
              </a:rPr>
              <a:t>Switch the Board Type — Same Old Flow, Same Old Line</a:t>
            </a:r>
          </a:p>
        </p:txBody>
      </p:sp>
      <p:sp>
        <p:nvSpPr>
          <p:cNvPr id="6" name="Rectangle 5"/>
          <p:cNvSpPr/>
          <p:nvPr/>
        </p:nvSpPr>
        <p:spPr>
          <a:xfrm>
            <a:off x="566928" y="1234440"/>
            <a:ext cx="4937760" cy="118872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71600"/>
            <a:ext cx="4608576" cy="960120"/>
          </a:xfrm>
          <a:prstGeom prst="rect">
            <a:avLst/>
          </a:prstGeom>
          <a:noFill/>
        </p:spPr>
        <p:txBody>
          <a:bodyPr wrap="square" lIns="0" tIns="0" rIns="0" bIns="0" anchor="t">
            <a:spAutoFit/>
          </a:bodyPr>
          <a:lstStyle/>
          <a:p>
            <a:pPr algn="l">
              <a:lnSpc>
                <a:spcPct val="150000"/>
              </a:lnSpc>
            </a:pPr>
            <a:r>
              <a:rPr sz="1250" b="0">
                <a:solidFill>
                  <a:srgbClr val="000000"/>
                </a:solidFill>
                <a:latin typeface="Source Code Pro"/>
              </a:rPr>
              <a:t>Display in large text on the screen:</a:t>
            </a:r>
          </a:p>
          <a:p>
            <a:pPr algn="l">
              <a:lnSpc>
                <a:spcPct val="150000"/>
              </a:lnSpc>
            </a:pPr>
            <a:r>
              <a:rPr sz="1250" b="1">
                <a:solidFill>
                  <a:srgbClr val="000000"/>
                </a:solidFill>
                <a:latin typeface="Source Code Pro"/>
              </a:rPr>
              <a:t>HELLO and my name (pinyin or English): ___</a:t>
            </a:r>
          </a:p>
        </p:txBody>
      </p:sp>
      <p:sp>
        <p:nvSpPr>
          <p:cNvPr id="8" name="Rectangle 7"/>
          <p:cNvSpPr/>
          <p:nvPr/>
        </p:nvSpPr>
        <p:spPr>
          <a:xfrm>
            <a:off x="5669280" y="1234440"/>
            <a:ext cx="2907792" cy="11887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15584" y="1344168"/>
            <a:ext cx="2615184" cy="1005840"/>
          </a:xfrm>
          <a:prstGeom prst="rect">
            <a:avLst/>
          </a:prstGeom>
          <a:noFill/>
        </p:spPr>
        <p:txBody>
          <a:bodyPr wrap="square" lIns="0" tIns="0" rIns="0" bIns="0" anchor="t">
            <a:spAutoFit/>
          </a:bodyPr>
          <a:lstStyle/>
          <a:p>
            <a:pPr algn="ctr">
              <a:lnSpc>
                <a:spcPct val="135000"/>
              </a:lnSpc>
            </a:pPr>
            <a:r>
              <a:rPr sz="1050" b="1">
                <a:solidFill>
                  <a:srgbClr val="000000"/>
                </a:solidFill>
                <a:latin typeface="Source Han Sans SC"/>
              </a:rPr>
              <a:t>[ success</a:t>
            </a:r>
          </a:p>
          <a:p>
            <a:pPr algn="ctr">
              <a:lnSpc>
                <a:spcPct val="135000"/>
              </a:lnSpc>
            </a:pPr>
            <a:r>
              <a:rPr sz="1050" b="1">
                <a:solidFill>
                  <a:srgbClr val="000000"/>
                </a:solidFill>
                <a:latin typeface="Source Han Sans SC"/>
              </a:rPr>
              <a:t>screenshot ]</a:t>
            </a:r>
          </a:p>
          <a:p>
            <a:pPr algn="ctr">
              <a:lnSpc>
                <a:spcPct val="135000"/>
              </a:lnSpc>
            </a:pPr>
            <a:r>
              <a:rPr sz="950" b="0">
                <a:solidFill>
                  <a:srgbClr val="000000"/>
                </a:solidFill>
                <a:latin typeface="Source Han Sans SC"/>
              </a:rPr>
              <a:t>the screen showing HELLO</a:t>
            </a:r>
          </a:p>
        </p:txBody>
      </p:sp>
      <p:sp>
        <p:nvSpPr>
          <p:cNvPr id="10" name="Rectangle 9"/>
          <p:cNvSpPr/>
          <p:nvPr/>
        </p:nvSpPr>
        <p:spPr>
          <a:xfrm>
            <a:off x="566928" y="2743200"/>
            <a:ext cx="8010144" cy="10058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852928"/>
            <a:ext cx="7680960" cy="292608"/>
          </a:xfrm>
          <a:prstGeom prst="rect">
            <a:avLst/>
          </a:prstGeom>
          <a:noFill/>
        </p:spPr>
        <p:txBody>
          <a:bodyPr wrap="square" lIns="0" tIns="0" rIns="0" bIns="0" anchor="t">
            <a:spAutoFit/>
          </a:bodyPr>
          <a:lstStyle/>
          <a:p>
            <a:pPr algn="l">
              <a:lnSpc>
                <a:spcPct val="100000"/>
              </a:lnSpc>
            </a:pPr>
            <a:r>
              <a:rPr sz="1500" b="1">
                <a:solidFill>
                  <a:srgbClr val="000000"/>
                </a:solidFill>
                <a:latin typeface="Source Han Sans SC"/>
              </a:rPr>
              <a:t>Confidence anchor:</a:t>
            </a:r>
          </a:p>
        </p:txBody>
      </p:sp>
      <p:sp>
        <p:nvSpPr>
          <p:cNvPr id="12" name="TextBox 11"/>
          <p:cNvSpPr txBox="1"/>
          <p:nvPr/>
        </p:nvSpPr>
        <p:spPr>
          <a:xfrm>
            <a:off x="731520" y="3182112"/>
            <a:ext cx="7680960" cy="420624"/>
          </a:xfrm>
          <a:prstGeom prst="rect">
            <a:avLst/>
          </a:prstGeom>
          <a:noFill/>
        </p:spPr>
        <p:txBody>
          <a:bodyPr wrap="square" lIns="0" tIns="0" rIns="0" bIns="0" anchor="t">
            <a:spAutoFit/>
          </a:bodyPr>
          <a:lstStyle/>
          <a:p>
            <a:pPr algn="l">
              <a:lnSpc>
                <a:spcPct val="125000"/>
              </a:lnSpc>
            </a:pPr>
            <a:r>
              <a:rPr sz="1400" b="0">
                <a:solidFill>
                  <a:srgbClr val="000000"/>
                </a:solidFill>
                <a:latin typeface="Source Han Sans SC"/>
              </a:rPr>
              <a:t>New hardware — and everything you already know still works.</a:t>
            </a:r>
          </a:p>
          <a:p>
            <a:pPr algn="l">
              <a:lnSpc>
                <a:spcPct val="125000"/>
              </a:lnSpc>
            </a:pPr>
            <a:r>
              <a:rPr sz="1400" b="0">
                <a:solidFill>
                  <a:srgbClr val="000000"/>
                </a:solidFill>
                <a:latin typeface="Source Han Sans SC"/>
              </a:rPr>
              <a:t>Nothing is wasted. And the letters are prettier now.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05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200" b="1">
                <a:solidFill>
                  <a:srgbClr val="000000"/>
                </a:solidFill>
                <a:latin typeface="Source Han Sans SC"/>
              </a:rPr>
              <a:t>Walk Around — Meet Your New Partner</a:t>
            </a:r>
          </a:p>
        </p:txBody>
      </p:sp>
      <p:sp>
        <p:nvSpPr>
          <p:cNvPr id="13" name="Oval 12"/>
          <p:cNvSpPr/>
          <p:nvPr/>
        </p:nvSpPr>
        <p:spPr>
          <a:xfrm>
            <a:off x="5566538" y="88324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2842" y="791808"/>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Color screen</a:t>
            </a:r>
          </a:p>
        </p:txBody>
      </p:sp>
      <p:sp>
        <p:nvSpPr>
          <p:cNvPr id="15" name="TextBox 14"/>
          <p:cNvSpPr txBox="1"/>
          <p:nvPr/>
        </p:nvSpPr>
        <p:spPr>
          <a:xfrm>
            <a:off x="5712842" y="974688"/>
            <a:ext cx="4608576" cy="182880"/>
          </a:xfrm>
          <a:prstGeom prst="rect">
            <a:avLst/>
          </a:prstGeom>
          <a:noFill/>
        </p:spPr>
        <p:txBody>
          <a:bodyPr wrap="square" lIns="0" tIns="0" rIns="0" bIns="0" anchor="t">
            <a:spAutoFit/>
          </a:bodyPr>
          <a:lstStyle/>
          <a:p>
            <a:pPr algn="l">
              <a:lnSpc>
                <a:spcPct val="100000"/>
              </a:lnSpc>
            </a:pPr>
            <a:r>
              <a:rPr sz="850" b="0" dirty="0">
                <a:solidFill>
                  <a:srgbClr val="000000"/>
                </a:solidFill>
                <a:latin typeface="Source Han Sans SC"/>
              </a:rPr>
              <a:t>your project's face: interfaces, numbers, graphics live here</a:t>
            </a:r>
          </a:p>
        </p:txBody>
      </p:sp>
      <p:sp>
        <p:nvSpPr>
          <p:cNvPr id="16" name="Oval 15"/>
          <p:cNvSpPr/>
          <p:nvPr/>
        </p:nvSpPr>
        <p:spPr>
          <a:xfrm>
            <a:off x="5566538" y="1267296"/>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12842" y="1175856"/>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Three buttons</a:t>
            </a:r>
          </a:p>
        </p:txBody>
      </p:sp>
      <p:sp>
        <p:nvSpPr>
          <p:cNvPr id="18" name="TextBox 17"/>
          <p:cNvSpPr txBox="1"/>
          <p:nvPr/>
        </p:nvSpPr>
        <p:spPr>
          <a:xfrm>
            <a:off x="5712842" y="1358736"/>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the human's hand: press, and give your project commands</a:t>
            </a:r>
          </a:p>
        </p:txBody>
      </p:sp>
      <p:sp>
        <p:nvSpPr>
          <p:cNvPr id="19" name="Oval 18"/>
          <p:cNvSpPr/>
          <p:nvPr/>
        </p:nvSpPr>
        <p:spPr>
          <a:xfrm>
            <a:off x="5566538" y="1651344"/>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2842" y="1559904"/>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Five-way joystick</a:t>
            </a:r>
          </a:p>
        </p:txBody>
      </p:sp>
      <p:sp>
        <p:nvSpPr>
          <p:cNvPr id="21" name="TextBox 20"/>
          <p:cNvSpPr txBox="1"/>
          <p:nvPr/>
        </p:nvSpPr>
        <p:spPr>
          <a:xfrm>
            <a:off x="5712842" y="1742784"/>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the human's hand: nudge, and game consoles &amp; menus run on it</a:t>
            </a:r>
          </a:p>
        </p:txBody>
      </p:sp>
      <p:sp>
        <p:nvSpPr>
          <p:cNvPr id="22" name="Oval 21"/>
          <p:cNvSpPr/>
          <p:nvPr/>
        </p:nvSpPr>
        <p:spPr>
          <a:xfrm>
            <a:off x="5566538" y="203539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12842" y="1943952"/>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Microphone</a:t>
            </a:r>
          </a:p>
        </p:txBody>
      </p:sp>
      <p:sp>
        <p:nvSpPr>
          <p:cNvPr id="24" name="TextBox 23"/>
          <p:cNvSpPr txBox="1"/>
          <p:nvPr/>
        </p:nvSpPr>
        <p:spPr>
          <a:xfrm>
            <a:off x="5712842" y="2126832"/>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it hears things: clap to switch, a sound-level meter</a:t>
            </a:r>
          </a:p>
        </p:txBody>
      </p:sp>
      <p:sp>
        <p:nvSpPr>
          <p:cNvPr id="25" name="Oval 24"/>
          <p:cNvSpPr/>
          <p:nvPr/>
        </p:nvSpPr>
        <p:spPr>
          <a:xfrm>
            <a:off x="5566538" y="241944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12842" y="2328000"/>
            <a:ext cx="4608576" cy="548640"/>
          </a:xfrm>
          <a:prstGeom prst="rect">
            <a:avLst/>
          </a:prstGeom>
          <a:noFill/>
        </p:spPr>
        <p:txBody>
          <a:bodyPr wrap="square" lIns="0" tIns="0" rIns="0" bIns="0" anchor="t">
            <a:spAutoFit/>
          </a:bodyPr>
          <a:lstStyle/>
          <a:p>
            <a:pPr algn="l">
              <a:lnSpc>
                <a:spcPct val="110000"/>
              </a:lnSpc>
            </a:pPr>
            <a:r>
              <a:rPr sz="1100" b="1" dirty="0">
                <a:solidFill>
                  <a:srgbClr val="000000"/>
                </a:solidFill>
                <a:latin typeface="Source Han Sans SC"/>
              </a:rPr>
              <a:t>Light sensor</a:t>
            </a:r>
          </a:p>
        </p:txBody>
      </p:sp>
      <p:sp>
        <p:nvSpPr>
          <p:cNvPr id="27" name="TextBox 26"/>
          <p:cNvSpPr txBox="1"/>
          <p:nvPr/>
        </p:nvSpPr>
        <p:spPr>
          <a:xfrm>
            <a:off x="5712842" y="2510880"/>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it knows light from dark: a light that turns on by itself at night</a:t>
            </a:r>
          </a:p>
        </p:txBody>
      </p:sp>
      <p:sp>
        <p:nvSpPr>
          <p:cNvPr id="28" name="Oval 27"/>
          <p:cNvSpPr/>
          <p:nvPr/>
        </p:nvSpPr>
        <p:spPr>
          <a:xfrm>
            <a:off x="5566538" y="280348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12842" y="2712047"/>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Accelerometer</a:t>
            </a:r>
          </a:p>
        </p:txBody>
      </p:sp>
      <p:sp>
        <p:nvSpPr>
          <p:cNvPr id="30" name="TextBox 29"/>
          <p:cNvSpPr txBox="1"/>
          <p:nvPr/>
        </p:nvSpPr>
        <p:spPr>
          <a:xfrm>
            <a:off x="5712842" y="2894928"/>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it knows moving &amp; tilting: shake detection, fall alarms</a:t>
            </a:r>
          </a:p>
        </p:txBody>
      </p:sp>
      <p:sp>
        <p:nvSpPr>
          <p:cNvPr id="31" name="Oval 30"/>
          <p:cNvSpPr/>
          <p:nvPr/>
        </p:nvSpPr>
        <p:spPr>
          <a:xfrm>
            <a:off x="5566538" y="3187536"/>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12842" y="3096095"/>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Buzzer</a:t>
            </a:r>
          </a:p>
        </p:txBody>
      </p:sp>
      <p:sp>
        <p:nvSpPr>
          <p:cNvPr id="33" name="TextBox 32"/>
          <p:cNvSpPr txBox="1"/>
          <p:nvPr/>
        </p:nvSpPr>
        <p:spPr>
          <a:xfrm>
            <a:off x="5712842" y="3278975"/>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it makes sound: reminders, alarms</a:t>
            </a:r>
          </a:p>
        </p:txBody>
      </p:sp>
      <p:sp>
        <p:nvSpPr>
          <p:cNvPr id="34" name="Oval 33"/>
          <p:cNvSpPr/>
          <p:nvPr/>
        </p:nvSpPr>
        <p:spPr>
          <a:xfrm>
            <a:off x="5566538" y="3571583"/>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12842" y="3480144"/>
            <a:ext cx="4608576" cy="548640"/>
          </a:xfrm>
          <a:prstGeom prst="rect">
            <a:avLst/>
          </a:prstGeom>
          <a:noFill/>
        </p:spPr>
        <p:txBody>
          <a:bodyPr wrap="square" lIns="0" tIns="0" rIns="0" bIns="0" anchor="t">
            <a:spAutoFit/>
          </a:bodyPr>
          <a:lstStyle/>
          <a:p>
            <a:pPr algn="l">
              <a:lnSpc>
                <a:spcPct val="110000"/>
              </a:lnSpc>
            </a:pPr>
            <a:r>
              <a:rPr sz="1100" b="1">
                <a:solidFill>
                  <a:srgbClr val="000000"/>
                </a:solidFill>
                <a:latin typeface="Source Han Sans SC"/>
              </a:rPr>
              <a:t>SD card slot (small)</a:t>
            </a:r>
          </a:p>
        </p:txBody>
      </p:sp>
      <p:sp>
        <p:nvSpPr>
          <p:cNvPr id="36" name="TextBox 35"/>
          <p:cNvSpPr txBox="1"/>
          <p:nvPr/>
        </p:nvSpPr>
        <p:spPr>
          <a:xfrm>
            <a:off x="5712842" y="3663024"/>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it can store things; just know it exists</a:t>
            </a:r>
          </a:p>
        </p:txBody>
      </p:sp>
      <p:sp>
        <p:nvSpPr>
          <p:cNvPr id="37" name="Oval 36"/>
          <p:cNvSpPr/>
          <p:nvPr/>
        </p:nvSpPr>
        <p:spPr>
          <a:xfrm>
            <a:off x="5566538" y="3944784"/>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12842" y="3863701"/>
            <a:ext cx="4608576" cy="548640"/>
          </a:xfrm>
          <a:prstGeom prst="rect">
            <a:avLst/>
          </a:prstGeom>
          <a:noFill/>
        </p:spPr>
        <p:txBody>
          <a:bodyPr wrap="square" lIns="0" tIns="0" rIns="0" bIns="0" anchor="t">
            <a:spAutoFit/>
          </a:bodyPr>
          <a:lstStyle/>
          <a:p>
            <a:pPr algn="l">
              <a:lnSpc>
                <a:spcPct val="110000"/>
              </a:lnSpc>
            </a:pPr>
            <a:r>
              <a:rPr sz="1100" b="1" dirty="0">
                <a:solidFill>
                  <a:srgbClr val="000000"/>
                </a:solidFill>
                <a:latin typeface="Source Han Sans SC"/>
              </a:rPr>
              <a:t>Grove port (small)</a:t>
            </a:r>
          </a:p>
        </p:txBody>
      </p:sp>
      <p:sp>
        <p:nvSpPr>
          <p:cNvPr id="39" name="TextBox 38"/>
          <p:cNvSpPr txBox="1"/>
          <p:nvPr/>
        </p:nvSpPr>
        <p:spPr>
          <a:xfrm>
            <a:off x="5712842" y="4036224"/>
            <a:ext cx="4608576" cy="182880"/>
          </a:xfrm>
          <a:prstGeom prst="rect">
            <a:avLst/>
          </a:prstGeom>
          <a:noFill/>
        </p:spPr>
        <p:txBody>
          <a:bodyPr wrap="square" lIns="0" tIns="0" rIns="0" bIns="0" anchor="t">
            <a:spAutoFit/>
          </a:bodyPr>
          <a:lstStyle/>
          <a:p>
            <a:pPr algn="l">
              <a:lnSpc>
                <a:spcPct val="100000"/>
              </a:lnSpc>
            </a:pPr>
            <a:r>
              <a:rPr sz="850" b="0">
                <a:solidFill>
                  <a:srgbClr val="000000"/>
                </a:solidFill>
                <a:latin typeface="Source Han Sans SC"/>
              </a:rPr>
              <a:t>the door for new modules later; just know it exists</a:t>
            </a:r>
          </a:p>
        </p:txBody>
      </p:sp>
      <p:sp>
        <p:nvSpPr>
          <p:cNvPr id="42" name="Rectangle 41"/>
          <p:cNvSpPr/>
          <p:nvPr/>
        </p:nvSpPr>
        <p:spPr>
          <a:xfrm>
            <a:off x="5445380" y="421415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89398" y="4262932"/>
            <a:ext cx="2951098" cy="377924"/>
          </a:xfrm>
          <a:prstGeom prst="rect">
            <a:avLst/>
          </a:prstGeom>
          <a:noFill/>
        </p:spPr>
        <p:txBody>
          <a:bodyPr wrap="square" lIns="0" tIns="0" rIns="0" bIns="0" anchor="t">
            <a:spAutoFit/>
          </a:bodyPr>
          <a:lstStyle/>
          <a:p>
            <a:pPr algn="l">
              <a:lnSpc>
                <a:spcPct val="115000"/>
              </a:lnSpc>
            </a:pPr>
            <a:r>
              <a:rPr sz="1100" b="0" dirty="0">
                <a:solidFill>
                  <a:srgbClr val="000000"/>
                </a:solidFill>
                <a:latin typeface="Source Han Sans SC"/>
              </a:rPr>
              <a:t>Every time I name a part, find it on your board with your finger — and touch it.</a:t>
            </a:r>
          </a:p>
        </p:txBody>
      </p:sp>
      <p:pic>
        <p:nvPicPr>
          <p:cNvPr id="71" name="Picture 11">
            <a:extLst>
              <a:ext uri="{FF2B5EF4-FFF2-40B4-BE49-F238E27FC236}">
                <a16:creationId xmlns:a16="http://schemas.microsoft.com/office/drawing/2014/main" id="{6173E07C-D0C9-A62E-6B8D-33C8E43EF811}"/>
              </a:ext>
            </a:extLst>
          </p:cNvPr>
          <p:cNvPicPr>
            <a:picLocks noChangeAspect="1"/>
          </p:cNvPicPr>
          <p:nvPr/>
        </p:nvPicPr>
        <p:blipFill>
          <a:blip r:embed="rId3"/>
          <a:srcRect/>
          <a:stretch>
            <a:fillRect/>
          </a:stretch>
        </p:blipFill>
        <p:spPr>
          <a:xfrm rot="5400000">
            <a:off x="771056" y="1364957"/>
            <a:ext cx="2167109" cy="1253689"/>
          </a:xfrm>
          <a:prstGeom prst="rect">
            <a:avLst/>
          </a:prstGeom>
          <a:ln w="12700">
            <a:noFill/>
            <a:prstDash val="solid"/>
          </a:ln>
        </p:spPr>
      </p:pic>
      <p:pic>
        <p:nvPicPr>
          <p:cNvPr id="73" name="Picture 9">
            <a:extLst>
              <a:ext uri="{FF2B5EF4-FFF2-40B4-BE49-F238E27FC236}">
                <a16:creationId xmlns:a16="http://schemas.microsoft.com/office/drawing/2014/main" id="{44C4C9C7-49B1-88CB-5AAB-A70691C577E3}"/>
              </a:ext>
            </a:extLst>
          </p:cNvPr>
          <p:cNvPicPr>
            <a:picLocks noChangeAspect="1"/>
          </p:cNvPicPr>
          <p:nvPr/>
        </p:nvPicPr>
        <p:blipFill>
          <a:blip r:embed="rId4"/>
          <a:srcRect/>
          <a:stretch>
            <a:fillRect/>
          </a:stretch>
        </p:blipFill>
        <p:spPr>
          <a:xfrm>
            <a:off x="2235134" y="3073886"/>
            <a:ext cx="2746024" cy="1002051"/>
          </a:xfrm>
          <a:prstGeom prst="rect">
            <a:avLst/>
          </a:prstGeom>
          <a:ln w="12700">
            <a:noFill/>
            <a:prstDash val="solid"/>
          </a:ln>
        </p:spPr>
      </p:pic>
      <p:grpSp>
        <p:nvGrpSpPr>
          <p:cNvPr id="89" name="Group 88">
            <a:extLst>
              <a:ext uri="{FF2B5EF4-FFF2-40B4-BE49-F238E27FC236}">
                <a16:creationId xmlns:a16="http://schemas.microsoft.com/office/drawing/2014/main" id="{4841CB1D-C4B5-6D4A-B522-3D08B8C1F410}"/>
              </a:ext>
            </a:extLst>
          </p:cNvPr>
          <p:cNvGrpSpPr/>
          <p:nvPr/>
        </p:nvGrpSpPr>
        <p:grpSpPr>
          <a:xfrm>
            <a:off x="2496162" y="1100742"/>
            <a:ext cx="2279650" cy="1811334"/>
            <a:chOff x="2235200" y="1151033"/>
            <a:chExt cx="2279650" cy="1869301"/>
          </a:xfrm>
        </p:grpSpPr>
        <p:grpSp>
          <p:nvGrpSpPr>
            <p:cNvPr id="88" name="Group 87">
              <a:extLst>
                <a:ext uri="{FF2B5EF4-FFF2-40B4-BE49-F238E27FC236}">
                  <a16:creationId xmlns:a16="http://schemas.microsoft.com/office/drawing/2014/main" id="{D2124140-E847-19CE-314C-3BE695173F36}"/>
                </a:ext>
              </a:extLst>
            </p:cNvPr>
            <p:cNvGrpSpPr/>
            <p:nvPr/>
          </p:nvGrpSpPr>
          <p:grpSpPr>
            <a:xfrm>
              <a:off x="2235200" y="1151033"/>
              <a:ext cx="2279650" cy="1869301"/>
              <a:chOff x="2235200" y="1151033"/>
              <a:chExt cx="2279650" cy="1869301"/>
            </a:xfrm>
          </p:grpSpPr>
          <p:pic>
            <p:nvPicPr>
              <p:cNvPr id="69" name="Picture 2">
                <a:extLst>
                  <a:ext uri="{FF2B5EF4-FFF2-40B4-BE49-F238E27FC236}">
                    <a16:creationId xmlns:a16="http://schemas.microsoft.com/office/drawing/2014/main" id="{AFAE547F-56D4-F715-D083-991E6CFB8CBC}"/>
                  </a:ext>
                </a:extLst>
              </p:cNvPr>
              <p:cNvPicPr>
                <a:picLocks noChangeAspect="1"/>
              </p:cNvPicPr>
              <p:nvPr/>
            </p:nvPicPr>
            <p:blipFill>
              <a:blip r:embed="rId5"/>
              <a:srcRect l="20214" r="20003" b="39783"/>
              <a:stretch>
                <a:fillRect/>
              </a:stretch>
            </p:blipFill>
            <p:spPr>
              <a:xfrm>
                <a:off x="2235200" y="1151033"/>
                <a:ext cx="2279650" cy="1869301"/>
              </a:xfrm>
              <a:prstGeom prst="rect">
                <a:avLst/>
              </a:prstGeom>
              <a:ln w="12700">
                <a:noFill/>
                <a:prstDash val="solid"/>
              </a:ln>
            </p:spPr>
          </p:pic>
          <p:sp>
            <p:nvSpPr>
              <p:cNvPr id="79" name="AutoShape 5">
                <a:extLst>
                  <a:ext uri="{FF2B5EF4-FFF2-40B4-BE49-F238E27FC236}">
                    <a16:creationId xmlns:a16="http://schemas.microsoft.com/office/drawing/2014/main" id="{5D982CDA-14EE-3B2E-7CEA-066CE21CF911}"/>
                  </a:ext>
                </a:extLst>
              </p:cNvPr>
              <p:cNvSpPr/>
              <p:nvPr/>
            </p:nvSpPr>
            <p:spPr>
              <a:xfrm>
                <a:off x="2372377" y="1348932"/>
                <a:ext cx="1980547" cy="1394268"/>
              </a:xfrm>
              <a:prstGeom prst="roundRect">
                <a:avLst>
                  <a:gd name="adj" fmla="val 4205"/>
                </a:avLst>
              </a:prstGeom>
              <a:solidFill>
                <a:srgbClr val="333333">
                  <a:alpha val="100000"/>
                </a:srgbClr>
              </a:solidFill>
              <a:ln w="12700" cap="flat" cmpd="sng">
                <a:solidFill>
                  <a:srgbClr val="5C5C5C">
                    <a:alpha val="100000"/>
                  </a:srgbClr>
                </a:solidFill>
                <a:prstDash val="solid"/>
                <a:miter lim="8000000"/>
              </a:ln>
            </p:spPr>
            <p:txBody>
              <a:bodyPr wrap="square" lIns="76200" tIns="38100" rIns="76200" bIns="38100" rtlCol="0" anchor="ctr">
                <a:noAutofit/>
              </a:bodyPr>
              <a:lstStyle/>
              <a:p>
                <a:pPr marL="0" indent="0" algn="ctr">
                  <a:lnSpc>
                    <a:spcPct val="133333"/>
                  </a:lnSpc>
                  <a:defRPr/>
                </a:pPr>
                <a:r>
                  <a:rPr lang="en-US" sz="1500" b="0" i="0" u="none" strike="noStrike">
                    <a:solidFill>
                      <a:srgbClr val="000000"/>
                    </a:solidFill>
                    <a:latin typeface="Arial"/>
                    <a:ea typeface="Arial"/>
                    <a:cs typeface="Arial"/>
                    <a:sym typeface="Arial"/>
                  </a:rPr>
                  <a:t> </a:t>
                </a:r>
                <a:endParaRPr lang="en-US" sz="1100"/>
              </a:p>
            </p:txBody>
          </p:sp>
          <p:sp>
            <p:nvSpPr>
              <p:cNvPr id="81" name="AutoShape 7">
                <a:extLst>
                  <a:ext uri="{FF2B5EF4-FFF2-40B4-BE49-F238E27FC236}">
                    <a16:creationId xmlns:a16="http://schemas.microsoft.com/office/drawing/2014/main" id="{5F9D0DAD-DBFD-61BA-EA56-21DF087F779C}"/>
                  </a:ext>
                </a:extLst>
              </p:cNvPr>
              <p:cNvSpPr/>
              <p:nvPr/>
            </p:nvSpPr>
            <p:spPr>
              <a:xfrm>
                <a:off x="2712682" y="1479017"/>
                <a:ext cx="1457550" cy="1044564"/>
              </a:xfrm>
              <a:prstGeom prst="rect">
                <a:avLst/>
              </a:prstGeom>
              <a:solidFill>
                <a:srgbClr val="9D9D9D">
                  <a:alpha val="100000"/>
                </a:srgbClr>
              </a:solidFill>
              <a:ln w="12700" cap="flat" cmpd="sng">
                <a:solidFill>
                  <a:srgbClr val="5C5C5C">
                    <a:alpha val="100000"/>
                  </a:srgbClr>
                </a:solidFill>
                <a:prstDash val="solid"/>
                <a:miter lim="8000000"/>
              </a:ln>
            </p:spPr>
            <p:txBody>
              <a:bodyPr wrap="square" lIns="76200" tIns="38100" rIns="76200" bIns="38100" rtlCol="0" anchor="ctr">
                <a:noAutofit/>
              </a:bodyPr>
              <a:lstStyle/>
              <a:p>
                <a:pPr marL="0" indent="0" algn="ctr">
                  <a:lnSpc>
                    <a:spcPct val="133333"/>
                  </a:lnSpc>
                  <a:defRPr/>
                </a:pPr>
                <a:r>
                  <a:rPr lang="en-US" sz="1500" b="0" i="0" u="none" strike="noStrike">
                    <a:solidFill>
                      <a:srgbClr val="000000"/>
                    </a:solidFill>
                    <a:latin typeface="Arial"/>
                    <a:ea typeface="Arial"/>
                    <a:cs typeface="Arial"/>
                    <a:sym typeface="Arial"/>
                  </a:rPr>
                  <a:t> </a:t>
                </a:r>
                <a:endParaRPr lang="en-US" sz="1100"/>
              </a:p>
            </p:txBody>
          </p:sp>
          <p:sp>
            <p:nvSpPr>
              <p:cNvPr id="83" name="AutoShape 8">
                <a:extLst>
                  <a:ext uri="{FF2B5EF4-FFF2-40B4-BE49-F238E27FC236}">
                    <a16:creationId xmlns:a16="http://schemas.microsoft.com/office/drawing/2014/main" id="{050F9664-3347-5C92-15CA-EA38954E2591}"/>
                  </a:ext>
                </a:extLst>
              </p:cNvPr>
              <p:cNvSpPr/>
              <p:nvPr/>
            </p:nvSpPr>
            <p:spPr>
              <a:xfrm>
                <a:off x="2643832" y="1726158"/>
                <a:ext cx="1589349" cy="715530"/>
              </a:xfrm>
              <a:prstGeom prst="rect">
                <a:avLst/>
              </a:prstGeom>
              <a:noFill/>
              <a:ln w="12700">
                <a:noFill/>
                <a:prstDash val="solid"/>
              </a:ln>
            </p:spPr>
            <p:txBody>
              <a:bodyPr wrap="square" lIns="76200" tIns="38100" rIns="76200" bIns="38100" rtlCol="0" anchor="t">
                <a:noAutofit/>
              </a:bodyPr>
              <a:lstStyle/>
              <a:p>
                <a:pPr marL="0" indent="0" algn="ctr">
                  <a:lnSpc>
                    <a:spcPct val="133333"/>
                  </a:lnSpc>
                  <a:defRPr/>
                </a:pPr>
                <a:r>
                  <a:rPr lang="en-US" sz="1400" b="1" i="0" u="none" strike="noStrike" dirty="0">
                    <a:solidFill>
                      <a:srgbClr val="FFFFFF"/>
                    </a:solidFill>
                    <a:latin typeface="Calibri"/>
                    <a:ea typeface="Calibri"/>
                    <a:cs typeface="Calibri"/>
                    <a:sym typeface="Calibri"/>
                  </a:rPr>
                  <a:t>320 x 240</a:t>
                </a:r>
                <a:endParaRPr lang="en-US" sz="700" dirty="0"/>
              </a:p>
              <a:p>
                <a:pPr marL="0" indent="0" algn="ctr">
                  <a:lnSpc>
                    <a:spcPct val="133333"/>
                  </a:lnSpc>
                </a:pPr>
                <a:r>
                  <a:rPr lang="en-US" sz="1400" b="1" i="0" u="none" strike="noStrike" dirty="0">
                    <a:solidFill>
                      <a:srgbClr val="FFFFFF"/>
                    </a:solidFill>
                    <a:latin typeface="Calibri"/>
                    <a:ea typeface="Calibri"/>
                    <a:cs typeface="Calibri"/>
                    <a:sym typeface="Calibri"/>
                  </a:rPr>
                  <a:t>Color screen</a:t>
                </a:r>
              </a:p>
            </p:txBody>
          </p:sp>
        </p:grpSp>
        <p:sp>
          <p:nvSpPr>
            <p:cNvPr id="85" name="AutoShape 6">
              <a:extLst>
                <a:ext uri="{FF2B5EF4-FFF2-40B4-BE49-F238E27FC236}">
                  <a16:creationId xmlns:a16="http://schemas.microsoft.com/office/drawing/2014/main" id="{3ECB8CD2-C580-4CF9-8756-85972FD4B765}"/>
                </a:ext>
              </a:extLst>
            </p:cNvPr>
            <p:cNvSpPr/>
            <p:nvPr/>
          </p:nvSpPr>
          <p:spPr>
            <a:xfrm>
              <a:off x="3968496" y="2594719"/>
              <a:ext cx="331200" cy="331200"/>
            </a:xfrm>
            <a:prstGeom prst="ellipse">
              <a:avLst/>
            </a:prstGeom>
            <a:solidFill>
              <a:srgbClr val="3E7DCC">
                <a:alpha val="100000"/>
              </a:srgbClr>
            </a:solidFill>
            <a:ln w="12700">
              <a:noFill/>
              <a:prstDash val="solid"/>
            </a:ln>
          </p:spPr>
          <p:txBody>
            <a:bodyPr wrap="square" lIns="76200" tIns="38100" rIns="76200" bIns="38100" rtlCol="0" anchor="ctr">
              <a:noAutofit/>
            </a:bodyPr>
            <a:lstStyle/>
            <a:p>
              <a:pPr marL="0" indent="0" algn="ctr">
                <a:lnSpc>
                  <a:spcPct val="133333"/>
                </a:lnSpc>
                <a:defRPr/>
              </a:pPr>
              <a:r>
                <a:rPr lang="en-US" sz="1500" b="0" i="0" u="none" strike="noStrike" dirty="0">
                  <a:solidFill>
                    <a:srgbClr val="000000"/>
                  </a:solidFill>
                  <a:latin typeface="Arial"/>
                  <a:ea typeface="Arial"/>
                  <a:cs typeface="Arial"/>
                  <a:sym typeface="Arial"/>
                </a:rPr>
                <a:t> </a:t>
              </a:r>
              <a:endParaRPr lang="en-US" sz="1100" dirty="0"/>
            </a:p>
          </p:txBody>
        </p:sp>
      </p:grpSp>
      <p:sp>
        <p:nvSpPr>
          <p:cNvPr id="87" name="AutoShape 22">
            <a:extLst>
              <a:ext uri="{FF2B5EF4-FFF2-40B4-BE49-F238E27FC236}">
                <a16:creationId xmlns:a16="http://schemas.microsoft.com/office/drawing/2014/main" id="{9D3C45BC-7378-AF54-A507-44620144D204}"/>
              </a:ext>
            </a:extLst>
          </p:cNvPr>
          <p:cNvSpPr/>
          <p:nvPr/>
        </p:nvSpPr>
        <p:spPr>
          <a:xfrm>
            <a:off x="2330111" y="2845367"/>
            <a:ext cx="2404725"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334155"/>
                </a:solidFill>
                <a:latin typeface="Arial"/>
                <a:ea typeface="Arial"/>
                <a:cs typeface="Arial"/>
                <a:sym typeface="Arial"/>
              </a:rPr>
              <a:t>Microphone and buzzer</a:t>
            </a:r>
            <a:endParaRPr lang="en-US" sz="900" dirty="0"/>
          </a:p>
        </p:txBody>
      </p:sp>
      <p:sp>
        <p:nvSpPr>
          <p:cNvPr id="91" name="AutoShape 10">
            <a:extLst>
              <a:ext uri="{FF2B5EF4-FFF2-40B4-BE49-F238E27FC236}">
                <a16:creationId xmlns:a16="http://schemas.microsoft.com/office/drawing/2014/main" id="{45F58EDC-0B26-E718-C370-5E06A713BE25}"/>
              </a:ext>
            </a:extLst>
          </p:cNvPr>
          <p:cNvSpPr/>
          <p:nvPr/>
        </p:nvSpPr>
        <p:spPr>
          <a:xfrm>
            <a:off x="4717453" y="2423257"/>
            <a:ext cx="715376" cy="507127"/>
          </a:xfrm>
          <a:prstGeom prst="rect">
            <a:avLst/>
          </a:prstGeom>
          <a:noFill/>
          <a:ln w="12700">
            <a:noFill/>
            <a:prstDash val="solid"/>
          </a:ln>
        </p:spPr>
        <p:txBody>
          <a:bodyPr wrap="square" lIns="76200" tIns="38100" rIns="76200" bIns="38100" rtlCol="0" anchor="t">
            <a:spAutoFit/>
          </a:bodyPr>
          <a:lstStyle/>
          <a:p>
            <a:pPr marL="0" indent="0" algn="l">
              <a:lnSpc>
                <a:spcPct val="133333"/>
              </a:lnSpc>
              <a:defRPr/>
            </a:pPr>
            <a:r>
              <a:rPr lang="en-US" sz="1100" b="0" i="0" u="none" strike="noStrike" dirty="0">
                <a:solidFill>
                  <a:srgbClr val="334155"/>
                </a:solidFill>
                <a:latin typeface="Arial"/>
                <a:ea typeface="Arial"/>
                <a:cs typeface="Arial"/>
                <a:sym typeface="Arial"/>
              </a:rPr>
              <a:t>5-way joystick</a:t>
            </a:r>
            <a:endParaRPr lang="en-US" sz="900" dirty="0"/>
          </a:p>
        </p:txBody>
      </p:sp>
      <p:sp>
        <p:nvSpPr>
          <p:cNvPr id="93" name="AutoShape 23">
            <a:extLst>
              <a:ext uri="{FF2B5EF4-FFF2-40B4-BE49-F238E27FC236}">
                <a16:creationId xmlns:a16="http://schemas.microsoft.com/office/drawing/2014/main" id="{06EC3D31-878A-F3BA-955E-386A02E87C8E}"/>
              </a:ext>
            </a:extLst>
          </p:cNvPr>
          <p:cNvSpPr/>
          <p:nvPr/>
        </p:nvSpPr>
        <p:spPr>
          <a:xfrm>
            <a:off x="2056070" y="707717"/>
            <a:ext cx="2946145" cy="503086"/>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334155"/>
                </a:solidFill>
                <a:latin typeface="Arial"/>
                <a:ea typeface="Arial"/>
                <a:cs typeface="Arial"/>
                <a:sym typeface="Arial"/>
              </a:rPr>
              <a:t>3 programmable buttons</a:t>
            </a:r>
            <a:endParaRPr lang="en-US" sz="1100" dirty="0"/>
          </a:p>
          <a:p>
            <a:pPr marL="0" indent="0" algn="ctr">
              <a:lnSpc>
                <a:spcPct val="133333"/>
              </a:lnSpc>
            </a:pPr>
            <a:r>
              <a:rPr lang="en-US" sz="1100" b="0" i="0" u="none" strike="noStrike" dirty="0">
                <a:solidFill>
                  <a:srgbClr val="334155"/>
                </a:solidFill>
                <a:latin typeface="Arial"/>
                <a:ea typeface="Arial"/>
                <a:cs typeface="Arial"/>
                <a:sym typeface="Arial"/>
              </a:rPr>
              <a:t>(WIO_KEY_A, B, C)</a:t>
            </a:r>
          </a:p>
        </p:txBody>
      </p:sp>
      <p:sp>
        <p:nvSpPr>
          <p:cNvPr id="94" name="AutoShape 13">
            <a:extLst>
              <a:ext uri="{FF2B5EF4-FFF2-40B4-BE49-F238E27FC236}">
                <a16:creationId xmlns:a16="http://schemas.microsoft.com/office/drawing/2014/main" id="{4DD0582A-D0A2-B32C-13B6-A8C08E095970}"/>
              </a:ext>
            </a:extLst>
          </p:cNvPr>
          <p:cNvSpPr/>
          <p:nvPr/>
        </p:nvSpPr>
        <p:spPr>
          <a:xfrm>
            <a:off x="3178855" y="4004830"/>
            <a:ext cx="852000"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334155"/>
                </a:solidFill>
                <a:latin typeface="Arial"/>
                <a:ea typeface="Arial"/>
                <a:cs typeface="Arial"/>
                <a:sym typeface="Arial"/>
              </a:rPr>
              <a:t>Type-C</a:t>
            </a:r>
            <a:endParaRPr lang="en-US" sz="1100" dirty="0"/>
          </a:p>
        </p:txBody>
      </p:sp>
      <p:sp>
        <p:nvSpPr>
          <p:cNvPr id="95" name="AutoShape 14">
            <a:extLst>
              <a:ext uri="{FF2B5EF4-FFF2-40B4-BE49-F238E27FC236}">
                <a16:creationId xmlns:a16="http://schemas.microsoft.com/office/drawing/2014/main" id="{58701684-6CE9-4A6A-D6E6-99F4CC10B735}"/>
              </a:ext>
            </a:extLst>
          </p:cNvPr>
          <p:cNvSpPr/>
          <p:nvPr/>
        </p:nvSpPr>
        <p:spPr>
          <a:xfrm>
            <a:off x="1760372" y="4020919"/>
            <a:ext cx="1588627"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334155"/>
                </a:solidFill>
                <a:latin typeface="Arial"/>
                <a:ea typeface="Arial"/>
                <a:cs typeface="Arial"/>
                <a:sym typeface="Arial"/>
              </a:rPr>
              <a:t>Grove interface</a:t>
            </a:r>
            <a:endParaRPr lang="en-US" sz="1100" dirty="0"/>
          </a:p>
        </p:txBody>
      </p:sp>
      <p:sp>
        <p:nvSpPr>
          <p:cNvPr id="96" name="AutoShape 15">
            <a:extLst>
              <a:ext uri="{FF2B5EF4-FFF2-40B4-BE49-F238E27FC236}">
                <a16:creationId xmlns:a16="http://schemas.microsoft.com/office/drawing/2014/main" id="{D969738C-884F-C25B-071E-902BB72762CE}"/>
              </a:ext>
            </a:extLst>
          </p:cNvPr>
          <p:cNvSpPr/>
          <p:nvPr/>
        </p:nvSpPr>
        <p:spPr>
          <a:xfrm>
            <a:off x="3766155" y="4020687"/>
            <a:ext cx="1860952"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334155"/>
                </a:solidFill>
                <a:latin typeface="Arial"/>
                <a:ea typeface="Arial"/>
                <a:cs typeface="Arial"/>
                <a:sym typeface="Arial"/>
              </a:rPr>
              <a:t>Grove interface</a:t>
            </a:r>
            <a:endParaRPr lang="en-US" sz="900" dirty="0"/>
          </a:p>
        </p:txBody>
      </p:sp>
      <p:sp>
        <p:nvSpPr>
          <p:cNvPr id="97" name="AutoShape 16">
            <a:extLst>
              <a:ext uri="{FF2B5EF4-FFF2-40B4-BE49-F238E27FC236}">
                <a16:creationId xmlns:a16="http://schemas.microsoft.com/office/drawing/2014/main" id="{C8A9F686-8779-ACAB-B10D-262CDEE00792}"/>
              </a:ext>
            </a:extLst>
          </p:cNvPr>
          <p:cNvSpPr/>
          <p:nvPr/>
        </p:nvSpPr>
        <p:spPr>
          <a:xfrm>
            <a:off x="1987159" y="4335055"/>
            <a:ext cx="1248900"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87C120"/>
                </a:solidFill>
                <a:latin typeface="Arial"/>
                <a:ea typeface="Arial"/>
                <a:cs typeface="Arial"/>
                <a:sym typeface="Arial"/>
              </a:rPr>
              <a:t>Green LED</a:t>
            </a:r>
            <a:endParaRPr lang="en-US" sz="1100" dirty="0"/>
          </a:p>
        </p:txBody>
      </p:sp>
      <p:cxnSp>
        <p:nvCxnSpPr>
          <p:cNvPr id="99" name="Connector 20">
            <a:extLst>
              <a:ext uri="{FF2B5EF4-FFF2-40B4-BE49-F238E27FC236}">
                <a16:creationId xmlns:a16="http://schemas.microsoft.com/office/drawing/2014/main" id="{7366B6BE-95C5-3862-EA44-7CF2A2A453D0}"/>
              </a:ext>
            </a:extLst>
          </p:cNvPr>
          <p:cNvCxnSpPr>
            <a:cxnSpLocks/>
          </p:cNvCxnSpPr>
          <p:nvPr/>
        </p:nvCxnSpPr>
        <p:spPr>
          <a:xfrm rot="5400000">
            <a:off x="2928861" y="4105749"/>
            <a:ext cx="519894" cy="253784"/>
          </a:xfrm>
          <a:prstGeom prst="bentConnector3">
            <a:avLst>
              <a:gd name="adj1" fmla="val 101345"/>
            </a:avLst>
          </a:prstGeom>
          <a:noFill/>
          <a:ln w="25400" cap="flat" cmpd="sng">
            <a:solidFill>
              <a:srgbClr val="F3D230">
                <a:alpha val="100000"/>
              </a:srgbClr>
            </a:solidFill>
            <a:prstDash val="dot"/>
            <a:round/>
            <a:headEnd type="none" w="med" len="med"/>
            <a:tailEnd type="triangle" w="med" len="med"/>
          </a:ln>
        </p:spPr>
      </p:cxnSp>
      <p:cxnSp>
        <p:nvCxnSpPr>
          <p:cNvPr id="107" name="Connector 20">
            <a:extLst>
              <a:ext uri="{FF2B5EF4-FFF2-40B4-BE49-F238E27FC236}">
                <a16:creationId xmlns:a16="http://schemas.microsoft.com/office/drawing/2014/main" id="{3E829B29-4B0E-951D-527A-3F65A4605B2C}"/>
              </a:ext>
            </a:extLst>
          </p:cNvPr>
          <p:cNvCxnSpPr>
            <a:cxnSpLocks/>
          </p:cNvCxnSpPr>
          <p:nvPr/>
        </p:nvCxnSpPr>
        <p:spPr>
          <a:xfrm rot="16200000" flipH="1">
            <a:off x="3778660" y="4054561"/>
            <a:ext cx="568361" cy="319177"/>
          </a:xfrm>
          <a:prstGeom prst="bentConnector3">
            <a:avLst>
              <a:gd name="adj1" fmla="val 100649"/>
            </a:avLst>
          </a:prstGeom>
          <a:noFill/>
          <a:ln w="25400" cap="flat" cmpd="sng">
            <a:solidFill>
              <a:srgbClr val="F3D230">
                <a:alpha val="100000"/>
              </a:srgbClr>
            </a:solidFill>
            <a:prstDash val="dot"/>
            <a:round/>
            <a:headEnd type="none" w="med" len="med"/>
            <a:tailEnd type="triangle" w="med" len="med"/>
          </a:ln>
        </p:spPr>
      </p:cxnSp>
      <p:sp>
        <p:nvSpPr>
          <p:cNvPr id="123" name="AutoShape 3">
            <a:extLst>
              <a:ext uri="{FF2B5EF4-FFF2-40B4-BE49-F238E27FC236}">
                <a16:creationId xmlns:a16="http://schemas.microsoft.com/office/drawing/2014/main" id="{6514BD5F-782D-35FC-0A1A-65CF4F0DA8A0}"/>
              </a:ext>
            </a:extLst>
          </p:cNvPr>
          <p:cNvSpPr/>
          <p:nvPr/>
        </p:nvSpPr>
        <p:spPr>
          <a:xfrm>
            <a:off x="214341" y="1417210"/>
            <a:ext cx="1089820" cy="487569"/>
          </a:xfrm>
          <a:prstGeom prst="rect">
            <a:avLst/>
          </a:prstGeom>
          <a:noFill/>
          <a:ln w="12700">
            <a:noFill/>
            <a:prstDash val="solid"/>
          </a:ln>
        </p:spPr>
        <p:txBody>
          <a:bodyPr wrap="square" lIns="76200" tIns="38100" rIns="76200" bIns="38100" rtlCol="0" anchor="t">
            <a:spAutoFit/>
          </a:bodyPr>
          <a:lstStyle/>
          <a:p>
            <a:pPr marL="0" indent="0" algn="r">
              <a:lnSpc>
                <a:spcPct val="133333"/>
              </a:lnSpc>
              <a:defRPr/>
            </a:pPr>
            <a:r>
              <a:rPr lang="en-US" sz="1050" b="0" i="0" u="none" strike="noStrike" dirty="0">
                <a:solidFill>
                  <a:srgbClr val="334155"/>
                </a:solidFill>
                <a:latin typeface="Arial"/>
                <a:ea typeface="Arial"/>
                <a:cs typeface="Arial"/>
                <a:sym typeface="Arial"/>
              </a:rPr>
              <a:t>Reset the slider switch</a:t>
            </a:r>
            <a:endParaRPr lang="en-US" sz="800" dirty="0"/>
          </a:p>
        </p:txBody>
      </p:sp>
      <p:sp>
        <p:nvSpPr>
          <p:cNvPr id="125" name="AutoShape 12">
            <a:extLst>
              <a:ext uri="{FF2B5EF4-FFF2-40B4-BE49-F238E27FC236}">
                <a16:creationId xmlns:a16="http://schemas.microsoft.com/office/drawing/2014/main" id="{C9F85E53-B235-C594-204A-A3F9D5B9C5B4}"/>
              </a:ext>
            </a:extLst>
          </p:cNvPr>
          <p:cNvSpPr/>
          <p:nvPr/>
        </p:nvSpPr>
        <p:spPr>
          <a:xfrm>
            <a:off x="377255" y="2114751"/>
            <a:ext cx="926906" cy="487569"/>
          </a:xfrm>
          <a:prstGeom prst="rect">
            <a:avLst/>
          </a:prstGeom>
          <a:noFill/>
          <a:ln w="12700">
            <a:noFill/>
            <a:prstDash val="solid"/>
          </a:ln>
        </p:spPr>
        <p:txBody>
          <a:bodyPr wrap="square" lIns="76200" tIns="38100" rIns="76200" bIns="38100" rtlCol="0" anchor="t">
            <a:spAutoFit/>
          </a:bodyPr>
          <a:lstStyle/>
          <a:p>
            <a:pPr marL="0" indent="0" algn="r">
              <a:lnSpc>
                <a:spcPct val="133333"/>
              </a:lnSpc>
              <a:defRPr/>
            </a:pPr>
            <a:r>
              <a:rPr lang="en-US" sz="1050" b="0" i="0" u="none" strike="noStrike" dirty="0">
                <a:solidFill>
                  <a:srgbClr val="334155"/>
                </a:solidFill>
                <a:latin typeface="Arial"/>
                <a:ea typeface="Arial"/>
                <a:cs typeface="Arial"/>
                <a:sym typeface="Arial"/>
              </a:rPr>
              <a:t>microSD card slot</a:t>
            </a:r>
            <a:endParaRPr lang="en-US" sz="800" dirty="0"/>
          </a:p>
        </p:txBody>
      </p:sp>
      <p:grpSp>
        <p:nvGrpSpPr>
          <p:cNvPr id="130" name="Group 129">
            <a:extLst>
              <a:ext uri="{FF2B5EF4-FFF2-40B4-BE49-F238E27FC236}">
                <a16:creationId xmlns:a16="http://schemas.microsoft.com/office/drawing/2014/main" id="{92689DEF-D0EF-6967-B1AB-0E6869FA3E2F}"/>
              </a:ext>
            </a:extLst>
          </p:cNvPr>
          <p:cNvGrpSpPr/>
          <p:nvPr/>
        </p:nvGrpSpPr>
        <p:grpSpPr>
          <a:xfrm>
            <a:off x="3289299" y="3878510"/>
            <a:ext cx="638176" cy="45719"/>
            <a:chOff x="3094834" y="3871377"/>
            <a:chExt cx="843879" cy="45719"/>
          </a:xfrm>
        </p:grpSpPr>
        <p:sp>
          <p:nvSpPr>
            <p:cNvPr id="127" name="AutoShape 18">
              <a:extLst>
                <a:ext uri="{FF2B5EF4-FFF2-40B4-BE49-F238E27FC236}">
                  <a16:creationId xmlns:a16="http://schemas.microsoft.com/office/drawing/2014/main" id="{DB27C7B1-2CF8-B1C3-06A2-917E4A4F3647}"/>
                </a:ext>
              </a:extLst>
            </p:cNvPr>
            <p:cNvSpPr/>
            <p:nvPr/>
          </p:nvSpPr>
          <p:spPr>
            <a:xfrm>
              <a:off x="3094834" y="3871377"/>
              <a:ext cx="45719" cy="45719"/>
            </a:xfrm>
            <a:prstGeom prst="ellipse">
              <a:avLst/>
            </a:prstGeom>
            <a:solidFill>
              <a:srgbClr val="87C120">
                <a:alpha val="100000"/>
              </a:srgbClr>
            </a:solidFill>
            <a:ln w="12700" cap="flat" cmpd="sng">
              <a:solidFill>
                <a:srgbClr val="5C5C5C">
                  <a:alpha val="100000"/>
                </a:srgbClr>
              </a:solidFill>
              <a:prstDash val="solid"/>
              <a:miter lim="8000000"/>
            </a:ln>
          </p:spPr>
          <p:txBody>
            <a:bodyPr wrap="square" lIns="76200" tIns="38100" rIns="76200" bIns="38100" rtlCol="0" anchor="ctr">
              <a:noAutofit/>
            </a:bodyPr>
            <a:lstStyle/>
            <a:p>
              <a:pPr marL="0" indent="0" algn="ctr">
                <a:lnSpc>
                  <a:spcPct val="133333"/>
                </a:lnSpc>
                <a:defRPr/>
              </a:pPr>
              <a:r>
                <a:rPr lang="en-US" sz="1500" b="0" i="0" u="none" strike="noStrike">
                  <a:solidFill>
                    <a:srgbClr val="000000"/>
                  </a:solidFill>
                  <a:latin typeface="Arial"/>
                  <a:ea typeface="Arial"/>
                  <a:cs typeface="Arial"/>
                  <a:sym typeface="Arial"/>
                </a:rPr>
                <a:t> </a:t>
              </a:r>
              <a:endParaRPr lang="en-US" sz="1100"/>
            </a:p>
          </p:txBody>
        </p:sp>
        <p:sp>
          <p:nvSpPr>
            <p:cNvPr id="129" name="AutoShape 19">
              <a:extLst>
                <a:ext uri="{FF2B5EF4-FFF2-40B4-BE49-F238E27FC236}">
                  <a16:creationId xmlns:a16="http://schemas.microsoft.com/office/drawing/2014/main" id="{706A5D4A-0B84-D7FD-2F94-71451958130E}"/>
                </a:ext>
              </a:extLst>
            </p:cNvPr>
            <p:cNvSpPr/>
            <p:nvPr/>
          </p:nvSpPr>
          <p:spPr>
            <a:xfrm>
              <a:off x="3892994" y="3871377"/>
              <a:ext cx="45719" cy="45719"/>
            </a:xfrm>
            <a:prstGeom prst="ellipse">
              <a:avLst/>
            </a:prstGeom>
            <a:solidFill>
              <a:srgbClr val="0188FB">
                <a:alpha val="100000"/>
              </a:srgbClr>
            </a:solidFill>
            <a:ln w="12700" cap="flat" cmpd="sng">
              <a:solidFill>
                <a:srgbClr val="5C5C5C">
                  <a:alpha val="100000"/>
                </a:srgbClr>
              </a:solidFill>
              <a:prstDash val="solid"/>
              <a:miter lim="8000000"/>
            </a:ln>
          </p:spPr>
          <p:txBody>
            <a:bodyPr wrap="square" lIns="76200" tIns="38100" rIns="76200" bIns="38100" rtlCol="0" anchor="ctr">
              <a:noAutofit/>
            </a:bodyPr>
            <a:lstStyle/>
            <a:p>
              <a:pPr marL="0" indent="0" algn="ctr">
                <a:lnSpc>
                  <a:spcPct val="133333"/>
                </a:lnSpc>
                <a:defRPr/>
              </a:pPr>
              <a:r>
                <a:rPr lang="en-US" sz="1500" b="0" i="0" u="none" strike="noStrike">
                  <a:solidFill>
                    <a:srgbClr val="000000"/>
                  </a:solidFill>
                  <a:latin typeface="Arial"/>
                  <a:ea typeface="Arial"/>
                  <a:cs typeface="Arial"/>
                  <a:sym typeface="Arial"/>
                </a:rPr>
                <a:t> </a:t>
              </a:r>
              <a:endParaRPr lang="en-US" sz="1100"/>
            </a:p>
          </p:txBody>
        </p:sp>
      </p:grpSp>
      <p:sp>
        <p:nvSpPr>
          <p:cNvPr id="141" name="AutoShape 17">
            <a:extLst>
              <a:ext uri="{FF2B5EF4-FFF2-40B4-BE49-F238E27FC236}">
                <a16:creationId xmlns:a16="http://schemas.microsoft.com/office/drawing/2014/main" id="{1D538151-9AF4-3D23-3CB4-0686610812E2}"/>
              </a:ext>
            </a:extLst>
          </p:cNvPr>
          <p:cNvSpPr/>
          <p:nvPr/>
        </p:nvSpPr>
        <p:spPr>
          <a:xfrm>
            <a:off x="4011558" y="4343369"/>
            <a:ext cx="1248900" cy="282000"/>
          </a:xfrm>
          <a:prstGeom prst="rect">
            <a:avLst/>
          </a:prstGeom>
          <a:noFill/>
          <a:ln w="12700">
            <a:noFill/>
            <a:prstDash val="solid"/>
          </a:ln>
        </p:spPr>
        <p:txBody>
          <a:bodyPr wrap="square" lIns="76200" tIns="38100" rIns="76200" bIns="38100" rtlCol="0" anchor="t">
            <a:spAutoFit/>
          </a:bodyPr>
          <a:lstStyle/>
          <a:p>
            <a:pPr marL="0" indent="0" algn="ctr">
              <a:lnSpc>
                <a:spcPct val="133333"/>
              </a:lnSpc>
              <a:defRPr/>
            </a:pPr>
            <a:r>
              <a:rPr lang="en-US" sz="1100" b="0" i="0" u="none" strike="noStrike" dirty="0">
                <a:solidFill>
                  <a:srgbClr val="0188FB"/>
                </a:solidFill>
                <a:latin typeface="Arial"/>
                <a:ea typeface="Arial"/>
                <a:cs typeface="Arial"/>
                <a:sym typeface="Arial"/>
              </a:rPr>
              <a:t>Blue LED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06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2600" b="1" dirty="0">
                <a:solidFill>
                  <a:srgbClr val="000000"/>
                </a:solidFill>
                <a:latin typeface="Source Han Sans SC"/>
              </a:rPr>
              <a:t>Why New Gear? Your Project Has a Face and Hands</a:t>
            </a:r>
          </a:p>
        </p:txBody>
      </p:sp>
      <p:sp>
        <p:nvSpPr>
          <p:cNvPr id="6" name="TextBox 5"/>
          <p:cNvSpPr txBox="1"/>
          <p:nvPr/>
        </p:nvSpPr>
        <p:spPr>
          <a:xfrm>
            <a:off x="566928" y="960120"/>
            <a:ext cx="3749039" cy="274320"/>
          </a:xfrm>
          <a:prstGeom prst="rect">
            <a:avLst/>
          </a:prstGeom>
          <a:noFill/>
        </p:spPr>
        <p:txBody>
          <a:bodyPr wrap="square" lIns="0" tIns="0" rIns="0" bIns="0" anchor="t">
            <a:spAutoFit/>
          </a:bodyPr>
          <a:lstStyle/>
          <a:p>
            <a:pPr algn="l">
              <a:lnSpc>
                <a:spcPct val="100000"/>
              </a:lnSpc>
            </a:pPr>
            <a:r>
              <a:rPr sz="1250" b="1">
                <a:solidFill>
                  <a:srgbClr val="000000"/>
                </a:solidFill>
                <a:latin typeface="Source Han Sans SC"/>
              </a:rPr>
              <a:t>OLD BOARD (Grove Beginner Kit)</a:t>
            </a:r>
          </a:p>
        </p:txBody>
      </p:sp>
      <p:pic>
        <p:nvPicPr>
          <p:cNvPr id="7" name="Picture 6" descr="L1_板子全貌图_Grove Beginner Kit.png"/>
          <p:cNvPicPr>
            <a:picLocks noChangeAspect="1"/>
          </p:cNvPicPr>
          <p:nvPr/>
        </p:nvPicPr>
        <p:blipFill>
          <a:blip r:embed="rId3"/>
          <a:srcRect r="11736"/>
          <a:stretch>
            <a:fillRect/>
          </a:stretch>
        </p:blipFill>
        <p:spPr>
          <a:xfrm rot="5400000">
            <a:off x="1340150" y="637250"/>
            <a:ext cx="2172392" cy="3706091"/>
          </a:xfrm>
          <a:prstGeom prst="rect">
            <a:avLst/>
          </a:prstGeom>
        </p:spPr>
      </p:pic>
      <p:sp>
        <p:nvSpPr>
          <p:cNvPr id="8" name="TextBox 7"/>
          <p:cNvSpPr txBox="1"/>
          <p:nvPr/>
        </p:nvSpPr>
        <p:spPr>
          <a:xfrm>
            <a:off x="566928" y="3566160"/>
            <a:ext cx="3749039" cy="640080"/>
          </a:xfrm>
          <a:prstGeom prst="rect">
            <a:avLst/>
          </a:prstGeom>
          <a:noFill/>
        </p:spPr>
        <p:txBody>
          <a:bodyPr wrap="square" lIns="0" tIns="0" rIns="0" bIns="0" anchor="t">
            <a:spAutoFit/>
          </a:bodyPr>
          <a:lstStyle/>
          <a:p>
            <a:pPr algn="ctr">
              <a:lnSpc>
                <a:spcPct val="115000"/>
              </a:lnSpc>
            </a:pPr>
            <a:r>
              <a:rPr sz="1200" b="0" dirty="0">
                <a:solidFill>
                  <a:srgbClr val="000000"/>
                </a:solidFill>
                <a:latin typeface="Source Han Sans SC"/>
              </a:rPr>
              <a:t>Strong at sensing the world — sensors soldered on, plug and play</a:t>
            </a:r>
          </a:p>
        </p:txBody>
      </p:sp>
      <p:sp>
        <p:nvSpPr>
          <p:cNvPr id="9" name="TextBox 8"/>
          <p:cNvSpPr txBox="1"/>
          <p:nvPr/>
        </p:nvSpPr>
        <p:spPr>
          <a:xfrm>
            <a:off x="4279392" y="2194560"/>
            <a:ext cx="274320" cy="457200"/>
          </a:xfrm>
          <a:prstGeom prst="rect">
            <a:avLst/>
          </a:prstGeom>
          <a:noFill/>
        </p:spPr>
        <p:txBody>
          <a:bodyPr wrap="square" lIns="0" tIns="0" rIns="0" bIns="0" anchor="t">
            <a:spAutoFit/>
          </a:bodyPr>
          <a:lstStyle/>
          <a:p>
            <a:pPr algn="ctr">
              <a:lnSpc>
                <a:spcPct val="100000"/>
              </a:lnSpc>
            </a:pPr>
            <a:r>
              <a:rPr sz="2000" b="1">
                <a:solidFill>
                  <a:srgbClr val="000000"/>
                </a:solidFill>
                <a:latin typeface="Source Han Sans SC"/>
              </a:rPr>
              <a:t>-&gt;</a:t>
            </a:r>
          </a:p>
        </p:txBody>
      </p:sp>
      <p:sp>
        <p:nvSpPr>
          <p:cNvPr id="10" name="TextBox 9"/>
          <p:cNvSpPr txBox="1"/>
          <p:nvPr/>
        </p:nvSpPr>
        <p:spPr>
          <a:xfrm>
            <a:off x="4828035" y="960120"/>
            <a:ext cx="4023360" cy="274320"/>
          </a:xfrm>
          <a:prstGeom prst="rect">
            <a:avLst/>
          </a:prstGeom>
          <a:noFill/>
        </p:spPr>
        <p:txBody>
          <a:bodyPr wrap="square" lIns="0" tIns="0" rIns="0" bIns="0" anchor="t">
            <a:spAutoFit/>
          </a:bodyPr>
          <a:lstStyle/>
          <a:p>
            <a:pPr algn="l">
              <a:lnSpc>
                <a:spcPct val="100000"/>
              </a:lnSpc>
            </a:pPr>
            <a:r>
              <a:rPr sz="1250" b="1" dirty="0">
                <a:solidFill>
                  <a:srgbClr val="000000"/>
                </a:solidFill>
                <a:latin typeface="Source Han Sans SC"/>
              </a:rPr>
              <a:t>NEW HANDHELD (</a:t>
            </a:r>
            <a:r>
              <a:rPr sz="1250" b="1" dirty="0" err="1">
                <a:solidFill>
                  <a:srgbClr val="000000"/>
                </a:solidFill>
                <a:latin typeface="Source Han Sans SC"/>
              </a:rPr>
              <a:t>Wio</a:t>
            </a:r>
            <a:r>
              <a:rPr sz="1250" b="1" dirty="0">
                <a:solidFill>
                  <a:srgbClr val="000000"/>
                </a:solidFill>
                <a:latin typeface="Source Han Sans SC"/>
              </a:rPr>
              <a:t> Terminal)</a:t>
            </a:r>
          </a:p>
        </p:txBody>
      </p:sp>
      <p:sp>
        <p:nvSpPr>
          <p:cNvPr id="18" name="TextBox 17"/>
          <p:cNvSpPr txBox="1"/>
          <p:nvPr/>
        </p:nvSpPr>
        <p:spPr>
          <a:xfrm>
            <a:off x="4572000" y="3566160"/>
            <a:ext cx="4023360" cy="640080"/>
          </a:xfrm>
          <a:prstGeom prst="rect">
            <a:avLst/>
          </a:prstGeom>
          <a:noFill/>
        </p:spPr>
        <p:txBody>
          <a:bodyPr wrap="square" lIns="0" tIns="0" rIns="0" bIns="0" anchor="t">
            <a:spAutoFit/>
          </a:bodyPr>
          <a:lstStyle/>
          <a:p>
            <a:pPr algn="ctr">
              <a:lnSpc>
                <a:spcPct val="115000"/>
              </a:lnSpc>
            </a:pPr>
            <a:r>
              <a:rPr sz="1200" b="0">
                <a:solidFill>
                  <a:srgbClr val="000000"/>
                </a:solidFill>
                <a:latin typeface="Source Han Sans SC"/>
              </a:rPr>
              <a:t>Adds a color screen, joystick and wireless — strong at letting people interact with your project</a:t>
            </a:r>
          </a:p>
        </p:txBody>
      </p:sp>
      <p:sp>
        <p:nvSpPr>
          <p:cNvPr id="19" name="Rectangle 18"/>
          <p:cNvSpPr/>
          <p:nvPr/>
        </p:nvSpPr>
        <p:spPr>
          <a:xfrm>
            <a:off x="566928" y="4224528"/>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4242816"/>
            <a:ext cx="7808975" cy="438912"/>
          </a:xfrm>
          <a:prstGeom prst="rect">
            <a:avLst/>
          </a:prstGeom>
          <a:noFill/>
        </p:spPr>
        <p:txBody>
          <a:bodyPr wrap="square" lIns="0" tIns="0" rIns="0" bIns="0" anchor="t">
            <a:spAutoFit/>
          </a:bodyPr>
          <a:lstStyle/>
          <a:p>
            <a:pPr algn="l">
              <a:lnSpc>
                <a:spcPct val="115000"/>
              </a:lnSpc>
            </a:pPr>
            <a:r>
              <a:rPr sz="1400" b="0">
                <a:solidFill>
                  <a:srgbClr val="000000"/>
                </a:solidFill>
                <a:latin typeface="Source Han Sans SC"/>
              </a:rPr>
              <a:t>Use both boards — that one senses the world; this one lets people interact with your project.</a:t>
            </a:r>
          </a:p>
        </p:txBody>
      </p:sp>
      <p:sp>
        <p:nvSpPr>
          <p:cNvPr id="21" name="TextBox 20"/>
          <p:cNvSpPr txBox="1"/>
          <p:nvPr/>
        </p:nvSpPr>
        <p:spPr>
          <a:xfrm>
            <a:off x="488788" y="1146009"/>
            <a:ext cx="3556739" cy="323165"/>
          </a:xfrm>
          <a:prstGeom prst="rect">
            <a:avLst/>
          </a:prstGeom>
          <a:noFill/>
        </p:spPr>
        <p:txBody>
          <a:bodyPr wrap="square" lIns="0" tIns="0" rIns="0" bIns="0" anchor="t">
            <a:spAutoFit/>
          </a:bodyPr>
          <a:lstStyle/>
          <a:p>
            <a:pPr algn="ctr">
              <a:lnSpc>
                <a:spcPct val="100000"/>
              </a:lnSpc>
            </a:pPr>
            <a:r>
              <a:rPr sz="1050" b="0" dirty="0">
                <a:solidFill>
                  <a:srgbClr val="000000"/>
                </a:solidFill>
                <a:latin typeface="Source Han Sans SC"/>
              </a:rPr>
              <a:t>Write in your workbook:  "</a:t>
            </a:r>
            <a:r>
              <a:rPr sz="1050" b="0" dirty="0" err="1">
                <a:solidFill>
                  <a:srgbClr val="000000"/>
                </a:solidFill>
                <a:latin typeface="Source Han Sans SC"/>
              </a:rPr>
              <a:t>Wio</a:t>
            </a:r>
            <a:r>
              <a:rPr sz="1050" b="0" dirty="0">
                <a:solidFill>
                  <a:srgbClr val="000000"/>
                </a:solidFill>
                <a:latin typeface="Source Han Sans SC"/>
              </a:rPr>
              <a:t> has ___ more than the old board (at least 3)"  ·  "the first thing I want to make with it is ___"</a:t>
            </a:r>
          </a:p>
        </p:txBody>
      </p:sp>
      <p:pic>
        <p:nvPicPr>
          <p:cNvPr id="25" name="Picture 2">
            <a:extLst>
              <a:ext uri="{FF2B5EF4-FFF2-40B4-BE49-F238E27FC236}">
                <a16:creationId xmlns:a16="http://schemas.microsoft.com/office/drawing/2014/main" id="{49D9FA71-426E-DE8D-097F-177CA88272B8}"/>
              </a:ext>
            </a:extLst>
          </p:cNvPr>
          <p:cNvPicPr>
            <a:picLocks noChangeAspect="1"/>
          </p:cNvPicPr>
          <p:nvPr/>
        </p:nvPicPr>
        <p:blipFill>
          <a:blip r:embed="rId4"/>
          <a:srcRect l="21324" t="3564" r="21928" b="43146"/>
          <a:stretch>
            <a:fillRect/>
          </a:stretch>
        </p:blipFill>
        <p:spPr>
          <a:xfrm>
            <a:off x="4755992" y="1404099"/>
            <a:ext cx="2926080" cy="2087827"/>
          </a:xfrm>
          <a:prstGeom prst="rect">
            <a:avLst/>
          </a:prstGeom>
          <a:ln w="12700">
            <a:noFill/>
            <a:prstDash val="soli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07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000" b="1">
                <a:solidFill>
                  <a:srgbClr val="000000"/>
                </a:solidFill>
                <a:latin typeface="Source Han Sans SC"/>
              </a:rPr>
              <a:t>Touching Isn't Knowing — Lighting It Up Is</a:t>
            </a:r>
          </a:p>
        </p:txBody>
      </p:sp>
      <p:sp>
        <p:nvSpPr>
          <p:cNvPr id="6" name="Rectangle 5"/>
          <p:cNvSpPr/>
          <p:nvPr/>
        </p:nvSpPr>
        <p:spPr>
          <a:xfrm>
            <a:off x="566928" y="1325880"/>
            <a:ext cx="1481328"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444752"/>
            <a:ext cx="1481328"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Buttons</a:t>
            </a:r>
          </a:p>
        </p:txBody>
      </p:sp>
      <p:sp>
        <p:nvSpPr>
          <p:cNvPr id="8" name="Rectangle 7"/>
          <p:cNvSpPr/>
          <p:nvPr/>
        </p:nvSpPr>
        <p:spPr>
          <a:xfrm>
            <a:off x="1197864" y="1783080"/>
            <a:ext cx="219456" cy="21945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194560" y="1325880"/>
            <a:ext cx="1481328"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94560" y="1444752"/>
            <a:ext cx="1481328"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Joystick</a:t>
            </a:r>
          </a:p>
        </p:txBody>
      </p:sp>
      <p:sp>
        <p:nvSpPr>
          <p:cNvPr id="11" name="Rectangle 10"/>
          <p:cNvSpPr/>
          <p:nvPr/>
        </p:nvSpPr>
        <p:spPr>
          <a:xfrm>
            <a:off x="2825496" y="1783080"/>
            <a:ext cx="219456" cy="21945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22191" y="1325880"/>
            <a:ext cx="1481328"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22191" y="1444752"/>
            <a:ext cx="1481328"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Microphone</a:t>
            </a:r>
          </a:p>
        </p:txBody>
      </p:sp>
      <p:sp>
        <p:nvSpPr>
          <p:cNvPr id="14" name="Rectangle 13"/>
          <p:cNvSpPr/>
          <p:nvPr/>
        </p:nvSpPr>
        <p:spPr>
          <a:xfrm>
            <a:off x="4453128" y="1783080"/>
            <a:ext cx="219456" cy="21945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49824" y="1325880"/>
            <a:ext cx="1481328"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49824" y="1444752"/>
            <a:ext cx="1481328"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Light</a:t>
            </a:r>
          </a:p>
        </p:txBody>
      </p:sp>
      <p:sp>
        <p:nvSpPr>
          <p:cNvPr id="17" name="Rectangle 16"/>
          <p:cNvSpPr/>
          <p:nvPr/>
        </p:nvSpPr>
        <p:spPr>
          <a:xfrm>
            <a:off x="6080759" y="1783080"/>
            <a:ext cx="219456" cy="21945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077456" y="1325880"/>
            <a:ext cx="1481328"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77456" y="1444752"/>
            <a:ext cx="1481328"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Accelerometer</a:t>
            </a:r>
          </a:p>
        </p:txBody>
      </p:sp>
      <p:sp>
        <p:nvSpPr>
          <p:cNvPr id="20" name="Rectangle 19"/>
          <p:cNvSpPr/>
          <p:nvPr/>
        </p:nvSpPr>
        <p:spPr>
          <a:xfrm>
            <a:off x="7708392" y="1783080"/>
            <a:ext cx="219456" cy="21945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2468880"/>
            <a:ext cx="8010144" cy="365760"/>
          </a:xfrm>
          <a:prstGeom prst="rect">
            <a:avLst/>
          </a:prstGeom>
          <a:noFill/>
        </p:spPr>
        <p:txBody>
          <a:bodyPr wrap="square" lIns="0" tIns="0" rIns="0" bIns="0" anchor="t">
            <a:spAutoFit/>
          </a:bodyPr>
          <a:lstStyle/>
          <a:p>
            <a:pPr algn="ctr">
              <a:lnSpc>
                <a:spcPct val="100000"/>
              </a:lnSpc>
            </a:pPr>
            <a:r>
              <a:rPr sz="1700" b="1">
                <a:solidFill>
                  <a:srgbClr val="000000"/>
                </a:solidFill>
                <a:latin typeface="Source Han Sans SC"/>
              </a:rPr>
              <a:t>Five micro-experiments, one line each —</a:t>
            </a:r>
          </a:p>
        </p:txBody>
      </p:sp>
      <p:sp>
        <p:nvSpPr>
          <p:cNvPr id="22" name="TextBox 21"/>
          <p:cNvSpPr txBox="1"/>
          <p:nvPr/>
        </p:nvSpPr>
        <p:spPr>
          <a:xfrm>
            <a:off x="566928" y="2880360"/>
            <a:ext cx="8010144" cy="365760"/>
          </a:xfrm>
          <a:prstGeom prst="rect">
            <a:avLst/>
          </a:prstGeom>
          <a:noFill/>
        </p:spPr>
        <p:txBody>
          <a:bodyPr wrap="square" lIns="0" tIns="0" rIns="0" bIns="0" anchor="t">
            <a:spAutoFit/>
          </a:bodyPr>
          <a:lstStyle/>
          <a:p>
            <a:pPr algn="ctr">
              <a:lnSpc>
                <a:spcPct val="100000"/>
              </a:lnSpc>
            </a:pPr>
            <a:r>
              <a:rPr sz="1700" b="0">
                <a:solidFill>
                  <a:srgbClr val="000000"/>
                </a:solidFill>
                <a:latin typeface="Source Han Sans SC"/>
              </a:rPr>
              <a:t>I send mine first, then you send yours.</a:t>
            </a:r>
          </a:p>
        </p:txBody>
      </p:sp>
      <p:sp>
        <p:nvSpPr>
          <p:cNvPr id="23" name="Rectangle 22"/>
          <p:cNvSpPr/>
          <p:nvPr/>
        </p:nvSpPr>
        <p:spPr>
          <a:xfrm>
            <a:off x="566928" y="352044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 y="3538728"/>
            <a:ext cx="7808975" cy="438912"/>
          </a:xfrm>
          <a:prstGeom prst="rect">
            <a:avLst/>
          </a:prstGeom>
          <a:noFill/>
        </p:spPr>
        <p:txBody>
          <a:bodyPr wrap="square" lIns="0" tIns="0" rIns="0" bIns="0" anchor="t">
            <a:spAutoFit/>
          </a:bodyPr>
          <a:lstStyle/>
          <a:p>
            <a:pPr algn="l">
              <a:lnSpc>
                <a:spcPct val="115000"/>
              </a:lnSpc>
            </a:pPr>
            <a:r>
              <a:rPr sz="1600" b="0">
                <a:solidFill>
                  <a:srgbClr val="000000"/>
                </a:solidFill>
                <a:latin typeface="Source Han Sans SC"/>
              </a:rPr>
              <a:t>Don't just watch me — send a line and try it yourself.</a:t>
            </a:r>
          </a:p>
        </p:txBody>
      </p:sp>
      <p:sp>
        <p:nvSpPr>
          <p:cNvPr id="25" name="TextBox 24"/>
          <p:cNvSpPr txBox="1"/>
          <p:nvPr/>
        </p:nvSpPr>
        <p:spPr>
          <a:xfrm>
            <a:off x="566928" y="4251960"/>
            <a:ext cx="8010144" cy="502920"/>
          </a:xfrm>
          <a:prstGeom prst="rect">
            <a:avLst/>
          </a:prstGeom>
          <a:noFill/>
        </p:spPr>
        <p:txBody>
          <a:bodyPr wrap="square" lIns="0" tIns="0" rIns="0" bIns="0" anchor="t">
            <a:spAutoFit/>
          </a:bodyPr>
          <a:lstStyle/>
          <a:p>
            <a:pPr algn="ctr">
              <a:lnSpc>
                <a:spcPct val="120000"/>
              </a:lnSpc>
            </a:pPr>
            <a:r>
              <a:rPr sz="1200" b="0">
                <a:solidFill>
                  <a:srgbClr val="000000"/>
                </a:solidFill>
                <a:latin typeface="Source Han Sans SC"/>
              </a:rPr>
              <a:t>The lines are printed in your Student Workbook — follow me on the screen. Lit one up? Tick the box in your workbook.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08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Micro-Experiment 1/5 · Buttons</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The Three-Key Piano</a:t>
            </a:r>
          </a:p>
        </p:txBody>
      </p:sp>
      <p:sp>
        <p:nvSpPr>
          <p:cNvPr id="7" name="Rectangle 6"/>
          <p:cNvSpPr/>
          <p:nvPr/>
        </p:nvSpPr>
        <p:spPr>
          <a:xfrm>
            <a:off x="566928" y="1298448"/>
            <a:ext cx="4937760"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26464"/>
            <a:ext cx="4608576" cy="1188720"/>
          </a:xfrm>
          <a:prstGeom prst="rect">
            <a:avLst/>
          </a:prstGeom>
          <a:noFill/>
        </p:spPr>
        <p:txBody>
          <a:bodyPr wrap="square" lIns="0" tIns="0" rIns="0" bIns="0" anchor="t">
            <a:spAutoFit/>
          </a:bodyPr>
          <a:lstStyle/>
          <a:p>
            <a:pPr algn="l">
              <a:lnSpc>
                <a:spcPct val="140000"/>
              </a:lnSpc>
            </a:pPr>
            <a:r>
              <a:rPr sz="1150" b="0">
                <a:solidFill>
                  <a:srgbClr val="000000"/>
                </a:solidFill>
                <a:latin typeface="Source Code Pro"/>
              </a:rPr>
              <a:t>I'm using the Wio Terminal. Please make this work:</a:t>
            </a:r>
          </a:p>
          <a:p>
            <a:pPr algn="l">
              <a:lnSpc>
                <a:spcPct val="140000"/>
              </a:lnSpc>
            </a:pPr>
            <a:r>
              <a:rPr sz="1150" b="0">
                <a:solidFill>
                  <a:srgbClr val="000000"/>
                </a:solidFill>
                <a:latin typeface="Source Code Pro"/>
              </a:rPr>
              <a:t>Press buttons A/B/C to play do, mi, sol.</a:t>
            </a:r>
          </a:p>
          <a:p>
            <a:pPr algn="l">
              <a:lnSpc>
                <a:spcPct val="140000"/>
              </a:lnSpc>
            </a:pPr>
            <a:r>
              <a:rPr sz="1150" b="0">
                <a:solidFill>
                  <a:srgbClr val="000000"/>
                </a:solidFill>
                <a:latin typeface="Source Code Pro"/>
              </a:rPr>
              <a:t>Show DO / MI / SOL in large text on the screen.</a:t>
            </a:r>
          </a:p>
        </p:txBody>
      </p:sp>
      <p:sp>
        <p:nvSpPr>
          <p:cNvPr id="9" name="Rectangle 8"/>
          <p:cNvSpPr/>
          <p:nvPr/>
        </p:nvSpPr>
        <p:spPr>
          <a:xfrm>
            <a:off x="5669280" y="1298448"/>
            <a:ext cx="2907792" cy="1417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15584" y="1389888"/>
            <a:ext cx="2615184" cy="1234440"/>
          </a:xfrm>
          <a:prstGeom prst="rect">
            <a:avLst/>
          </a:prstGeom>
          <a:noFill/>
        </p:spPr>
        <p:txBody>
          <a:bodyPr wrap="square" lIns="0" tIns="0" rIns="0" bIns="0" anchor="t">
            <a:spAutoFit/>
          </a:bodyPr>
          <a:lstStyle/>
          <a:p>
            <a:pPr algn="ctr">
              <a:lnSpc>
                <a:spcPct val="130000"/>
              </a:lnSpc>
            </a:pPr>
            <a:r>
              <a:rPr sz="1050" b="1">
                <a:solidFill>
                  <a:srgbClr val="000000"/>
                </a:solidFill>
                <a:latin typeface="Source Han Sans SC"/>
              </a:rPr>
              <a:t>[ success</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DO in large text</a:t>
            </a:r>
          </a:p>
        </p:txBody>
      </p:sp>
      <p:sp>
        <p:nvSpPr>
          <p:cNvPr id="11" name="TextBox 10"/>
          <p:cNvSpPr txBox="1"/>
          <p:nvPr/>
        </p:nvSpPr>
        <p:spPr>
          <a:xfrm>
            <a:off x="5669280" y="2487168"/>
            <a:ext cx="2907792" cy="228600"/>
          </a:xfrm>
          <a:prstGeom prst="rect">
            <a:avLst/>
          </a:prstGeom>
          <a:noFill/>
        </p:spPr>
        <p:txBody>
          <a:bodyPr wrap="square" lIns="0" tIns="0" rIns="0" bIns="0" anchor="t">
            <a:spAutoFit/>
          </a:bodyPr>
          <a:lstStyle/>
          <a:p>
            <a:pPr algn="ctr">
              <a:lnSpc>
                <a:spcPct val="100000"/>
              </a:lnSpc>
            </a:pPr>
            <a:r>
              <a:rPr sz="950" b="1">
                <a:solidFill>
                  <a:srgbClr val="000000"/>
                </a:solidFill>
                <a:latin typeface="Source Han Sans SC"/>
              </a:rPr>
              <a:t>this is what success looks like</a:t>
            </a:r>
          </a:p>
        </p:txBody>
      </p:sp>
      <p:sp>
        <p:nvSpPr>
          <p:cNvPr id="12" name="TextBox 11"/>
          <p:cNvSpPr txBox="1"/>
          <p:nvPr/>
        </p:nvSpPr>
        <p:spPr>
          <a:xfrm>
            <a:off x="566928" y="3063240"/>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Press it, and it answers you — A, B, C: a little piano.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09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Micro-Experiment 2/5 · Joystick</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Push the Ball</a:t>
            </a:r>
          </a:p>
        </p:txBody>
      </p:sp>
      <p:sp>
        <p:nvSpPr>
          <p:cNvPr id="7" name="Rectangle 6"/>
          <p:cNvSpPr/>
          <p:nvPr/>
        </p:nvSpPr>
        <p:spPr>
          <a:xfrm>
            <a:off x="566928" y="1298448"/>
            <a:ext cx="4937760"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26464"/>
            <a:ext cx="4608576" cy="1188720"/>
          </a:xfrm>
          <a:prstGeom prst="rect">
            <a:avLst/>
          </a:prstGeom>
          <a:noFill/>
        </p:spPr>
        <p:txBody>
          <a:bodyPr wrap="square" lIns="0" tIns="0" rIns="0" bIns="0" anchor="t">
            <a:spAutoFit/>
          </a:bodyPr>
          <a:lstStyle/>
          <a:p>
            <a:pPr algn="l">
              <a:lnSpc>
                <a:spcPct val="140000"/>
              </a:lnSpc>
            </a:pPr>
            <a:r>
              <a:rPr sz="1150" b="0">
                <a:solidFill>
                  <a:srgbClr val="000000"/>
                </a:solidFill>
                <a:latin typeface="Source Code Pro"/>
              </a:rPr>
              <a:t>I'm using the Wio Terminal. Please make this work:</a:t>
            </a:r>
          </a:p>
          <a:p>
            <a:pPr algn="l">
              <a:lnSpc>
                <a:spcPct val="140000"/>
              </a:lnSpc>
            </a:pPr>
            <a:r>
              <a:rPr sz="1150" b="0">
                <a:solidFill>
                  <a:srgbClr val="000000"/>
                </a:solidFill>
                <a:latin typeface="Source Code Pro"/>
              </a:rPr>
              <a:t>Draw a small ball in the center of the screen.</a:t>
            </a:r>
          </a:p>
          <a:p>
            <a:pPr algn="l">
              <a:lnSpc>
                <a:spcPct val="140000"/>
              </a:lnSpc>
            </a:pPr>
            <a:r>
              <a:rPr sz="1150" b="0">
                <a:solidFill>
                  <a:srgbClr val="000000"/>
                </a:solidFill>
                <a:latin typeface="Source Code Pro"/>
              </a:rPr>
              <a:t>Push the joystick and the ball moves that way.</a:t>
            </a:r>
          </a:p>
        </p:txBody>
      </p:sp>
      <p:sp>
        <p:nvSpPr>
          <p:cNvPr id="9" name="Rectangle 8"/>
          <p:cNvSpPr/>
          <p:nvPr/>
        </p:nvSpPr>
        <p:spPr>
          <a:xfrm>
            <a:off x="5669280" y="1298448"/>
            <a:ext cx="2907792" cy="1417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15584" y="1389888"/>
            <a:ext cx="2615184" cy="1234440"/>
          </a:xfrm>
          <a:prstGeom prst="rect">
            <a:avLst/>
          </a:prstGeom>
          <a:noFill/>
        </p:spPr>
        <p:txBody>
          <a:bodyPr wrap="square" lIns="0" tIns="0" rIns="0" bIns="0" anchor="t">
            <a:spAutoFit/>
          </a:bodyPr>
          <a:lstStyle/>
          <a:p>
            <a:pPr algn="ctr">
              <a:lnSpc>
                <a:spcPct val="130000"/>
              </a:lnSpc>
            </a:pPr>
            <a:r>
              <a:rPr sz="1050" b="1">
                <a:solidFill>
                  <a:srgbClr val="000000"/>
                </a:solidFill>
                <a:latin typeface="Source Han Sans SC"/>
              </a:rPr>
              <a:t>[ success</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the ball pushed off-center</a:t>
            </a:r>
          </a:p>
        </p:txBody>
      </p:sp>
      <p:sp>
        <p:nvSpPr>
          <p:cNvPr id="11" name="TextBox 10"/>
          <p:cNvSpPr txBox="1"/>
          <p:nvPr/>
        </p:nvSpPr>
        <p:spPr>
          <a:xfrm>
            <a:off x="5669280" y="2487168"/>
            <a:ext cx="2907792" cy="228600"/>
          </a:xfrm>
          <a:prstGeom prst="rect">
            <a:avLst/>
          </a:prstGeom>
          <a:noFill/>
        </p:spPr>
        <p:txBody>
          <a:bodyPr wrap="square" lIns="0" tIns="0" rIns="0" bIns="0" anchor="t">
            <a:spAutoFit/>
          </a:bodyPr>
          <a:lstStyle/>
          <a:p>
            <a:pPr algn="ctr">
              <a:lnSpc>
                <a:spcPct val="100000"/>
              </a:lnSpc>
            </a:pPr>
            <a:r>
              <a:rPr sz="950" b="1">
                <a:solidFill>
                  <a:srgbClr val="000000"/>
                </a:solidFill>
                <a:latin typeface="Source Han Sans SC"/>
              </a:rPr>
              <a:t>this is what success looks like</a:t>
            </a:r>
          </a:p>
        </p:txBody>
      </p:sp>
      <p:sp>
        <p:nvSpPr>
          <p:cNvPr id="12" name="TextBox 11"/>
          <p:cNvSpPr txBox="1"/>
          <p:nvPr/>
        </p:nvSpPr>
        <p:spPr>
          <a:xfrm>
            <a:off x="566928" y="3063240"/>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Nudge it, and the ball listens.</a:t>
            </a:r>
          </a:p>
        </p:txBody>
      </p:sp>
      <p:sp>
        <p:nvSpPr>
          <p:cNvPr id="13" name="TextBox 12"/>
          <p:cNvSpPr txBox="1"/>
          <p:nvPr/>
        </p:nvSpPr>
        <p:spPr>
          <a:xfrm>
            <a:off x="566928" y="3447288"/>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The joystick presses in too — found it? Raise your hand.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10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600" b="1">
                <a:solidFill>
                  <a:srgbClr val="000000"/>
                </a:solidFill>
                <a:latin typeface="Source Han Sans SC"/>
              </a:rPr>
              <a:t>Micro-Experiment 3/5 · Microphone</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Blow Out the Candle</a:t>
            </a:r>
          </a:p>
        </p:txBody>
      </p:sp>
      <p:sp>
        <p:nvSpPr>
          <p:cNvPr id="7" name="Rectangle 6"/>
          <p:cNvSpPr/>
          <p:nvPr/>
        </p:nvSpPr>
        <p:spPr>
          <a:xfrm>
            <a:off x="566928" y="1298448"/>
            <a:ext cx="4937760"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26464"/>
            <a:ext cx="4608576" cy="1188720"/>
          </a:xfrm>
          <a:prstGeom prst="rect">
            <a:avLst/>
          </a:prstGeom>
          <a:noFill/>
        </p:spPr>
        <p:txBody>
          <a:bodyPr wrap="square" lIns="0" tIns="0" rIns="0" bIns="0" anchor="t">
            <a:spAutoFit/>
          </a:bodyPr>
          <a:lstStyle/>
          <a:p>
            <a:pPr algn="l">
              <a:lnSpc>
                <a:spcPct val="140000"/>
              </a:lnSpc>
            </a:pPr>
            <a:r>
              <a:rPr sz="1150" b="0">
                <a:solidFill>
                  <a:srgbClr val="000000"/>
                </a:solidFill>
                <a:latin typeface="Source Code Pro"/>
              </a:rPr>
              <a:t>I'm using the Wio Terminal. Please make this work:</a:t>
            </a:r>
          </a:p>
          <a:p>
            <a:pPr algn="l">
              <a:lnSpc>
                <a:spcPct val="140000"/>
              </a:lnSpc>
            </a:pPr>
            <a:r>
              <a:rPr sz="1150" b="0">
                <a:solidFill>
                  <a:srgbClr val="000000"/>
                </a:solidFill>
                <a:latin typeface="Source Code Pro"/>
              </a:rPr>
              <a:t>Draw a lit candle in the center of the screen.</a:t>
            </a:r>
          </a:p>
          <a:p>
            <a:pPr algn="l">
              <a:lnSpc>
                <a:spcPct val="140000"/>
              </a:lnSpc>
            </a:pPr>
            <a:r>
              <a:rPr sz="1150" b="0">
                <a:solidFill>
                  <a:srgbClr val="000000"/>
                </a:solidFill>
                <a:latin typeface="Source Code Pro"/>
              </a:rPr>
              <a:t>Blow at the microphone and the flame goes out; after 2 seconds it lights again.</a:t>
            </a:r>
          </a:p>
        </p:txBody>
      </p:sp>
      <p:sp>
        <p:nvSpPr>
          <p:cNvPr id="9" name="Rectangle 8"/>
          <p:cNvSpPr/>
          <p:nvPr/>
        </p:nvSpPr>
        <p:spPr>
          <a:xfrm>
            <a:off x="5669280" y="1298448"/>
            <a:ext cx="2907792" cy="1417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15584" y="1389888"/>
            <a:ext cx="2615184" cy="1234440"/>
          </a:xfrm>
          <a:prstGeom prst="rect">
            <a:avLst/>
          </a:prstGeom>
          <a:noFill/>
        </p:spPr>
        <p:txBody>
          <a:bodyPr wrap="square" lIns="0" tIns="0" rIns="0" bIns="0" anchor="t">
            <a:spAutoFit/>
          </a:bodyPr>
          <a:lstStyle/>
          <a:p>
            <a:pPr algn="ctr">
              <a:lnSpc>
                <a:spcPct val="130000"/>
              </a:lnSpc>
            </a:pPr>
            <a:r>
              <a:rPr sz="1050" b="1">
                <a:solidFill>
                  <a:srgbClr val="000000"/>
                </a:solidFill>
                <a:latin typeface="Source Han Sans SC"/>
              </a:rPr>
              <a:t>[ success</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the flame out (or relit)</a:t>
            </a:r>
          </a:p>
        </p:txBody>
      </p:sp>
      <p:sp>
        <p:nvSpPr>
          <p:cNvPr id="11" name="TextBox 10"/>
          <p:cNvSpPr txBox="1"/>
          <p:nvPr/>
        </p:nvSpPr>
        <p:spPr>
          <a:xfrm>
            <a:off x="5669280" y="2487168"/>
            <a:ext cx="2907792" cy="228600"/>
          </a:xfrm>
          <a:prstGeom prst="rect">
            <a:avLst/>
          </a:prstGeom>
          <a:noFill/>
        </p:spPr>
        <p:txBody>
          <a:bodyPr wrap="square" lIns="0" tIns="0" rIns="0" bIns="0" anchor="t">
            <a:spAutoFit/>
          </a:bodyPr>
          <a:lstStyle/>
          <a:p>
            <a:pPr algn="ctr">
              <a:lnSpc>
                <a:spcPct val="100000"/>
              </a:lnSpc>
            </a:pPr>
            <a:r>
              <a:rPr sz="950" b="1">
                <a:solidFill>
                  <a:srgbClr val="000000"/>
                </a:solidFill>
                <a:latin typeface="Source Han Sans SC"/>
              </a:rPr>
              <a:t>this is what success looks like</a:t>
            </a:r>
          </a:p>
        </p:txBody>
      </p:sp>
      <p:sp>
        <p:nvSpPr>
          <p:cNvPr id="12" name="TextBox 11"/>
          <p:cNvSpPr txBox="1"/>
          <p:nvPr/>
        </p:nvSpPr>
        <p:spPr>
          <a:xfrm>
            <a:off x="566928" y="3063240"/>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One blow, the candle goes out.</a:t>
            </a:r>
          </a:p>
        </p:txBody>
      </p:sp>
      <p:sp>
        <p:nvSpPr>
          <p:cNvPr id="13" name="TextBox 12"/>
          <p:cNvSpPr txBox="1"/>
          <p:nvPr/>
        </p:nvSpPr>
        <p:spPr>
          <a:xfrm>
            <a:off x="566928" y="3447288"/>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Sound doesn't need to report a number — it just needs to do the job.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11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Micro-Experiment 4/5 · Light</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The Board Afraid of the Dark</a:t>
            </a:r>
          </a:p>
        </p:txBody>
      </p:sp>
      <p:sp>
        <p:nvSpPr>
          <p:cNvPr id="7" name="Rectangle 6"/>
          <p:cNvSpPr/>
          <p:nvPr/>
        </p:nvSpPr>
        <p:spPr>
          <a:xfrm>
            <a:off x="566928" y="1298448"/>
            <a:ext cx="4937760"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26464"/>
            <a:ext cx="4608576" cy="1188720"/>
          </a:xfrm>
          <a:prstGeom prst="rect">
            <a:avLst/>
          </a:prstGeom>
          <a:noFill/>
        </p:spPr>
        <p:txBody>
          <a:bodyPr wrap="square" lIns="0" tIns="0" rIns="0" bIns="0" anchor="t">
            <a:spAutoFit/>
          </a:bodyPr>
          <a:lstStyle/>
          <a:p>
            <a:pPr algn="l">
              <a:lnSpc>
                <a:spcPct val="140000"/>
              </a:lnSpc>
            </a:pPr>
            <a:r>
              <a:rPr sz="1150" b="0">
                <a:solidFill>
                  <a:srgbClr val="000000"/>
                </a:solidFill>
                <a:latin typeface="Source Code Pro"/>
              </a:rPr>
              <a:t>I'm using the Wio Terminal. Please make this work:</a:t>
            </a:r>
          </a:p>
          <a:p>
            <a:pPr algn="l">
              <a:lnSpc>
                <a:spcPct val="140000"/>
              </a:lnSpc>
            </a:pPr>
            <a:r>
              <a:rPr sz="1150" b="0">
                <a:solidFill>
                  <a:srgbClr val="000000"/>
                </a:solidFill>
                <a:latin typeface="Source Code Pro"/>
              </a:rPr>
              <a:t>Draw two open eyes on the screen.</a:t>
            </a:r>
          </a:p>
          <a:p>
            <a:pPr algn="l">
              <a:lnSpc>
                <a:spcPct val="140000"/>
              </a:lnSpc>
            </a:pPr>
            <a:r>
              <a:rPr sz="1150" b="0">
                <a:solidFill>
                  <a:srgbClr val="000000"/>
                </a:solidFill>
                <a:latin typeface="Source Code Pro"/>
              </a:rPr>
              <a:t>When the light gets dim, close the eyes and show ZZZ;</a:t>
            </a:r>
          </a:p>
          <a:p>
            <a:pPr algn="l">
              <a:lnSpc>
                <a:spcPct val="140000"/>
              </a:lnSpc>
            </a:pPr>
            <a:r>
              <a:rPr sz="1150" b="0">
                <a:solidFill>
                  <a:srgbClr val="000000"/>
                </a:solidFill>
                <a:latin typeface="Source Code Pro"/>
              </a:rPr>
              <a:t>when it gets bright, open them again.</a:t>
            </a:r>
          </a:p>
        </p:txBody>
      </p:sp>
      <p:sp>
        <p:nvSpPr>
          <p:cNvPr id="9" name="Rectangle 8"/>
          <p:cNvSpPr/>
          <p:nvPr/>
        </p:nvSpPr>
        <p:spPr>
          <a:xfrm>
            <a:off x="5669280" y="1298448"/>
            <a:ext cx="2907792" cy="1417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15584" y="1389888"/>
            <a:ext cx="2615184" cy="1234440"/>
          </a:xfrm>
          <a:prstGeom prst="rect">
            <a:avLst/>
          </a:prstGeom>
          <a:noFill/>
        </p:spPr>
        <p:txBody>
          <a:bodyPr wrap="square" lIns="0" tIns="0" rIns="0" bIns="0" anchor="t">
            <a:spAutoFit/>
          </a:bodyPr>
          <a:lstStyle/>
          <a:p>
            <a:pPr algn="ctr">
              <a:lnSpc>
                <a:spcPct val="130000"/>
              </a:lnSpc>
            </a:pPr>
            <a:r>
              <a:rPr sz="1050" b="1">
                <a:solidFill>
                  <a:srgbClr val="000000"/>
                </a:solidFill>
                <a:latin typeface="Source Han Sans SC"/>
              </a:rPr>
              <a:t>[ success</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eyes closed, ZZZ showing</a:t>
            </a:r>
          </a:p>
        </p:txBody>
      </p:sp>
      <p:sp>
        <p:nvSpPr>
          <p:cNvPr id="11" name="TextBox 10"/>
          <p:cNvSpPr txBox="1"/>
          <p:nvPr/>
        </p:nvSpPr>
        <p:spPr>
          <a:xfrm>
            <a:off x="5669280" y="2487168"/>
            <a:ext cx="2907792" cy="228600"/>
          </a:xfrm>
          <a:prstGeom prst="rect">
            <a:avLst/>
          </a:prstGeom>
          <a:noFill/>
        </p:spPr>
        <p:txBody>
          <a:bodyPr wrap="square" lIns="0" tIns="0" rIns="0" bIns="0" anchor="t">
            <a:spAutoFit/>
          </a:bodyPr>
          <a:lstStyle/>
          <a:p>
            <a:pPr algn="ctr">
              <a:lnSpc>
                <a:spcPct val="100000"/>
              </a:lnSpc>
            </a:pPr>
            <a:r>
              <a:rPr sz="950" b="1">
                <a:solidFill>
                  <a:srgbClr val="000000"/>
                </a:solidFill>
                <a:latin typeface="Source Han Sans SC"/>
              </a:rPr>
              <a:t>this is what success looks like</a:t>
            </a:r>
          </a:p>
        </p:txBody>
      </p:sp>
      <p:sp>
        <p:nvSpPr>
          <p:cNvPr id="12" name="TextBox 11"/>
          <p:cNvSpPr txBox="1"/>
          <p:nvPr/>
        </p:nvSpPr>
        <p:spPr>
          <a:xfrm>
            <a:off x="566928" y="3063240"/>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Cover it, and it falls asleep.</a:t>
            </a:r>
          </a:p>
        </p:txBody>
      </p:sp>
      <p:sp>
        <p:nvSpPr>
          <p:cNvPr id="13" name="TextBox 12"/>
          <p:cNvSpPr txBox="1"/>
          <p:nvPr/>
        </p:nvSpPr>
        <p:spPr>
          <a:xfrm>
            <a:off x="566928" y="3447288"/>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Last lesson's dark-detecting light — in a new costume.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12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400" b="1">
                <a:solidFill>
                  <a:srgbClr val="000000"/>
                </a:solidFill>
                <a:latin typeface="Source Han Sans SC"/>
              </a:rPr>
              <a:t>Micro-Experiment 5/5 · Accelerometer</a:t>
            </a:r>
          </a:p>
        </p:txBody>
      </p:sp>
      <p:sp>
        <p:nvSpPr>
          <p:cNvPr id="6" name="TextBox 5"/>
          <p:cNvSpPr txBox="1"/>
          <p:nvPr/>
        </p:nvSpPr>
        <p:spPr>
          <a:xfrm>
            <a:off x="566928" y="914400"/>
            <a:ext cx="8138160" cy="365760"/>
          </a:xfrm>
          <a:prstGeom prst="rect">
            <a:avLst/>
          </a:prstGeom>
          <a:noFill/>
        </p:spPr>
        <p:txBody>
          <a:bodyPr wrap="square" lIns="0" tIns="0" rIns="0" bIns="0" anchor="t">
            <a:spAutoFit/>
          </a:bodyPr>
          <a:lstStyle/>
          <a:p>
            <a:pPr algn="l">
              <a:lnSpc>
                <a:spcPct val="100000"/>
              </a:lnSpc>
            </a:pPr>
            <a:r>
              <a:rPr sz="1700" b="0">
                <a:solidFill>
                  <a:srgbClr val="000000"/>
                </a:solidFill>
                <a:latin typeface="Source Han Sans SC"/>
              </a:rPr>
              <a:t>The Balance Ball</a:t>
            </a:r>
          </a:p>
        </p:txBody>
      </p:sp>
      <p:sp>
        <p:nvSpPr>
          <p:cNvPr id="7" name="Rectangle 6"/>
          <p:cNvSpPr/>
          <p:nvPr/>
        </p:nvSpPr>
        <p:spPr>
          <a:xfrm>
            <a:off x="566928" y="1298448"/>
            <a:ext cx="4937760"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26464"/>
            <a:ext cx="4608576" cy="1188720"/>
          </a:xfrm>
          <a:prstGeom prst="rect">
            <a:avLst/>
          </a:prstGeom>
          <a:noFill/>
        </p:spPr>
        <p:txBody>
          <a:bodyPr wrap="square" lIns="0" tIns="0" rIns="0" bIns="0" anchor="t">
            <a:spAutoFit/>
          </a:bodyPr>
          <a:lstStyle/>
          <a:p>
            <a:pPr algn="l">
              <a:lnSpc>
                <a:spcPct val="140000"/>
              </a:lnSpc>
            </a:pPr>
            <a:r>
              <a:rPr sz="1150" b="0">
                <a:solidFill>
                  <a:srgbClr val="000000"/>
                </a:solidFill>
                <a:latin typeface="Source Code Pro"/>
              </a:rPr>
              <a:t>I'm using the Wio Terminal. Please make this work:</a:t>
            </a:r>
          </a:p>
          <a:p>
            <a:pPr algn="l">
              <a:lnSpc>
                <a:spcPct val="140000"/>
              </a:lnSpc>
            </a:pPr>
            <a:r>
              <a:rPr sz="1150" b="0">
                <a:solidFill>
                  <a:srgbClr val="000000"/>
                </a:solidFill>
                <a:latin typeface="Source Code Pro"/>
              </a:rPr>
              <a:t>Draw a square frame with a small ball inside.</a:t>
            </a:r>
          </a:p>
          <a:p>
            <a:pPr algn="l">
              <a:lnSpc>
                <a:spcPct val="140000"/>
              </a:lnSpc>
            </a:pPr>
            <a:r>
              <a:rPr sz="1150" b="0">
                <a:solidFill>
                  <a:srgbClr val="000000"/>
                </a:solidFill>
                <a:latin typeface="Source Code Pro"/>
              </a:rPr>
              <a:t>Tilt the board and the ball rolls toward the low side.</a:t>
            </a:r>
          </a:p>
        </p:txBody>
      </p:sp>
      <p:sp>
        <p:nvSpPr>
          <p:cNvPr id="9" name="Rectangle 8"/>
          <p:cNvSpPr/>
          <p:nvPr/>
        </p:nvSpPr>
        <p:spPr>
          <a:xfrm>
            <a:off x="5669280" y="1298448"/>
            <a:ext cx="2907792" cy="1417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15584" y="1389888"/>
            <a:ext cx="2615184" cy="1234440"/>
          </a:xfrm>
          <a:prstGeom prst="rect">
            <a:avLst/>
          </a:prstGeom>
          <a:noFill/>
        </p:spPr>
        <p:txBody>
          <a:bodyPr wrap="square" lIns="0" tIns="0" rIns="0" bIns="0" anchor="t">
            <a:spAutoFit/>
          </a:bodyPr>
          <a:lstStyle/>
          <a:p>
            <a:pPr algn="ctr">
              <a:lnSpc>
                <a:spcPct val="130000"/>
              </a:lnSpc>
            </a:pPr>
            <a:r>
              <a:rPr sz="1050" b="1">
                <a:solidFill>
                  <a:srgbClr val="000000"/>
                </a:solidFill>
                <a:latin typeface="Source Han Sans SC"/>
              </a:rPr>
              <a:t>[ success</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the ball rolled to one side</a:t>
            </a:r>
          </a:p>
        </p:txBody>
      </p:sp>
      <p:sp>
        <p:nvSpPr>
          <p:cNvPr id="11" name="TextBox 10"/>
          <p:cNvSpPr txBox="1"/>
          <p:nvPr/>
        </p:nvSpPr>
        <p:spPr>
          <a:xfrm>
            <a:off x="5669280" y="2487168"/>
            <a:ext cx="2907792" cy="228600"/>
          </a:xfrm>
          <a:prstGeom prst="rect">
            <a:avLst/>
          </a:prstGeom>
          <a:noFill/>
        </p:spPr>
        <p:txBody>
          <a:bodyPr wrap="square" lIns="0" tIns="0" rIns="0" bIns="0" anchor="t">
            <a:spAutoFit/>
          </a:bodyPr>
          <a:lstStyle/>
          <a:p>
            <a:pPr algn="ctr">
              <a:lnSpc>
                <a:spcPct val="100000"/>
              </a:lnSpc>
            </a:pPr>
            <a:r>
              <a:rPr sz="950" b="1">
                <a:solidFill>
                  <a:srgbClr val="000000"/>
                </a:solidFill>
                <a:latin typeface="Source Han Sans SC"/>
              </a:rPr>
              <a:t>this is what success looks like</a:t>
            </a:r>
          </a:p>
        </p:txBody>
      </p:sp>
      <p:sp>
        <p:nvSpPr>
          <p:cNvPr id="12" name="TextBox 11"/>
          <p:cNvSpPr txBox="1"/>
          <p:nvPr/>
        </p:nvSpPr>
        <p:spPr>
          <a:xfrm>
            <a:off x="566928" y="3063240"/>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Tilt it, and the ball rolls downhill.</a:t>
            </a:r>
          </a:p>
        </p:txBody>
      </p:sp>
      <p:sp>
        <p:nvSpPr>
          <p:cNvPr id="13" name="TextBox 12"/>
          <p:cNvSpPr txBox="1"/>
          <p:nvPr/>
        </p:nvSpPr>
        <p:spPr>
          <a:xfrm>
            <a:off x="566928" y="3447288"/>
            <a:ext cx="8010144" cy="320040"/>
          </a:xfrm>
          <a:prstGeom prst="rect">
            <a:avLst/>
          </a:prstGeom>
          <a:noFill/>
        </p:spPr>
        <p:txBody>
          <a:bodyPr wrap="square" lIns="0" tIns="0" rIns="0" bIns="0" anchor="t">
            <a:spAutoFit/>
          </a:bodyPr>
          <a:lstStyle/>
          <a:p>
            <a:pPr algn="ctr">
              <a:lnSpc>
                <a:spcPct val="100000"/>
              </a:lnSpc>
            </a:pPr>
            <a:r>
              <a:rPr sz="1400" b="0">
                <a:solidFill>
                  <a:srgbClr val="000000"/>
                </a:solidFill>
                <a:latin typeface="Source Han Sans SC"/>
              </a:rPr>
              <a:t>Shake detection, fall alarms — this is the one.</a:t>
            </a:r>
          </a:p>
        </p:txBody>
      </p:sp>
      <p:sp>
        <p:nvSpPr>
          <p:cNvPr id="14" name="Rectangle 13"/>
          <p:cNvSpPr/>
          <p:nvPr/>
        </p:nvSpPr>
        <p:spPr>
          <a:xfrm>
            <a:off x="566928" y="3931920"/>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041648"/>
            <a:ext cx="7680960" cy="557784"/>
          </a:xfrm>
          <a:prstGeom prst="rect">
            <a:avLst/>
          </a:prstGeom>
          <a:noFill/>
        </p:spPr>
        <p:txBody>
          <a:bodyPr wrap="square" lIns="0" tIns="0" rIns="0" bIns="0" anchor="t">
            <a:spAutoFit/>
          </a:bodyPr>
          <a:lstStyle/>
          <a:p>
            <a:pPr algn="l">
              <a:lnSpc>
                <a:spcPct val="125000"/>
              </a:lnSpc>
            </a:pPr>
            <a:r>
              <a:rPr sz="1150" b="0">
                <a:solidFill>
                  <a:srgbClr val="000000"/>
                </a:solidFill>
                <a:latin typeface="Source Han Sans SC"/>
              </a:rPr>
              <a:t>"I lit up:  [ ] buttons  [ ] joystick  [ ] microphone  [ ] light  [ ] accelerometer;  what surprised me most was ___ because ___."</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13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One Idea, Two Ways of Saying It</a:t>
            </a:r>
          </a:p>
        </p:txBody>
      </p:sp>
      <p:sp>
        <p:nvSpPr>
          <p:cNvPr id="6" name="Rectangle 5"/>
          <p:cNvSpPr/>
          <p:nvPr/>
        </p:nvSpPr>
        <p:spPr>
          <a:xfrm>
            <a:off x="566928" y="1207008"/>
            <a:ext cx="3749039" cy="1645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16736"/>
            <a:ext cx="3419856" cy="274320"/>
          </a:xfrm>
          <a:prstGeom prst="rect">
            <a:avLst/>
          </a:prstGeom>
          <a:noFill/>
        </p:spPr>
        <p:txBody>
          <a:bodyPr wrap="square" lIns="0" tIns="0" rIns="0" bIns="0" anchor="t">
            <a:spAutoFit/>
          </a:bodyPr>
          <a:lstStyle/>
          <a:p>
            <a:pPr algn="l">
              <a:lnSpc>
                <a:spcPct val="100000"/>
              </a:lnSpc>
            </a:pPr>
            <a:r>
              <a:rPr sz="1300" b="1">
                <a:solidFill>
                  <a:srgbClr val="000000"/>
                </a:solidFill>
                <a:latin typeface="Source Code Pro"/>
              </a:rPr>
              <a:t>"Make a counter screen."</a:t>
            </a:r>
          </a:p>
        </p:txBody>
      </p:sp>
      <p:sp>
        <p:nvSpPr>
          <p:cNvPr id="8" name="TextBox 7"/>
          <p:cNvSpPr txBox="1"/>
          <p:nvPr/>
        </p:nvSpPr>
        <p:spPr>
          <a:xfrm>
            <a:off x="731520" y="1737360"/>
            <a:ext cx="3419856" cy="502920"/>
          </a:xfrm>
          <a:prstGeom prst="rect">
            <a:avLst/>
          </a:prstGeom>
          <a:noFill/>
        </p:spPr>
        <p:txBody>
          <a:bodyPr wrap="square" lIns="0" tIns="0" rIns="0" bIns="0" anchor="t">
            <a:spAutoFit/>
          </a:bodyPr>
          <a:lstStyle/>
          <a:p>
            <a:pPr algn="l">
              <a:lnSpc>
                <a:spcPct val="100000"/>
              </a:lnSpc>
            </a:pPr>
            <a:r>
              <a:rPr sz="1150" b="0">
                <a:solidFill>
                  <a:srgbClr val="000000"/>
                </a:solidFill>
                <a:latin typeface="Source Han Sans SC"/>
              </a:rPr>
              <a:t>-&gt;  what AI freely gives you</a:t>
            </a:r>
          </a:p>
        </p:txBody>
      </p:sp>
      <p:sp>
        <p:nvSpPr>
          <p:cNvPr id="9" name="TextBox 8"/>
          <p:cNvSpPr txBox="1"/>
          <p:nvPr/>
        </p:nvSpPr>
        <p:spPr>
          <a:xfrm>
            <a:off x="731520" y="2286000"/>
            <a:ext cx="3419856" cy="457200"/>
          </a:xfrm>
          <a:prstGeom prst="rect">
            <a:avLst/>
          </a:prstGeom>
          <a:noFill/>
        </p:spPr>
        <p:txBody>
          <a:bodyPr wrap="square" lIns="0" tIns="0" rIns="0" bIns="0" anchor="t">
            <a:spAutoFit/>
          </a:bodyPr>
          <a:lstStyle/>
          <a:p>
            <a:pPr algn="ctr">
              <a:lnSpc>
                <a:spcPct val="100000"/>
              </a:lnSpc>
            </a:pPr>
            <a:r>
              <a:rPr sz="1050" b="0">
                <a:solidFill>
                  <a:srgbClr val="000000"/>
                </a:solidFill>
                <a:latin typeface="Source Han Sans SC"/>
              </a:rPr>
              <a:t>[ screenshot: vague result ]</a:t>
            </a:r>
          </a:p>
        </p:txBody>
      </p:sp>
      <p:sp>
        <p:nvSpPr>
          <p:cNvPr id="10" name="TextBox 9"/>
          <p:cNvSpPr txBox="1"/>
          <p:nvPr/>
        </p:nvSpPr>
        <p:spPr>
          <a:xfrm>
            <a:off x="4279392" y="1828800"/>
            <a:ext cx="274320" cy="457200"/>
          </a:xfrm>
          <a:prstGeom prst="rect">
            <a:avLst/>
          </a:prstGeom>
          <a:noFill/>
        </p:spPr>
        <p:txBody>
          <a:bodyPr wrap="square" lIns="0" tIns="0" rIns="0" bIns="0" anchor="t">
            <a:spAutoFit/>
          </a:bodyPr>
          <a:lstStyle/>
          <a:p>
            <a:pPr algn="ctr">
              <a:lnSpc>
                <a:spcPct val="100000"/>
              </a:lnSpc>
            </a:pPr>
            <a:r>
              <a:rPr sz="2000" b="1">
                <a:solidFill>
                  <a:srgbClr val="000000"/>
                </a:solidFill>
                <a:latin typeface="Source Han Sans SC"/>
              </a:rPr>
              <a:t>&lt;-</a:t>
            </a:r>
          </a:p>
        </p:txBody>
      </p:sp>
      <p:sp>
        <p:nvSpPr>
          <p:cNvPr id="11" name="Rectangle 10"/>
          <p:cNvSpPr/>
          <p:nvPr/>
        </p:nvSpPr>
        <p:spPr>
          <a:xfrm>
            <a:off x="4572000" y="1207008"/>
            <a:ext cx="4023360" cy="1645920"/>
          </a:xfrm>
          <a:prstGeom prst="rect">
            <a:avLst/>
          </a:prstGeom>
          <a:solidFill>
            <a:srgbClr val="F5F5F5"/>
          </a:solidFill>
          <a:ln w="38100">
            <a:solidFill>
              <a:srgbClr val="F3D2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36592" y="1316736"/>
            <a:ext cx="3694176" cy="1417320"/>
          </a:xfrm>
          <a:prstGeom prst="rect">
            <a:avLst/>
          </a:prstGeom>
          <a:noFill/>
        </p:spPr>
        <p:txBody>
          <a:bodyPr wrap="square" lIns="0" tIns="0" rIns="0" bIns="0" anchor="t">
            <a:spAutoFit/>
          </a:bodyPr>
          <a:lstStyle/>
          <a:p>
            <a:pPr algn="l">
              <a:lnSpc>
                <a:spcPct val="125000"/>
              </a:lnSpc>
            </a:pPr>
            <a:r>
              <a:rPr sz="1050" b="0">
                <a:solidFill>
                  <a:srgbClr val="000000"/>
                </a:solidFill>
                <a:latin typeface="Source Code Pro"/>
              </a:rPr>
              <a:t>"Show a number in the largest text</a:t>
            </a:r>
          </a:p>
          <a:p>
            <a:pPr algn="l">
              <a:lnSpc>
                <a:spcPct val="125000"/>
              </a:lnSpc>
            </a:pPr>
            <a:r>
              <a:rPr sz="1050" b="0">
                <a:solidFill>
                  <a:srgbClr val="000000"/>
                </a:solidFill>
                <a:latin typeface="Source Code Pro"/>
              </a:rPr>
              <a:t>in the center of the screen; show</a:t>
            </a:r>
          </a:p>
          <a:p>
            <a:pPr algn="l">
              <a:lnSpc>
                <a:spcPct val="125000"/>
              </a:lnSpc>
            </a:pPr>
            <a:r>
              <a:rPr sz="1050" b="0">
                <a:solidFill>
                  <a:srgbClr val="000000"/>
                </a:solidFill>
                <a:latin typeface="Source Code Pro"/>
              </a:rPr>
              <a:t>COUNTER in small text at the top-</a:t>
            </a:r>
          </a:p>
          <a:p>
            <a:pPr algn="l">
              <a:lnSpc>
                <a:spcPct val="125000"/>
              </a:lnSpc>
            </a:pPr>
            <a:r>
              <a:rPr sz="1050" b="0">
                <a:solidFill>
                  <a:srgbClr val="000000"/>
                </a:solidFill>
                <a:latin typeface="Source Code Pro"/>
              </a:rPr>
              <a:t>left; make the number red."</a:t>
            </a:r>
          </a:p>
          <a:p>
            <a:pPr algn="l">
              <a:lnSpc>
                <a:spcPct val="125000"/>
              </a:lnSpc>
            </a:pPr>
            <a:r>
              <a:rPr sz="1150" b="1">
                <a:solidFill>
                  <a:srgbClr val="000000"/>
                </a:solidFill>
                <a:latin typeface="Source Han Sans SC"/>
              </a:rPr>
              <a:t>-&gt;  the precise result</a:t>
            </a:r>
          </a:p>
        </p:txBody>
      </p:sp>
      <p:sp>
        <p:nvSpPr>
          <p:cNvPr id="13" name="TextBox 12"/>
          <p:cNvSpPr txBox="1"/>
          <p:nvPr/>
        </p:nvSpPr>
        <p:spPr>
          <a:xfrm>
            <a:off x="566928" y="3017520"/>
            <a:ext cx="8010144" cy="457200"/>
          </a:xfrm>
          <a:prstGeom prst="rect">
            <a:avLst/>
          </a:prstGeom>
          <a:noFill/>
        </p:spPr>
        <p:txBody>
          <a:bodyPr wrap="square" lIns="0" tIns="0" rIns="0" bIns="0" anchor="t">
            <a:spAutoFit/>
          </a:bodyPr>
          <a:lstStyle/>
          <a:p>
            <a:pPr algn="ctr">
              <a:lnSpc>
                <a:spcPct val="100000"/>
              </a:lnSpc>
            </a:pPr>
            <a:r>
              <a:rPr sz="2600" b="1">
                <a:solidFill>
                  <a:srgbClr val="000000"/>
                </a:solidFill>
                <a:latin typeface="Source Han Sans SC"/>
              </a:rPr>
              <a:t>POSITION   ·   SIZE   ·   COLOR</a:t>
            </a:r>
          </a:p>
        </p:txBody>
      </p:sp>
      <p:sp>
        <p:nvSpPr>
          <p:cNvPr id="14" name="Rectangle 13"/>
          <p:cNvSpPr/>
          <p:nvPr/>
        </p:nvSpPr>
        <p:spPr>
          <a:xfrm>
            <a:off x="566928" y="3703320"/>
            <a:ext cx="8010144" cy="8686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03904"/>
            <a:ext cx="7680960" cy="685800"/>
          </a:xfrm>
          <a:prstGeom prst="rect">
            <a:avLst/>
          </a:prstGeom>
          <a:noFill/>
        </p:spPr>
        <p:txBody>
          <a:bodyPr wrap="square" lIns="0" tIns="0" rIns="0" bIns="0" anchor="t">
            <a:spAutoFit/>
          </a:bodyPr>
          <a:lstStyle/>
          <a:p>
            <a:pPr algn="l">
              <a:lnSpc>
                <a:spcPct val="135000"/>
              </a:lnSpc>
            </a:pPr>
            <a:r>
              <a:rPr sz="1250" b="1">
                <a:solidFill>
                  <a:srgbClr val="000000"/>
                </a:solidFill>
                <a:latin typeface="Source Han Sans SC"/>
              </a:rPr>
              <a:t>How to describe a screen:</a:t>
            </a:r>
          </a:p>
          <a:p>
            <a:pPr algn="l">
              <a:lnSpc>
                <a:spcPct val="135000"/>
              </a:lnSpc>
            </a:pPr>
            <a:r>
              <a:rPr sz="1250" b="0">
                <a:solidFill>
                  <a:srgbClr val="000000"/>
                </a:solidFill>
                <a:latin typeface="Source Code Pro"/>
              </a:rPr>
              <a:t>At [position], show [content] in [size/color]; when [action], [change].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14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2600" b="1">
                <a:solidFill>
                  <a:srgbClr val="000000"/>
                </a:solidFill>
                <a:latin typeface="Source Han Sans SC"/>
              </a:rPr>
              <a:t>Follow-Along: The Button Counter — Two Steps on Purpose</a:t>
            </a:r>
          </a:p>
        </p:txBody>
      </p:sp>
      <p:sp>
        <p:nvSpPr>
          <p:cNvPr id="6" name="TextBox 5"/>
          <p:cNvSpPr txBox="1"/>
          <p:nvPr/>
        </p:nvSpPr>
        <p:spPr>
          <a:xfrm>
            <a:off x="566928" y="1078992"/>
            <a:ext cx="8010144" cy="274320"/>
          </a:xfrm>
          <a:prstGeom prst="rect">
            <a:avLst/>
          </a:prstGeom>
          <a:noFill/>
        </p:spPr>
        <p:txBody>
          <a:bodyPr wrap="square" lIns="0" tIns="0" rIns="0" bIns="0" anchor="t">
            <a:spAutoFit/>
          </a:bodyPr>
          <a:lstStyle/>
          <a:p>
            <a:pPr algn="l">
              <a:lnSpc>
                <a:spcPct val="100000"/>
              </a:lnSpc>
            </a:pPr>
            <a:r>
              <a:rPr sz="1400" b="1">
                <a:solidFill>
                  <a:srgbClr val="000000"/>
                </a:solidFill>
                <a:latin typeface="Source Han Sans SC"/>
              </a:rPr>
              <a:t>STEP 1 · The screen only:</a:t>
            </a:r>
          </a:p>
        </p:txBody>
      </p:sp>
      <p:sp>
        <p:nvSpPr>
          <p:cNvPr id="7" name="Rectangle 6"/>
          <p:cNvSpPr/>
          <p:nvPr/>
        </p:nvSpPr>
        <p:spPr>
          <a:xfrm>
            <a:off x="566928" y="1371600"/>
            <a:ext cx="8010144" cy="713232"/>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81328"/>
            <a:ext cx="7680960" cy="530352"/>
          </a:xfrm>
          <a:prstGeom prst="rect">
            <a:avLst/>
          </a:prstGeom>
          <a:noFill/>
        </p:spPr>
        <p:txBody>
          <a:bodyPr wrap="square" lIns="0" tIns="0" rIns="0" bIns="0" anchor="t">
            <a:spAutoFit/>
          </a:bodyPr>
          <a:lstStyle/>
          <a:p>
            <a:pPr algn="l">
              <a:lnSpc>
                <a:spcPct val="130000"/>
              </a:lnSpc>
            </a:pPr>
            <a:r>
              <a:rPr sz="1150" b="0">
                <a:solidFill>
                  <a:srgbClr val="000000"/>
                </a:solidFill>
                <a:latin typeface="Source Code Pro"/>
              </a:rPr>
              <a:t>Show the number 0 in the largest text in the center of the screen, and COUNTER in small text at the top-left.   -&gt;  Flash it, look at it.</a:t>
            </a:r>
          </a:p>
        </p:txBody>
      </p:sp>
      <p:sp>
        <p:nvSpPr>
          <p:cNvPr id="9" name="TextBox 8"/>
          <p:cNvSpPr txBox="1"/>
          <p:nvPr/>
        </p:nvSpPr>
        <p:spPr>
          <a:xfrm>
            <a:off x="566928" y="2240280"/>
            <a:ext cx="8010144" cy="274320"/>
          </a:xfrm>
          <a:prstGeom prst="rect">
            <a:avLst/>
          </a:prstGeom>
          <a:noFill/>
        </p:spPr>
        <p:txBody>
          <a:bodyPr wrap="square" lIns="0" tIns="0" rIns="0" bIns="0" anchor="t">
            <a:spAutoFit/>
          </a:bodyPr>
          <a:lstStyle/>
          <a:p>
            <a:pPr algn="l">
              <a:lnSpc>
                <a:spcPct val="100000"/>
              </a:lnSpc>
            </a:pPr>
            <a:r>
              <a:rPr sz="1400" b="1">
                <a:solidFill>
                  <a:srgbClr val="000000"/>
                </a:solidFill>
                <a:latin typeface="Source Han Sans SC"/>
              </a:rPr>
              <a:t>STEP 2 · The behavior:</a:t>
            </a:r>
          </a:p>
        </p:txBody>
      </p:sp>
      <p:sp>
        <p:nvSpPr>
          <p:cNvPr id="10" name="Rectangle 9"/>
          <p:cNvSpPr/>
          <p:nvPr/>
        </p:nvSpPr>
        <p:spPr>
          <a:xfrm>
            <a:off x="566928" y="2532888"/>
            <a:ext cx="8010144" cy="9601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642616"/>
            <a:ext cx="7680960" cy="777240"/>
          </a:xfrm>
          <a:prstGeom prst="rect">
            <a:avLst/>
          </a:prstGeom>
          <a:noFill/>
        </p:spPr>
        <p:txBody>
          <a:bodyPr wrap="square" lIns="0" tIns="0" rIns="0" bIns="0" anchor="t">
            <a:spAutoFit/>
          </a:bodyPr>
          <a:lstStyle/>
          <a:p>
            <a:pPr algn="l">
              <a:lnSpc>
                <a:spcPct val="135000"/>
              </a:lnSpc>
            </a:pPr>
            <a:r>
              <a:rPr sz="1150" b="0">
                <a:solidFill>
                  <a:srgbClr val="000000"/>
                </a:solidFill>
                <a:latin typeface="Source Code Pro"/>
              </a:rPr>
              <a:t>When I press button A, add one to the number; when I press B, reset to zero.</a:t>
            </a:r>
          </a:p>
          <a:p>
            <a:pPr algn="l">
              <a:lnSpc>
                <a:spcPct val="135000"/>
              </a:lnSpc>
            </a:pPr>
            <a:r>
              <a:rPr sz="1150" b="0">
                <a:solidFill>
                  <a:srgbClr val="000000"/>
                </a:solidFill>
                <a:latin typeface="Source Code Pro"/>
              </a:rPr>
              <a:t>-&gt; Flash again — then one more line: "Every time the count reaches 10, the buzzer beeps once to celebrate."</a:t>
            </a:r>
          </a:p>
        </p:txBody>
      </p:sp>
      <p:sp>
        <p:nvSpPr>
          <p:cNvPr id="12" name="Rectangle 11"/>
          <p:cNvSpPr/>
          <p:nvPr/>
        </p:nvSpPr>
        <p:spPr>
          <a:xfrm>
            <a:off x="566928" y="3703320"/>
            <a:ext cx="8010144"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813048"/>
            <a:ext cx="7680960" cy="649224"/>
          </a:xfrm>
          <a:prstGeom prst="rect">
            <a:avLst/>
          </a:prstGeom>
          <a:noFill/>
        </p:spPr>
        <p:txBody>
          <a:bodyPr wrap="square" lIns="0" tIns="0" rIns="0" bIns="0" anchor="t">
            <a:spAutoFit/>
          </a:bodyPr>
          <a:lstStyle/>
          <a:p>
            <a:pPr algn="l">
              <a:lnSpc>
                <a:spcPct val="125000"/>
              </a:lnSpc>
            </a:pPr>
            <a:r>
              <a:rPr sz="1300" b="0">
                <a:solidFill>
                  <a:srgbClr val="000000"/>
                </a:solidFill>
                <a:latin typeface="Source Han Sans SC"/>
              </a:rPr>
              <a:t>First describe the looks, then the actions — it doesn't get confused.</a:t>
            </a:r>
          </a:p>
          <a:p>
            <a:pPr algn="l">
              <a:lnSpc>
                <a:spcPct val="125000"/>
              </a:lnSpc>
            </a:pPr>
            <a:r>
              <a:rPr sz="1300" b="0">
                <a:solidFill>
                  <a:srgbClr val="000000"/>
                </a:solidFill>
                <a:latin typeface="Source Han Sans SC"/>
              </a:rPr>
              <a:t>Buttons not responding? "No response? Slide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15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2600" b="1">
                <a:solidFill>
                  <a:srgbClr val="000000"/>
                </a:solidFill>
                <a:latin typeface="Source Han Sans SC"/>
              </a:rPr>
              <a:t>Free Round — Make Something With Two Screens</a:t>
            </a:r>
          </a:p>
        </p:txBody>
      </p:sp>
      <p:sp>
        <p:nvSpPr>
          <p:cNvPr id="6" name="TextBox 5"/>
          <p:cNvSpPr txBox="1"/>
          <p:nvPr/>
        </p:nvSpPr>
        <p:spPr>
          <a:xfrm>
            <a:off x="566928" y="1024128"/>
            <a:ext cx="8010144" cy="320040"/>
          </a:xfrm>
          <a:prstGeom prst="rect">
            <a:avLst/>
          </a:prstGeom>
          <a:noFill/>
        </p:spPr>
        <p:txBody>
          <a:bodyPr wrap="square" lIns="0" tIns="0" rIns="0" bIns="0" anchor="t">
            <a:spAutoFit/>
          </a:bodyPr>
          <a:lstStyle/>
          <a:p>
            <a:pPr algn="ctr">
              <a:lnSpc>
                <a:spcPct val="100000"/>
              </a:lnSpc>
            </a:pPr>
            <a:r>
              <a:rPr sz="1500" b="1">
                <a:solidFill>
                  <a:srgbClr val="000000"/>
                </a:solidFill>
                <a:latin typeface="Source Han Sans SC"/>
              </a:rPr>
              <a:t>Switch between them with a button or the joystick.</a:t>
            </a:r>
          </a:p>
        </p:txBody>
      </p:sp>
      <p:sp>
        <p:nvSpPr>
          <p:cNvPr id="7" name="TextBox 6"/>
          <p:cNvSpPr txBox="1"/>
          <p:nvPr/>
        </p:nvSpPr>
        <p:spPr>
          <a:xfrm>
            <a:off x="566928" y="1463040"/>
            <a:ext cx="8010144" cy="256032"/>
          </a:xfrm>
          <a:prstGeom prst="rect">
            <a:avLst/>
          </a:prstGeom>
          <a:noFill/>
        </p:spPr>
        <p:txBody>
          <a:bodyPr wrap="square" lIns="0" tIns="0" rIns="0" bIns="0" anchor="t">
            <a:spAutoFit/>
          </a:bodyPr>
          <a:lstStyle/>
          <a:p>
            <a:pPr algn="ctr">
              <a:lnSpc>
                <a:spcPct val="100000"/>
              </a:lnSpc>
            </a:pPr>
            <a:r>
              <a:rPr sz="1200" b="0">
                <a:solidFill>
                  <a:srgbClr val="000000"/>
                </a:solidFill>
                <a:latin typeface="Source Han Sans SC"/>
              </a:rPr>
              <a:t>Buttons · Joystick · Microphone · Light · Accelerometer — pick what's comfortable.</a:t>
            </a:r>
          </a:p>
        </p:txBody>
      </p:sp>
      <p:sp>
        <p:nvSpPr>
          <p:cNvPr id="8" name="Rectangle 7"/>
          <p:cNvSpPr/>
          <p:nvPr/>
        </p:nvSpPr>
        <p:spPr>
          <a:xfrm>
            <a:off x="566928" y="1828800"/>
            <a:ext cx="1517904"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947672"/>
            <a:ext cx="1517904"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Clock</a:t>
            </a:r>
          </a:p>
        </p:txBody>
      </p:sp>
      <p:sp>
        <p:nvSpPr>
          <p:cNvPr id="10" name="Rectangle 9"/>
          <p:cNvSpPr/>
          <p:nvPr/>
        </p:nvSpPr>
        <p:spPr>
          <a:xfrm>
            <a:off x="2176272" y="1828800"/>
            <a:ext cx="1517904"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6272" y="1947672"/>
            <a:ext cx="1517904"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Mood display</a:t>
            </a:r>
          </a:p>
        </p:txBody>
      </p:sp>
      <p:sp>
        <p:nvSpPr>
          <p:cNvPr id="12" name="Rectangle 11"/>
          <p:cNvSpPr/>
          <p:nvPr/>
        </p:nvSpPr>
        <p:spPr>
          <a:xfrm>
            <a:off x="3785615" y="1828800"/>
            <a:ext cx="1517904"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85615" y="1947672"/>
            <a:ext cx="1517904"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Stopwatch</a:t>
            </a:r>
          </a:p>
        </p:txBody>
      </p:sp>
      <p:sp>
        <p:nvSpPr>
          <p:cNvPr id="14" name="Rectangle 13"/>
          <p:cNvSpPr/>
          <p:nvPr/>
        </p:nvSpPr>
        <p:spPr>
          <a:xfrm>
            <a:off x="5394960" y="1828800"/>
            <a:ext cx="1517904"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94960" y="1947672"/>
            <a:ext cx="1517904"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Your own menu</a:t>
            </a:r>
          </a:p>
        </p:txBody>
      </p:sp>
      <p:sp>
        <p:nvSpPr>
          <p:cNvPr id="16" name="Rectangle 15"/>
          <p:cNvSpPr/>
          <p:nvPr/>
        </p:nvSpPr>
        <p:spPr>
          <a:xfrm>
            <a:off x="7004304" y="1828800"/>
            <a:ext cx="1517904"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04304" y="1947672"/>
            <a:ext cx="1517904" cy="274320"/>
          </a:xfrm>
          <a:prstGeom prst="rect">
            <a:avLst/>
          </a:prstGeom>
          <a:noFill/>
        </p:spPr>
        <p:txBody>
          <a:bodyPr wrap="square" lIns="0" tIns="0" rIns="0" bIns="0" anchor="t">
            <a:spAutoFit/>
          </a:bodyPr>
          <a:lstStyle/>
          <a:p>
            <a:pPr algn="ctr">
              <a:lnSpc>
                <a:spcPct val="100000"/>
              </a:lnSpc>
            </a:pPr>
            <a:r>
              <a:rPr sz="1150" b="1">
                <a:solidFill>
                  <a:srgbClr val="000000"/>
                </a:solidFill>
                <a:latin typeface="Source Han Sans SC"/>
              </a:rPr>
              <a:t>Reaction tester</a:t>
            </a:r>
          </a:p>
        </p:txBody>
      </p:sp>
      <p:sp>
        <p:nvSpPr>
          <p:cNvPr id="18" name="TextBox 17"/>
          <p:cNvSpPr txBox="1"/>
          <p:nvPr/>
        </p:nvSpPr>
        <p:spPr>
          <a:xfrm>
            <a:off x="566928" y="2423160"/>
            <a:ext cx="8010144" cy="256032"/>
          </a:xfrm>
          <a:prstGeom prst="rect">
            <a:avLst/>
          </a:prstGeom>
          <a:noFill/>
        </p:spPr>
        <p:txBody>
          <a:bodyPr wrap="square" lIns="0" tIns="0" rIns="0" bIns="0" anchor="t">
            <a:spAutoFit/>
          </a:bodyPr>
          <a:lstStyle/>
          <a:p>
            <a:pPr algn="ctr">
              <a:lnSpc>
                <a:spcPct val="100000"/>
              </a:lnSpc>
            </a:pPr>
            <a:r>
              <a:rPr sz="1050" b="0">
                <a:solidFill>
                  <a:srgbClr val="000000"/>
                </a:solidFill>
                <a:latin typeface="Source Han Sans SC"/>
              </a:rPr>
              <a:t>(screen turns green -&gt; press A -&gt; shows your milliseconds — naturally two screens; content in English, numbers or graphics)</a:t>
            </a:r>
          </a:p>
        </p:txBody>
      </p:sp>
      <p:sp>
        <p:nvSpPr>
          <p:cNvPr id="19" name="Rectangle 18"/>
          <p:cNvSpPr/>
          <p:nvPr/>
        </p:nvSpPr>
        <p:spPr>
          <a:xfrm>
            <a:off x="566928" y="2834640"/>
            <a:ext cx="8010144" cy="10972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944368"/>
            <a:ext cx="7680960" cy="292608"/>
          </a:xfrm>
          <a:prstGeom prst="rect">
            <a:avLst/>
          </a:prstGeom>
          <a:noFill/>
        </p:spPr>
        <p:txBody>
          <a:bodyPr wrap="square" lIns="0" tIns="0" rIns="0" bIns="0" anchor="t">
            <a:spAutoFit/>
          </a:bodyPr>
          <a:lstStyle/>
          <a:p>
            <a:pPr algn="l">
              <a:lnSpc>
                <a:spcPct val="100000"/>
              </a:lnSpc>
            </a:pPr>
            <a:r>
              <a:rPr sz="1500" b="1">
                <a:solidFill>
                  <a:srgbClr val="000000"/>
                </a:solidFill>
                <a:latin typeface="Source Han Sans SC"/>
              </a:rPr>
              <a:t>Old discipline:</a:t>
            </a:r>
          </a:p>
        </p:txBody>
      </p:sp>
      <p:sp>
        <p:nvSpPr>
          <p:cNvPr id="21" name="TextBox 20"/>
          <p:cNvSpPr txBox="1"/>
          <p:nvPr/>
        </p:nvSpPr>
        <p:spPr>
          <a:xfrm>
            <a:off x="731520" y="3273552"/>
            <a:ext cx="7680960" cy="512063"/>
          </a:xfrm>
          <a:prstGeom prst="rect">
            <a:avLst/>
          </a:prstGeom>
          <a:noFill/>
        </p:spPr>
        <p:txBody>
          <a:bodyPr wrap="square" lIns="0" tIns="0" rIns="0" bIns="0" anchor="t">
            <a:spAutoFit/>
          </a:bodyPr>
          <a:lstStyle/>
          <a:p>
            <a:pPr algn="l">
              <a:lnSpc>
                <a:spcPct val="125000"/>
              </a:lnSpc>
            </a:pPr>
            <a:r>
              <a:rPr sz="1300" b="0">
                <a:solidFill>
                  <a:srgbClr val="000000"/>
                </a:solidFill>
                <a:latin typeface="Source Han Sans SC"/>
              </a:rPr>
              <a:t>Tell your neighbor what your two screens each look like — position, size, color, said clearly — BEFORE you talk to AI.</a:t>
            </a:r>
          </a:p>
        </p:txBody>
      </p:sp>
      <p:sp>
        <p:nvSpPr>
          <p:cNvPr id="22" name="Rectangle 21"/>
          <p:cNvSpPr/>
          <p:nvPr/>
        </p:nvSpPr>
        <p:spPr>
          <a:xfrm>
            <a:off x="566928" y="406908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 y="4087368"/>
            <a:ext cx="7808975" cy="438912"/>
          </a:xfrm>
          <a:prstGeom prst="rect">
            <a:avLst/>
          </a:prstGeom>
          <a:noFill/>
        </p:spPr>
        <p:txBody>
          <a:bodyPr wrap="square" lIns="0" tIns="0" rIns="0" bIns="0" anchor="t">
            <a:spAutoFit/>
          </a:bodyPr>
          <a:lstStyle/>
          <a:p>
            <a:pPr algn="l">
              <a:lnSpc>
                <a:spcPct val="115000"/>
              </a:lnSpc>
            </a:pPr>
            <a:r>
              <a:rPr sz="1300" b="0">
                <a:solidFill>
                  <a:srgbClr val="000000"/>
                </a:solidFill>
                <a:latin typeface="Source Han Sans SC"/>
              </a:rPr>
              <a:t>Write in your workbook — "the sentence I said to AI about my screen": your proudest description.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16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000" b="1">
                <a:solidFill>
                  <a:srgbClr val="000000"/>
                </a:solidFill>
                <a:latin typeface="Source Han Sans SC"/>
              </a:rPr>
              <a:t>Whole Room — Come Look at a Treasure</a:t>
            </a:r>
          </a:p>
        </p:txBody>
      </p:sp>
      <p:sp>
        <p:nvSpPr>
          <p:cNvPr id="6" name="Rectangle 5"/>
          <p:cNvSpPr/>
          <p:nvPr/>
        </p:nvSpPr>
        <p:spPr>
          <a:xfrm>
            <a:off x="566928" y="1234440"/>
            <a:ext cx="3931920" cy="17373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71600"/>
            <a:ext cx="3602736" cy="1463040"/>
          </a:xfrm>
          <a:prstGeom prst="rect">
            <a:avLst/>
          </a:prstGeom>
          <a:noFill/>
        </p:spPr>
        <p:txBody>
          <a:bodyPr wrap="square" lIns="0" tIns="0" rIns="0" bIns="0" anchor="t">
            <a:spAutoFit/>
          </a:bodyPr>
          <a:lstStyle/>
          <a:p>
            <a:pPr algn="ctr">
              <a:lnSpc>
                <a:spcPct val="140000"/>
              </a:lnSpc>
            </a:pPr>
            <a:r>
              <a:rPr sz="1100" b="1">
                <a:solidFill>
                  <a:srgbClr val="000000"/>
                </a:solidFill>
                <a:latin typeface="Source Han Sans SC"/>
              </a:rPr>
              <a:t>[ drift case</a:t>
            </a:r>
          </a:p>
          <a:p>
            <a:pPr algn="ctr">
              <a:lnSpc>
                <a:spcPct val="140000"/>
              </a:lnSpc>
            </a:pPr>
            <a:r>
              <a:rPr sz="1100" b="1">
                <a:solidFill>
                  <a:srgbClr val="000000"/>
                </a:solidFill>
                <a:latin typeface="Source Han Sans SC"/>
              </a:rPr>
              <a:t>screenshot ]</a:t>
            </a:r>
          </a:p>
          <a:p>
            <a:pPr algn="ctr">
              <a:lnSpc>
                <a:spcPct val="140000"/>
              </a:lnSpc>
            </a:pPr>
            <a:r>
              <a:rPr sz="1000" b="0">
                <a:solidFill>
                  <a:srgbClr val="000000"/>
                </a:solidFill>
                <a:latin typeface="Source Han Sans SC"/>
              </a:rPr>
              <a:t>a screen that went off the rails</a:t>
            </a:r>
          </a:p>
          <a:p>
            <a:pPr algn="ctr">
              <a:lnSpc>
                <a:spcPct val="140000"/>
              </a:lnSpc>
            </a:pPr>
            <a:r>
              <a:rPr sz="950" b="0">
                <a:solidFill>
                  <a:srgbClr val="000000"/>
                </a:solidFill>
                <a:latin typeface="Source Han Sans SC"/>
              </a:rPr>
              <a:t>(a student volunteers, or the</a:t>
            </a:r>
          </a:p>
          <a:p>
            <a:pPr algn="ctr">
              <a:lnSpc>
                <a:spcPct val="140000"/>
              </a:lnSpc>
            </a:pPr>
            <a:r>
              <a:rPr sz="950" b="0">
                <a:solidFill>
                  <a:srgbClr val="000000"/>
                </a:solidFill>
                <a:latin typeface="Source Han Sans SC"/>
              </a:rPr>
              <a:t>pre-made Rehearsal-5 case)</a:t>
            </a:r>
          </a:p>
        </p:txBody>
      </p:sp>
      <p:sp>
        <p:nvSpPr>
          <p:cNvPr id="8" name="TextBox 7"/>
          <p:cNvSpPr txBox="1"/>
          <p:nvPr/>
        </p:nvSpPr>
        <p:spPr>
          <a:xfrm>
            <a:off x="4645152" y="1371600"/>
            <a:ext cx="3931920" cy="320040"/>
          </a:xfrm>
          <a:prstGeom prst="rect">
            <a:avLst/>
          </a:prstGeom>
          <a:noFill/>
        </p:spPr>
        <p:txBody>
          <a:bodyPr wrap="square" lIns="0" tIns="0" rIns="0" bIns="0" anchor="t">
            <a:spAutoFit/>
          </a:bodyPr>
          <a:lstStyle/>
          <a:p>
            <a:pPr algn="l">
              <a:lnSpc>
                <a:spcPct val="100000"/>
              </a:lnSpc>
            </a:pPr>
            <a:r>
              <a:rPr sz="1500" b="1">
                <a:solidFill>
                  <a:srgbClr val="000000"/>
                </a:solidFill>
                <a:latin typeface="Source Han Sans SC"/>
              </a:rPr>
              <a:t>They said ___  -&gt;  AI made ___</a:t>
            </a:r>
          </a:p>
        </p:txBody>
      </p:sp>
      <p:sp>
        <p:nvSpPr>
          <p:cNvPr id="9" name="TextBox 8"/>
          <p:cNvSpPr txBox="1"/>
          <p:nvPr/>
        </p:nvSpPr>
        <p:spPr>
          <a:xfrm>
            <a:off x="4645152" y="1783080"/>
            <a:ext cx="3931920" cy="320040"/>
          </a:xfrm>
          <a:prstGeom prst="rect">
            <a:avLst/>
          </a:prstGeom>
          <a:noFill/>
        </p:spPr>
        <p:txBody>
          <a:bodyPr wrap="square" lIns="0" tIns="0" rIns="0" bIns="0" anchor="t">
            <a:spAutoFit/>
          </a:bodyPr>
          <a:lstStyle/>
          <a:p>
            <a:pPr algn="l">
              <a:lnSpc>
                <a:spcPct val="100000"/>
              </a:lnSpc>
            </a:pPr>
            <a:r>
              <a:rPr sz="1500" b="1">
                <a:solidFill>
                  <a:srgbClr val="000000"/>
                </a:solidFill>
                <a:latin typeface="Source Han Sans SC"/>
              </a:rPr>
              <a:t>-&gt;  which sentence went wrong?</a:t>
            </a:r>
          </a:p>
        </p:txBody>
      </p:sp>
      <p:sp>
        <p:nvSpPr>
          <p:cNvPr id="10" name="Rectangle 9"/>
          <p:cNvSpPr/>
          <p:nvPr/>
        </p:nvSpPr>
        <p:spPr>
          <a:xfrm>
            <a:off x="566928" y="3246120"/>
            <a:ext cx="54864" cy="657415"/>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3264408"/>
            <a:ext cx="7808975" cy="620839"/>
          </a:xfrm>
          <a:prstGeom prst="rect">
            <a:avLst/>
          </a:prstGeom>
          <a:noFill/>
        </p:spPr>
        <p:txBody>
          <a:bodyPr wrap="square" lIns="0" tIns="0" rIns="0" bIns="0" anchor="t">
            <a:spAutoFit/>
          </a:bodyPr>
          <a:lstStyle/>
          <a:p>
            <a:pPr algn="l">
              <a:lnSpc>
                <a:spcPct val="115000"/>
              </a:lnSpc>
            </a:pPr>
            <a:r>
              <a:rPr sz="1500" b="0">
                <a:solidFill>
                  <a:srgbClr val="000000"/>
                </a:solidFill>
                <a:latin typeface="Source Han Sans SC"/>
              </a:rPr>
              <a:t>Thank this student — they stepped in the pit so the whole class doesn't have to. A crash isn't a joke; it's teaching material.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17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Three Takeaways for Using It Well</a:t>
            </a:r>
          </a:p>
        </p:txBody>
      </p:sp>
      <p:sp>
        <p:nvSpPr>
          <p:cNvPr id="6" name="Rectangle 5"/>
          <p:cNvSpPr/>
          <p:nvPr/>
        </p:nvSpPr>
        <p:spPr>
          <a:xfrm>
            <a:off x="566928" y="1097280"/>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133856"/>
            <a:ext cx="329184"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969264" y="1097280"/>
            <a:ext cx="7589520" cy="292608"/>
          </a:xfrm>
          <a:prstGeom prst="rect">
            <a:avLst/>
          </a:prstGeom>
          <a:noFill/>
        </p:spPr>
        <p:txBody>
          <a:bodyPr wrap="square" lIns="0" tIns="0" rIns="0" bIns="0" anchor="t">
            <a:spAutoFit/>
          </a:bodyPr>
          <a:lstStyle/>
          <a:p>
            <a:pPr algn="l">
              <a:lnSpc>
                <a:spcPct val="100000"/>
              </a:lnSpc>
            </a:pPr>
            <a:r>
              <a:rPr sz="1350" b="1">
                <a:solidFill>
                  <a:srgbClr val="000000"/>
                </a:solidFill>
                <a:latin typeface="Source Han Sans SC"/>
              </a:rPr>
              <a:t>Describe a screen with position, size and color</a:t>
            </a:r>
          </a:p>
        </p:txBody>
      </p:sp>
      <p:sp>
        <p:nvSpPr>
          <p:cNvPr id="9" name="Rectangle 8"/>
          <p:cNvSpPr/>
          <p:nvPr/>
        </p:nvSpPr>
        <p:spPr>
          <a:xfrm>
            <a:off x="566928" y="1444752"/>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1481328"/>
            <a:ext cx="329184"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969264" y="1444752"/>
            <a:ext cx="7589520" cy="292608"/>
          </a:xfrm>
          <a:prstGeom prst="rect">
            <a:avLst/>
          </a:prstGeom>
          <a:noFill/>
        </p:spPr>
        <p:txBody>
          <a:bodyPr wrap="square" lIns="0" tIns="0" rIns="0" bIns="0" anchor="t">
            <a:spAutoFit/>
          </a:bodyPr>
          <a:lstStyle/>
          <a:p>
            <a:pPr algn="l">
              <a:lnSpc>
                <a:spcPct val="100000"/>
              </a:lnSpc>
            </a:pPr>
            <a:r>
              <a:rPr sz="1350" b="1">
                <a:solidFill>
                  <a:srgbClr val="000000"/>
                </a:solidFill>
                <a:latin typeface="Source Han Sans SC"/>
              </a:rPr>
              <a:t>Make state visible — have the screen show where you are in its steps</a:t>
            </a:r>
          </a:p>
        </p:txBody>
      </p:sp>
      <p:sp>
        <p:nvSpPr>
          <p:cNvPr id="12" name="Rectangle 11"/>
          <p:cNvSpPr/>
          <p:nvPr/>
        </p:nvSpPr>
        <p:spPr>
          <a:xfrm>
            <a:off x="566928" y="1792224"/>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828800"/>
            <a:ext cx="329184"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969264" y="1792224"/>
            <a:ext cx="7589520" cy="292608"/>
          </a:xfrm>
          <a:prstGeom prst="rect">
            <a:avLst/>
          </a:prstGeom>
          <a:noFill/>
        </p:spPr>
        <p:txBody>
          <a:bodyPr wrap="square" lIns="0" tIns="0" rIns="0" bIns="0" anchor="t">
            <a:spAutoFit/>
          </a:bodyPr>
          <a:lstStyle/>
          <a:p>
            <a:pPr algn="l">
              <a:lnSpc>
                <a:spcPct val="100000"/>
              </a:lnSpc>
            </a:pPr>
            <a:r>
              <a:rPr sz="1350" b="1">
                <a:solidFill>
                  <a:srgbClr val="000000"/>
                </a:solidFill>
                <a:latin typeface="Source Han Sans SC"/>
              </a:rPr>
              <a:t>Many inputs? Try combinations — button, joystick, microphone, light, accelerometer</a:t>
            </a:r>
          </a:p>
        </p:txBody>
      </p:sp>
      <p:sp>
        <p:nvSpPr>
          <p:cNvPr id="15" name="TextBox 14"/>
          <p:cNvSpPr txBox="1"/>
          <p:nvPr/>
        </p:nvSpPr>
        <p:spPr>
          <a:xfrm>
            <a:off x="566928" y="2139696"/>
            <a:ext cx="8010144" cy="219456"/>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Circle one takeaway — "the one I used most today was #___".  The log goes into your workbook proofread.</a:t>
            </a:r>
          </a:p>
        </p:txBody>
      </p:sp>
      <p:sp>
        <p:nvSpPr>
          <p:cNvPr id="16" name="TextBox 15"/>
          <p:cNvSpPr txBox="1"/>
          <p:nvPr/>
        </p:nvSpPr>
        <p:spPr>
          <a:xfrm>
            <a:off x="566928" y="2432304"/>
            <a:ext cx="8010144" cy="256032"/>
          </a:xfrm>
          <a:prstGeom prst="rect">
            <a:avLst/>
          </a:prstGeom>
          <a:noFill/>
        </p:spPr>
        <p:txBody>
          <a:bodyPr wrap="square" lIns="0" tIns="0" rIns="0" bIns="0" anchor="t">
            <a:spAutoFit/>
          </a:bodyPr>
          <a:lstStyle/>
          <a:p>
            <a:pPr algn="l">
              <a:lnSpc>
                <a:spcPct val="100000"/>
              </a:lnSpc>
            </a:pPr>
            <a:r>
              <a:rPr sz="1300" b="1">
                <a:solidFill>
                  <a:srgbClr val="000000"/>
                </a:solidFill>
                <a:latin typeface="Source Han Sans SC"/>
              </a:rPr>
              <a:t>Your log, four sentences:</a:t>
            </a:r>
          </a:p>
        </p:txBody>
      </p:sp>
      <p:sp>
        <p:nvSpPr>
          <p:cNvPr id="17" name="Oval 16"/>
          <p:cNvSpPr/>
          <p:nvPr/>
        </p:nvSpPr>
        <p:spPr>
          <a:xfrm>
            <a:off x="658368" y="281635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2724912"/>
            <a:ext cx="7534656" cy="548640"/>
          </a:xfrm>
          <a:prstGeom prst="rect">
            <a:avLst/>
          </a:prstGeom>
          <a:noFill/>
        </p:spPr>
        <p:txBody>
          <a:bodyPr wrap="square" lIns="0" tIns="0" rIns="0" bIns="0" anchor="t">
            <a:spAutoFit/>
          </a:bodyPr>
          <a:lstStyle/>
          <a:p>
            <a:pPr algn="l">
              <a:lnSpc>
                <a:spcPct val="110000"/>
              </a:lnSpc>
            </a:pPr>
            <a:r>
              <a:rPr sz="1150" b="0">
                <a:solidFill>
                  <a:srgbClr val="000000"/>
                </a:solidFill>
                <a:latin typeface="Source Han Sans SC"/>
              </a:rPr>
              <a:t>Today I made ___</a:t>
            </a:r>
          </a:p>
        </p:txBody>
      </p:sp>
      <p:sp>
        <p:nvSpPr>
          <p:cNvPr id="19" name="Oval 18"/>
          <p:cNvSpPr/>
          <p:nvPr/>
        </p:nvSpPr>
        <p:spPr>
          <a:xfrm>
            <a:off x="658368" y="306324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2971800"/>
            <a:ext cx="7534656" cy="548640"/>
          </a:xfrm>
          <a:prstGeom prst="rect">
            <a:avLst/>
          </a:prstGeom>
          <a:noFill/>
        </p:spPr>
        <p:txBody>
          <a:bodyPr wrap="square" lIns="0" tIns="0" rIns="0" bIns="0" anchor="t">
            <a:spAutoFit/>
          </a:bodyPr>
          <a:lstStyle/>
          <a:p>
            <a:pPr algn="l">
              <a:lnSpc>
                <a:spcPct val="110000"/>
              </a:lnSpc>
            </a:pPr>
            <a:r>
              <a:rPr sz="1150" b="0">
                <a:solidFill>
                  <a:srgbClr val="000000"/>
                </a:solidFill>
                <a:latin typeface="Source Han Sans SC"/>
              </a:rPr>
              <a:t>I got stuck on ___  (today: name it — position, size, or color?)</a:t>
            </a:r>
          </a:p>
        </p:txBody>
      </p:sp>
      <p:sp>
        <p:nvSpPr>
          <p:cNvPr id="21" name="Oval 20"/>
          <p:cNvSpPr/>
          <p:nvPr/>
        </p:nvSpPr>
        <p:spPr>
          <a:xfrm>
            <a:off x="658368" y="331012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3218688"/>
            <a:ext cx="7534656" cy="548640"/>
          </a:xfrm>
          <a:prstGeom prst="rect">
            <a:avLst/>
          </a:prstGeom>
          <a:noFill/>
        </p:spPr>
        <p:txBody>
          <a:bodyPr wrap="square" lIns="0" tIns="0" rIns="0" bIns="0" anchor="t">
            <a:spAutoFit/>
          </a:bodyPr>
          <a:lstStyle/>
          <a:p>
            <a:pPr algn="l">
              <a:lnSpc>
                <a:spcPct val="110000"/>
              </a:lnSpc>
            </a:pPr>
            <a:r>
              <a:rPr sz="1150" b="0">
                <a:solidFill>
                  <a:srgbClr val="000000"/>
                </a:solidFill>
                <a:latin typeface="Source Han Sans SC"/>
              </a:rPr>
              <a:t>Then ___</a:t>
            </a:r>
          </a:p>
        </p:txBody>
      </p:sp>
      <p:sp>
        <p:nvSpPr>
          <p:cNvPr id="23" name="Oval 22"/>
          <p:cNvSpPr/>
          <p:nvPr/>
        </p:nvSpPr>
        <p:spPr>
          <a:xfrm>
            <a:off x="658368" y="3557016"/>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465576"/>
            <a:ext cx="7534656" cy="548640"/>
          </a:xfrm>
          <a:prstGeom prst="rect">
            <a:avLst/>
          </a:prstGeom>
          <a:noFill/>
        </p:spPr>
        <p:txBody>
          <a:bodyPr wrap="square" lIns="0" tIns="0" rIns="0" bIns="0" anchor="t">
            <a:spAutoFit/>
          </a:bodyPr>
          <a:lstStyle/>
          <a:p>
            <a:pPr algn="l">
              <a:lnSpc>
                <a:spcPct val="110000"/>
              </a:lnSpc>
            </a:pPr>
            <a:r>
              <a:rPr sz="1150" b="0">
                <a:solidFill>
                  <a:srgbClr val="000000"/>
                </a:solidFill>
                <a:latin typeface="Source Han Sans SC"/>
              </a:rPr>
              <a:t>Next time I want ___</a:t>
            </a:r>
          </a:p>
        </p:txBody>
      </p:sp>
      <p:sp>
        <p:nvSpPr>
          <p:cNvPr id="25" name="Rectangle 24"/>
          <p:cNvSpPr/>
          <p:nvPr/>
        </p:nvSpPr>
        <p:spPr>
          <a:xfrm>
            <a:off x="566928" y="3749038"/>
            <a:ext cx="8010144" cy="521209"/>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840479"/>
            <a:ext cx="7680960" cy="228600"/>
          </a:xfrm>
          <a:prstGeom prst="rect">
            <a:avLst/>
          </a:prstGeom>
          <a:noFill/>
        </p:spPr>
        <p:txBody>
          <a:bodyPr wrap="square" lIns="0" tIns="0" rIns="0" bIns="0" anchor="t">
            <a:spAutoFit/>
          </a:bodyPr>
          <a:lstStyle/>
          <a:p>
            <a:pPr algn="l">
              <a:lnSpc>
                <a:spcPct val="120000"/>
              </a:lnSpc>
            </a:pPr>
            <a:r>
              <a:rPr sz="1100" b="0">
                <a:solidFill>
                  <a:srgbClr val="000000"/>
                </a:solidFill>
                <a:latin typeface="Source Code Pro"/>
              </a:rPr>
              <a:t>Say it, then send it to AI: "Tidy this into a learning log — only what I said, nothing I didn't say."</a:t>
            </a:r>
          </a:p>
        </p:txBody>
      </p:sp>
      <p:sp>
        <p:nvSpPr>
          <p:cNvPr id="27" name="Rectangle 26"/>
          <p:cNvSpPr/>
          <p:nvPr/>
        </p:nvSpPr>
        <p:spPr>
          <a:xfrm>
            <a:off x="566928" y="4315968"/>
            <a:ext cx="54864" cy="438912"/>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49808" y="4443984"/>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0976" y="4352544"/>
            <a:ext cx="7626096" cy="365760"/>
          </a:xfrm>
          <a:prstGeom prst="rect">
            <a:avLst/>
          </a:prstGeom>
          <a:noFill/>
        </p:spPr>
        <p:txBody>
          <a:bodyPr wrap="square" lIns="0" tIns="0" rIns="0" bIns="0" anchor="t">
            <a:spAutoFit/>
          </a:bodyPr>
          <a:lstStyle/>
          <a:p>
            <a:pPr algn="l">
              <a:lnSpc>
                <a:spcPct val="100000"/>
              </a:lnSpc>
            </a:pPr>
            <a:r>
              <a:rPr sz="1300" b="1">
                <a:solidFill>
                  <a:srgbClr val="000000"/>
                </a:solidFill>
                <a:latin typeface="Source Han Sans SC"/>
              </a:rPr>
              <a:t>Warning — AI will make things up with a straight face. Proofreading is your job.</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18 / 19</a:t>
            </a:r>
          </a:p>
        </p:txBody>
      </p:sp>
      <p:sp>
        <p:nvSpPr>
          <p:cNvPr id="4" name="TextBox 3"/>
          <p:cNvSpPr txBox="1"/>
          <p:nvPr/>
        </p:nvSpPr>
        <p:spPr>
          <a:xfrm>
            <a:off x="548363" y="1347355"/>
            <a:ext cx="2743200" cy="1600200"/>
          </a:xfrm>
          <a:prstGeom prst="rect">
            <a:avLst/>
          </a:prstGeom>
          <a:noFill/>
        </p:spPr>
        <p:txBody>
          <a:bodyPr wrap="square" lIns="0" tIns="0" rIns="0" bIns="0" anchor="t">
            <a:spAutoFit/>
          </a:bodyPr>
          <a:lstStyle/>
          <a:p>
            <a:pPr algn="ctr">
              <a:lnSpc>
                <a:spcPct val="100000"/>
              </a:lnSpc>
            </a:pPr>
            <a:r>
              <a:rPr sz="9600" b="1" dirty="0">
                <a:solidFill>
                  <a:srgbClr val="000000"/>
                </a:solidFill>
                <a:latin typeface="Source Han Sans SC"/>
              </a:rPr>
              <a:t>30</a:t>
            </a:r>
          </a:p>
        </p:txBody>
      </p:sp>
      <p:sp>
        <p:nvSpPr>
          <p:cNvPr id="5" name="TextBox 4"/>
          <p:cNvSpPr txBox="1"/>
          <p:nvPr/>
        </p:nvSpPr>
        <p:spPr>
          <a:xfrm>
            <a:off x="566928" y="2633472"/>
            <a:ext cx="2743200" cy="457200"/>
          </a:xfrm>
          <a:prstGeom prst="rect">
            <a:avLst/>
          </a:prstGeom>
          <a:noFill/>
        </p:spPr>
        <p:txBody>
          <a:bodyPr wrap="square" lIns="0" tIns="0" rIns="0" bIns="0" anchor="t">
            <a:spAutoFit/>
          </a:bodyPr>
          <a:lstStyle/>
          <a:p>
            <a:pPr algn="ctr">
              <a:lnSpc>
                <a:spcPct val="100000"/>
              </a:lnSpc>
            </a:pPr>
            <a:r>
              <a:rPr sz="2600" b="1">
                <a:solidFill>
                  <a:srgbClr val="000000"/>
                </a:solidFill>
                <a:latin typeface="Source Han Sans SC"/>
              </a:rPr>
              <a:t>minutes</a:t>
            </a:r>
          </a:p>
        </p:txBody>
      </p:sp>
      <p:sp>
        <p:nvSpPr>
          <p:cNvPr id="6" name="Rectangle 5"/>
          <p:cNvSpPr/>
          <p:nvPr/>
        </p:nvSpPr>
        <p:spPr>
          <a:xfrm>
            <a:off x="3566160" y="1097280"/>
            <a:ext cx="5029200"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30752" y="1207007"/>
            <a:ext cx="4700016" cy="557784"/>
          </a:xfrm>
          <a:prstGeom prst="rect">
            <a:avLst/>
          </a:prstGeom>
          <a:noFill/>
        </p:spPr>
        <p:txBody>
          <a:bodyPr wrap="square" lIns="0" tIns="0" rIns="0" bIns="0" anchor="t">
            <a:spAutoFit/>
          </a:bodyPr>
          <a:lstStyle/>
          <a:p>
            <a:pPr algn="l">
              <a:lnSpc>
                <a:spcPct val="125000"/>
              </a:lnSpc>
            </a:pPr>
            <a:r>
              <a:rPr sz="1250" b="0">
                <a:solidFill>
                  <a:srgbClr val="000000"/>
                </a:solidFill>
                <a:latin typeface="Source Han Sans SC"/>
              </a:rPr>
              <a:t>FINISH TO STANDARD (everyone crosses this line)</a:t>
            </a:r>
          </a:p>
          <a:p>
            <a:pPr algn="l">
              <a:lnSpc>
                <a:spcPct val="125000"/>
              </a:lnSpc>
            </a:pPr>
            <a:r>
              <a:rPr sz="1250" b="0">
                <a:solidFill>
                  <a:srgbClr val="000000"/>
                </a:solidFill>
                <a:latin typeface="Source Han Sans SC"/>
              </a:rPr>
              <a:t>Counter runs + one two-screen project.</a:t>
            </a:r>
          </a:p>
        </p:txBody>
      </p:sp>
      <p:sp>
        <p:nvSpPr>
          <p:cNvPr id="8" name="Rectangle 7"/>
          <p:cNvSpPr/>
          <p:nvPr/>
        </p:nvSpPr>
        <p:spPr>
          <a:xfrm>
            <a:off x="3566160" y="2011680"/>
            <a:ext cx="5029200" cy="13716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30752" y="2121408"/>
            <a:ext cx="4700016" cy="1188720"/>
          </a:xfrm>
          <a:prstGeom prst="rect">
            <a:avLst/>
          </a:prstGeom>
          <a:noFill/>
        </p:spPr>
        <p:txBody>
          <a:bodyPr wrap="square" lIns="0" tIns="0" rIns="0" bIns="0" anchor="t">
            <a:spAutoFit/>
          </a:bodyPr>
          <a:lstStyle/>
          <a:p>
            <a:pPr algn="l">
              <a:lnSpc>
                <a:spcPct val="125000"/>
              </a:lnSpc>
            </a:pPr>
            <a:r>
              <a:rPr sz="1200" b="1">
                <a:solidFill>
                  <a:srgbClr val="000000"/>
                </a:solidFill>
                <a:latin typeface="Source Han Sans SC"/>
              </a:rPr>
              <a:t>CHALLENGE TASKS (fast lane)</a:t>
            </a:r>
          </a:p>
          <a:p>
            <a:pPr algn="l">
              <a:lnSpc>
                <a:spcPct val="125000"/>
              </a:lnSpc>
            </a:pPr>
            <a:r>
              <a:rPr sz="1050" b="0">
                <a:solidFill>
                  <a:srgbClr val="000000"/>
                </a:solidFill>
                <a:latin typeface="Source Han Sans SC"/>
              </a:rPr>
              <a:t>Electronic dice — shake it (or flick the joystick once), the screen shows a random 1-6.</a:t>
            </a:r>
          </a:p>
          <a:p>
            <a:pPr algn="l">
              <a:lnSpc>
                <a:spcPct val="125000"/>
              </a:lnSpc>
            </a:pPr>
            <a:r>
              <a:rPr sz="1050" b="0">
                <a:solidFill>
                  <a:srgbClr val="000000"/>
                </a:solidFill>
                <a:latin typeface="Source Han Sans SC"/>
              </a:rPr>
              <a:t>Or: balance-ball hole-in-one — micro-experiment 5 plus a target hole; the buzzer beeps when the ball drops in.</a:t>
            </a:r>
          </a:p>
        </p:txBody>
      </p:sp>
      <p:sp>
        <p:nvSpPr>
          <p:cNvPr id="10" name="Rectangle 9"/>
          <p:cNvSpPr/>
          <p:nvPr/>
        </p:nvSpPr>
        <p:spPr>
          <a:xfrm>
            <a:off x="3566160" y="3520440"/>
            <a:ext cx="5029200"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30752" y="3611880"/>
            <a:ext cx="4700016" cy="713232"/>
          </a:xfrm>
          <a:prstGeom prst="rect">
            <a:avLst/>
          </a:prstGeom>
          <a:noFill/>
        </p:spPr>
        <p:txBody>
          <a:bodyPr wrap="square" lIns="0" tIns="0" rIns="0" bIns="0" anchor="t">
            <a:spAutoFit/>
          </a:bodyPr>
          <a:lstStyle/>
          <a:p>
            <a:pPr algn="l">
              <a:lnSpc>
                <a:spcPct val="125000"/>
              </a:lnSpc>
            </a:pPr>
            <a:r>
              <a:rPr sz="1200" b="1">
                <a:solidFill>
                  <a:srgbClr val="000000"/>
                </a:solidFill>
                <a:latin typeface="Source Han Sans SC"/>
              </a:rPr>
              <a:t>HELP A NEIGHBOR + ADD A SENSOR LINK</a:t>
            </a:r>
          </a:p>
          <a:p>
            <a:pPr algn="l">
              <a:lnSpc>
                <a:spcPct val="125000"/>
              </a:lnSpc>
            </a:pPr>
            <a:r>
              <a:rPr sz="1050" b="0">
                <a:solidFill>
                  <a:srgbClr val="000000"/>
                </a:solidFill>
                <a:latin typeface="Source Han Sans SC"/>
              </a:rPr>
              <a:t>Give your two-screen project a sensor link (e.g., auto-switch to a night screen when it gets dark).</a:t>
            </a:r>
          </a:p>
        </p:txBody>
      </p:sp>
      <p:sp>
        <p:nvSpPr>
          <p:cNvPr id="12" name="Rectangle 11"/>
          <p:cNvSpPr/>
          <p:nvPr/>
        </p:nvSpPr>
        <p:spPr>
          <a:xfrm>
            <a:off x="566928" y="3310128"/>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3328416"/>
            <a:ext cx="2542032" cy="438912"/>
          </a:xfrm>
          <a:prstGeom prst="rect">
            <a:avLst/>
          </a:prstGeom>
          <a:noFill/>
        </p:spPr>
        <p:txBody>
          <a:bodyPr wrap="square" lIns="0" tIns="0" rIns="0" bIns="0" anchor="t">
            <a:spAutoFit/>
          </a:bodyPr>
          <a:lstStyle/>
          <a:p>
            <a:pPr algn="l">
              <a:lnSpc>
                <a:spcPct val="115000"/>
              </a:lnSpc>
            </a:pPr>
            <a:r>
              <a:rPr sz="1300" b="0">
                <a:solidFill>
                  <a:srgbClr val="000000"/>
                </a:solidFill>
                <a:latin typeface="Source Han Sans SC"/>
              </a:rPr>
              <a:t>Standard first, then fast.</a:t>
            </a:r>
          </a:p>
        </p:txBody>
      </p:sp>
      <p:sp>
        <p:nvSpPr>
          <p:cNvPr id="14" name="TextBox 13"/>
          <p:cNvSpPr txBox="1"/>
          <p:nvPr/>
        </p:nvSpPr>
        <p:spPr>
          <a:xfrm>
            <a:off x="548363" y="3925547"/>
            <a:ext cx="2743200" cy="685800"/>
          </a:xfrm>
          <a:prstGeom prst="rect">
            <a:avLst/>
          </a:prstGeom>
          <a:noFill/>
        </p:spPr>
        <p:txBody>
          <a:bodyPr wrap="square" lIns="0" tIns="0" rIns="0" bIns="0" anchor="t">
            <a:spAutoFit/>
          </a:bodyPr>
          <a:lstStyle/>
          <a:p>
            <a:pPr algn="l">
              <a:lnSpc>
                <a:spcPct val="115000"/>
              </a:lnSpc>
            </a:pPr>
            <a:r>
              <a:rPr sz="1050" b="0" dirty="0">
                <a:solidFill>
                  <a:srgbClr val="000000"/>
                </a:solidFill>
                <a:latin typeface="Source Han Sans SC"/>
              </a:rPr>
              <a:t>The buffer is part of the lesson, not early dismissal.</a:t>
            </a:r>
          </a:p>
        </p:txBody>
      </p:sp>
      <p:sp>
        <p:nvSpPr>
          <p:cNvPr id="15" name="TextBox 14"/>
          <p:cNvSpPr txBox="1"/>
          <p:nvPr/>
        </p:nvSpPr>
        <p:spPr>
          <a:xfrm>
            <a:off x="267670" y="4492475"/>
            <a:ext cx="8010144" cy="256032"/>
          </a:xfrm>
          <a:prstGeom prst="rect">
            <a:avLst/>
          </a:prstGeom>
          <a:noFill/>
        </p:spPr>
        <p:txBody>
          <a:bodyPr wrap="square" lIns="0" tIns="0" rIns="0" bIns="0" anchor="t">
            <a:spAutoFit/>
          </a:bodyPr>
          <a:lstStyle/>
          <a:p>
            <a:pPr algn="ctr">
              <a:lnSpc>
                <a:spcPct val="100000"/>
              </a:lnSpc>
            </a:pPr>
            <a:r>
              <a:rPr sz="1050" b="0" dirty="0">
                <a:solidFill>
                  <a:srgbClr val="000000"/>
                </a:solidFill>
                <a:latin typeface="Source Han Sans SC"/>
              </a:rPr>
              <a:t>Did a challenge? Write in your workbook — "I used ___ (which input) to make ___ (what little thing)."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4773168"/>
            <a:ext cx="8375904" cy="274320"/>
          </a:xfrm>
          <a:prstGeom prst="rect">
            <a:avLst/>
          </a:prstGeom>
          <a:noFill/>
        </p:spPr>
        <p:txBody>
          <a:bodyPr wrap="square" lIns="0" tIns="0" rIns="0" bIns="0" anchor="t">
            <a:spAutoFit/>
          </a:bodyPr>
          <a:lstStyle/>
          <a:p>
            <a:pPr algn="l">
              <a:lnSpc>
                <a:spcPct val="100000"/>
              </a:lnSpc>
            </a:pPr>
            <a:r>
              <a:rPr sz="1000" b="0">
                <a:solidFill>
                  <a:srgbClr val="000000"/>
                </a:solidFill>
                <a:latin typeface="Source Han Sans SC"/>
              </a:rPr>
              <a:t>Chaihuo Maker Academy · M0 · Give Your Project a Screen | 19 / 19</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6304"/>
            <a:ext cx="8138160" cy="777240"/>
          </a:xfrm>
          <a:prstGeom prst="rect">
            <a:avLst/>
          </a:prstGeom>
          <a:noFill/>
        </p:spPr>
        <p:txBody>
          <a:bodyPr wrap="square" lIns="0" tIns="0" rIns="0" bIns="0" anchor="t">
            <a:spAutoFit/>
          </a:bodyPr>
          <a:lstStyle/>
          <a:p>
            <a:pPr algn="l">
              <a:lnSpc>
                <a:spcPct val="100000"/>
              </a:lnSpc>
            </a:pPr>
            <a:r>
              <a:rPr sz="3800" b="1">
                <a:solidFill>
                  <a:srgbClr val="000000"/>
                </a:solidFill>
                <a:latin typeface="Source Han Sans SC"/>
              </a:rPr>
              <a:t>Flash Show &amp; Tell + Next Time</a:t>
            </a:r>
          </a:p>
        </p:txBody>
      </p:sp>
      <p:sp>
        <p:nvSpPr>
          <p:cNvPr id="6" name="TextBox 5"/>
          <p:cNvSpPr txBox="1"/>
          <p:nvPr/>
        </p:nvSpPr>
        <p:spPr>
          <a:xfrm>
            <a:off x="566928" y="1051560"/>
            <a:ext cx="8010144" cy="502920"/>
          </a:xfrm>
          <a:prstGeom prst="rect">
            <a:avLst/>
          </a:prstGeom>
          <a:noFill/>
        </p:spPr>
        <p:txBody>
          <a:bodyPr wrap="square" lIns="0" tIns="0" rIns="0" bIns="0" anchor="t">
            <a:spAutoFit/>
          </a:bodyPr>
          <a:lstStyle/>
          <a:p>
            <a:pPr algn="l">
              <a:lnSpc>
                <a:spcPct val="115000"/>
              </a:lnSpc>
            </a:pPr>
            <a:r>
              <a:rPr sz="1300" b="0">
                <a:solidFill>
                  <a:srgbClr val="000000"/>
                </a:solidFill>
                <a:latin typeface="Source Han Sans SC"/>
              </a:rPr>
              <a:t>In your table, 30 seconds each — demo your project, say one line: "which input I used, and how I switch screens."</a:t>
            </a:r>
          </a:p>
        </p:txBody>
      </p:sp>
      <p:sp>
        <p:nvSpPr>
          <p:cNvPr id="7" name="TextBox 6"/>
          <p:cNvSpPr txBox="1"/>
          <p:nvPr/>
        </p:nvSpPr>
        <p:spPr>
          <a:xfrm>
            <a:off x="566928" y="1691640"/>
            <a:ext cx="8010144" cy="274320"/>
          </a:xfrm>
          <a:prstGeom prst="rect">
            <a:avLst/>
          </a:prstGeom>
          <a:noFill/>
        </p:spPr>
        <p:txBody>
          <a:bodyPr wrap="square" lIns="0" tIns="0" rIns="0" bIns="0" anchor="t">
            <a:spAutoFit/>
          </a:bodyPr>
          <a:lstStyle/>
          <a:p>
            <a:pPr algn="l">
              <a:lnSpc>
                <a:spcPct val="100000"/>
              </a:lnSpc>
            </a:pPr>
            <a:r>
              <a:rPr sz="1400" b="1">
                <a:solidFill>
                  <a:srgbClr val="000000"/>
                </a:solidFill>
                <a:latin typeface="Source Han Sans SC"/>
              </a:rPr>
              <a:t>Two things you take away today:</a:t>
            </a:r>
          </a:p>
        </p:txBody>
      </p:sp>
      <p:sp>
        <p:nvSpPr>
          <p:cNvPr id="8" name="Rectangle 7"/>
          <p:cNvSpPr/>
          <p:nvPr/>
        </p:nvSpPr>
        <p:spPr>
          <a:xfrm>
            <a:off x="566928" y="2029968"/>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2066544"/>
            <a:ext cx="329184"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969264" y="2029968"/>
            <a:ext cx="7589520" cy="502920"/>
          </a:xfrm>
          <a:prstGeom prst="rect">
            <a:avLst/>
          </a:prstGeom>
          <a:noFill/>
        </p:spPr>
        <p:txBody>
          <a:bodyPr wrap="square" lIns="0" tIns="0" rIns="0" bIns="0" anchor="t">
            <a:spAutoFit/>
          </a:bodyPr>
          <a:lstStyle/>
          <a:p>
            <a:pPr algn="l">
              <a:lnSpc>
                <a:spcPct val="110000"/>
              </a:lnSpc>
            </a:pPr>
            <a:r>
              <a:rPr sz="1250" b="0">
                <a:solidFill>
                  <a:srgbClr val="000000"/>
                </a:solidFill>
                <a:latin typeface="Source Han Sans SC"/>
              </a:rPr>
              <a:t>You met the new gear — screen, buttons, joystick, three sensors — every one lit up by your own hand</a:t>
            </a:r>
          </a:p>
        </p:txBody>
      </p:sp>
      <p:sp>
        <p:nvSpPr>
          <p:cNvPr id="11" name="Rectangle 10"/>
          <p:cNvSpPr/>
          <p:nvPr/>
        </p:nvSpPr>
        <p:spPr>
          <a:xfrm>
            <a:off x="566928" y="2596896"/>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2633472"/>
            <a:ext cx="329184" cy="310896"/>
          </a:xfrm>
          <a:prstGeom prst="rect">
            <a:avLst/>
          </a:prstGeom>
          <a:noFill/>
        </p:spPr>
        <p:txBody>
          <a:bodyPr wrap="square" lIns="0" tIns="0" rIns="0" bIns="0" anchor="t">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969264" y="2596896"/>
            <a:ext cx="7589520" cy="502920"/>
          </a:xfrm>
          <a:prstGeom prst="rect">
            <a:avLst/>
          </a:prstGeom>
          <a:noFill/>
        </p:spPr>
        <p:txBody>
          <a:bodyPr wrap="square" lIns="0" tIns="0" rIns="0" bIns="0" anchor="t">
            <a:spAutoFit/>
          </a:bodyPr>
          <a:lstStyle/>
          <a:p>
            <a:pPr algn="l">
              <a:lnSpc>
                <a:spcPct val="110000"/>
              </a:lnSpc>
            </a:pPr>
            <a:r>
              <a:rPr sz="1250" b="0">
                <a:solidFill>
                  <a:srgbClr val="000000"/>
                </a:solidFill>
                <a:latin typeface="Source Han Sans SC"/>
              </a:rPr>
              <a:t>You learned lesson one of using it — position, size, color — your project has a real interface from today</a:t>
            </a:r>
          </a:p>
        </p:txBody>
      </p:sp>
      <p:sp>
        <p:nvSpPr>
          <p:cNvPr id="14" name="TextBox 13"/>
          <p:cNvSpPr txBox="1"/>
          <p:nvPr/>
        </p:nvSpPr>
        <p:spPr>
          <a:xfrm>
            <a:off x="566928" y="3246120"/>
            <a:ext cx="8010144" cy="274320"/>
          </a:xfrm>
          <a:prstGeom prst="rect">
            <a:avLst/>
          </a:prstGeom>
          <a:noFill/>
        </p:spPr>
        <p:txBody>
          <a:bodyPr wrap="square" lIns="0" tIns="0" rIns="0" bIns="0" anchor="t">
            <a:spAutoFit/>
          </a:bodyPr>
          <a:lstStyle/>
          <a:p>
            <a:pPr algn="ctr">
              <a:lnSpc>
                <a:spcPct val="100000"/>
              </a:lnSpc>
            </a:pPr>
            <a:r>
              <a:rPr sz="1300" b="1">
                <a:solidFill>
                  <a:srgbClr val="000000"/>
                </a:solidFill>
                <a:latin typeface="Source Han Sans SC"/>
              </a:rPr>
              <a:t>NEXT TIME</a:t>
            </a:r>
          </a:p>
        </p:txBody>
      </p:sp>
      <p:sp>
        <p:nvSpPr>
          <p:cNvPr id="15" name="Rectangle 14"/>
          <p:cNvSpPr/>
          <p:nvPr/>
        </p:nvSpPr>
        <p:spPr>
          <a:xfrm>
            <a:off x="566928" y="3566160"/>
            <a:ext cx="8010144"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75887"/>
            <a:ext cx="7680960" cy="740664"/>
          </a:xfrm>
          <a:prstGeom prst="rect">
            <a:avLst/>
          </a:prstGeom>
          <a:noFill/>
        </p:spPr>
        <p:txBody>
          <a:bodyPr wrap="square" lIns="0" tIns="0" rIns="0" bIns="0" anchor="t">
            <a:spAutoFit/>
          </a:bodyPr>
          <a:lstStyle/>
          <a:p>
            <a:pPr algn="l">
              <a:lnSpc>
                <a:spcPct val="125000"/>
              </a:lnSpc>
            </a:pPr>
            <a:r>
              <a:rPr sz="1400" b="0" dirty="0">
                <a:solidFill>
                  <a:srgbClr val="000000"/>
                </a:solidFill>
                <a:latin typeface="Source Han Sans SC"/>
              </a:rPr>
              <a:t>Lesson 4: Give AI a Team</a:t>
            </a:r>
          </a:p>
          <a:p>
            <a:pPr algn="l">
              <a:lnSpc>
                <a:spcPct val="125000"/>
              </a:lnSpc>
            </a:pPr>
            <a:r>
              <a:rPr sz="1400" b="0">
                <a:solidFill>
                  <a:srgbClr val="000000"/>
                </a:solidFill>
                <a:latin typeface="Source Han Sans SC"/>
              </a:rPr>
              <a:t>One complete project end to end: your own smart Pomodoro timer.</a:t>
            </a:r>
          </a:p>
        </p:txBody>
      </p:sp>
      <p:sp>
        <p:nvSpPr>
          <p:cNvPr id="17" name="TextBox 16"/>
          <p:cNvSpPr txBox="1"/>
          <p:nvPr/>
        </p:nvSpPr>
        <p:spPr>
          <a:xfrm>
            <a:off x="548640" y="4557037"/>
            <a:ext cx="8010144" cy="256032"/>
          </a:xfrm>
          <a:prstGeom prst="rect">
            <a:avLst/>
          </a:prstGeom>
          <a:noFill/>
        </p:spPr>
        <p:txBody>
          <a:bodyPr wrap="square" lIns="0" tIns="0" rIns="0" bIns="0" anchor="t">
            <a:spAutoFit/>
          </a:bodyPr>
          <a:lstStyle/>
          <a:p>
            <a:pPr algn="ctr">
              <a:lnSpc>
                <a:spcPct val="100000"/>
              </a:lnSpc>
            </a:pPr>
            <a:r>
              <a:rPr sz="1050" b="0" dirty="0">
                <a:solidFill>
                  <a:srgbClr val="000000"/>
                </a:solidFill>
                <a:latin typeface="Source Han Sans SC"/>
              </a:rPr>
              <a:t>It runs on this very color screen — today's screen skills get used all the way through. Bring your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5064</Words>
  <Application>Microsoft Office PowerPoint</Application>
  <PresentationFormat>On-screen Show (16:9)</PresentationFormat>
  <Paragraphs>263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Source Code Pro</vt:lpstr>
      <vt:lpstr>Source Han Sans SC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Bianca guimaraes</cp:lastModifiedBy>
  <cp:revision>4</cp:revision>
  <dcterms:created xsi:type="dcterms:W3CDTF">2013-01-27T09:14:16Z</dcterms:created>
  <dcterms:modified xsi:type="dcterms:W3CDTF">2026-09-01T11:16:21Z</dcterms:modified>
  <cp:category/>
</cp:coreProperties>
</file>