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 loops before class. Open with one welcome line — 'Welcome to Lesson 4. Last session your project got a face and hands — today we go further: we give AI a team, and build one complete project end to end.' — then straight to slide 02; the cover is not a talking page. Pomodoro timer photo on the right (Wio screen showing the WORK countdown — line-art placeholder until the rehearsal photo), yellow rule under the subtitle.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start, let's collect last session's work: if you used an md doc, send me the link; if you wrote by hand, photograph it and send it — missed it? note it down, due before today ends. (point at the Project Wall) Look — it's still up. Everyone's manifesto is on it. Last session you met your new gear; your project got a face and hands. And you learned how to describe a screen clearly — what were the three things again? (guide to: position, size, color) Right — you'll use all of it today. Keep your project manifesto and three-box design sheet at hand — they're about to do a lot of work. Hard 5-minute timebox on the collection — no per-item feedback; the not-yet-in list goes to the TA to register, don't chase. Output anchor: Lesson 3's outputs are in (my Wio tour sheet / screen designs / log) — md link or photo.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talk. You already know how to get AI to make you something in one sentence — fine for small stuff. But three questions — raise your hand if you've hit any: first, the code's getting long, you want to add a feature, and you don't know where to tell AI to change it? Second, you're halfway through and realize you never thought it through at the start? Third, you want to change the color scheme and have no idea where the color lives? (pause, watch the hands) — That's not your problem. That's the ceiling of the one-sentence approach. (screen: the compare page) Two ways. Way A, write-it-direct: it runs, and that's about it — the layout is whatever happened, adding features gets messy, recoloring is guesswork. Way B, plan-first: think through what you want, what it looks like, how it's split — then build. The screen is designed. The structure is clear. You know where new things go. This isn't extra busywork — it's having AI think it through with you, a few steps at a time. THE PAGE IS STATIC — no live AI demo, ever. If someone raises a hand, ask 'where were you stuck?' — 30 seconds of empathy beats explaining. BMAD in three sentences only. CFU: 'Thumbs up if plan-first sounds like more work right now. Middle if you can see the point. Keep it honest — no right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approach has a real name — BMAD. AI-driven agile development. Three things to remember. One: open source and free — all its docs and code are public on GitHub; anyone can use it, zero cost. Two: developers worldwide use it — this isn't something I invented; it's a method professional teams maintain and keep updating, with a dozen-plus roles and thirty-plus ready workflows inside. Three: the one core move — don't let AI do everything in one sentence; have it play different roles and think it through step by step before you build. (point at the screen) The address: github.com/bmad-code-org/BMAD-METHOD — open source, so you can check every word I just said. Note: BMAD is not software to install. It's a method. Methods don't get installed — learn it, and it's yours. Today you learn its one core move. Three sentences and move on — no framework deep-dive. 'Is it really free?' -&gt; 'Open source means the code is public and free forever — it says so on GitHub.' The full name is on screen; don't read it aloud. CFU: 'Turn to your neighbor: one sentence — what is BMAD, to a total beginner?' (wait time ~15 s, then two random shares)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use it? Two ways — today, only the first. Way one, right here in class: install nothing. The five round-openers you're about to get are BMAD's core usage — PM, designer, architect, developer, tester, in a relay inside one conversation. The method lives in your head — that's the valuable part. Way two, optional, after class: later, when you want a full AI team set up inside a project on your own computer — no commands to memorize, let AI install it. Just say: 'Read the documentation at https://github.com/bmad-code-org/BMAD-METHOD and configure the BMAD workflow in my project.' AI visits the GitHub repo, runs the install, and drops the whole set of roles and workflows into your project. That needs a Node.js environment — not today. Want to try it? Find me or a TA after class. Today's one goal: run this method once, in your head. Tools can be installed anytime; the method in your head stays with you. No live install, no software setup of any kind — if students push for it, note their names, follow up after class.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the role cards; point at the five names already on the board, one sentence each) BMAD's team is five people. PM — owns what problem we're solving and who it's for. Designer — owns what it looks like and how you use it. Architect — owns how it's split into pieces and what states it has. Developer — owns writing it. Tester — owns finding what's wrong. (point at the 8-step map from Lesson 1) Look: framing the problem and finding the user — that's PM. Prototyping — designer and architect. Writing code — developer. Trade-offs and judging — architect and tester. What you used to do alone is now five experts sharing the work. And you — you're the boss of this team. Don't worry: it's not five real people. It's five rounds of relay inside one conversation. Each round still runs on the Five Rules. What changes: each round has a clear job. Change roles without changing windows — just call the name. They all have names — PM is John, designer Sally, architect Winston, developer Amelia, tester Quinn — like assigning work to colleagues. And these five roles aren't my invention — professional developers put them together and shared them openly. Today you use the professional team, in one conversation, five rounds. Draw the connecting lines on the board as you talk (board connections = handoff chain); photograph the finished board (student log material). CFU: 'Point at the board — which role owns what it looks like?' (one random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Pomodoro: 25 minutes of focus, 5-minute break, repeat. That simple. Today everyone builds one — on your Wio, with this team. But there's a rule — your timer must have one thing different from everyone else's. Not 'mine is blue' — that's not it. It has to grow out of your life: do you space out doing homework? Do you need to time your piano practice? Are you building one for your little sister? Here's a secret: AI gives everyone the same default answer. The details of your life are the part it can't give you — that's what makes your clock worth something. Students: listen; start thinking 'what is my focus problem.' Pitfalls: 'I want one like a game console!' -&gt; 'Good — then today we get the timing part running, and the game part goes on the later list.' (Not rejecting — into the list. That's the first live trade-off.) Student missed Lesson 3 / never used Wio -&gt; TA runs a 5-minute refresher (the switch mantra: 'slide it, slide it = flash mode', 'no response? slide it'), then one warm-up: show HELLO in big letters on screen, then rejoin. CFU: 'Turn to your neighbor: one real focus problem in your life. Fifteen seconds — go.'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rules before we start. One: every round today opens with 'based on the previous round's conclusion' — hand the last conversation's result to the new role. It's a relay — don't drop the baton. Two: all five rounds happen in ONE conversation. Don't open a new one — the moment you do, every conclusion so far is gone. Change roles without changing windows: just call the name — 'Sally, based on the previous round...'. Flip fast — this page is the round's instructions, not a talking page.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one — PM on. The PM doesn't build; the PM asks first. Today the person you ask is yourself: what is my real focus problem? Open your workbook (or notebook) to the PM opener — it's on screen too. Round one has no previous round, so you start from your problem. Vague differentiator ('mine is blue', 'make it cuter') — the main battleground of today's success line: push to behavior — 'Does blue fix your spacing out? The moment you space out, what should the clock do?' TA circulation focuses here first. Student copies AI's default 'standard timer features' -&gt; 'That's everyone's clock. Where's yours?' AI's list is bloated -&gt; the one professional line: 'Too much. Keep only P0.' (P0 = must-have, P1 = nice-to-have, P2 = bonus; first version = P0 only — don't explain the concept, one use and it sticks.) Student still not in the conversation at 5 minutes (stuck choosing a problem) -&gt; teacher offers two candidates; pick one in 30 seconds. Output anchor: workbook — '3 things my clock must do,' with one starred — that's my differentiator. Stays fixed while students send their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two — designer on. First line as usual: based on the previous round. Last session you practiced 'how to describe a screen': position, size, color. Today the scaffolding is gone — you organize the language yourself. The sentences are in your workbook — forgetting how is normal. Look, then speak. Student stuck describing the screen -&gt; point at the workbook sentence: 'Three things from last session — position, size, color.' Point at the scaffold; don't say it for them. AI's design misses the differentiator -&gt; 'Ask it: Which screen shows my special requirement?' On-screen text: English / numbers / graphics only — never gamble on Chinese rendering. Output anchor: workbook — 'focusing screen: ___ / break screen: ___ / A ___, B ___, C ___.' Stays fixed.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(whole class, traffic light on the board) Everyone, eyes on the board. These 8 minutes are the only time I teach today. A traffic light — red, green, one light at a time. What changes it? Time runs out. — Your timer is the same kind of thing: it has several 'looks', it's in one look at a time, and an action moves it to another look. This thing has a name — a state. Now, everyone draw the state circles of your clock on paper: at least two circles — focus, break — and on the arrow write what changes it, like 'press A' or 'time's up'. Can't make three circles? Two circles are a complete Pomodoro timer. 'Paused' is the most common third circle — add it if you want. (about 4 minutes in) Drawn? Round three — architect on. Winston takes the requirements and the design and produces the technical plan. You don't need to understand the details — it's not for you, it's for Amelia, who writes the code next. Can't draw the circles (today's #1 pitfall) -&gt; first, let them copy the two-state starter (focus -&gt; break, A switches) drawn for them; after copying, add their own circle. Still stuck after copying -&gt; skip the architecture conversation, go straight to the dev round with the two-state default; the architecture understanding gets picked up at Lesson 8. Don't burn time here. 'Why draw circles, why not just build?' -&gt; 'This is a map for the program. At Lesson 8 you'll see the actual code — and the circles live inside it.' (one-line teaser; don't expand.) Output anchor: state circles on paper (or two lines in the workbook). NON-NEGOTIABLE: the 8-minute whole-class lecture — today's only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four — developer on. PM's requirements, Sally's design, Winston's plan are all sitting in this conversation — Amelia builds the whole timer from them. Build it, upload it, run it. Error? Paste the error back verbatim — it wrote the code, it fixes it. Once it runs, make one change of your own — a background color, a transition — that's iteration. At 15:35, one whole-class check — call: 'Whose clock is running?' Not running by 35 minutes (the most common tech stall) -&gt; the TA hands out the lifeline prompt, to be pasted verbatim: 'My timer has two states: WORK and BREAK. Pressing A switches between them: WORK shows a red background and WORK; BREAK shows a green background and BREAK. For now, only do this switching — no timing — using a simple if/else on the current state.' (The lifeline is the guaranteed minimum: get the screen glowing first, then Amelia adds the full features back on top — the differentiator is unaffected.) Upload failure -&gt; flip the side switch twice into bootloader mode and retry. 'This is harder than the other lessons' -&gt; the standing line: 'Right. This is your first real project. Before, you were learning moves. Today, you step on the field for the first time.' At 15:30, most still not running -&gt; whole-class announcement: 'Not running yet — raise your hand. TA first, with the lifeline. Running? Move on — add your differentiator.' (No waiting; tiered release.) Output anchor: the timer running on the Wio; the differentiator visible on screen. Stays fixed.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relay round — tester on. A tester's job has one word: break it. Ask AI for the whole break-it list: rapid repeated presses, mashing buttons mid-timer, holding a button down... then you try each one, by hand. Can't break anything (rare) -&gt; 'Swap with your neighbor — you'll have no mercy on someone else's clock.' (Swapping is also a hidden anti-sameness check: you see how their clock is different.) Student fixing forever -&gt; 'Fix the most important one. The rest goes on the later list.' UNDER NO CIRCUMSTANCES does this block end early or get squeezed — even if earlier rounds collapsed, protect the full 15 minutes from here (with the Picky User page). THE IRON LAW. Output anchor: workbook — the 5-item break-it list, each with Accept / Reject + one reason.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 tried — one more special reviewer on stage: the Picky User. You met it in Lesson 2: AI plays the real person from your design sheet, and it picks exactly one fault. Today it accepts your clock. Every test you try, every fault you hear — make a call: Accept or Reject? Reject -&gt; have AI fix it. Accept -&gt; write down 'I know it has this small flaw' — that's a professional decision too. In Lesson 2 we accepted one, remember: it still stopped after a few extra presses — we accepted it. Output anchor: workbook — the 5-item break-it list with Accept/Reject + one reason each; the Picky User's one fault noted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Next 15 minutes — three things more important than easter eggs. One: archive. Screenshot each of the five relay rounds — five screenshots into one folder, named with your name and date. This folder is treasure — the full record of your first complete project. Later, when you want to know what a complete project looks like, this is it. Missed a round? Backfill it after class and stick a note in the folder: 'backfilled.' Mark missing rounds on the spot for backfill + sticky note (completeness target &gt;=90%). Output anchor: the five-round screenshot folder, complete. [Archive example photo: teacher's rehearsal folder with naming convention — to capture at rehearsal.]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 a big question: does this method only work for hardware? (two seconds) Here's one from me: I wrote this course's lesson plans with these five people — PM decided what problem each session solves; tester found the holes in my plan. Your turn: writing a research report? Who's the PM? (guide: choosing the question) The architect? (the outline) The tester? (finding each other's mistakes) One use case per table. Three — one line to close: BMAD — that's the English team name of these five roles — BMAD's five roles are not a method for hardware. They're a method for anything — today you just practiced it on hardware. (Say this line as-is — don't change it.) The five roles aren't a ceremony. Small projects can merge roles — the project is as big as the team it needs. Now look at the road you've walked: 10 years ago, lighting an LED was an entry-level project; 5 years ago, connecting to WiFi was advanced; today, complete beginners finished a full project with five roles in one session. Lesson 1 and 2 — your hardware learned to sense the world. Lesson 3 — your project got a face and hands. Today — you got the method. Transfer talk goes cold -&gt; offer your own ('I use it to plan family trips'); 'why not just build it directly' -&gt; point at the compare page: 'One-sentence-all-in-one saves effort, but you get a clone you can't edit. Is the gap speed — or thinking?' Output anchor: one line in the workbook — 'I could use this method for ___, and the PM there would be ___.'</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thing: today's log, four lines as usual — and today one line must be written clearly: where is my clock different? Write it, then send it to AI: 'Help me turn this into a log — only what I said, nothing I didn't.' Then read what it writes — AI will confidently invent things. Proofreading is your job; nobody can do it for you. Output anchor: (1) the proofread four-line log in the workbook, with the 'where is my clock different' line clear; (2) the transfer line ('I could use this method for ___, and the PM there would be ___').</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tone at the start (announce today's exit per your pre-class choice): 'Next 25 minutes: timer not running — keep going, that's today's line. Past the line — [announce today's pick: try an easter egg / map your relay log against the 8 steps / help a neighbor]. Two egg rules: one, decide do-or-skip in two minutes — don't dither; two, if the egg doesn't work out, today's pass is unaffected.' Circulation order: first sweep who hasn't crossed the line (the TA watches these), then lead the fast ones through eggs. Egg candidates (verbal; rehearsal-proven only): the flip timer / the victory jingle / the rest-screen joke. Below-the-line students skip eggs; the TA keeps them on the main build (state switching &gt; timing &gt; reminder). Egg stuck over 8 minutes -&gt; 'Eggs done. Make the later list beautiful — that counts too.' 'I'm done — can I leave / play on my phone?' — No. Point at the three exits. Whole class done early with 15 minutes left -&gt; don't drag; move into the close and do the mapping review properly. Output anchor (egg students): one line in the workbook — 'the egg I added was ___, it worked / it didn't, so it's on the later list.' Stays fixed during the buffer.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8-step map on the board) Last 20 minutes — no building. Something more important: seeing the road you walked today. Eight boxes on this map — the complete map of making a project. Today you walked the first six — we'll stick them up round by round: you figured out who it's for and what problem it solves — PM, steps one and two. You said clearly what you want and how it looks — designer, step three. You split it into pieces and ordered them — architect, also step three, and you grazed step five. You built it with AI — developer, step four. You tried it and found faults — tester, step five. You fixed it or lived with it, kept it or cut it — your Accept/Reject calls, your egg do-or-skip — step six. Steps seven and eight only started today: show it to someone — you'll do that in a minute; and look back at it when it's done — that's happening right now. Then the workbook mapping + the sticky wall (one sticky per step, 'where I got stuck,' signed, on the wall). Output anchor: (1) the 8-step mapping written out in the workbook; (2) the 'where I got stuck' sticky on the wall (photographed).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wall. Which step has the most stickies? (count; name one or two) 'Tell us how stuck you were, and how you got past it. Remember this wall. Today you got fully stuck and fully unstuck — next time you get stuck, you won't panic. Last look across your table: what's different about their clock compared to yours? (30 seconds) Next session, your hardware learns to see — it will recognize your face and your hand. Keep your timer — it's your first complete project, not your last. Devices in the box. Your five-screenshot folder, your state-circles paper, your workbook — take them home, or photograph them. Class dismissed!' All stickies piling on 'developer' is normal — say it honestly: 'Look — the hardest part is making the thing. That's exactly why the steps before it matter: think it through, and the building goes smoother.' Short on time -&gt; cut the share-out, but keep the mapping writing and the sticky wall. After class: collect today's outputs (md links / handwriting photos) and note completeness.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01 / 20</a:t>
            </a:r>
          </a:p>
        </p:txBody>
      </p:sp>
      <p:sp>
        <p:nvSpPr>
          <p:cNvPr id="4" name="TextBox 3"/>
          <p:cNvSpPr txBox="1"/>
          <p:nvPr/>
        </p:nvSpPr>
        <p:spPr>
          <a:xfrm>
            <a:off x="566928" y="1188720"/>
            <a:ext cx="6035040" cy="32004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Chaihuo Maker Academy · Smart Hardware Fundamentals (M0)</a:t>
            </a:r>
          </a:p>
        </p:txBody>
      </p:sp>
      <p:sp>
        <p:nvSpPr>
          <p:cNvPr id="5" name="TextBox 4"/>
          <p:cNvSpPr txBox="1"/>
          <p:nvPr/>
        </p:nvSpPr>
        <p:spPr>
          <a:xfrm>
            <a:off x="566928" y="1536192"/>
            <a:ext cx="6035040" cy="1188720"/>
          </a:xfrm>
          <a:prstGeom prst="rect">
            <a:avLst/>
          </a:prstGeom>
          <a:noFill/>
        </p:spPr>
        <p:txBody>
          <a:bodyPr wrap="square" anchor="t" lIns="0" rIns="0" tIns="0" bIns="0">
            <a:spAutoFit/>
          </a:bodyPr>
          <a:lstStyle/>
          <a:p>
            <a:pPr algn="l">
              <a:lnSpc>
                <a:spcPct val="110000"/>
              </a:lnSpc>
            </a:pPr>
            <a:r>
              <a:rPr sz="3400" b="1">
                <a:solidFill>
                  <a:srgbClr val="000000"/>
                </a:solidFill>
                <a:latin typeface="Source Han Sans SC"/>
              </a:rPr>
              <a:t>Assemble Your Team,</a:t>
            </a:r>
          </a:p>
          <a:p>
            <a:pPr algn="l">
              <a:lnSpc>
                <a:spcPct val="110000"/>
              </a:lnSpc>
            </a:pPr>
            <a:r>
              <a:rPr sz="3400" b="1">
                <a:solidFill>
                  <a:srgbClr val="000000"/>
                </a:solidFill>
                <a:latin typeface="Source Han Sans SC"/>
              </a:rPr>
              <a:t>Build a Pomodoro Timer</a:t>
            </a:r>
          </a:p>
        </p:txBody>
      </p:sp>
      <p:sp>
        <p:nvSpPr>
          <p:cNvPr id="6" name="Rectangle 5"/>
          <p:cNvSpPr/>
          <p:nvPr/>
        </p:nvSpPr>
        <p:spPr>
          <a:xfrm>
            <a:off x="566928" y="2788920"/>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3017520"/>
            <a:ext cx="6035040" cy="36576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BMAD's Five Roles · Your First Complete Project · M0 Lesson 4</a:t>
            </a:r>
          </a:p>
        </p:txBody>
      </p:sp>
      <p:sp>
        <p:nvSpPr>
          <p:cNvPr id="8" name="TextBox 7"/>
          <p:cNvSpPr txBox="1"/>
          <p:nvPr/>
        </p:nvSpPr>
        <p:spPr>
          <a:xfrm>
            <a:off x="566928" y="3520440"/>
            <a:ext cx="6035040" cy="457200"/>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From today, you're the boss of a team.</a:t>
            </a:r>
          </a:p>
        </p:txBody>
      </p:sp>
      <p:sp>
        <p:nvSpPr>
          <p:cNvPr id="9" name="Rectangle 8"/>
          <p:cNvSpPr/>
          <p:nvPr/>
        </p:nvSpPr>
        <p:spPr>
          <a:xfrm>
            <a:off x="6309360" y="3017520"/>
            <a:ext cx="2194560" cy="1554480"/>
          </a:xfrm>
          <a:prstGeom prst="rect">
            <a:avLst/>
          </a:prstGeom>
          <a:solidFill>
            <a:srgbClr val="FFFFFF"/>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26326" y="3127248"/>
            <a:ext cx="1360627" cy="808329"/>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6326" y="3385108"/>
            <a:ext cx="1360627" cy="292608"/>
          </a:xfrm>
          <a:prstGeom prst="rect">
            <a:avLst/>
          </a:prstGeom>
          <a:noFill/>
        </p:spPr>
        <p:txBody>
          <a:bodyPr wrap="square" anchor="t" lIns="0" rIns="0" tIns="0" bIns="0">
            <a:spAutoFit/>
          </a:bodyPr>
          <a:lstStyle/>
          <a:p>
            <a:pPr algn="ctr">
              <a:lnSpc>
                <a:spcPct val="100000"/>
              </a:lnSpc>
            </a:pPr>
            <a:r>
              <a:rPr sz="1100" b="1">
                <a:solidFill>
                  <a:srgbClr val="000000"/>
                </a:solidFill>
                <a:latin typeface="Source Code Pro"/>
              </a:rPr>
              <a:t>WORK 25:00</a:t>
            </a:r>
          </a:p>
        </p:txBody>
      </p:sp>
      <p:sp>
        <p:nvSpPr>
          <p:cNvPr id="12" name="Oval 11"/>
          <p:cNvSpPr/>
          <p:nvPr/>
        </p:nvSpPr>
        <p:spPr>
          <a:xfrm>
            <a:off x="6565392" y="426110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949440" y="426110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33488" y="4261104"/>
            <a:ext cx="146304" cy="146304"/>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0" y="4197096"/>
            <a:ext cx="237744" cy="237744"/>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617720"/>
            <a:ext cx="2194560" cy="237744"/>
          </a:xfrm>
          <a:prstGeom prst="rect">
            <a:avLst/>
          </a:prstGeom>
          <a:noFill/>
        </p:spPr>
        <p:txBody>
          <a:bodyPr wrap="square" anchor="t" lIns="0" rIns="0" tIns="0" bIns="0">
            <a:spAutoFit/>
          </a:bodyPr>
          <a:lstStyle/>
          <a:p>
            <a:pPr algn="ctr">
              <a:lnSpc>
                <a:spcPct val="100000"/>
              </a:lnSpc>
            </a:pPr>
            <a:r>
              <a:rPr sz="1000" b="0">
                <a:solidFill>
                  <a:srgbClr val="000000"/>
                </a:solidFill>
                <a:latin typeface="Source Han Sans SC"/>
              </a:rPr>
              <a:t>Pomodoro timer on the Wio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200" b="1">
                <a:solidFill>
                  <a:srgbClr val="000000"/>
                </a:solidFill>
                <a:latin typeface="Source Han Sans SC"/>
              </a:rPr>
              <a:t>First, Let's Collect Last Session's Work</a:t>
            </a:r>
          </a:p>
        </p:txBody>
      </p:sp>
      <p:sp>
        <p:nvSpPr>
          <p:cNvPr id="6" name="Rectangle 5"/>
          <p:cNvSpPr/>
          <p:nvPr/>
        </p:nvSpPr>
        <p:spPr>
          <a:xfrm>
            <a:off x="566928" y="128016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1673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097280" y="1280160"/>
            <a:ext cx="7223760" cy="777240"/>
          </a:xfrm>
          <a:prstGeom prst="rect">
            <a:avLst/>
          </a:prstGeom>
          <a:noFill/>
        </p:spPr>
        <p:txBody>
          <a:bodyPr wrap="square" anchor="t" lIns="0" rIns="0" tIns="0" bIns="0">
            <a:spAutoFit/>
          </a:bodyPr>
          <a:lstStyle/>
          <a:p>
            <a:pPr algn="l">
              <a:lnSpc>
                <a:spcPct val="130000"/>
              </a:lnSpc>
            </a:pPr>
            <a:r>
              <a:rPr sz="1400" b="1">
                <a:solidFill>
                  <a:srgbClr val="000000"/>
                </a:solidFill>
                <a:latin typeface="Source Han Sans SC"/>
              </a:rPr>
              <a:t>Hand in your work — online doc? send the link.</a:t>
            </a:r>
          </a:p>
          <a:p>
            <a:pPr algn="l">
              <a:lnSpc>
                <a:spcPct val="130000"/>
              </a:lnSpc>
            </a:pPr>
            <a:r>
              <a:rPr sz="1250" b="0">
                <a:solidFill>
                  <a:srgbClr val="000000"/>
                </a:solidFill>
                <a:latin typeface="Source Han Sans SC"/>
              </a:rPr>
              <a:t>Handwritten? send a photo. Not in yet? Note it down — finish before you leave today.</a:t>
            </a:r>
          </a:p>
        </p:txBody>
      </p:sp>
      <p:sp>
        <p:nvSpPr>
          <p:cNvPr id="9" name="Rectangle 8"/>
          <p:cNvSpPr/>
          <p:nvPr/>
        </p:nvSpPr>
        <p:spPr>
          <a:xfrm>
            <a:off x="566928" y="224028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27685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097280" y="2240280"/>
            <a:ext cx="7223760" cy="777240"/>
          </a:xfrm>
          <a:prstGeom prst="rect">
            <a:avLst/>
          </a:prstGeom>
          <a:noFill/>
        </p:spPr>
        <p:txBody>
          <a:bodyPr wrap="square" anchor="t" lIns="0" rIns="0" tIns="0" bIns="0">
            <a:spAutoFit/>
          </a:bodyPr>
          <a:lstStyle/>
          <a:p>
            <a:pPr algn="l">
              <a:lnSpc>
                <a:spcPct val="130000"/>
              </a:lnSpc>
            </a:pPr>
            <a:r>
              <a:rPr sz="1400" b="1">
                <a:solidFill>
                  <a:srgbClr val="000000"/>
                </a:solidFill>
                <a:latin typeface="Source Han Sans SC"/>
              </a:rPr>
              <a:t>Keep your project manifesto and three-box design sheet at hand —</a:t>
            </a:r>
          </a:p>
          <a:p>
            <a:pPr algn="l">
              <a:lnSpc>
                <a:spcPct val="130000"/>
              </a:lnSpc>
            </a:pPr>
            <a:r>
              <a:rPr sz="1250" b="0">
                <a:solidFill>
                  <a:srgbClr val="000000"/>
                </a:solidFill>
                <a:latin typeface="Source Han Sans SC"/>
              </a:rPr>
              <a:t>they're about to do a lot of work.</a:t>
            </a:r>
          </a:p>
        </p:txBody>
      </p:sp>
      <p:sp>
        <p:nvSpPr>
          <p:cNvPr id="12" name="Rectangle 11"/>
          <p:cNvSpPr/>
          <p:nvPr/>
        </p:nvSpPr>
        <p:spPr>
          <a:xfrm>
            <a:off x="566928" y="3291840"/>
            <a:ext cx="8010144"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401568"/>
            <a:ext cx="7680960" cy="557784"/>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Remember the three things for describing a screen?</a:t>
            </a:r>
          </a:p>
          <a:p>
            <a:pPr algn="l">
              <a:lnSpc>
                <a:spcPct val="125000"/>
              </a:lnSpc>
            </a:pPr>
            <a:r>
              <a:rPr sz="1300" b="0">
                <a:solidFill>
                  <a:srgbClr val="000000"/>
                </a:solidFill>
                <a:latin typeface="Source Han Sans SC"/>
              </a:rPr>
              <a:t>Position, size, color — you'll use all of it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Two Ways — Same Idea</a:t>
            </a:r>
          </a:p>
        </p:txBody>
      </p:sp>
      <p:sp>
        <p:nvSpPr>
          <p:cNvPr id="6" name="TextBox 5"/>
          <p:cNvSpPr txBox="1"/>
          <p:nvPr/>
        </p:nvSpPr>
        <p:spPr>
          <a:xfrm>
            <a:off x="566928" y="1005840"/>
            <a:ext cx="801014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(one small line, for the show of hands)</a:t>
            </a:r>
          </a:p>
        </p:txBody>
      </p:sp>
      <p:sp>
        <p:nvSpPr>
          <p:cNvPr id="7" name="TextBox 6"/>
          <p:cNvSpPr txBox="1"/>
          <p:nvPr/>
        </p:nvSpPr>
        <p:spPr>
          <a:xfrm>
            <a:off x="566928" y="1261872"/>
            <a:ext cx="8010144"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Raise your hand if you've ever hit any of these:</a:t>
            </a:r>
          </a:p>
        </p:txBody>
      </p:sp>
      <p:sp>
        <p:nvSpPr>
          <p:cNvPr id="8" name="TextBox 7"/>
          <p:cNvSpPr txBox="1"/>
          <p:nvPr/>
        </p:nvSpPr>
        <p:spPr>
          <a:xfrm>
            <a:off x="566928" y="1572768"/>
            <a:ext cx="8010144" cy="2743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don't know where to add a feature  /  never thought it through at the start  /  don't know where the color lives</a:t>
            </a:r>
          </a:p>
        </p:txBody>
      </p:sp>
      <p:sp>
        <p:nvSpPr>
          <p:cNvPr id="9" name="Rectangle 8"/>
          <p:cNvSpPr/>
          <p:nvPr/>
        </p:nvSpPr>
        <p:spPr>
          <a:xfrm>
            <a:off x="566928" y="2011680"/>
            <a:ext cx="3931920" cy="14630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121408"/>
            <a:ext cx="3602736"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WAY A · WRITE-IT-DIRECT</a:t>
            </a:r>
          </a:p>
        </p:txBody>
      </p:sp>
      <p:sp>
        <p:nvSpPr>
          <p:cNvPr id="11" name="TextBox 10"/>
          <p:cNvSpPr txBox="1"/>
          <p:nvPr/>
        </p:nvSpPr>
        <p:spPr>
          <a:xfrm>
            <a:off x="731520" y="2432304"/>
            <a:ext cx="3602736" cy="960120"/>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It runs, and that's about it:</a:t>
            </a:r>
          </a:p>
          <a:p>
            <a:pPr algn="l">
              <a:lnSpc>
                <a:spcPct val="125000"/>
              </a:lnSpc>
            </a:pPr>
            <a:r>
              <a:rPr sz="1100" b="0">
                <a:solidFill>
                  <a:srgbClr val="000000"/>
                </a:solidFill>
                <a:latin typeface="Source Han Sans SC"/>
              </a:rPr>
              <a:t>layout is whatever happened</a:t>
            </a:r>
          </a:p>
          <a:p>
            <a:pPr algn="l">
              <a:lnSpc>
                <a:spcPct val="125000"/>
              </a:lnSpc>
            </a:pPr>
            <a:r>
              <a:rPr sz="1100" b="0">
                <a:solidFill>
                  <a:srgbClr val="000000"/>
                </a:solidFill>
                <a:latin typeface="Source Han Sans SC"/>
              </a:rPr>
              <a:t>adding features gets messy</a:t>
            </a:r>
          </a:p>
          <a:p>
            <a:pPr algn="l">
              <a:lnSpc>
                <a:spcPct val="125000"/>
              </a:lnSpc>
            </a:pPr>
            <a:r>
              <a:rPr sz="1100" b="0">
                <a:solidFill>
                  <a:srgbClr val="000000"/>
                </a:solidFill>
                <a:latin typeface="Source Han Sans SC"/>
              </a:rPr>
              <a:t>recoloring is guesswork</a:t>
            </a:r>
          </a:p>
        </p:txBody>
      </p:sp>
      <p:sp>
        <p:nvSpPr>
          <p:cNvPr id="12" name="Rectangle 11"/>
          <p:cNvSpPr/>
          <p:nvPr/>
        </p:nvSpPr>
        <p:spPr>
          <a:xfrm>
            <a:off x="4645152" y="2011680"/>
            <a:ext cx="3931920" cy="14630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2121408"/>
            <a:ext cx="3602736"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WAY B · PLAN-FIRST</a:t>
            </a:r>
          </a:p>
        </p:txBody>
      </p:sp>
      <p:sp>
        <p:nvSpPr>
          <p:cNvPr id="14" name="TextBox 13"/>
          <p:cNvSpPr txBox="1"/>
          <p:nvPr/>
        </p:nvSpPr>
        <p:spPr>
          <a:xfrm>
            <a:off x="4809744" y="2432304"/>
            <a:ext cx="3602736" cy="960120"/>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The screen is designed:</a:t>
            </a:r>
          </a:p>
          <a:p>
            <a:pPr algn="l">
              <a:lnSpc>
                <a:spcPct val="125000"/>
              </a:lnSpc>
            </a:pPr>
            <a:r>
              <a:rPr sz="1100" b="0">
                <a:solidFill>
                  <a:srgbClr val="000000"/>
                </a:solidFill>
                <a:latin typeface="Source Han Sans SC"/>
              </a:rPr>
              <a:t>the structure is clear</a:t>
            </a:r>
          </a:p>
          <a:p>
            <a:pPr algn="l">
              <a:lnSpc>
                <a:spcPct val="125000"/>
              </a:lnSpc>
            </a:pPr>
            <a:r>
              <a:rPr sz="1100" b="0">
                <a:solidFill>
                  <a:srgbClr val="000000"/>
                </a:solidFill>
                <a:latin typeface="Source Han Sans SC"/>
              </a:rPr>
              <a:t>you know where new things go</a:t>
            </a:r>
          </a:p>
        </p:txBody>
      </p:sp>
      <p:sp>
        <p:nvSpPr>
          <p:cNvPr id="15" name="Rectangle 14"/>
          <p:cNvSpPr/>
          <p:nvPr/>
        </p:nvSpPr>
        <p:spPr>
          <a:xfrm>
            <a:off x="566928" y="3703320"/>
            <a:ext cx="54864" cy="62090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721607"/>
            <a:ext cx="7808975" cy="584326"/>
          </a:xfrm>
          <a:prstGeom prst="rect">
            <a:avLst/>
          </a:prstGeom>
          <a:noFill/>
        </p:spPr>
        <p:txBody>
          <a:bodyPr wrap="square" anchor="t" lIns="0" rIns="0" tIns="0" bIns="0">
            <a:spAutoFit/>
          </a:bodyPr>
          <a:lstStyle/>
          <a:p>
            <a:pPr algn="l">
              <a:lnSpc>
                <a:spcPct val="115000"/>
              </a:lnSpc>
            </a:pPr>
            <a:r>
              <a:rPr sz="1400" b="0">
                <a:solidFill>
                  <a:srgbClr val="000000"/>
                </a:solidFill>
                <a:latin typeface="Source Han Sans SC"/>
              </a:rPr>
              <a:t>BMAD — an open-source method used by developers worldwide: have AI play different roles, and think it through step by step before you build.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Meet BMAD — Open Source, Free, Professional</a:t>
            </a:r>
          </a:p>
        </p:txBody>
      </p:sp>
      <p:sp>
        <p:nvSpPr>
          <p:cNvPr id="6" name="TextBox 5"/>
          <p:cNvSpPr txBox="1"/>
          <p:nvPr/>
        </p:nvSpPr>
        <p:spPr>
          <a:xfrm>
            <a:off x="566928" y="932688"/>
            <a:ext cx="8010144" cy="237744"/>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(small) Breakthrough Method for Agile AI-Driven Development</a:t>
            </a:r>
          </a:p>
        </p:txBody>
      </p:sp>
      <p:sp>
        <p:nvSpPr>
          <p:cNvPr id="7" name="Rectangle 6"/>
          <p:cNvSpPr/>
          <p:nvPr/>
        </p:nvSpPr>
        <p:spPr>
          <a:xfrm>
            <a:off x="566928" y="1234440"/>
            <a:ext cx="347472" cy="34747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71016"/>
            <a:ext cx="347472"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042415" y="1216152"/>
            <a:ext cx="722376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OPEN SOURCE &amp; FREE</a:t>
            </a:r>
          </a:p>
        </p:txBody>
      </p:sp>
      <p:sp>
        <p:nvSpPr>
          <p:cNvPr id="10" name="TextBox 9"/>
          <p:cNvSpPr txBox="1"/>
          <p:nvPr/>
        </p:nvSpPr>
        <p:spPr>
          <a:xfrm>
            <a:off x="1042415" y="1472184"/>
            <a:ext cx="7223760" cy="502920"/>
          </a:xfrm>
          <a:prstGeom prst="rect">
            <a:avLst/>
          </a:prstGeom>
          <a:noFill/>
        </p:spPr>
        <p:txBody>
          <a:bodyPr wrap="square" anchor="t" lIns="0" rIns="0" tIns="0" bIns="0">
            <a:spAutoFit/>
          </a:bodyPr>
          <a:lstStyle/>
          <a:p>
            <a:pPr algn="l">
              <a:lnSpc>
                <a:spcPct val="115000"/>
              </a:lnSpc>
            </a:pPr>
            <a:r>
              <a:rPr sz="1150" b="0">
                <a:solidFill>
                  <a:srgbClr val="000000"/>
                </a:solidFill>
                <a:latin typeface="Source Han Sans SC"/>
              </a:rPr>
              <a:t>everything is public on GitHub, anyone can use it, zero cost</a:t>
            </a:r>
          </a:p>
        </p:txBody>
      </p:sp>
      <p:sp>
        <p:nvSpPr>
          <p:cNvPr id="11" name="Rectangle 10"/>
          <p:cNvSpPr/>
          <p:nvPr/>
        </p:nvSpPr>
        <p:spPr>
          <a:xfrm>
            <a:off x="566928" y="2075688"/>
            <a:ext cx="347472" cy="34747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2264"/>
            <a:ext cx="347472"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3" name="TextBox 12"/>
          <p:cNvSpPr txBox="1"/>
          <p:nvPr/>
        </p:nvSpPr>
        <p:spPr>
          <a:xfrm>
            <a:off x="1042415" y="2057400"/>
            <a:ext cx="722376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USED BY DEVELOPERS WORLDWIDE</a:t>
            </a:r>
          </a:p>
        </p:txBody>
      </p:sp>
      <p:sp>
        <p:nvSpPr>
          <p:cNvPr id="14" name="TextBox 13"/>
          <p:cNvSpPr txBox="1"/>
          <p:nvPr/>
        </p:nvSpPr>
        <p:spPr>
          <a:xfrm>
            <a:off x="1042415" y="2313432"/>
            <a:ext cx="7223760" cy="502920"/>
          </a:xfrm>
          <a:prstGeom prst="rect">
            <a:avLst/>
          </a:prstGeom>
          <a:noFill/>
        </p:spPr>
        <p:txBody>
          <a:bodyPr wrap="square" anchor="t" lIns="0" rIns="0" tIns="0" bIns="0">
            <a:spAutoFit/>
          </a:bodyPr>
          <a:lstStyle/>
          <a:p>
            <a:pPr algn="l">
              <a:lnSpc>
                <a:spcPct val="115000"/>
              </a:lnSpc>
            </a:pPr>
            <a:r>
              <a:rPr sz="1150" b="0">
                <a:solidFill>
                  <a:srgbClr val="000000"/>
                </a:solidFill>
                <a:latin typeface="Source Han Sans SC"/>
              </a:rPr>
              <a:t>a method professional teams maintain and keep updating: 12+ roles, 30+ ready workflows inside</a:t>
            </a:r>
          </a:p>
        </p:txBody>
      </p:sp>
      <p:sp>
        <p:nvSpPr>
          <p:cNvPr id="15" name="Rectangle 14"/>
          <p:cNvSpPr/>
          <p:nvPr/>
        </p:nvSpPr>
        <p:spPr>
          <a:xfrm>
            <a:off x="566928" y="2916936"/>
            <a:ext cx="347472" cy="34747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953512"/>
            <a:ext cx="347472"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7" name="TextBox 16"/>
          <p:cNvSpPr txBox="1"/>
          <p:nvPr/>
        </p:nvSpPr>
        <p:spPr>
          <a:xfrm>
            <a:off x="1042415" y="2898648"/>
            <a:ext cx="722376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THE ONE CORE MOVE</a:t>
            </a:r>
          </a:p>
        </p:txBody>
      </p:sp>
      <p:sp>
        <p:nvSpPr>
          <p:cNvPr id="18" name="TextBox 17"/>
          <p:cNvSpPr txBox="1"/>
          <p:nvPr/>
        </p:nvSpPr>
        <p:spPr>
          <a:xfrm>
            <a:off x="1042415" y="3154680"/>
            <a:ext cx="7223760" cy="502920"/>
          </a:xfrm>
          <a:prstGeom prst="rect">
            <a:avLst/>
          </a:prstGeom>
          <a:noFill/>
        </p:spPr>
        <p:txBody>
          <a:bodyPr wrap="square" anchor="t" lIns="0" rIns="0" tIns="0" bIns="0">
            <a:spAutoFit/>
          </a:bodyPr>
          <a:lstStyle/>
          <a:p>
            <a:pPr algn="l">
              <a:lnSpc>
                <a:spcPct val="115000"/>
              </a:lnSpc>
            </a:pPr>
            <a:r>
              <a:rPr sz="1150" b="0">
                <a:solidFill>
                  <a:srgbClr val="000000"/>
                </a:solidFill>
                <a:latin typeface="Source Han Sans SC"/>
              </a:rPr>
              <a:t>don't let AI do everything in one sentence; have it play different roles and think it through step by step before you build</a:t>
            </a:r>
          </a:p>
        </p:txBody>
      </p:sp>
      <p:sp>
        <p:nvSpPr>
          <p:cNvPr id="19" name="Rectangle 18"/>
          <p:cNvSpPr/>
          <p:nvPr/>
        </p:nvSpPr>
        <p:spPr>
          <a:xfrm>
            <a:off x="566928" y="3822191"/>
            <a:ext cx="8010144" cy="41148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13631"/>
            <a:ext cx="7680960" cy="228600"/>
          </a:xfrm>
          <a:prstGeom prst="rect">
            <a:avLst/>
          </a:prstGeom>
          <a:noFill/>
        </p:spPr>
        <p:txBody>
          <a:bodyPr wrap="square" anchor="t" lIns="0" rIns="0" tIns="0" bIns="0">
            <a:spAutoFit/>
          </a:bodyPr>
          <a:lstStyle/>
          <a:p>
            <a:pPr algn="l">
              <a:lnSpc>
                <a:spcPct val="120000"/>
              </a:lnSpc>
            </a:pPr>
            <a:r>
              <a:rPr sz="1150" b="0">
                <a:solidFill>
                  <a:srgbClr val="000000"/>
                </a:solidFill>
                <a:latin typeface="Source Code Pro"/>
              </a:rPr>
              <a:t>github.com/bmad-code-org/BMAD-METHOD   —   open source, you can check every word I just said</a:t>
            </a:r>
          </a:p>
        </p:txBody>
      </p:sp>
      <p:sp>
        <p:nvSpPr>
          <p:cNvPr id="21" name="TextBox 20"/>
          <p:cNvSpPr txBox="1"/>
          <p:nvPr/>
        </p:nvSpPr>
        <p:spPr>
          <a:xfrm>
            <a:off x="566928" y="4370832"/>
            <a:ext cx="8010144" cy="274320"/>
          </a:xfrm>
          <a:prstGeom prst="rect">
            <a:avLst/>
          </a:prstGeom>
          <a:noFill/>
        </p:spPr>
        <p:txBody>
          <a:bodyPr wrap="square" anchor="t" lIns="0" rIns="0" tIns="0" bIns="0">
            <a:spAutoFit/>
          </a:bodyPr>
          <a:lstStyle/>
          <a:p>
            <a:pPr algn="ctr">
              <a:lnSpc>
                <a:spcPct val="100000"/>
              </a:lnSpc>
            </a:pPr>
            <a:r>
              <a:rPr sz="1200" b="1">
                <a:solidFill>
                  <a:srgbClr val="000000"/>
                </a:solidFill>
                <a:latin typeface="Source Han Sans SC"/>
              </a:rPr>
              <a:t>BMAD is not software to install. It's a method. Methods don't get installed — learn it, and it's yours.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How to Use It — Two Ways, Today the First One</a:t>
            </a:r>
          </a:p>
        </p:txBody>
      </p:sp>
      <p:sp>
        <p:nvSpPr>
          <p:cNvPr id="6" name="Rectangle 5"/>
          <p:cNvSpPr/>
          <p:nvPr/>
        </p:nvSpPr>
        <p:spPr>
          <a:xfrm>
            <a:off x="566928" y="1207008"/>
            <a:ext cx="3931920" cy="23774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16736"/>
            <a:ext cx="3602736" cy="502920"/>
          </a:xfrm>
          <a:prstGeom prst="rect">
            <a:avLst/>
          </a:prstGeom>
          <a:noFill/>
        </p:spPr>
        <p:txBody>
          <a:bodyPr wrap="square" anchor="t" lIns="0" rIns="0" tIns="0" bIns="0">
            <a:spAutoFit/>
          </a:bodyPr>
          <a:lstStyle/>
          <a:p>
            <a:pPr algn="l">
              <a:lnSpc>
                <a:spcPct val="110000"/>
              </a:lnSpc>
            </a:pPr>
            <a:r>
              <a:rPr sz="1200" b="1">
                <a:solidFill>
                  <a:srgbClr val="000000"/>
                </a:solidFill>
                <a:latin typeface="Source Han Sans SC"/>
              </a:rPr>
              <a:t>WAY ONE · RIGHT HERE IN CLASS — INSTALL NOTHING</a:t>
            </a:r>
          </a:p>
        </p:txBody>
      </p:sp>
      <p:sp>
        <p:nvSpPr>
          <p:cNvPr id="8" name="TextBox 7"/>
          <p:cNvSpPr txBox="1"/>
          <p:nvPr/>
        </p:nvSpPr>
        <p:spPr>
          <a:xfrm>
            <a:off x="731520" y="1901952"/>
            <a:ext cx="3602736" cy="1234440"/>
          </a:xfrm>
          <a:prstGeom prst="rect">
            <a:avLst/>
          </a:prstGeom>
          <a:noFill/>
        </p:spPr>
        <p:txBody>
          <a:bodyPr wrap="square" anchor="t" lIns="0" rIns="0" tIns="0" bIns="0">
            <a:spAutoFit/>
          </a:bodyPr>
          <a:lstStyle/>
          <a:p>
            <a:pPr algn="l">
              <a:lnSpc>
                <a:spcPct val="130000"/>
              </a:lnSpc>
            </a:pPr>
            <a:r>
              <a:rPr sz="1100" b="0">
                <a:solidFill>
                  <a:srgbClr val="000000"/>
                </a:solidFill>
                <a:latin typeface="Source Han Sans SC"/>
              </a:rPr>
              <a:t>The five round-openers you're about to get are BMAD's core usage —</a:t>
            </a:r>
          </a:p>
          <a:p>
            <a:pPr algn="l">
              <a:lnSpc>
                <a:spcPct val="130000"/>
              </a:lnSpc>
            </a:pPr>
            <a:r>
              <a:rPr sz="1100" b="0">
                <a:solidFill>
                  <a:srgbClr val="000000"/>
                </a:solidFill>
                <a:latin typeface="Source Han Sans SC"/>
              </a:rPr>
              <a:t>PM -&gt; designer -&gt; architect -&gt; developer -&gt; tester, in a relay inside one conversation.</a:t>
            </a:r>
          </a:p>
          <a:p>
            <a:pPr algn="l">
              <a:lnSpc>
                <a:spcPct val="130000"/>
              </a:lnSpc>
            </a:pPr>
            <a:r>
              <a:rPr sz="1100" b="0">
                <a:solidFill>
                  <a:srgbClr val="000000"/>
                </a:solidFill>
                <a:latin typeface="Source Han Sans SC"/>
              </a:rPr>
              <a:t>The method lives in your head — that's the valuable part.</a:t>
            </a:r>
          </a:p>
        </p:txBody>
      </p:sp>
      <p:sp>
        <p:nvSpPr>
          <p:cNvPr id="9" name="Rectangle 8"/>
          <p:cNvSpPr/>
          <p:nvPr/>
        </p:nvSpPr>
        <p:spPr>
          <a:xfrm>
            <a:off x="4645152" y="1207008"/>
            <a:ext cx="3931920" cy="23774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9744" y="1316736"/>
            <a:ext cx="3602736" cy="502920"/>
          </a:xfrm>
          <a:prstGeom prst="rect">
            <a:avLst/>
          </a:prstGeom>
          <a:noFill/>
        </p:spPr>
        <p:txBody>
          <a:bodyPr wrap="square" anchor="t" lIns="0" rIns="0" tIns="0" bIns="0">
            <a:spAutoFit/>
          </a:bodyPr>
          <a:lstStyle/>
          <a:p>
            <a:pPr algn="l">
              <a:lnSpc>
                <a:spcPct val="110000"/>
              </a:lnSpc>
            </a:pPr>
            <a:r>
              <a:rPr sz="1200" b="1">
                <a:solidFill>
                  <a:srgbClr val="000000"/>
                </a:solidFill>
                <a:latin typeface="Source Han Sans SC"/>
              </a:rPr>
              <a:t>WAY TWO · OPTIONAL, AFTER CLASS — LET AI INSTALL IT</a:t>
            </a:r>
          </a:p>
        </p:txBody>
      </p:sp>
      <p:sp>
        <p:nvSpPr>
          <p:cNvPr id="11" name="TextBox 10"/>
          <p:cNvSpPr txBox="1"/>
          <p:nvPr/>
        </p:nvSpPr>
        <p:spPr>
          <a:xfrm>
            <a:off x="4809744" y="1901952"/>
            <a:ext cx="3602736" cy="237744"/>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No commands to memorize. Just say:</a:t>
            </a:r>
          </a:p>
        </p:txBody>
      </p:sp>
      <p:sp>
        <p:nvSpPr>
          <p:cNvPr id="12" name="Rectangle 11"/>
          <p:cNvSpPr/>
          <p:nvPr/>
        </p:nvSpPr>
        <p:spPr>
          <a:xfrm>
            <a:off x="4809744" y="2176272"/>
            <a:ext cx="3602736" cy="7772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74336" y="2267712"/>
            <a:ext cx="3273552" cy="594359"/>
          </a:xfrm>
          <a:prstGeom prst="rect">
            <a:avLst/>
          </a:prstGeom>
          <a:noFill/>
        </p:spPr>
        <p:txBody>
          <a:bodyPr wrap="square" anchor="t" lIns="0" rIns="0" tIns="0" bIns="0">
            <a:spAutoFit/>
          </a:bodyPr>
          <a:lstStyle/>
          <a:p>
            <a:pPr algn="l">
              <a:lnSpc>
                <a:spcPct val="120000"/>
              </a:lnSpc>
            </a:pPr>
            <a:r>
              <a:rPr sz="900" b="0">
                <a:solidFill>
                  <a:srgbClr val="000000"/>
                </a:solidFill>
                <a:latin typeface="Source Code Pro"/>
              </a:rPr>
              <a:t>Read the documentation at https://github.com/bmad-code-org/BMAD-METHOD and configure the BMAD workflow in my project.</a:t>
            </a:r>
          </a:p>
        </p:txBody>
      </p:sp>
      <p:sp>
        <p:nvSpPr>
          <p:cNvPr id="14" name="TextBox 13"/>
          <p:cNvSpPr txBox="1"/>
          <p:nvPr/>
        </p:nvSpPr>
        <p:spPr>
          <a:xfrm>
            <a:off x="4809744" y="3035808"/>
            <a:ext cx="3602736" cy="475488"/>
          </a:xfrm>
          <a:prstGeom prst="rect">
            <a:avLst/>
          </a:prstGeom>
          <a:noFill/>
        </p:spPr>
        <p:txBody>
          <a:bodyPr wrap="square" anchor="t" lIns="0" rIns="0" tIns="0" bIns="0">
            <a:spAutoFit/>
          </a:bodyPr>
          <a:lstStyle/>
          <a:p>
            <a:pPr algn="l">
              <a:lnSpc>
                <a:spcPct val="120000"/>
              </a:lnSpc>
            </a:pPr>
            <a:r>
              <a:rPr sz="950" b="0">
                <a:solidFill>
                  <a:srgbClr val="000000"/>
                </a:solidFill>
                <a:latin typeface="Source Han Sans SC"/>
              </a:rPr>
              <a:t>AI visits the repo, runs the install, drops the whole set of roles and workflows into your project. (Needs a Node.js environment — not today.)</a:t>
            </a:r>
          </a:p>
        </p:txBody>
      </p:sp>
      <p:sp>
        <p:nvSpPr>
          <p:cNvPr id="15" name="Rectangle 14"/>
          <p:cNvSpPr/>
          <p:nvPr/>
        </p:nvSpPr>
        <p:spPr>
          <a:xfrm>
            <a:off x="566928" y="3840480"/>
            <a:ext cx="54864" cy="62090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858768"/>
            <a:ext cx="7808975" cy="584326"/>
          </a:xfrm>
          <a:prstGeom prst="rect">
            <a:avLst/>
          </a:prstGeom>
          <a:noFill/>
        </p:spPr>
        <p:txBody>
          <a:bodyPr wrap="square" anchor="t" lIns="0" rIns="0" tIns="0" bIns="0">
            <a:spAutoFit/>
          </a:bodyPr>
          <a:lstStyle/>
          <a:p>
            <a:pPr algn="l">
              <a:lnSpc>
                <a:spcPct val="115000"/>
              </a:lnSpc>
            </a:pPr>
            <a:r>
              <a:rPr sz="1400" b="0">
                <a:solidFill>
                  <a:srgbClr val="000000"/>
                </a:solidFill>
                <a:latin typeface="Source Han Sans SC"/>
              </a:rPr>
              <a:t>Today's one goal: run this method once, in your head. Tools can be installed anytime — the method in your head stays with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Your AI Team — What You Used to Do Alone, Five Experts Now Share</a:t>
            </a:r>
          </a:p>
        </p:txBody>
      </p:sp>
      <p:sp>
        <p:nvSpPr>
          <p:cNvPr id="6" name="TextBox 5"/>
          <p:cNvSpPr txBox="1"/>
          <p:nvPr/>
        </p:nvSpPr>
        <p:spPr>
          <a:xfrm>
            <a:off x="566928" y="987552"/>
            <a:ext cx="8010144"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You are the boss of this team.</a:t>
            </a:r>
          </a:p>
        </p:txBody>
      </p:sp>
      <p:sp>
        <p:nvSpPr>
          <p:cNvPr id="7" name="Rectangle 6"/>
          <p:cNvSpPr/>
          <p:nvPr/>
        </p:nvSpPr>
        <p:spPr>
          <a:xfrm>
            <a:off x="566928" y="1371600"/>
            <a:ext cx="1517904" cy="1965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6656" y="148132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51790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0" name="TextBox 9"/>
          <p:cNvSpPr txBox="1"/>
          <p:nvPr/>
        </p:nvSpPr>
        <p:spPr>
          <a:xfrm>
            <a:off x="676656" y="1865376"/>
            <a:ext cx="1298448" cy="274320"/>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PM</a:t>
            </a:r>
          </a:p>
        </p:txBody>
      </p:sp>
      <p:sp>
        <p:nvSpPr>
          <p:cNvPr id="11" name="TextBox 10"/>
          <p:cNvSpPr txBox="1"/>
          <p:nvPr/>
        </p:nvSpPr>
        <p:spPr>
          <a:xfrm>
            <a:off x="676656" y="2139696"/>
            <a:ext cx="1298448"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John</a:t>
            </a:r>
          </a:p>
        </p:txBody>
      </p:sp>
      <p:sp>
        <p:nvSpPr>
          <p:cNvPr id="12" name="TextBox 11"/>
          <p:cNvSpPr txBox="1"/>
          <p:nvPr/>
        </p:nvSpPr>
        <p:spPr>
          <a:xfrm>
            <a:off x="676656" y="2432304"/>
            <a:ext cx="1298448" cy="822960"/>
          </a:xfrm>
          <a:prstGeom prst="rect">
            <a:avLst/>
          </a:prstGeom>
          <a:noFill/>
        </p:spPr>
        <p:txBody>
          <a:bodyPr wrap="square" anchor="t" lIns="0" rIns="0" tIns="0" bIns="0">
            <a:spAutoFit/>
          </a:bodyPr>
          <a:lstStyle/>
          <a:p>
            <a:pPr algn="l">
              <a:lnSpc>
                <a:spcPct val="120000"/>
              </a:lnSpc>
            </a:pPr>
            <a:r>
              <a:rPr sz="900" b="0">
                <a:solidFill>
                  <a:srgbClr val="000000"/>
                </a:solidFill>
                <a:latin typeface="Source Han Sans SC"/>
              </a:rPr>
              <a:t>owns "what problem we're solving, who it's for"</a:t>
            </a:r>
          </a:p>
        </p:txBody>
      </p:sp>
      <p:sp>
        <p:nvSpPr>
          <p:cNvPr id="13" name="TextBox 12"/>
          <p:cNvSpPr txBox="1"/>
          <p:nvPr/>
        </p:nvSpPr>
        <p:spPr>
          <a:xfrm>
            <a:off x="2066543" y="2194560"/>
            <a:ext cx="164592" cy="365760"/>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-&gt;</a:t>
            </a:r>
          </a:p>
        </p:txBody>
      </p:sp>
      <p:sp>
        <p:nvSpPr>
          <p:cNvPr id="14" name="Rectangle 13"/>
          <p:cNvSpPr/>
          <p:nvPr/>
        </p:nvSpPr>
        <p:spPr>
          <a:xfrm>
            <a:off x="2212848" y="1371600"/>
            <a:ext cx="1517904" cy="1965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22576" y="148132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22576" y="151790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7" name="TextBox 16"/>
          <p:cNvSpPr txBox="1"/>
          <p:nvPr/>
        </p:nvSpPr>
        <p:spPr>
          <a:xfrm>
            <a:off x="2322576" y="1865376"/>
            <a:ext cx="1298448" cy="274320"/>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DESIGNER</a:t>
            </a:r>
          </a:p>
        </p:txBody>
      </p:sp>
      <p:sp>
        <p:nvSpPr>
          <p:cNvPr id="18" name="TextBox 17"/>
          <p:cNvSpPr txBox="1"/>
          <p:nvPr/>
        </p:nvSpPr>
        <p:spPr>
          <a:xfrm>
            <a:off x="2322576" y="2139696"/>
            <a:ext cx="1298448"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Sally</a:t>
            </a:r>
          </a:p>
        </p:txBody>
      </p:sp>
      <p:sp>
        <p:nvSpPr>
          <p:cNvPr id="19" name="TextBox 18"/>
          <p:cNvSpPr txBox="1"/>
          <p:nvPr/>
        </p:nvSpPr>
        <p:spPr>
          <a:xfrm>
            <a:off x="2322576" y="2432304"/>
            <a:ext cx="1298448" cy="822960"/>
          </a:xfrm>
          <a:prstGeom prst="rect">
            <a:avLst/>
          </a:prstGeom>
          <a:noFill/>
        </p:spPr>
        <p:txBody>
          <a:bodyPr wrap="square" anchor="t" lIns="0" rIns="0" tIns="0" bIns="0">
            <a:spAutoFit/>
          </a:bodyPr>
          <a:lstStyle/>
          <a:p>
            <a:pPr algn="l">
              <a:lnSpc>
                <a:spcPct val="120000"/>
              </a:lnSpc>
            </a:pPr>
            <a:r>
              <a:rPr sz="900" b="0">
                <a:solidFill>
                  <a:srgbClr val="000000"/>
                </a:solidFill>
                <a:latin typeface="Source Han Sans SC"/>
              </a:rPr>
              <a:t>owns "what it looks like, how you use it"</a:t>
            </a:r>
          </a:p>
        </p:txBody>
      </p:sp>
      <p:sp>
        <p:nvSpPr>
          <p:cNvPr id="20" name="TextBox 19"/>
          <p:cNvSpPr txBox="1"/>
          <p:nvPr/>
        </p:nvSpPr>
        <p:spPr>
          <a:xfrm>
            <a:off x="3712464" y="2194560"/>
            <a:ext cx="164592" cy="365760"/>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-&gt;</a:t>
            </a:r>
          </a:p>
        </p:txBody>
      </p:sp>
      <p:sp>
        <p:nvSpPr>
          <p:cNvPr id="21" name="Rectangle 20"/>
          <p:cNvSpPr/>
          <p:nvPr/>
        </p:nvSpPr>
        <p:spPr>
          <a:xfrm>
            <a:off x="3858768" y="1371600"/>
            <a:ext cx="1517904" cy="1965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68496" y="148132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68496" y="151790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24" name="TextBox 23"/>
          <p:cNvSpPr txBox="1"/>
          <p:nvPr/>
        </p:nvSpPr>
        <p:spPr>
          <a:xfrm>
            <a:off x="3968496" y="1865376"/>
            <a:ext cx="1298448" cy="274320"/>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ARCHITECT</a:t>
            </a:r>
          </a:p>
        </p:txBody>
      </p:sp>
      <p:sp>
        <p:nvSpPr>
          <p:cNvPr id="25" name="TextBox 24"/>
          <p:cNvSpPr txBox="1"/>
          <p:nvPr/>
        </p:nvSpPr>
        <p:spPr>
          <a:xfrm>
            <a:off x="3968496" y="2139696"/>
            <a:ext cx="1298448"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Winston</a:t>
            </a:r>
          </a:p>
        </p:txBody>
      </p:sp>
      <p:sp>
        <p:nvSpPr>
          <p:cNvPr id="26" name="TextBox 25"/>
          <p:cNvSpPr txBox="1"/>
          <p:nvPr/>
        </p:nvSpPr>
        <p:spPr>
          <a:xfrm>
            <a:off x="3968496" y="2432304"/>
            <a:ext cx="1298448" cy="822960"/>
          </a:xfrm>
          <a:prstGeom prst="rect">
            <a:avLst/>
          </a:prstGeom>
          <a:noFill/>
        </p:spPr>
        <p:txBody>
          <a:bodyPr wrap="square" anchor="t" lIns="0" rIns="0" tIns="0" bIns="0">
            <a:spAutoFit/>
          </a:bodyPr>
          <a:lstStyle/>
          <a:p>
            <a:pPr algn="l">
              <a:lnSpc>
                <a:spcPct val="120000"/>
              </a:lnSpc>
            </a:pPr>
            <a:r>
              <a:rPr sz="900" b="0">
                <a:solidFill>
                  <a:srgbClr val="000000"/>
                </a:solidFill>
                <a:latin typeface="Source Han Sans SC"/>
              </a:rPr>
              <a:t>owns "how it's split into pieces, what states it has"</a:t>
            </a:r>
          </a:p>
        </p:txBody>
      </p:sp>
      <p:sp>
        <p:nvSpPr>
          <p:cNvPr id="27" name="TextBox 26"/>
          <p:cNvSpPr txBox="1"/>
          <p:nvPr/>
        </p:nvSpPr>
        <p:spPr>
          <a:xfrm>
            <a:off x="5358384" y="2194560"/>
            <a:ext cx="164592" cy="365760"/>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-&gt;</a:t>
            </a:r>
          </a:p>
        </p:txBody>
      </p:sp>
      <p:sp>
        <p:nvSpPr>
          <p:cNvPr id="28" name="Rectangle 27"/>
          <p:cNvSpPr/>
          <p:nvPr/>
        </p:nvSpPr>
        <p:spPr>
          <a:xfrm>
            <a:off x="5504688" y="1371600"/>
            <a:ext cx="1517904" cy="1965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14416" y="148132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4416" y="151790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31" name="TextBox 30"/>
          <p:cNvSpPr txBox="1"/>
          <p:nvPr/>
        </p:nvSpPr>
        <p:spPr>
          <a:xfrm>
            <a:off x="5614416" y="1865376"/>
            <a:ext cx="1298448" cy="274320"/>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DEVELOPER</a:t>
            </a:r>
          </a:p>
        </p:txBody>
      </p:sp>
      <p:sp>
        <p:nvSpPr>
          <p:cNvPr id="32" name="TextBox 31"/>
          <p:cNvSpPr txBox="1"/>
          <p:nvPr/>
        </p:nvSpPr>
        <p:spPr>
          <a:xfrm>
            <a:off x="5614416" y="2139696"/>
            <a:ext cx="1298448"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Amelia</a:t>
            </a:r>
          </a:p>
        </p:txBody>
      </p:sp>
      <p:sp>
        <p:nvSpPr>
          <p:cNvPr id="33" name="TextBox 32"/>
          <p:cNvSpPr txBox="1"/>
          <p:nvPr/>
        </p:nvSpPr>
        <p:spPr>
          <a:xfrm>
            <a:off x="5614416" y="2432304"/>
            <a:ext cx="1298448" cy="822960"/>
          </a:xfrm>
          <a:prstGeom prst="rect">
            <a:avLst/>
          </a:prstGeom>
          <a:noFill/>
        </p:spPr>
        <p:txBody>
          <a:bodyPr wrap="square" anchor="t" lIns="0" rIns="0" tIns="0" bIns="0">
            <a:spAutoFit/>
          </a:bodyPr>
          <a:lstStyle/>
          <a:p>
            <a:pPr algn="l">
              <a:lnSpc>
                <a:spcPct val="120000"/>
              </a:lnSpc>
            </a:pPr>
            <a:r>
              <a:rPr sz="900" b="0">
                <a:solidFill>
                  <a:srgbClr val="000000"/>
                </a:solidFill>
                <a:latin typeface="Source Han Sans SC"/>
              </a:rPr>
              <a:t>owns "writing it"</a:t>
            </a:r>
          </a:p>
        </p:txBody>
      </p:sp>
      <p:sp>
        <p:nvSpPr>
          <p:cNvPr id="34" name="TextBox 33"/>
          <p:cNvSpPr txBox="1"/>
          <p:nvPr/>
        </p:nvSpPr>
        <p:spPr>
          <a:xfrm>
            <a:off x="7004304" y="2194560"/>
            <a:ext cx="164592" cy="365760"/>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-&gt;</a:t>
            </a:r>
          </a:p>
        </p:txBody>
      </p:sp>
      <p:sp>
        <p:nvSpPr>
          <p:cNvPr id="35" name="Rectangle 34"/>
          <p:cNvSpPr/>
          <p:nvPr/>
        </p:nvSpPr>
        <p:spPr>
          <a:xfrm>
            <a:off x="7150607" y="1371600"/>
            <a:ext cx="1517904" cy="1965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60336" y="148132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60336" y="151790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5</a:t>
            </a:r>
          </a:p>
        </p:txBody>
      </p:sp>
      <p:sp>
        <p:nvSpPr>
          <p:cNvPr id="38" name="TextBox 37"/>
          <p:cNvSpPr txBox="1"/>
          <p:nvPr/>
        </p:nvSpPr>
        <p:spPr>
          <a:xfrm>
            <a:off x="7260336" y="1865376"/>
            <a:ext cx="1298448" cy="274320"/>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TESTER</a:t>
            </a:r>
          </a:p>
        </p:txBody>
      </p:sp>
      <p:sp>
        <p:nvSpPr>
          <p:cNvPr id="39" name="TextBox 38"/>
          <p:cNvSpPr txBox="1"/>
          <p:nvPr/>
        </p:nvSpPr>
        <p:spPr>
          <a:xfrm>
            <a:off x="7260336" y="2139696"/>
            <a:ext cx="1298448"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Quinn</a:t>
            </a:r>
          </a:p>
        </p:txBody>
      </p:sp>
      <p:sp>
        <p:nvSpPr>
          <p:cNvPr id="40" name="TextBox 39"/>
          <p:cNvSpPr txBox="1"/>
          <p:nvPr/>
        </p:nvSpPr>
        <p:spPr>
          <a:xfrm>
            <a:off x="7260336" y="2432304"/>
            <a:ext cx="1298448" cy="822960"/>
          </a:xfrm>
          <a:prstGeom prst="rect">
            <a:avLst/>
          </a:prstGeom>
          <a:noFill/>
        </p:spPr>
        <p:txBody>
          <a:bodyPr wrap="square" anchor="t" lIns="0" rIns="0" tIns="0" bIns="0">
            <a:spAutoFit/>
          </a:bodyPr>
          <a:lstStyle/>
          <a:p>
            <a:pPr algn="l">
              <a:lnSpc>
                <a:spcPct val="120000"/>
              </a:lnSpc>
            </a:pPr>
            <a:r>
              <a:rPr sz="900" b="0">
                <a:solidFill>
                  <a:srgbClr val="000000"/>
                </a:solidFill>
                <a:latin typeface="Source Han Sans SC"/>
              </a:rPr>
              <a:t>owns "finding what's wrong"</a:t>
            </a:r>
          </a:p>
        </p:txBody>
      </p:sp>
      <p:sp>
        <p:nvSpPr>
          <p:cNvPr id="41" name="TextBox 40"/>
          <p:cNvSpPr txBox="1"/>
          <p:nvPr/>
        </p:nvSpPr>
        <p:spPr>
          <a:xfrm>
            <a:off x="566928" y="3520440"/>
            <a:ext cx="8010144" cy="256032"/>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They all have names — call them by name, like assigning work to colleagues.</a:t>
            </a:r>
          </a:p>
        </p:txBody>
      </p:sp>
      <p:sp>
        <p:nvSpPr>
          <p:cNvPr id="42" name="TextBox 41"/>
          <p:cNvSpPr txBox="1"/>
          <p:nvPr/>
        </p:nvSpPr>
        <p:spPr>
          <a:xfrm>
            <a:off x="566928" y="3803904"/>
            <a:ext cx="8010144" cy="256032"/>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Five roles = five rounds of relay in ONE conversation.</a:t>
            </a:r>
          </a:p>
        </p:txBody>
      </p:sp>
      <p:sp>
        <p:nvSpPr>
          <p:cNvPr id="43" name="TextBox 42"/>
          <p:cNvSpPr txBox="1"/>
          <p:nvPr/>
        </p:nvSpPr>
        <p:spPr>
          <a:xfrm>
            <a:off x="566928" y="4087368"/>
            <a:ext cx="8010144" cy="256032"/>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Same Five Rules every round — change roles by calling the name.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Kickoff — Build a Pomodoro Timer</a:t>
            </a:r>
          </a:p>
        </p:txBody>
      </p:sp>
      <p:sp>
        <p:nvSpPr>
          <p:cNvPr id="6" name="TextBox 5"/>
          <p:cNvSpPr txBox="1"/>
          <p:nvPr/>
        </p:nvSpPr>
        <p:spPr>
          <a:xfrm>
            <a:off x="566928" y="1051560"/>
            <a:ext cx="8010144" cy="320040"/>
          </a:xfrm>
          <a:prstGeom prst="rect">
            <a:avLst/>
          </a:prstGeom>
          <a:noFill/>
        </p:spPr>
        <p:txBody>
          <a:bodyPr wrap="square" anchor="t" lIns="0" rIns="0" tIns="0" bIns="0">
            <a:spAutoFit/>
          </a:bodyPr>
          <a:lstStyle/>
          <a:p>
            <a:pPr algn="ctr">
              <a:lnSpc>
                <a:spcPct val="100000"/>
              </a:lnSpc>
            </a:pPr>
            <a:r>
              <a:rPr sz="1600" b="1">
                <a:solidFill>
                  <a:srgbClr val="000000"/>
                </a:solidFill>
                <a:latin typeface="Source Han Sans SC"/>
              </a:rPr>
              <a:t>The rule: 25 minutes of focus, 5-minute break, repeat.</a:t>
            </a:r>
          </a:p>
        </p:txBody>
      </p:sp>
      <p:sp>
        <p:nvSpPr>
          <p:cNvPr id="7" name="Rectangle 6"/>
          <p:cNvSpPr/>
          <p:nvPr/>
        </p:nvSpPr>
        <p:spPr>
          <a:xfrm>
            <a:off x="566928" y="1554480"/>
            <a:ext cx="54864" cy="118872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1664207"/>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609344"/>
            <a:ext cx="7507223" cy="320040"/>
          </a:xfrm>
          <a:prstGeom prst="rect">
            <a:avLst/>
          </a:prstGeom>
          <a:noFill/>
        </p:spPr>
        <p:txBody>
          <a:bodyPr wrap="square" anchor="t" lIns="0" rIns="0" tIns="0" bIns="0">
            <a:spAutoFit/>
          </a:bodyPr>
          <a:lstStyle/>
          <a:p>
            <a:pPr algn="l">
              <a:lnSpc>
                <a:spcPct val="100000"/>
              </a:lnSpc>
            </a:pPr>
            <a:r>
              <a:rPr sz="2000" b="1">
                <a:solidFill>
                  <a:srgbClr val="000000"/>
                </a:solidFill>
                <a:latin typeface="Source Han Sans SC"/>
              </a:rPr>
              <a:t>The rule:</a:t>
            </a:r>
          </a:p>
        </p:txBody>
      </p:sp>
      <p:sp>
        <p:nvSpPr>
          <p:cNvPr id="10" name="TextBox 9"/>
          <p:cNvSpPr txBox="1"/>
          <p:nvPr/>
        </p:nvSpPr>
        <p:spPr>
          <a:xfrm>
            <a:off x="932688" y="1956816"/>
            <a:ext cx="7507223" cy="731520"/>
          </a:xfrm>
          <a:prstGeom prst="rect">
            <a:avLst/>
          </a:prstGeom>
          <a:noFill/>
        </p:spPr>
        <p:txBody>
          <a:bodyPr wrap="square" anchor="t" lIns="0" rIns="0" tIns="0" bIns="0">
            <a:spAutoFit/>
          </a:bodyPr>
          <a:lstStyle/>
          <a:p>
            <a:pPr algn="l">
              <a:lnSpc>
                <a:spcPct val="115000"/>
              </a:lnSpc>
            </a:pPr>
            <a:r>
              <a:rPr sz="1700" b="0">
                <a:solidFill>
                  <a:srgbClr val="000000"/>
                </a:solidFill>
                <a:latin typeface="Source Han Sans SC"/>
              </a:rPr>
              <a:t>YOUR TIMER MUST HAVE ONE THING DIFFERENT FROM EVERYONE ELSE'S —</a:t>
            </a:r>
          </a:p>
          <a:p>
            <a:pPr algn="l">
              <a:lnSpc>
                <a:spcPct val="115000"/>
              </a:lnSpc>
            </a:pPr>
            <a:r>
              <a:rPr sz="1700" b="0">
                <a:solidFill>
                  <a:srgbClr val="000000"/>
                </a:solidFill>
                <a:latin typeface="Source Han Sans SC"/>
              </a:rPr>
              <a:t>AND IT HAS TO GROW OUT OF YOUR LIFE.</a:t>
            </a:r>
          </a:p>
        </p:txBody>
      </p:sp>
      <p:sp>
        <p:nvSpPr>
          <p:cNvPr id="11" name="TextBox 10"/>
          <p:cNvSpPr txBox="1"/>
          <p:nvPr/>
        </p:nvSpPr>
        <p:spPr>
          <a:xfrm>
            <a:off x="566928" y="2971800"/>
            <a:ext cx="801014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(three candidate directions)</a:t>
            </a:r>
          </a:p>
        </p:txBody>
      </p:sp>
      <p:sp>
        <p:nvSpPr>
          <p:cNvPr id="12" name="TextBox 11"/>
          <p:cNvSpPr txBox="1"/>
          <p:nvPr/>
        </p:nvSpPr>
        <p:spPr>
          <a:xfrm>
            <a:off x="566928" y="3246120"/>
            <a:ext cx="8010144" cy="502920"/>
          </a:xfrm>
          <a:prstGeom prst="rect">
            <a:avLst/>
          </a:prstGeom>
          <a:noFill/>
        </p:spPr>
        <p:txBody>
          <a:bodyPr wrap="square" anchor="t" lIns="0" rIns="0" tIns="0" bIns="0">
            <a:spAutoFit/>
          </a:bodyPr>
          <a:lstStyle/>
          <a:p>
            <a:pPr algn="ctr">
              <a:lnSpc>
                <a:spcPct val="115000"/>
              </a:lnSpc>
            </a:pPr>
            <a:r>
              <a:rPr sz="1300" b="0">
                <a:solidFill>
                  <a:srgbClr val="000000"/>
                </a:solidFill>
                <a:latin typeface="Source Han Sans SC"/>
              </a:rPr>
              <a:t>Do you space out doing homework?  ·  Need to time your piano practice?  ·  Building one for your little sister?</a:t>
            </a:r>
          </a:p>
        </p:txBody>
      </p:sp>
      <p:sp>
        <p:nvSpPr>
          <p:cNvPr id="13" name="Rectangle 12"/>
          <p:cNvSpPr/>
          <p:nvPr/>
        </p:nvSpPr>
        <p:spPr>
          <a:xfrm>
            <a:off x="566928" y="3886200"/>
            <a:ext cx="8010144" cy="9144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95928"/>
            <a:ext cx="7680960" cy="69494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AI gives everyone the same default answer.</a:t>
            </a:r>
          </a:p>
          <a:p>
            <a:pPr algn="l">
              <a:lnSpc>
                <a:spcPct val="125000"/>
              </a:lnSpc>
            </a:pPr>
            <a:r>
              <a:rPr sz="1250" b="0">
                <a:solidFill>
                  <a:srgbClr val="000000"/>
                </a:solidFill>
                <a:latin typeface="Source Han Sans SC"/>
              </a:rPr>
              <a:t>The details of your life are the part it can't give you — that's what makes your clock worth something.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08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Relay Rules — Don't Drop the Baton</a:t>
            </a:r>
          </a:p>
        </p:txBody>
      </p:sp>
      <p:sp>
        <p:nvSpPr>
          <p:cNvPr id="6" name="Rectangle 5"/>
          <p:cNvSpPr/>
          <p:nvPr/>
        </p:nvSpPr>
        <p:spPr>
          <a:xfrm>
            <a:off x="566928" y="132588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6245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097280" y="1325880"/>
            <a:ext cx="7223760" cy="914400"/>
          </a:xfrm>
          <a:prstGeom prst="rect">
            <a:avLst/>
          </a:prstGeom>
          <a:noFill/>
        </p:spPr>
        <p:txBody>
          <a:bodyPr wrap="square" anchor="t" lIns="0" rIns="0" tIns="0" bIns="0">
            <a:spAutoFit/>
          </a:bodyPr>
          <a:lstStyle/>
          <a:p>
            <a:pPr algn="l">
              <a:lnSpc>
                <a:spcPct val="135000"/>
              </a:lnSpc>
            </a:pPr>
            <a:r>
              <a:rPr sz="1400" b="1">
                <a:solidFill>
                  <a:srgbClr val="000000"/>
                </a:solidFill>
                <a:latin typeface="Source Han Sans SC"/>
              </a:rPr>
              <a:t>Every round opens with the same first line:</a:t>
            </a:r>
          </a:p>
          <a:p>
            <a:pPr algn="l">
              <a:lnSpc>
                <a:spcPct val="135000"/>
              </a:lnSpc>
            </a:pPr>
            <a:r>
              <a:rPr sz="1300" b="0">
                <a:solidFill>
                  <a:srgbClr val="000000"/>
                </a:solidFill>
                <a:latin typeface="Source Han Sans SC"/>
              </a:rPr>
              <a:t>"based on the previous round's conclusion" — hand the last result to the new role.</a:t>
            </a:r>
          </a:p>
        </p:txBody>
      </p:sp>
      <p:sp>
        <p:nvSpPr>
          <p:cNvPr id="9" name="Rectangle 8"/>
          <p:cNvSpPr/>
          <p:nvPr/>
        </p:nvSpPr>
        <p:spPr>
          <a:xfrm>
            <a:off x="566928" y="251460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55117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097280" y="2514600"/>
            <a:ext cx="7223760" cy="914400"/>
          </a:xfrm>
          <a:prstGeom prst="rect">
            <a:avLst/>
          </a:prstGeom>
          <a:noFill/>
        </p:spPr>
        <p:txBody>
          <a:bodyPr wrap="square" anchor="t" lIns="0" rIns="0" tIns="0" bIns="0">
            <a:spAutoFit/>
          </a:bodyPr>
          <a:lstStyle/>
          <a:p>
            <a:pPr algn="l">
              <a:lnSpc>
                <a:spcPct val="135000"/>
              </a:lnSpc>
            </a:pPr>
            <a:r>
              <a:rPr sz="1400" b="1">
                <a:solidFill>
                  <a:srgbClr val="000000"/>
                </a:solidFill>
                <a:latin typeface="Source Han Sans SC"/>
              </a:rPr>
              <a:t>All five rounds happen in ONE conversation.</a:t>
            </a:r>
          </a:p>
          <a:p>
            <a:pPr algn="l">
              <a:lnSpc>
                <a:spcPct val="135000"/>
              </a:lnSpc>
            </a:pPr>
            <a:r>
              <a:rPr sz="1300" b="0">
                <a:solidFill>
                  <a:srgbClr val="000000"/>
                </a:solidFill>
                <a:latin typeface="Source Han Sans SC"/>
              </a:rPr>
              <a:t>Switch roles by calling the name — opening a new window loses everything.</a:t>
            </a:r>
          </a:p>
        </p:txBody>
      </p:sp>
      <p:sp>
        <p:nvSpPr>
          <p:cNvPr id="12" name="TextBox 11"/>
          <p:cNvSpPr txBox="1"/>
          <p:nvPr/>
        </p:nvSpPr>
        <p:spPr>
          <a:xfrm>
            <a:off x="566928" y="3931920"/>
            <a:ext cx="8010144" cy="274320"/>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The lines are in your Student Workbook — follow me on the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09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Round 1/5 · PM — The 3 Things My Clock Must Do</a:t>
            </a:r>
          </a:p>
        </p:txBody>
      </p:sp>
      <p:sp>
        <p:nvSpPr>
          <p:cNvPr id="6" name="Rectangle 5"/>
          <p:cNvSpPr/>
          <p:nvPr/>
        </p:nvSpPr>
        <p:spPr>
          <a:xfrm>
            <a:off x="566928" y="1078992"/>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52144"/>
            <a:ext cx="768096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ROUND 1/5 · PM  |  John</a:t>
            </a:r>
          </a:p>
        </p:txBody>
      </p:sp>
      <p:sp>
        <p:nvSpPr>
          <p:cNvPr id="8" name="TextBox 7"/>
          <p:cNvSpPr txBox="1"/>
          <p:nvPr/>
        </p:nvSpPr>
        <p:spPr>
          <a:xfrm>
            <a:off x="731520" y="1444752"/>
            <a:ext cx="7680960" cy="237744"/>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owns "what problem we're solving, who it's for"</a:t>
            </a:r>
          </a:p>
        </p:txBody>
      </p:sp>
      <p:sp>
        <p:nvSpPr>
          <p:cNvPr id="9" name="Rectangle 8"/>
          <p:cNvSpPr/>
          <p:nvPr/>
        </p:nvSpPr>
        <p:spPr>
          <a:xfrm>
            <a:off x="566928" y="1874519"/>
            <a:ext cx="8010144" cy="16002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1"/>
            <a:ext cx="7571231" cy="1362456"/>
          </a:xfrm>
          <a:prstGeom prst="rect">
            <a:avLst/>
          </a:prstGeom>
          <a:noFill/>
        </p:spPr>
        <p:txBody>
          <a:bodyPr wrap="square" anchor="t" lIns="0" rIns="0" tIns="0" bIns="0">
            <a:spAutoFit/>
          </a:bodyPr>
          <a:lstStyle/>
          <a:p>
            <a:pPr algn="l">
              <a:lnSpc>
                <a:spcPct val="135000"/>
              </a:lnSpc>
            </a:pPr>
            <a:r>
              <a:rPr sz="1250" b="0">
                <a:solidFill>
                  <a:srgbClr val="000000"/>
                </a:solidFill>
                <a:latin typeface="Source Code Pro"/>
              </a:rPr>
              <a:t>John, I want to build a Pomodoro timer for this problem:</a:t>
            </a:r>
          </a:p>
          <a:p>
            <a:pPr algn="l">
              <a:lnSpc>
                <a:spcPct val="135000"/>
              </a:lnSpc>
            </a:pPr>
            <a:r>
              <a:rPr sz="1250" b="0">
                <a:solidFill>
                  <a:srgbClr val="000000"/>
                </a:solidFill>
                <a:latin typeface="Source Code Pro"/>
              </a:rPr>
              <a:t>(one real thing from your life — e.g. I pick up my phone within 10 minutes of starting homework)</a:t>
            </a:r>
          </a:p>
          <a:p>
            <a:pPr algn="l">
              <a:lnSpc>
                <a:spcPct val="135000"/>
              </a:lnSpc>
            </a:pPr>
            <a:r>
              <a:rPr sz="1250" b="0">
                <a:solidFill>
                  <a:srgbClr val="000000"/>
                </a:solidFill>
                <a:latin typeface="Source Code Pro"/>
              </a:rPr>
              <a:t>First ask me 5 questions to understand what I need, then help me write down:</a:t>
            </a:r>
          </a:p>
          <a:p>
            <a:pPr algn="l">
              <a:lnSpc>
                <a:spcPct val="135000"/>
              </a:lnSpc>
            </a:pPr>
            <a:r>
              <a:rPr sz="1250" b="0">
                <a:solidFill>
                  <a:srgbClr val="000000"/>
                </a:solidFill>
                <a:latin typeface="Source Code Pro"/>
              </a:rPr>
              <a:t>the 3 things this clock must do. Don't write code yet.</a:t>
            </a:r>
          </a:p>
        </p:txBody>
      </p:sp>
      <p:sp>
        <p:nvSpPr>
          <p:cNvPr id="11" name="TextBox 10"/>
          <p:cNvSpPr txBox="1"/>
          <p:nvPr/>
        </p:nvSpPr>
        <p:spPr>
          <a:xfrm>
            <a:off x="566928" y="3611880"/>
            <a:ext cx="8010144" cy="502920"/>
          </a:xfrm>
          <a:prstGeom prst="rect">
            <a:avLst/>
          </a:prstGeom>
          <a:noFill/>
        </p:spPr>
        <p:txBody>
          <a:bodyPr wrap="square" anchor="t" lIns="0" rIns="0" tIns="0" bIns="0">
            <a:spAutoFit/>
          </a:bodyPr>
          <a:lstStyle/>
          <a:p>
            <a:pPr algn="l">
              <a:lnSpc>
                <a:spcPct val="120000"/>
              </a:lnSpc>
            </a:pPr>
            <a:r>
              <a:rPr sz="1150" b="0">
                <a:solidFill>
                  <a:srgbClr val="000000"/>
                </a:solidFill>
                <a:latin typeface="Source Han Sans SC"/>
              </a:rPr>
              <a:t>(reminder)  Of the 3 things he gives you, one must be your differentiator. Not there? Push back: "I haven't told you my special requirement —"</a:t>
            </a:r>
          </a:p>
        </p:txBody>
      </p:sp>
      <p:sp>
        <p:nvSpPr>
          <p:cNvPr id="12" name="Rectangle 11"/>
          <p:cNvSpPr/>
          <p:nvPr/>
        </p:nvSpPr>
        <p:spPr>
          <a:xfrm>
            <a:off x="566928" y="4206240"/>
            <a:ext cx="801014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315968"/>
            <a:ext cx="7680960" cy="347472"/>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Write in your workbook: "the 3 things my clock must do" — star your differentiator.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Round 2/5 · Designer — Two Screens + Three Buttons</a:t>
            </a:r>
          </a:p>
        </p:txBody>
      </p:sp>
      <p:sp>
        <p:nvSpPr>
          <p:cNvPr id="6" name="Rectangle 5"/>
          <p:cNvSpPr/>
          <p:nvPr/>
        </p:nvSpPr>
        <p:spPr>
          <a:xfrm>
            <a:off x="566928" y="1078992"/>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52144"/>
            <a:ext cx="768096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ROUND 2/5 · DESIGNER  |  Sally</a:t>
            </a:r>
          </a:p>
        </p:txBody>
      </p:sp>
      <p:sp>
        <p:nvSpPr>
          <p:cNvPr id="8" name="TextBox 7"/>
          <p:cNvSpPr txBox="1"/>
          <p:nvPr/>
        </p:nvSpPr>
        <p:spPr>
          <a:xfrm>
            <a:off x="731520" y="1444752"/>
            <a:ext cx="7680960" cy="237744"/>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owns "what it looks like, how you use it"</a:t>
            </a:r>
          </a:p>
        </p:txBody>
      </p:sp>
      <p:sp>
        <p:nvSpPr>
          <p:cNvPr id="9" name="Rectangle 8"/>
          <p:cNvSpPr/>
          <p:nvPr/>
        </p:nvSpPr>
        <p:spPr>
          <a:xfrm>
            <a:off x="566928" y="1874519"/>
            <a:ext cx="8010144" cy="1783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1"/>
            <a:ext cx="7571231" cy="1545336"/>
          </a:xfrm>
          <a:prstGeom prst="rect">
            <a:avLst/>
          </a:prstGeom>
          <a:noFill/>
        </p:spPr>
        <p:txBody>
          <a:bodyPr wrap="square" anchor="t" lIns="0" rIns="0" tIns="0" bIns="0">
            <a:spAutoFit/>
          </a:bodyPr>
          <a:lstStyle/>
          <a:p>
            <a:pPr algn="l">
              <a:lnSpc>
                <a:spcPct val="135000"/>
              </a:lnSpc>
            </a:pPr>
            <a:r>
              <a:rPr sz="1250" b="0">
                <a:solidFill>
                  <a:srgbClr val="000000"/>
                </a:solidFill>
                <a:latin typeface="Source Code Pro"/>
              </a:rPr>
              <a:t>Sally, based on the previous round: my clock must do these 3 things: (copy them).</a:t>
            </a:r>
          </a:p>
          <a:p>
            <a:pPr algn="l">
              <a:lnSpc>
                <a:spcPct val="135000"/>
              </a:lnSpc>
            </a:pPr>
            <a:r>
              <a:rPr sz="1250" b="0">
                <a:solidFill>
                  <a:srgbClr val="000000"/>
                </a:solidFill>
                <a:latin typeface="Source Code Pro"/>
              </a:rPr>
              <a:t>Design: 1. what the focusing screen looks like; 2. what the break screen looks like;</a:t>
            </a:r>
          </a:p>
          <a:p>
            <a:pPr algn="l">
              <a:lnSpc>
                <a:spcPct val="135000"/>
              </a:lnSpc>
            </a:pPr>
            <a:r>
              <a:rPr sz="1250" b="0">
                <a:solidFill>
                  <a:srgbClr val="000000"/>
                </a:solidFill>
                <a:latin typeface="Source Code Pro"/>
              </a:rPr>
              <a:t>3. what buttons A, B, C each do.</a:t>
            </a:r>
          </a:p>
          <a:p>
            <a:pPr algn="l">
              <a:lnSpc>
                <a:spcPct val="135000"/>
              </a:lnSpc>
            </a:pPr>
            <a:r>
              <a:rPr sz="1250" b="0">
                <a:solidFill>
                  <a:srgbClr val="000000"/>
                </a:solidFill>
                <a:latin typeface="Source Code Pro"/>
              </a:rPr>
              <a:t>My special requirement: (your differentiator) — it must show on the screens.</a:t>
            </a:r>
          </a:p>
          <a:p>
            <a:pPr algn="l">
              <a:lnSpc>
                <a:spcPct val="135000"/>
              </a:lnSpc>
            </a:pPr>
            <a:r>
              <a:rPr sz="1250" b="0">
                <a:solidFill>
                  <a:srgbClr val="000000"/>
                </a:solidFill>
                <a:latin typeface="Source Code Pro"/>
              </a:rPr>
              <a:t>Don't write code yet.</a:t>
            </a:r>
          </a:p>
        </p:txBody>
      </p:sp>
      <p:sp>
        <p:nvSpPr>
          <p:cNvPr id="11" name="TextBox 10"/>
          <p:cNvSpPr txBox="1"/>
          <p:nvPr/>
        </p:nvSpPr>
        <p:spPr>
          <a:xfrm>
            <a:off x="566928" y="3794760"/>
            <a:ext cx="8010144" cy="2743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(reminder)  Describing a screen — the three things from last session: position, size, color.</a:t>
            </a:r>
          </a:p>
        </p:txBody>
      </p:sp>
      <p:sp>
        <p:nvSpPr>
          <p:cNvPr id="12" name="Rectangle 11"/>
          <p:cNvSpPr/>
          <p:nvPr/>
        </p:nvSpPr>
        <p:spPr>
          <a:xfrm>
            <a:off x="566928" y="4160520"/>
            <a:ext cx="801014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270248"/>
            <a:ext cx="7680960" cy="347472"/>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Write in your workbook: focusing screen ___ / break screen ___ / A ___ B ___ C ___.</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11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Round 3/5 · Architect — The Traffic Light &amp; State Circles</a:t>
            </a:r>
          </a:p>
        </p:txBody>
      </p:sp>
      <p:sp>
        <p:nvSpPr>
          <p:cNvPr id="6" name="Rectangle 5"/>
          <p:cNvSpPr/>
          <p:nvPr/>
        </p:nvSpPr>
        <p:spPr>
          <a:xfrm>
            <a:off x="566928" y="1078992"/>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52144"/>
            <a:ext cx="768096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ROUND 3/5 · ARCHITECT  |  Winston</a:t>
            </a:r>
          </a:p>
        </p:txBody>
      </p:sp>
      <p:sp>
        <p:nvSpPr>
          <p:cNvPr id="8" name="TextBox 7"/>
          <p:cNvSpPr txBox="1"/>
          <p:nvPr/>
        </p:nvSpPr>
        <p:spPr>
          <a:xfrm>
            <a:off x="731520" y="1444752"/>
            <a:ext cx="7680960" cy="237744"/>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owns "how it's split into pieces, what states it has"</a:t>
            </a:r>
          </a:p>
        </p:txBody>
      </p:sp>
      <p:sp>
        <p:nvSpPr>
          <p:cNvPr id="9" name="Rectangle 8"/>
          <p:cNvSpPr/>
          <p:nvPr/>
        </p:nvSpPr>
        <p:spPr>
          <a:xfrm>
            <a:off x="566928" y="1874519"/>
            <a:ext cx="3931920" cy="11430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1600" y="2011680"/>
            <a:ext cx="457200" cy="457200"/>
          </a:xfrm>
          <a:prstGeom prst="ellipse">
            <a:avLst/>
          </a:prstGeom>
          <a:solidFill>
            <a:srgbClr val="C48A8A"/>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286000" y="2011680"/>
            <a:ext cx="457200" cy="457200"/>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560320"/>
            <a:ext cx="2926080" cy="256032"/>
          </a:xfrm>
          <a:prstGeom prst="rect">
            <a:avLst/>
          </a:prstGeom>
          <a:noFill/>
        </p:spPr>
        <p:txBody>
          <a:bodyPr wrap="square" anchor="t" lIns="0" rIns="0" tIns="0" bIns="0">
            <a:spAutoFit/>
          </a:bodyPr>
          <a:lstStyle/>
          <a:p>
            <a:pPr algn="ctr">
              <a:lnSpc>
                <a:spcPct val="100000"/>
              </a:lnSpc>
            </a:pPr>
            <a:r>
              <a:rPr sz="1050" b="1">
                <a:solidFill>
                  <a:srgbClr val="000000"/>
                </a:solidFill>
                <a:latin typeface="Source Han Sans SC"/>
              </a:rPr>
              <a:t>one light at a time</a:t>
            </a:r>
          </a:p>
        </p:txBody>
      </p:sp>
      <p:sp>
        <p:nvSpPr>
          <p:cNvPr id="13" name="TextBox 12"/>
          <p:cNvSpPr txBox="1"/>
          <p:nvPr/>
        </p:nvSpPr>
        <p:spPr>
          <a:xfrm>
            <a:off x="1097280" y="2788920"/>
            <a:ext cx="2926080" cy="219456"/>
          </a:xfrm>
          <a:prstGeom prst="rect">
            <a:avLst/>
          </a:prstGeom>
          <a:noFill/>
        </p:spPr>
        <p:txBody>
          <a:bodyPr wrap="square" anchor="t" lIns="0" rIns="0" tIns="0" bIns="0">
            <a:spAutoFit/>
          </a:bodyPr>
          <a:lstStyle/>
          <a:p>
            <a:pPr algn="ctr">
              <a:lnSpc>
                <a:spcPct val="100000"/>
              </a:lnSpc>
            </a:pPr>
            <a:r>
              <a:rPr sz="1000" b="0">
                <a:solidFill>
                  <a:srgbClr val="000000"/>
                </a:solidFill>
                <a:latin typeface="Source Han Sans SC"/>
              </a:rPr>
              <a:t>what changes it? time runs out</a:t>
            </a:r>
          </a:p>
        </p:txBody>
      </p:sp>
      <p:sp>
        <p:nvSpPr>
          <p:cNvPr id="14" name="Rectangle 13"/>
          <p:cNvSpPr/>
          <p:nvPr/>
        </p:nvSpPr>
        <p:spPr>
          <a:xfrm>
            <a:off x="4645152" y="1874519"/>
            <a:ext cx="3931920" cy="11430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029200" y="2148840"/>
            <a:ext cx="685800" cy="685800"/>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2377440"/>
            <a:ext cx="685800" cy="228600"/>
          </a:xfrm>
          <a:prstGeom prst="rect">
            <a:avLst/>
          </a:prstGeom>
          <a:noFill/>
        </p:spPr>
        <p:txBody>
          <a:bodyPr wrap="square" anchor="t" lIns="0" rIns="0" tIns="0" bIns="0">
            <a:spAutoFit/>
          </a:bodyPr>
          <a:lstStyle/>
          <a:p>
            <a:pPr algn="ctr">
              <a:lnSpc>
                <a:spcPct val="100000"/>
              </a:lnSpc>
            </a:pPr>
            <a:r>
              <a:rPr sz="1050" b="1">
                <a:solidFill>
                  <a:srgbClr val="000000"/>
                </a:solidFill>
                <a:latin typeface="Source Han Sans SC"/>
              </a:rPr>
              <a:t>focus</a:t>
            </a:r>
          </a:p>
        </p:txBody>
      </p:sp>
      <p:sp>
        <p:nvSpPr>
          <p:cNvPr id="17" name="Oval 16"/>
          <p:cNvSpPr/>
          <p:nvPr/>
        </p:nvSpPr>
        <p:spPr>
          <a:xfrm>
            <a:off x="7223760" y="2148840"/>
            <a:ext cx="685800" cy="685800"/>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77440"/>
            <a:ext cx="685800" cy="228600"/>
          </a:xfrm>
          <a:prstGeom prst="rect">
            <a:avLst/>
          </a:prstGeom>
          <a:noFill/>
        </p:spPr>
        <p:txBody>
          <a:bodyPr wrap="square" anchor="t" lIns="0" rIns="0" tIns="0" bIns="0">
            <a:spAutoFit/>
          </a:bodyPr>
          <a:lstStyle/>
          <a:p>
            <a:pPr algn="ctr">
              <a:lnSpc>
                <a:spcPct val="100000"/>
              </a:lnSpc>
            </a:pPr>
            <a:r>
              <a:rPr sz="1050" b="1">
                <a:solidFill>
                  <a:srgbClr val="000000"/>
                </a:solidFill>
                <a:latin typeface="Source Han Sans SC"/>
              </a:rPr>
              <a:t>break</a:t>
            </a:r>
          </a:p>
        </p:txBody>
      </p:sp>
      <p:sp>
        <p:nvSpPr>
          <p:cNvPr id="19" name="TextBox 18"/>
          <p:cNvSpPr txBox="1"/>
          <p:nvPr/>
        </p:nvSpPr>
        <p:spPr>
          <a:xfrm>
            <a:off x="5742432" y="2304288"/>
            <a:ext cx="1463040" cy="256032"/>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-&gt;  -&gt;</a:t>
            </a:r>
          </a:p>
        </p:txBody>
      </p:sp>
      <p:sp>
        <p:nvSpPr>
          <p:cNvPr id="20" name="TextBox 19"/>
          <p:cNvSpPr txBox="1"/>
          <p:nvPr/>
        </p:nvSpPr>
        <p:spPr>
          <a:xfrm>
            <a:off x="5715000" y="2606040"/>
            <a:ext cx="1517904" cy="201168"/>
          </a:xfrm>
          <a:prstGeom prst="rect">
            <a:avLst/>
          </a:prstGeom>
          <a:noFill/>
        </p:spPr>
        <p:txBody>
          <a:bodyPr wrap="square" anchor="t" lIns="0" rIns="0" tIns="0" bIns="0">
            <a:spAutoFit/>
          </a:bodyPr>
          <a:lstStyle/>
          <a:p>
            <a:pPr algn="ctr">
              <a:lnSpc>
                <a:spcPct val="100000"/>
              </a:lnSpc>
            </a:pPr>
            <a:r>
              <a:rPr sz="900" b="0">
                <a:solidFill>
                  <a:srgbClr val="000000"/>
                </a:solidFill>
                <a:latin typeface="Source Han Sans SC"/>
              </a:rPr>
              <a:t>press A / time's up</a:t>
            </a:r>
          </a:p>
        </p:txBody>
      </p:sp>
      <p:sp>
        <p:nvSpPr>
          <p:cNvPr id="21" name="TextBox 20"/>
          <p:cNvSpPr txBox="1"/>
          <p:nvPr/>
        </p:nvSpPr>
        <p:spPr>
          <a:xfrm>
            <a:off x="4809744" y="2788920"/>
            <a:ext cx="3602736" cy="201168"/>
          </a:xfrm>
          <a:prstGeom prst="rect">
            <a:avLst/>
          </a:prstGeom>
          <a:noFill/>
        </p:spPr>
        <p:txBody>
          <a:bodyPr wrap="square" anchor="t" lIns="0" rIns="0" tIns="0" bIns="0">
            <a:spAutoFit/>
          </a:bodyPr>
          <a:lstStyle/>
          <a:p>
            <a:pPr algn="ctr">
              <a:lnSpc>
                <a:spcPct val="100000"/>
              </a:lnSpc>
            </a:pPr>
            <a:r>
              <a:rPr sz="950" b="0">
                <a:solidFill>
                  <a:srgbClr val="000000"/>
                </a:solidFill>
                <a:latin typeface="Source Han Sans SC"/>
              </a:rPr>
              <a:t>two circles = a complete timer</a:t>
            </a:r>
          </a:p>
        </p:txBody>
      </p:sp>
      <p:sp>
        <p:nvSpPr>
          <p:cNvPr id="22" name="Rectangle 21"/>
          <p:cNvSpPr/>
          <p:nvPr/>
        </p:nvSpPr>
        <p:spPr>
          <a:xfrm>
            <a:off x="566928" y="3154680"/>
            <a:ext cx="8010144"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273552"/>
            <a:ext cx="7571231" cy="722376"/>
          </a:xfrm>
          <a:prstGeom prst="rect">
            <a:avLst/>
          </a:prstGeom>
          <a:noFill/>
        </p:spPr>
        <p:txBody>
          <a:bodyPr wrap="square" anchor="t" lIns="0" rIns="0" tIns="0" bIns="0">
            <a:spAutoFit/>
          </a:bodyPr>
          <a:lstStyle/>
          <a:p>
            <a:pPr algn="l">
              <a:lnSpc>
                <a:spcPct val="135000"/>
              </a:lnSpc>
            </a:pPr>
            <a:r>
              <a:rPr sz="1150" b="0">
                <a:solidFill>
                  <a:srgbClr val="000000"/>
                </a:solidFill>
                <a:latin typeface="Source Code Pro"/>
              </a:rPr>
              <a:t>Winston, your turn.</a:t>
            </a:r>
          </a:p>
          <a:p>
            <a:pPr algn="l">
              <a:lnSpc>
                <a:spcPct val="135000"/>
              </a:lnSpc>
            </a:pPr>
            <a:r>
              <a:rPr sz="1150" b="0">
                <a:solidFill>
                  <a:srgbClr val="000000"/>
                </a:solidFill>
                <a:latin typeface="Source Code Pro"/>
              </a:rPr>
              <a:t>Based on the requirements and design above, make a technical plan for the timer —</a:t>
            </a:r>
          </a:p>
          <a:p>
            <a:pPr algn="l">
              <a:lnSpc>
                <a:spcPct val="135000"/>
              </a:lnSpc>
            </a:pPr>
            <a:r>
              <a:rPr sz="1150" b="0">
                <a:solidFill>
                  <a:srgbClr val="000000"/>
                </a:solidFill>
                <a:latin typeface="Source Code Pro"/>
              </a:rPr>
              <a:t>keep it simple, Amelia will write the code from it.</a:t>
            </a:r>
          </a:p>
        </p:txBody>
      </p:sp>
      <p:sp>
        <p:nvSpPr>
          <p:cNvPr id="24" name="Rectangle 23"/>
          <p:cNvSpPr/>
          <p:nvPr/>
        </p:nvSpPr>
        <p:spPr>
          <a:xfrm>
            <a:off x="566928" y="4224528"/>
            <a:ext cx="801014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334256"/>
            <a:ext cx="7680960" cy="347472"/>
          </a:xfrm>
          <a:prstGeom prst="rect">
            <a:avLst/>
          </a:prstGeom>
          <a:noFill/>
        </p:spPr>
        <p:txBody>
          <a:bodyPr wrap="square" anchor="t" lIns="0" rIns="0" tIns="0" bIns="0">
            <a:spAutoFit/>
          </a:bodyPr>
          <a:lstStyle/>
          <a:p>
            <a:pPr algn="l">
              <a:lnSpc>
                <a:spcPct val="125000"/>
              </a:lnSpc>
            </a:pPr>
            <a:r>
              <a:rPr sz="1150" b="0">
                <a:solidFill>
                  <a:srgbClr val="000000"/>
                </a:solidFill>
                <a:latin typeface="Source Han Sans SC"/>
              </a:rPr>
              <a:t>Draw your state circles on paper (or in your workbook: my states ___ -&gt; ___, what changes it ___).</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Round 4/5 · Developer — Build It Whole, In One Pass</a:t>
            </a:r>
          </a:p>
        </p:txBody>
      </p:sp>
      <p:sp>
        <p:nvSpPr>
          <p:cNvPr id="6" name="Rectangle 5"/>
          <p:cNvSpPr/>
          <p:nvPr/>
        </p:nvSpPr>
        <p:spPr>
          <a:xfrm>
            <a:off x="566928" y="1078992"/>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52144"/>
            <a:ext cx="768096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ROUND 4/5 · DEVELOPER  |  Amelia</a:t>
            </a:r>
          </a:p>
        </p:txBody>
      </p:sp>
      <p:sp>
        <p:nvSpPr>
          <p:cNvPr id="8" name="TextBox 7"/>
          <p:cNvSpPr txBox="1"/>
          <p:nvPr/>
        </p:nvSpPr>
        <p:spPr>
          <a:xfrm>
            <a:off x="731520" y="1444752"/>
            <a:ext cx="7680960" cy="237744"/>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owns "writing it"</a:t>
            </a:r>
          </a:p>
        </p:txBody>
      </p:sp>
      <p:sp>
        <p:nvSpPr>
          <p:cNvPr id="9" name="Rectangle 8"/>
          <p:cNvSpPr/>
          <p:nvPr/>
        </p:nvSpPr>
        <p:spPr>
          <a:xfrm>
            <a:off x="566928" y="1874519"/>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11095"/>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1" name="TextBox 10"/>
          <p:cNvSpPr txBox="1"/>
          <p:nvPr/>
        </p:nvSpPr>
        <p:spPr>
          <a:xfrm>
            <a:off x="969264" y="1892807"/>
            <a:ext cx="1472184" cy="502920"/>
          </a:xfrm>
          <a:prstGeom prst="rect">
            <a:avLst/>
          </a:prstGeom>
          <a:noFill/>
        </p:spPr>
        <p:txBody>
          <a:bodyPr wrap="square" anchor="t" lIns="0" rIns="0" tIns="0" bIns="0">
            <a:spAutoFit/>
          </a:bodyPr>
          <a:lstStyle/>
          <a:p>
            <a:pPr algn="l">
              <a:lnSpc>
                <a:spcPct val="105000"/>
              </a:lnSpc>
            </a:pPr>
            <a:r>
              <a:rPr sz="1100" b="1">
                <a:solidFill>
                  <a:srgbClr val="000000"/>
                </a:solidFill>
                <a:latin typeface="Source Han Sans SC"/>
              </a:rPr>
              <a:t>Generate the complete code</a:t>
            </a:r>
          </a:p>
        </p:txBody>
      </p:sp>
      <p:sp>
        <p:nvSpPr>
          <p:cNvPr id="12" name="TextBox 11"/>
          <p:cNvSpPr txBox="1"/>
          <p:nvPr/>
        </p:nvSpPr>
        <p:spPr>
          <a:xfrm>
            <a:off x="2404872" y="1874519"/>
            <a:ext cx="182880"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-&gt;</a:t>
            </a:r>
          </a:p>
        </p:txBody>
      </p:sp>
      <p:sp>
        <p:nvSpPr>
          <p:cNvPr id="13" name="Rectangle 12"/>
          <p:cNvSpPr/>
          <p:nvPr/>
        </p:nvSpPr>
        <p:spPr>
          <a:xfrm>
            <a:off x="2551176" y="1874519"/>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1176" y="1911095"/>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5" name="TextBox 14"/>
          <p:cNvSpPr txBox="1"/>
          <p:nvPr/>
        </p:nvSpPr>
        <p:spPr>
          <a:xfrm>
            <a:off x="2953512" y="1892807"/>
            <a:ext cx="1472184" cy="502920"/>
          </a:xfrm>
          <a:prstGeom prst="rect">
            <a:avLst/>
          </a:prstGeom>
          <a:noFill/>
        </p:spPr>
        <p:txBody>
          <a:bodyPr wrap="square" anchor="t" lIns="0" rIns="0" tIns="0" bIns="0">
            <a:spAutoFit/>
          </a:bodyPr>
          <a:lstStyle/>
          <a:p>
            <a:pPr algn="l">
              <a:lnSpc>
                <a:spcPct val="105000"/>
              </a:lnSpc>
            </a:pPr>
            <a:r>
              <a:rPr sz="1100" b="1">
                <a:solidFill>
                  <a:srgbClr val="000000"/>
                </a:solidFill>
                <a:latin typeface="Source Han Sans SC"/>
              </a:rPr>
              <a:t>Upload to the Wio</a:t>
            </a:r>
          </a:p>
        </p:txBody>
      </p:sp>
      <p:sp>
        <p:nvSpPr>
          <p:cNvPr id="16" name="TextBox 15"/>
          <p:cNvSpPr txBox="1"/>
          <p:nvPr/>
        </p:nvSpPr>
        <p:spPr>
          <a:xfrm>
            <a:off x="4389120" y="1874519"/>
            <a:ext cx="182880"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-&gt;</a:t>
            </a:r>
          </a:p>
        </p:txBody>
      </p:sp>
      <p:sp>
        <p:nvSpPr>
          <p:cNvPr id="17" name="Rectangle 16"/>
          <p:cNvSpPr/>
          <p:nvPr/>
        </p:nvSpPr>
        <p:spPr>
          <a:xfrm>
            <a:off x="4535424" y="1874519"/>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1911095"/>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9" name="TextBox 18"/>
          <p:cNvSpPr txBox="1"/>
          <p:nvPr/>
        </p:nvSpPr>
        <p:spPr>
          <a:xfrm>
            <a:off x="4937760" y="1892807"/>
            <a:ext cx="1472184" cy="502920"/>
          </a:xfrm>
          <a:prstGeom prst="rect">
            <a:avLst/>
          </a:prstGeom>
          <a:noFill/>
        </p:spPr>
        <p:txBody>
          <a:bodyPr wrap="square" anchor="t" lIns="0" rIns="0" tIns="0" bIns="0">
            <a:spAutoFit/>
          </a:bodyPr>
          <a:lstStyle/>
          <a:p>
            <a:pPr algn="l">
              <a:lnSpc>
                <a:spcPct val="105000"/>
              </a:lnSpc>
            </a:pPr>
            <a:r>
              <a:rPr sz="1100" b="1">
                <a:solidFill>
                  <a:srgbClr val="000000"/>
                </a:solidFill>
                <a:latin typeface="Source Han Sans SC"/>
              </a:rPr>
              <a:t>Run it</a:t>
            </a:r>
          </a:p>
        </p:txBody>
      </p:sp>
      <p:sp>
        <p:nvSpPr>
          <p:cNvPr id="20" name="TextBox 19"/>
          <p:cNvSpPr txBox="1"/>
          <p:nvPr/>
        </p:nvSpPr>
        <p:spPr>
          <a:xfrm>
            <a:off x="6373368" y="1874519"/>
            <a:ext cx="182880"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-&gt;</a:t>
            </a:r>
          </a:p>
        </p:txBody>
      </p:sp>
      <p:sp>
        <p:nvSpPr>
          <p:cNvPr id="21" name="Rectangle 20"/>
          <p:cNvSpPr/>
          <p:nvPr/>
        </p:nvSpPr>
        <p:spPr>
          <a:xfrm>
            <a:off x="6519672" y="1874519"/>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1911095"/>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23" name="TextBox 22"/>
          <p:cNvSpPr txBox="1"/>
          <p:nvPr/>
        </p:nvSpPr>
        <p:spPr>
          <a:xfrm>
            <a:off x="6922008" y="1892807"/>
            <a:ext cx="1472184" cy="502920"/>
          </a:xfrm>
          <a:prstGeom prst="rect">
            <a:avLst/>
          </a:prstGeom>
          <a:noFill/>
        </p:spPr>
        <p:txBody>
          <a:bodyPr wrap="square" anchor="t" lIns="0" rIns="0" tIns="0" bIns="0">
            <a:spAutoFit/>
          </a:bodyPr>
          <a:lstStyle/>
          <a:p>
            <a:pPr algn="l">
              <a:lnSpc>
                <a:spcPct val="105000"/>
              </a:lnSpc>
            </a:pPr>
            <a:r>
              <a:rPr sz="1100" b="1">
                <a:solidFill>
                  <a:srgbClr val="000000"/>
                </a:solidFill>
                <a:latin typeface="Source Han Sans SC"/>
              </a:rPr>
              <a:t>Iterate your differentiator</a:t>
            </a:r>
          </a:p>
        </p:txBody>
      </p:sp>
      <p:sp>
        <p:nvSpPr>
          <p:cNvPr id="24" name="TextBox 23"/>
          <p:cNvSpPr txBox="1"/>
          <p:nvPr/>
        </p:nvSpPr>
        <p:spPr>
          <a:xfrm>
            <a:off x="566928" y="2468880"/>
            <a:ext cx="8010144" cy="2743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The requirements, the design and the plan are all in this conversation — Amelia builds the whole timer from them, in one pass.</a:t>
            </a:r>
          </a:p>
        </p:txBody>
      </p:sp>
      <p:sp>
        <p:nvSpPr>
          <p:cNvPr id="25" name="Rectangle 24"/>
          <p:cNvSpPr/>
          <p:nvPr/>
        </p:nvSpPr>
        <p:spPr>
          <a:xfrm>
            <a:off x="566928" y="2834640"/>
            <a:ext cx="8010144" cy="11430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2953512"/>
            <a:ext cx="7571231" cy="905256"/>
          </a:xfrm>
          <a:prstGeom prst="rect">
            <a:avLst/>
          </a:prstGeom>
          <a:noFill/>
        </p:spPr>
        <p:txBody>
          <a:bodyPr wrap="square" anchor="t" lIns="0" rIns="0" tIns="0" bIns="0">
            <a:spAutoFit/>
          </a:bodyPr>
          <a:lstStyle/>
          <a:p>
            <a:pPr algn="l">
              <a:lnSpc>
                <a:spcPct val="135000"/>
              </a:lnSpc>
            </a:pPr>
            <a:r>
              <a:rPr sz="1150" b="0">
                <a:solidFill>
                  <a:srgbClr val="000000"/>
                </a:solidFill>
                <a:latin typeface="Source Code Pro"/>
              </a:rPr>
              <a:t>Amelia, based on the requirements, design and technical plan above, build the complete timer</a:t>
            </a:r>
          </a:p>
          <a:p>
            <a:pPr algn="l">
              <a:lnSpc>
                <a:spcPct val="135000"/>
              </a:lnSpc>
            </a:pPr>
            <a:r>
              <a:rPr sz="1150" b="0">
                <a:solidFill>
                  <a:srgbClr val="000000"/>
                </a:solidFill>
                <a:latin typeface="Source Code Pro"/>
              </a:rPr>
              <a:t>and give me code I can use directly.</a:t>
            </a:r>
          </a:p>
          <a:p>
            <a:pPr algn="l">
              <a:lnSpc>
                <a:spcPct val="135000"/>
              </a:lnSpc>
            </a:pPr>
            <a:r>
              <a:rPr sz="1150" b="0">
                <a:solidFill>
                  <a:srgbClr val="000000"/>
                </a:solidFill>
                <a:latin typeface="Source Code Pro"/>
              </a:rPr>
              <a:t>For easy testing, set the work time to 1 minute and the break to 30 seconds first.</a:t>
            </a:r>
          </a:p>
        </p:txBody>
      </p:sp>
      <p:sp>
        <p:nvSpPr>
          <p:cNvPr id="27" name="Rectangle 26"/>
          <p:cNvSpPr/>
          <p:nvPr/>
        </p:nvSpPr>
        <p:spPr>
          <a:xfrm>
            <a:off x="566928" y="411480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4133087"/>
            <a:ext cx="7808975" cy="438912"/>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Error? Paste the error back to Amelia verbatim — it wrote the code, it fixes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Round 5/5 · Tester — Break It</a:t>
            </a:r>
          </a:p>
        </p:txBody>
      </p:sp>
      <p:sp>
        <p:nvSpPr>
          <p:cNvPr id="6" name="Rectangle 5"/>
          <p:cNvSpPr/>
          <p:nvPr/>
        </p:nvSpPr>
        <p:spPr>
          <a:xfrm>
            <a:off x="566928" y="1078992"/>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52144"/>
            <a:ext cx="768096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ROUND 5/5 · TESTER  |  Quinn</a:t>
            </a:r>
          </a:p>
        </p:txBody>
      </p:sp>
      <p:sp>
        <p:nvSpPr>
          <p:cNvPr id="8" name="TextBox 7"/>
          <p:cNvSpPr txBox="1"/>
          <p:nvPr/>
        </p:nvSpPr>
        <p:spPr>
          <a:xfrm>
            <a:off x="731520" y="1444752"/>
            <a:ext cx="7680960" cy="237744"/>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owns "finding what's wrong"</a:t>
            </a:r>
          </a:p>
        </p:txBody>
      </p:sp>
      <p:sp>
        <p:nvSpPr>
          <p:cNvPr id="9" name="TextBox 8"/>
          <p:cNvSpPr txBox="1"/>
          <p:nvPr/>
        </p:nvSpPr>
        <p:spPr>
          <a:xfrm>
            <a:off x="566928" y="1874519"/>
            <a:ext cx="8010144"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A tester's job has one word: BREAK IT.</a:t>
            </a:r>
          </a:p>
        </p:txBody>
      </p:sp>
      <p:sp>
        <p:nvSpPr>
          <p:cNvPr id="10" name="Rectangle 9"/>
          <p:cNvSpPr/>
          <p:nvPr/>
        </p:nvSpPr>
        <p:spPr>
          <a:xfrm>
            <a:off x="566928" y="2286000"/>
            <a:ext cx="8010144" cy="11430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04872"/>
            <a:ext cx="7571231" cy="905256"/>
          </a:xfrm>
          <a:prstGeom prst="rect">
            <a:avLst/>
          </a:prstGeom>
          <a:noFill/>
        </p:spPr>
        <p:txBody>
          <a:bodyPr wrap="square" anchor="t" lIns="0" rIns="0" tIns="0" bIns="0">
            <a:spAutoFit/>
          </a:bodyPr>
          <a:lstStyle/>
          <a:p>
            <a:pPr algn="l">
              <a:lnSpc>
                <a:spcPct val="135000"/>
              </a:lnSpc>
            </a:pPr>
            <a:r>
              <a:rPr sz="1200" b="0">
                <a:solidFill>
                  <a:srgbClr val="000000"/>
                </a:solidFill>
                <a:latin typeface="Source Code Pro"/>
              </a:rPr>
              <a:t>Quinn, my timer is done.</a:t>
            </a:r>
          </a:p>
          <a:p>
            <a:pPr algn="l">
              <a:lnSpc>
                <a:spcPct val="135000"/>
              </a:lnSpc>
            </a:pPr>
            <a:r>
              <a:rPr sz="1200" b="0">
                <a:solidFill>
                  <a:srgbClr val="000000"/>
                </a:solidFill>
                <a:latin typeface="Source Code Pro"/>
              </a:rPr>
              <a:t>Help me find fault: give me 5 ways to "break it", like rapid presses, or mashing buttons mid-timer.</a:t>
            </a:r>
          </a:p>
          <a:p>
            <a:pPr algn="l">
              <a:lnSpc>
                <a:spcPct val="135000"/>
              </a:lnSpc>
            </a:pPr>
            <a:r>
              <a:rPr sz="1200" b="0">
                <a:solidFill>
                  <a:srgbClr val="000000"/>
                </a:solidFill>
                <a:latin typeface="Source Code Pro"/>
              </a:rPr>
              <a:t>I'll try each one myself.</a:t>
            </a:r>
          </a:p>
        </p:txBody>
      </p:sp>
      <p:sp>
        <p:nvSpPr>
          <p:cNvPr id="12" name="TextBox 11"/>
          <p:cNvSpPr txBox="1"/>
          <p:nvPr/>
        </p:nvSpPr>
        <p:spPr>
          <a:xfrm>
            <a:off x="566928" y="3566160"/>
            <a:ext cx="801014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(break-it examples, short words)</a:t>
            </a:r>
          </a:p>
        </p:txBody>
      </p:sp>
      <p:sp>
        <p:nvSpPr>
          <p:cNvPr id="13" name="TextBox 12"/>
          <p:cNvSpPr txBox="1"/>
          <p:nvPr/>
        </p:nvSpPr>
        <p:spPr>
          <a:xfrm>
            <a:off x="566928" y="3822191"/>
            <a:ext cx="8010144" cy="27432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rapid repeated presses · mashing buttons mid-timer · holding a button down</a:t>
            </a:r>
          </a:p>
        </p:txBody>
      </p:sp>
      <p:sp>
        <p:nvSpPr>
          <p:cNvPr id="14" name="Rectangle 13"/>
          <p:cNvSpPr/>
          <p:nvPr/>
        </p:nvSpPr>
        <p:spPr>
          <a:xfrm>
            <a:off x="566928" y="4279392"/>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4297679"/>
            <a:ext cx="7808975" cy="438912"/>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Try each one by hand — for every fault, make a call: Accept, or Reject?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One More Special Reviewer — The Picky User</a:t>
            </a:r>
          </a:p>
        </p:txBody>
      </p:sp>
      <p:sp>
        <p:nvSpPr>
          <p:cNvPr id="6" name="Rectangle 5"/>
          <p:cNvSpPr/>
          <p:nvPr/>
        </p:nvSpPr>
        <p:spPr>
          <a:xfrm>
            <a:off x="566928" y="1234440"/>
            <a:ext cx="8010144"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353312"/>
            <a:ext cx="7571231" cy="630936"/>
          </a:xfrm>
          <a:prstGeom prst="rect">
            <a:avLst/>
          </a:prstGeom>
          <a:noFill/>
        </p:spPr>
        <p:txBody>
          <a:bodyPr wrap="square" anchor="t" lIns="0" rIns="0" tIns="0" bIns="0">
            <a:spAutoFit/>
          </a:bodyPr>
          <a:lstStyle/>
          <a:p>
            <a:pPr algn="l">
              <a:lnSpc>
                <a:spcPct val="135000"/>
              </a:lnSpc>
            </a:pPr>
            <a:r>
              <a:rPr sz="1300" b="0">
                <a:solidFill>
                  <a:srgbClr val="000000"/>
                </a:solidFill>
                <a:latin typeface="Source Code Pro"/>
              </a:rPr>
              <a:t>Play ___ (the real person from your design sheet) and use my Pomodoro timer.</a:t>
            </a:r>
          </a:p>
          <a:p>
            <a:pPr algn="l">
              <a:lnSpc>
                <a:spcPct val="135000"/>
              </a:lnSpc>
            </a:pPr>
            <a:r>
              <a:rPr sz="1300" b="0">
                <a:solidFill>
                  <a:srgbClr val="000000"/>
                </a:solidFill>
                <a:latin typeface="Source Code Pro"/>
              </a:rPr>
              <a:t>Pick 1 fault. Only 1.</a:t>
            </a:r>
          </a:p>
        </p:txBody>
      </p:sp>
      <p:sp>
        <p:nvSpPr>
          <p:cNvPr id="8" name="Rectangle 7"/>
          <p:cNvSpPr/>
          <p:nvPr/>
        </p:nvSpPr>
        <p:spPr>
          <a:xfrm>
            <a:off x="566928" y="2286000"/>
            <a:ext cx="3931920" cy="10058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95728"/>
            <a:ext cx="3602736" cy="2743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REJECT</a:t>
            </a:r>
          </a:p>
        </p:txBody>
      </p:sp>
      <p:sp>
        <p:nvSpPr>
          <p:cNvPr id="10" name="TextBox 9"/>
          <p:cNvSpPr txBox="1"/>
          <p:nvPr/>
        </p:nvSpPr>
        <p:spPr>
          <a:xfrm>
            <a:off x="731520" y="2724912"/>
            <a:ext cx="3602736" cy="45720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-&gt; have AI fix it — fix the most important one</a:t>
            </a:r>
          </a:p>
        </p:txBody>
      </p:sp>
      <p:sp>
        <p:nvSpPr>
          <p:cNvPr id="11" name="Rectangle 10"/>
          <p:cNvSpPr/>
          <p:nvPr/>
        </p:nvSpPr>
        <p:spPr>
          <a:xfrm>
            <a:off x="4645152" y="2286000"/>
            <a:ext cx="3931920" cy="10058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9744" y="2395728"/>
            <a:ext cx="3602736" cy="2743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ACCEPT</a:t>
            </a:r>
          </a:p>
        </p:txBody>
      </p:sp>
      <p:sp>
        <p:nvSpPr>
          <p:cNvPr id="13" name="TextBox 12"/>
          <p:cNvSpPr txBox="1"/>
          <p:nvPr/>
        </p:nvSpPr>
        <p:spPr>
          <a:xfrm>
            <a:off x="4809744" y="2724912"/>
            <a:ext cx="3602736" cy="45720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-&gt; write it down: "I know it has this small flaw" — a professional decision too</a:t>
            </a:r>
          </a:p>
        </p:txBody>
      </p:sp>
      <p:sp>
        <p:nvSpPr>
          <p:cNvPr id="14" name="Rectangle 13"/>
          <p:cNvSpPr/>
          <p:nvPr/>
        </p:nvSpPr>
        <p:spPr>
          <a:xfrm>
            <a:off x="566928" y="3520440"/>
            <a:ext cx="8010144" cy="9144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630168"/>
            <a:ext cx="7680960" cy="69494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Write in your workbook: the 5-item break-it list, each marked Accept/Reject + one reason;</a:t>
            </a:r>
          </a:p>
          <a:p>
            <a:pPr algn="l">
              <a:lnSpc>
                <a:spcPct val="125000"/>
              </a:lnSpc>
            </a:pPr>
            <a:r>
              <a:rPr sz="1250" b="0">
                <a:solidFill>
                  <a:srgbClr val="000000"/>
                </a:solidFill>
                <a:latin typeface="Source Han Sans SC"/>
              </a:rPr>
              <a:t>the Picky User's one fault, noted separately.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The Archive Ceremony — Your First Complete Project</a:t>
            </a:r>
          </a:p>
        </p:txBody>
      </p:sp>
      <p:sp>
        <p:nvSpPr>
          <p:cNvPr id="6" name="Rectangle 5"/>
          <p:cNvSpPr/>
          <p:nvPr/>
        </p:nvSpPr>
        <p:spPr>
          <a:xfrm>
            <a:off x="749808" y="137160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40817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280160" y="1399032"/>
            <a:ext cx="7040880" cy="502920"/>
          </a:xfrm>
          <a:prstGeom prst="rect">
            <a:avLst/>
          </a:prstGeom>
          <a:noFill/>
        </p:spPr>
        <p:txBody>
          <a:bodyPr wrap="square" anchor="t" lIns="0" rIns="0" tIns="0" bIns="0">
            <a:spAutoFit/>
          </a:bodyPr>
          <a:lstStyle/>
          <a:p>
            <a:pPr algn="l">
              <a:lnSpc>
                <a:spcPct val="110000"/>
              </a:lnSpc>
            </a:pPr>
            <a:r>
              <a:rPr sz="1400" b="0">
                <a:solidFill>
                  <a:srgbClr val="000000"/>
                </a:solidFill>
                <a:latin typeface="Source Han Sans SC"/>
              </a:rPr>
              <a:t>Screenshot each of the five relay rounds</a:t>
            </a:r>
          </a:p>
        </p:txBody>
      </p:sp>
      <p:sp>
        <p:nvSpPr>
          <p:cNvPr id="9" name="Rectangle 8"/>
          <p:cNvSpPr/>
          <p:nvPr/>
        </p:nvSpPr>
        <p:spPr>
          <a:xfrm>
            <a:off x="749808" y="2084832"/>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21408"/>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280160" y="2112264"/>
            <a:ext cx="7040880" cy="502920"/>
          </a:xfrm>
          <a:prstGeom prst="rect">
            <a:avLst/>
          </a:prstGeom>
          <a:noFill/>
        </p:spPr>
        <p:txBody>
          <a:bodyPr wrap="square" anchor="t" lIns="0" rIns="0" tIns="0" bIns="0">
            <a:spAutoFit/>
          </a:bodyPr>
          <a:lstStyle/>
          <a:p>
            <a:pPr algn="l">
              <a:lnSpc>
                <a:spcPct val="110000"/>
              </a:lnSpc>
            </a:pPr>
            <a:r>
              <a:rPr sz="1400" b="0">
                <a:solidFill>
                  <a:srgbClr val="000000"/>
                </a:solidFill>
                <a:latin typeface="Source Han Sans SC"/>
              </a:rPr>
              <a:t>Put all five into one folder — name it with your name and date</a:t>
            </a:r>
          </a:p>
        </p:txBody>
      </p:sp>
      <p:sp>
        <p:nvSpPr>
          <p:cNvPr id="12" name="Rectangle 11"/>
          <p:cNvSpPr/>
          <p:nvPr/>
        </p:nvSpPr>
        <p:spPr>
          <a:xfrm>
            <a:off x="749808" y="2798064"/>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834640"/>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1280160" y="2825496"/>
            <a:ext cx="7040880" cy="502920"/>
          </a:xfrm>
          <a:prstGeom prst="rect">
            <a:avLst/>
          </a:prstGeom>
          <a:noFill/>
        </p:spPr>
        <p:txBody>
          <a:bodyPr wrap="square" anchor="t" lIns="0" rIns="0" tIns="0" bIns="0">
            <a:spAutoFit/>
          </a:bodyPr>
          <a:lstStyle/>
          <a:p>
            <a:pPr algn="l">
              <a:lnSpc>
                <a:spcPct val="110000"/>
              </a:lnSpc>
            </a:pPr>
            <a:r>
              <a:rPr sz="1400" b="0">
                <a:solidFill>
                  <a:srgbClr val="000000"/>
                </a:solidFill>
                <a:latin typeface="Source Han Sans SC"/>
              </a:rPr>
              <a:t>Missed a round? Backfill it after class and stick a note in the folder: "backfilled"</a:t>
            </a:r>
          </a:p>
        </p:txBody>
      </p:sp>
      <p:sp>
        <p:nvSpPr>
          <p:cNvPr id="15" name="Rectangle 14"/>
          <p:cNvSpPr/>
          <p:nvPr/>
        </p:nvSpPr>
        <p:spPr>
          <a:xfrm>
            <a:off x="566928" y="3703320"/>
            <a:ext cx="8010144" cy="8686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13048"/>
            <a:ext cx="7680960" cy="649224"/>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The folder is treasure: later, when you want to know what a complete project looks like — this is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Does This Only Work for Hardware?</a:t>
            </a:r>
          </a:p>
        </p:txBody>
      </p:sp>
      <p:sp>
        <p:nvSpPr>
          <p:cNvPr id="6" name="Rectangle 5"/>
          <p:cNvSpPr/>
          <p:nvPr/>
        </p:nvSpPr>
        <p:spPr>
          <a:xfrm>
            <a:off x="566928" y="1371600"/>
            <a:ext cx="54864" cy="803465"/>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389888"/>
            <a:ext cx="7808975" cy="766889"/>
          </a:xfrm>
          <a:prstGeom prst="rect">
            <a:avLst/>
          </a:prstGeom>
          <a:noFill/>
        </p:spPr>
        <p:txBody>
          <a:bodyPr wrap="square" anchor="t" lIns="0" rIns="0" tIns="0" bIns="0">
            <a:spAutoFit/>
          </a:bodyPr>
          <a:lstStyle/>
          <a:p>
            <a:pPr algn="l">
              <a:lnSpc>
                <a:spcPct val="115000"/>
              </a:lnSpc>
            </a:pPr>
            <a:r>
              <a:rPr sz="1900" b="0">
                <a:solidFill>
                  <a:srgbClr val="000000"/>
                </a:solidFill>
                <a:latin typeface="Source Han Sans SC"/>
              </a:rPr>
              <a:t>BMAD's five roles are not a method for hardware. They're a method for anything — today you just practiced it on hardware.</a:t>
            </a:r>
          </a:p>
        </p:txBody>
      </p:sp>
      <p:sp>
        <p:nvSpPr>
          <p:cNvPr id="8" name="TextBox 7"/>
          <p:cNvSpPr txBox="1"/>
          <p:nvPr/>
        </p:nvSpPr>
        <p:spPr>
          <a:xfrm>
            <a:off x="566928" y="2514600"/>
            <a:ext cx="8010144" cy="2743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(small prompt)  Where else could you use this method? Who would be the PM there? — one use case per table.</a:t>
            </a:r>
          </a:p>
        </p:txBody>
      </p:sp>
      <p:sp>
        <p:nvSpPr>
          <p:cNvPr id="9" name="Rectangle 8"/>
          <p:cNvSpPr/>
          <p:nvPr/>
        </p:nvSpPr>
        <p:spPr>
          <a:xfrm>
            <a:off x="566928" y="2926080"/>
            <a:ext cx="2596896"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3017520"/>
            <a:ext cx="237744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10 YEARS AGO</a:t>
            </a:r>
          </a:p>
        </p:txBody>
      </p:sp>
      <p:sp>
        <p:nvSpPr>
          <p:cNvPr id="11" name="TextBox 10"/>
          <p:cNvSpPr txBox="1"/>
          <p:nvPr/>
        </p:nvSpPr>
        <p:spPr>
          <a:xfrm>
            <a:off x="676656" y="3273552"/>
            <a:ext cx="2377440" cy="502920"/>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lighting an LED was an entry-level project</a:t>
            </a:r>
          </a:p>
        </p:txBody>
      </p:sp>
      <p:sp>
        <p:nvSpPr>
          <p:cNvPr id="12" name="Rectangle 11"/>
          <p:cNvSpPr/>
          <p:nvPr/>
        </p:nvSpPr>
        <p:spPr>
          <a:xfrm>
            <a:off x="3273552" y="2926080"/>
            <a:ext cx="2596896"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3017520"/>
            <a:ext cx="237744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5 YEARS AGO</a:t>
            </a:r>
          </a:p>
        </p:txBody>
      </p:sp>
      <p:sp>
        <p:nvSpPr>
          <p:cNvPr id="14" name="TextBox 13"/>
          <p:cNvSpPr txBox="1"/>
          <p:nvPr/>
        </p:nvSpPr>
        <p:spPr>
          <a:xfrm>
            <a:off x="3383280" y="3273552"/>
            <a:ext cx="2377440" cy="502920"/>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connecting to WiFi was advanced</a:t>
            </a:r>
          </a:p>
        </p:txBody>
      </p:sp>
      <p:sp>
        <p:nvSpPr>
          <p:cNvPr id="15" name="Rectangle 14"/>
          <p:cNvSpPr/>
          <p:nvPr/>
        </p:nvSpPr>
        <p:spPr>
          <a:xfrm>
            <a:off x="5980176" y="2926080"/>
            <a:ext cx="2596896"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9904" y="3017520"/>
            <a:ext cx="237744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TODAY</a:t>
            </a:r>
          </a:p>
        </p:txBody>
      </p:sp>
      <p:sp>
        <p:nvSpPr>
          <p:cNvPr id="17" name="TextBox 16"/>
          <p:cNvSpPr txBox="1"/>
          <p:nvPr/>
        </p:nvSpPr>
        <p:spPr>
          <a:xfrm>
            <a:off x="6089904" y="3273552"/>
            <a:ext cx="2377440" cy="502920"/>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complete beginners finished a full project with five roles in one session</a:t>
            </a:r>
          </a:p>
        </p:txBody>
      </p:sp>
      <p:sp>
        <p:nvSpPr>
          <p:cNvPr id="18" name="TextBox 17"/>
          <p:cNvSpPr txBox="1"/>
          <p:nvPr/>
        </p:nvSpPr>
        <p:spPr>
          <a:xfrm>
            <a:off x="566928" y="4023360"/>
            <a:ext cx="8010144" cy="274320"/>
          </a:xfrm>
          <a:prstGeom prst="rect">
            <a:avLst/>
          </a:prstGeom>
          <a:noFill/>
        </p:spPr>
        <p:txBody>
          <a:bodyPr wrap="square" anchor="t" lIns="0" rIns="0" tIns="0" bIns="0">
            <a:spAutoFit/>
          </a:bodyPr>
          <a:lstStyle/>
          <a:p>
            <a:pPr algn="ctr">
              <a:lnSpc>
                <a:spcPct val="100000"/>
              </a:lnSpc>
            </a:pPr>
            <a:r>
              <a:rPr sz="1200" b="1">
                <a:solidFill>
                  <a:srgbClr val="000000"/>
                </a:solidFill>
                <a:latin typeface="Source Han Sans SC"/>
              </a:rPr>
              <a:t>The project is as big as the team it needs. Small projects can merge roles.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Your Log — Four Lines As Usual, Today One Line Must Be Clear</a:t>
            </a:r>
          </a:p>
        </p:txBody>
      </p:sp>
      <p:sp>
        <p:nvSpPr>
          <p:cNvPr id="6" name="Oval 5"/>
          <p:cNvSpPr/>
          <p:nvPr/>
        </p:nvSpPr>
        <p:spPr>
          <a:xfrm>
            <a:off x="658368" y="128016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188720"/>
            <a:ext cx="7534656"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Today I made ___</a:t>
            </a:r>
          </a:p>
        </p:txBody>
      </p:sp>
      <p:sp>
        <p:nvSpPr>
          <p:cNvPr id="8" name="Oval 7"/>
          <p:cNvSpPr/>
          <p:nvPr/>
        </p:nvSpPr>
        <p:spPr>
          <a:xfrm>
            <a:off x="658368" y="1591056"/>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499616"/>
            <a:ext cx="7534656"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I got stuck on ___</a:t>
            </a:r>
          </a:p>
        </p:txBody>
      </p:sp>
      <p:sp>
        <p:nvSpPr>
          <p:cNvPr id="10" name="Oval 9"/>
          <p:cNvSpPr/>
          <p:nvPr/>
        </p:nvSpPr>
        <p:spPr>
          <a:xfrm>
            <a:off x="658368" y="1901952"/>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810512"/>
            <a:ext cx="7534656"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Then ___</a:t>
            </a:r>
          </a:p>
        </p:txBody>
      </p:sp>
      <p:sp>
        <p:nvSpPr>
          <p:cNvPr id="12" name="Oval 11"/>
          <p:cNvSpPr/>
          <p:nvPr/>
        </p:nvSpPr>
        <p:spPr>
          <a:xfrm>
            <a:off x="658368" y="221284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121408"/>
            <a:ext cx="7534656"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Next time I want ___</a:t>
            </a:r>
          </a:p>
        </p:txBody>
      </p:sp>
      <p:sp>
        <p:nvSpPr>
          <p:cNvPr id="14" name="TextBox 13"/>
          <p:cNvSpPr txBox="1"/>
          <p:nvPr/>
        </p:nvSpPr>
        <p:spPr>
          <a:xfrm>
            <a:off x="566928" y="2514600"/>
            <a:ext cx="8010144" cy="32004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 and today, write it clearly: WHERE IS MY CLOCK DIFFERENT?</a:t>
            </a:r>
          </a:p>
        </p:txBody>
      </p:sp>
      <p:sp>
        <p:nvSpPr>
          <p:cNvPr id="15" name="Rectangle 14"/>
          <p:cNvSpPr/>
          <p:nvPr/>
        </p:nvSpPr>
        <p:spPr>
          <a:xfrm>
            <a:off x="566928" y="2971800"/>
            <a:ext cx="8010144" cy="41148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63240"/>
            <a:ext cx="7680960" cy="228600"/>
          </a:xfrm>
          <a:prstGeom prst="rect">
            <a:avLst/>
          </a:prstGeom>
          <a:noFill/>
        </p:spPr>
        <p:txBody>
          <a:bodyPr wrap="square" anchor="t" lIns="0" rIns="0" tIns="0" bIns="0">
            <a:spAutoFit/>
          </a:bodyPr>
          <a:lstStyle/>
          <a:p>
            <a:pPr algn="l">
              <a:lnSpc>
                <a:spcPct val="120000"/>
              </a:lnSpc>
            </a:pPr>
            <a:r>
              <a:rPr sz="1200" b="0">
                <a:solidFill>
                  <a:srgbClr val="000000"/>
                </a:solidFill>
                <a:latin typeface="Source Code Pro"/>
              </a:rPr>
              <a:t>Help me turn this into a log — only what I said, nothing I didn't.</a:t>
            </a:r>
          </a:p>
        </p:txBody>
      </p:sp>
      <p:sp>
        <p:nvSpPr>
          <p:cNvPr id="17" name="Rectangle 16"/>
          <p:cNvSpPr/>
          <p:nvPr/>
        </p:nvSpPr>
        <p:spPr>
          <a:xfrm>
            <a:off x="566928" y="3566160"/>
            <a:ext cx="54864" cy="86868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3675887"/>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621024"/>
            <a:ext cx="7507223" cy="320040"/>
          </a:xfrm>
          <a:prstGeom prst="rect">
            <a:avLst/>
          </a:prstGeom>
          <a:noFill/>
        </p:spPr>
        <p:txBody>
          <a:bodyPr wrap="square" anchor="t" lIns="0" rIns="0" tIns="0" bIns="0">
            <a:spAutoFit/>
          </a:bodyPr>
          <a:lstStyle/>
          <a:p>
            <a:pPr algn="l">
              <a:lnSpc>
                <a:spcPct val="100000"/>
              </a:lnSpc>
            </a:pPr>
            <a:r>
              <a:rPr sz="2000" b="1">
                <a:solidFill>
                  <a:srgbClr val="000000"/>
                </a:solidFill>
                <a:latin typeface="Source Han Sans SC"/>
              </a:rPr>
              <a:t>Warning</a:t>
            </a:r>
          </a:p>
        </p:txBody>
      </p:sp>
      <p:sp>
        <p:nvSpPr>
          <p:cNvPr id="20" name="TextBox 19"/>
          <p:cNvSpPr txBox="1"/>
          <p:nvPr/>
        </p:nvSpPr>
        <p:spPr>
          <a:xfrm>
            <a:off x="932688" y="3968496"/>
            <a:ext cx="7507223" cy="411479"/>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AI will confidently invent things.</a:t>
            </a:r>
          </a:p>
          <a:p>
            <a:pPr algn="l">
              <a:lnSpc>
                <a:spcPct val="115000"/>
              </a:lnSpc>
            </a:pPr>
            <a:r>
              <a:rPr sz="1300" b="0">
                <a:solidFill>
                  <a:srgbClr val="000000"/>
                </a:solidFill>
                <a:latin typeface="Source Han Sans SC"/>
              </a:rPr>
              <a:t>Proofreading is your job — nobody can do it for you.</a:t>
            </a:r>
          </a:p>
        </p:txBody>
      </p:sp>
      <p:sp>
        <p:nvSpPr>
          <p:cNvPr id="21" name="TextBox 20"/>
          <p:cNvSpPr txBox="1"/>
          <p:nvPr/>
        </p:nvSpPr>
        <p:spPr>
          <a:xfrm>
            <a:off x="566928" y="4572000"/>
            <a:ext cx="8010144" cy="256032"/>
          </a:xfrm>
          <a:prstGeom prst="rect">
            <a:avLst/>
          </a:prstGeom>
          <a:noFill/>
        </p:spPr>
        <p:txBody>
          <a:bodyPr wrap="square" anchor="t" lIns="0" rIns="0" tIns="0" bIns="0">
            <a:spAutoFit/>
          </a:bodyPr>
          <a:lstStyle/>
          <a:p>
            <a:pPr algn="ctr">
              <a:lnSpc>
                <a:spcPct val="100000"/>
              </a:lnSpc>
            </a:pPr>
            <a:r>
              <a:rPr sz="1000" b="0">
                <a:solidFill>
                  <a:srgbClr val="000000"/>
                </a:solidFill>
                <a:latin typeface="Source Han Sans SC"/>
              </a:rPr>
              <a:t>Workbook: the proofread log + one line — "I could use this method for ___ (where), and the PM there would be 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18 / 20</a:t>
            </a:r>
          </a:p>
        </p:txBody>
      </p:sp>
      <p:sp>
        <p:nvSpPr>
          <p:cNvPr id="4" name="TextBox 3"/>
          <p:cNvSpPr txBox="1"/>
          <p:nvPr/>
        </p:nvSpPr>
        <p:spPr>
          <a:xfrm>
            <a:off x="566928" y="960120"/>
            <a:ext cx="2743200" cy="1600200"/>
          </a:xfrm>
          <a:prstGeom prst="rect">
            <a:avLst/>
          </a:prstGeom>
          <a:noFill/>
        </p:spPr>
        <p:txBody>
          <a:bodyPr wrap="square" anchor="t" lIns="0" rIns="0" tIns="0" bIns="0">
            <a:spAutoFit/>
          </a:bodyPr>
          <a:lstStyle/>
          <a:p>
            <a:pPr algn="ctr">
              <a:lnSpc>
                <a:spcPct val="100000"/>
              </a:lnSpc>
            </a:pPr>
            <a:r>
              <a:rPr sz="9600" b="1">
                <a:solidFill>
                  <a:srgbClr val="000000"/>
                </a:solidFill>
                <a:latin typeface="Source Han Sans SC"/>
              </a:rPr>
              <a:t>25</a:t>
            </a:r>
          </a:p>
        </p:txBody>
      </p:sp>
      <p:sp>
        <p:nvSpPr>
          <p:cNvPr id="5" name="TextBox 4"/>
          <p:cNvSpPr txBox="1"/>
          <p:nvPr/>
        </p:nvSpPr>
        <p:spPr>
          <a:xfrm>
            <a:off x="566928" y="2633472"/>
            <a:ext cx="2743200" cy="457200"/>
          </a:xfrm>
          <a:prstGeom prst="rect">
            <a:avLst/>
          </a:prstGeom>
          <a:noFill/>
        </p:spPr>
        <p:txBody>
          <a:bodyPr wrap="square" anchor="t" lIns="0" rIns="0" tIns="0" bIns="0">
            <a:spAutoFit/>
          </a:bodyPr>
          <a:lstStyle/>
          <a:p>
            <a:pPr algn="ctr">
              <a:lnSpc>
                <a:spcPct val="100000"/>
              </a:lnSpc>
            </a:pPr>
            <a:r>
              <a:rPr sz="2600" b="1">
                <a:solidFill>
                  <a:srgbClr val="000000"/>
                </a:solidFill>
                <a:latin typeface="Source Han Sans SC"/>
              </a:rPr>
              <a:t>minutes</a:t>
            </a:r>
          </a:p>
        </p:txBody>
      </p:sp>
      <p:sp>
        <p:nvSpPr>
          <p:cNvPr id="6" name="Rectangle 5"/>
          <p:cNvSpPr/>
          <p:nvPr/>
        </p:nvSpPr>
        <p:spPr>
          <a:xfrm>
            <a:off x="3566160" y="1097280"/>
            <a:ext cx="5029200"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30752" y="1207007"/>
            <a:ext cx="4700016" cy="557784"/>
          </a:xfrm>
          <a:prstGeom prst="rect">
            <a:avLst/>
          </a:prstGeom>
          <a:noFill/>
        </p:spPr>
        <p:txBody>
          <a:bodyPr wrap="square" anchor="t" lIns="0" rIns="0" tIns="0" bIns="0">
            <a:spAutoFit/>
          </a:bodyPr>
          <a:lstStyle/>
          <a:p>
            <a:pPr algn="l">
              <a:lnSpc>
                <a:spcPct val="125000"/>
              </a:lnSpc>
            </a:pPr>
            <a:r>
              <a:rPr sz="1150" b="0">
                <a:solidFill>
                  <a:srgbClr val="000000"/>
                </a:solidFill>
                <a:latin typeface="Source Han Sans SC"/>
              </a:rPr>
              <a:t>EXIT 1 · FINISH TO STANDARD (everyone crosses this line)</a:t>
            </a:r>
          </a:p>
          <a:p>
            <a:pPr algn="l">
              <a:lnSpc>
                <a:spcPct val="125000"/>
              </a:lnSpc>
            </a:pPr>
            <a:r>
              <a:rPr sz="1150" b="0">
                <a:solidFill>
                  <a:srgbClr val="000000"/>
                </a:solidFill>
                <a:latin typeface="Source Han Sans SC"/>
              </a:rPr>
              <a:t>Two states + timing + reminder running. Missing relay rounds? Backfill the screenshots.</a:t>
            </a:r>
          </a:p>
        </p:txBody>
      </p:sp>
      <p:sp>
        <p:nvSpPr>
          <p:cNvPr id="8" name="Rectangle 7"/>
          <p:cNvSpPr/>
          <p:nvPr/>
        </p:nvSpPr>
        <p:spPr>
          <a:xfrm>
            <a:off x="3566160" y="2011680"/>
            <a:ext cx="5029200" cy="1417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30752" y="2103120"/>
            <a:ext cx="4700016" cy="1234440"/>
          </a:xfrm>
          <a:prstGeom prst="rect">
            <a:avLst/>
          </a:prstGeom>
          <a:noFill/>
        </p:spPr>
        <p:txBody>
          <a:bodyPr wrap="square" anchor="t" lIns="0" rIns="0" tIns="0" bIns="0">
            <a:spAutoFit/>
          </a:bodyPr>
          <a:lstStyle/>
          <a:p>
            <a:pPr algn="l">
              <a:lnSpc>
                <a:spcPct val="122000"/>
              </a:lnSpc>
            </a:pPr>
            <a:r>
              <a:rPr sz="1150" b="1">
                <a:solidFill>
                  <a:srgbClr val="000000"/>
                </a:solidFill>
                <a:latin typeface="Source Han Sans SC"/>
              </a:rPr>
              <a:t>EXIT 2 · EASTER EGG CHALLENGE (fast lane)</a:t>
            </a:r>
          </a:p>
          <a:p>
            <a:pPr algn="l">
              <a:lnSpc>
                <a:spcPct val="122000"/>
              </a:lnSpc>
            </a:pPr>
            <a:r>
              <a:rPr sz="1000" b="0">
                <a:solidFill>
                  <a:srgbClr val="000000"/>
                </a:solidFill>
                <a:latin typeface="Source Han Sans SC"/>
              </a:rPr>
              <a:t>Flip timer (turn the board over and it starts timing — it feels itself flip)</a:t>
            </a:r>
          </a:p>
          <a:p>
            <a:pPr algn="l">
              <a:lnSpc>
                <a:spcPct val="122000"/>
              </a:lnSpc>
            </a:pPr>
            <a:r>
              <a:rPr sz="1000" b="0">
                <a:solidFill>
                  <a:srgbClr val="000000"/>
                </a:solidFill>
                <a:latin typeface="Source Han Sans SC"/>
              </a:rPr>
              <a:t>Victory jingle (a tune after 3 completed rounds)</a:t>
            </a:r>
          </a:p>
          <a:p>
            <a:pPr algn="l">
              <a:lnSpc>
                <a:spcPct val="122000"/>
              </a:lnSpc>
            </a:pPr>
            <a:r>
              <a:rPr sz="1000" b="0">
                <a:solidFill>
                  <a:srgbClr val="000000"/>
                </a:solidFill>
                <a:latin typeface="Source Han Sans SC"/>
              </a:rPr>
              <a:t>Rest-screen joke (an English one-liner on the break screen)</a:t>
            </a:r>
          </a:p>
          <a:p>
            <a:pPr algn="l">
              <a:lnSpc>
                <a:spcPct val="122000"/>
              </a:lnSpc>
            </a:pPr>
            <a:r>
              <a:rPr sz="950" b="0">
                <a:solidFill>
                  <a:srgbClr val="000000"/>
                </a:solidFill>
                <a:latin typeface="Source Han Sans SC"/>
              </a:rPr>
              <a:t>First decide do-or-skip — two minutes. Doesn't work out? Today's pass is unaffected.</a:t>
            </a:r>
          </a:p>
        </p:txBody>
      </p:sp>
      <p:sp>
        <p:nvSpPr>
          <p:cNvPr id="10" name="Rectangle 9"/>
          <p:cNvSpPr/>
          <p:nvPr/>
        </p:nvSpPr>
        <p:spPr>
          <a:xfrm>
            <a:off x="3566160" y="3566160"/>
            <a:ext cx="5029200"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0752" y="3657600"/>
            <a:ext cx="4700016" cy="713232"/>
          </a:xfrm>
          <a:prstGeom prst="rect">
            <a:avLst/>
          </a:prstGeom>
          <a:noFill/>
        </p:spPr>
        <p:txBody>
          <a:bodyPr wrap="square" anchor="t" lIns="0" rIns="0" tIns="0" bIns="0">
            <a:spAutoFit/>
          </a:bodyPr>
          <a:lstStyle/>
          <a:p>
            <a:pPr algn="l">
              <a:lnSpc>
                <a:spcPct val="122000"/>
              </a:lnSpc>
            </a:pPr>
            <a:r>
              <a:rPr sz="1150" b="1">
                <a:solidFill>
                  <a:srgbClr val="000000"/>
                </a:solidFill>
                <a:latin typeface="Source Han Sans SC"/>
              </a:rPr>
              <a:t>EXIT 3 · 8-STEP MAPPING</a:t>
            </a:r>
          </a:p>
          <a:p>
            <a:pPr algn="l">
              <a:lnSpc>
                <a:spcPct val="122000"/>
              </a:lnSpc>
            </a:pPr>
            <a:r>
              <a:rPr sz="950" b="0">
                <a:solidFill>
                  <a:srgbClr val="000000"/>
                </a:solidFill>
                <a:latin typeface="Source Han Sans SC"/>
              </a:rPr>
              <a:t>Go through your relay log; against the 8-step map on the board, write one line per box: "what I did in this step" ("not yet" for boxes you didn't visit).</a:t>
            </a:r>
          </a:p>
        </p:txBody>
      </p:sp>
      <p:sp>
        <p:nvSpPr>
          <p:cNvPr id="12" name="Rectangle 11"/>
          <p:cNvSpPr/>
          <p:nvPr/>
        </p:nvSpPr>
        <p:spPr>
          <a:xfrm>
            <a:off x="566928" y="3310128"/>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328416"/>
            <a:ext cx="2542032" cy="438912"/>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Standard first, then fast.</a:t>
            </a:r>
          </a:p>
        </p:txBody>
      </p:sp>
      <p:sp>
        <p:nvSpPr>
          <p:cNvPr id="14" name="TextBox 13"/>
          <p:cNvSpPr txBox="1"/>
          <p:nvPr/>
        </p:nvSpPr>
        <p:spPr>
          <a:xfrm>
            <a:off x="566928" y="3977639"/>
            <a:ext cx="2743200" cy="685800"/>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The buffer is part of the lesson, not early dismissal.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19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The 8-Step Map — Today You Walked the First Six</a:t>
            </a:r>
          </a:p>
        </p:txBody>
      </p:sp>
      <p:sp>
        <p:nvSpPr>
          <p:cNvPr id="6" name="Rectangle 5"/>
          <p:cNvSpPr/>
          <p:nvPr/>
        </p:nvSpPr>
        <p:spPr>
          <a:xfrm>
            <a:off x="566928" y="1115568"/>
            <a:ext cx="3950208" cy="713232"/>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79576"/>
            <a:ext cx="45720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1+2</a:t>
            </a:r>
          </a:p>
        </p:txBody>
      </p:sp>
      <p:sp>
        <p:nvSpPr>
          <p:cNvPr id="8" name="TextBox 7"/>
          <p:cNvSpPr txBox="1"/>
          <p:nvPr/>
        </p:nvSpPr>
        <p:spPr>
          <a:xfrm>
            <a:off x="1133856" y="1197864"/>
            <a:ext cx="3273552" cy="566928"/>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Who it's for + what problem it solves — PM</a:t>
            </a:r>
          </a:p>
        </p:txBody>
      </p:sp>
      <p:sp>
        <p:nvSpPr>
          <p:cNvPr id="9" name="Rectangle 8"/>
          <p:cNvSpPr/>
          <p:nvPr/>
        </p:nvSpPr>
        <p:spPr>
          <a:xfrm>
            <a:off x="4608576" y="1115568"/>
            <a:ext cx="3950208" cy="713232"/>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18304" y="1179576"/>
            <a:ext cx="45720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3</a:t>
            </a:r>
          </a:p>
        </p:txBody>
      </p:sp>
      <p:sp>
        <p:nvSpPr>
          <p:cNvPr id="11" name="TextBox 10"/>
          <p:cNvSpPr txBox="1"/>
          <p:nvPr/>
        </p:nvSpPr>
        <p:spPr>
          <a:xfrm>
            <a:off x="5175504" y="1197864"/>
            <a:ext cx="3273552" cy="566928"/>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Say clearly what you want and how it looks — designer + architect</a:t>
            </a:r>
          </a:p>
        </p:txBody>
      </p:sp>
      <p:sp>
        <p:nvSpPr>
          <p:cNvPr id="12" name="Rectangle 11"/>
          <p:cNvSpPr/>
          <p:nvPr/>
        </p:nvSpPr>
        <p:spPr>
          <a:xfrm>
            <a:off x="566928" y="1828800"/>
            <a:ext cx="3950208" cy="713232"/>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1892807"/>
            <a:ext cx="45720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4</a:t>
            </a:r>
          </a:p>
        </p:txBody>
      </p:sp>
      <p:sp>
        <p:nvSpPr>
          <p:cNvPr id="14" name="TextBox 13"/>
          <p:cNvSpPr txBox="1"/>
          <p:nvPr/>
        </p:nvSpPr>
        <p:spPr>
          <a:xfrm>
            <a:off x="1133856" y="1911095"/>
            <a:ext cx="3273552" cy="566928"/>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Build it with AI — developer</a:t>
            </a:r>
          </a:p>
        </p:txBody>
      </p:sp>
      <p:sp>
        <p:nvSpPr>
          <p:cNvPr id="15" name="Rectangle 14"/>
          <p:cNvSpPr/>
          <p:nvPr/>
        </p:nvSpPr>
        <p:spPr>
          <a:xfrm>
            <a:off x="4608576" y="1828800"/>
            <a:ext cx="3950208" cy="713232"/>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18304" y="1892807"/>
            <a:ext cx="45720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5</a:t>
            </a:r>
          </a:p>
        </p:txBody>
      </p:sp>
      <p:sp>
        <p:nvSpPr>
          <p:cNvPr id="17" name="TextBox 16"/>
          <p:cNvSpPr txBox="1"/>
          <p:nvPr/>
        </p:nvSpPr>
        <p:spPr>
          <a:xfrm>
            <a:off x="5175504" y="1911095"/>
            <a:ext cx="3273552" cy="566928"/>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Try it, find faults — tester</a:t>
            </a:r>
          </a:p>
        </p:txBody>
      </p:sp>
      <p:sp>
        <p:nvSpPr>
          <p:cNvPr id="18" name="Rectangle 17"/>
          <p:cNvSpPr/>
          <p:nvPr/>
        </p:nvSpPr>
        <p:spPr>
          <a:xfrm>
            <a:off x="566928" y="2542032"/>
            <a:ext cx="3950208" cy="713232"/>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2606039"/>
            <a:ext cx="45720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6</a:t>
            </a:r>
          </a:p>
        </p:txBody>
      </p:sp>
      <p:sp>
        <p:nvSpPr>
          <p:cNvPr id="20" name="TextBox 19"/>
          <p:cNvSpPr txBox="1"/>
          <p:nvPr/>
        </p:nvSpPr>
        <p:spPr>
          <a:xfrm>
            <a:off x="1133856" y="2624327"/>
            <a:ext cx="3273552" cy="566928"/>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Fix it or live with it, keep it or cut it — your Accept/Reject calls, your egg do-or-skip</a:t>
            </a:r>
          </a:p>
        </p:txBody>
      </p:sp>
      <p:sp>
        <p:nvSpPr>
          <p:cNvPr id="21" name="Rectangle 20"/>
          <p:cNvSpPr/>
          <p:nvPr/>
        </p:nvSpPr>
        <p:spPr>
          <a:xfrm>
            <a:off x="4608576" y="2542032"/>
            <a:ext cx="3950208" cy="71323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18304" y="2606039"/>
            <a:ext cx="45720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7</a:t>
            </a:r>
          </a:p>
        </p:txBody>
      </p:sp>
      <p:sp>
        <p:nvSpPr>
          <p:cNvPr id="23" name="TextBox 22"/>
          <p:cNvSpPr txBox="1"/>
          <p:nvPr/>
        </p:nvSpPr>
        <p:spPr>
          <a:xfrm>
            <a:off x="5175504" y="2624327"/>
            <a:ext cx="3273552" cy="566928"/>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Show it to someone — you'll do that in a minute</a:t>
            </a:r>
          </a:p>
        </p:txBody>
      </p:sp>
      <p:sp>
        <p:nvSpPr>
          <p:cNvPr id="24" name="Rectangle 23"/>
          <p:cNvSpPr/>
          <p:nvPr/>
        </p:nvSpPr>
        <p:spPr>
          <a:xfrm>
            <a:off x="566928" y="3255264"/>
            <a:ext cx="3950208" cy="71323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3319272"/>
            <a:ext cx="457200" cy="237744"/>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8</a:t>
            </a:r>
          </a:p>
        </p:txBody>
      </p:sp>
      <p:sp>
        <p:nvSpPr>
          <p:cNvPr id="26" name="TextBox 25"/>
          <p:cNvSpPr txBox="1"/>
          <p:nvPr/>
        </p:nvSpPr>
        <p:spPr>
          <a:xfrm>
            <a:off x="1133856" y="3337560"/>
            <a:ext cx="3273552" cy="566928"/>
          </a:xfrm>
          <a:prstGeom prst="rect">
            <a:avLst/>
          </a:prstGeom>
          <a:noFill/>
        </p:spPr>
        <p:txBody>
          <a:bodyPr wrap="square" anchor="t" lIns="0" rIns="0" tIns="0" bIns="0">
            <a:spAutoFit/>
          </a:bodyPr>
          <a:lstStyle/>
          <a:p>
            <a:pPr algn="l">
              <a:lnSpc>
                <a:spcPct val="110000"/>
              </a:lnSpc>
            </a:pPr>
            <a:r>
              <a:rPr sz="1000" b="0">
                <a:solidFill>
                  <a:srgbClr val="000000"/>
                </a:solidFill>
                <a:latin typeface="Source Han Sans SC"/>
              </a:rPr>
              <a:t>Look back at it when it's done — that's happening right now</a:t>
            </a:r>
          </a:p>
        </p:txBody>
      </p:sp>
      <p:sp>
        <p:nvSpPr>
          <p:cNvPr id="27" name="TextBox 26"/>
          <p:cNvSpPr txBox="1"/>
          <p:nvPr/>
        </p:nvSpPr>
        <p:spPr>
          <a:xfrm>
            <a:off x="4608576" y="3255264"/>
            <a:ext cx="3950208" cy="713232"/>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(yellow = walked today  ·  white = just started)</a:t>
            </a:r>
          </a:p>
        </p:txBody>
      </p:sp>
      <p:sp>
        <p:nvSpPr>
          <p:cNvPr id="28" name="Rectangle 27"/>
          <p:cNvSpPr/>
          <p:nvPr/>
        </p:nvSpPr>
        <p:spPr>
          <a:xfrm>
            <a:off x="566928" y="4059936"/>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69664"/>
            <a:ext cx="7680960" cy="438912"/>
          </a:xfrm>
          <a:prstGeom prst="rect">
            <a:avLst/>
          </a:prstGeom>
          <a:noFill/>
        </p:spPr>
        <p:txBody>
          <a:bodyPr wrap="square" anchor="t" lIns="0" rIns="0" tIns="0" bIns="0">
            <a:spAutoFit/>
          </a:bodyPr>
          <a:lstStyle/>
          <a:p>
            <a:pPr algn="l">
              <a:lnSpc>
                <a:spcPct val="125000"/>
              </a:lnSpc>
            </a:pPr>
            <a:r>
              <a:rPr sz="1000" b="0">
                <a:solidFill>
                  <a:srgbClr val="000000"/>
                </a:solidFill>
                <a:latin typeface="Source Han Sans SC"/>
              </a:rPr>
              <a:t>Against the map, write one line per box in your workbook: "what I did in this step" — then take a sticky: "where I got stuck", one per step, sign it, put it on the wall.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Assemble Your Team | 20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Look at the Wall + Share + Next Time</a:t>
            </a:r>
          </a:p>
        </p:txBody>
      </p:sp>
      <p:sp>
        <p:nvSpPr>
          <p:cNvPr id="6" name="TextBox 5"/>
          <p:cNvSpPr txBox="1"/>
          <p:nvPr/>
        </p:nvSpPr>
        <p:spPr>
          <a:xfrm>
            <a:off x="566928" y="1078992"/>
            <a:ext cx="8010144"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THE STICKY WALL:</a:t>
            </a:r>
          </a:p>
        </p:txBody>
      </p:sp>
      <p:sp>
        <p:nvSpPr>
          <p:cNvPr id="7" name="TextBox 6"/>
          <p:cNvSpPr txBox="1"/>
          <p:nvPr/>
        </p:nvSpPr>
        <p:spPr>
          <a:xfrm>
            <a:off x="566928" y="1353312"/>
            <a:ext cx="8010144" cy="2743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Which step has the most stickies?</a:t>
            </a:r>
          </a:p>
        </p:txBody>
      </p:sp>
      <p:sp>
        <p:nvSpPr>
          <p:cNvPr id="8" name="TextBox 7"/>
          <p:cNvSpPr txBox="1"/>
          <p:nvPr/>
        </p:nvSpPr>
        <p:spPr>
          <a:xfrm>
            <a:off x="566928" y="1645920"/>
            <a:ext cx="8010144" cy="2743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Getting fully stuck and fully unstuck today — next time you get stuck, you won't panic.</a:t>
            </a:r>
          </a:p>
        </p:txBody>
      </p:sp>
      <p:sp>
        <p:nvSpPr>
          <p:cNvPr id="9" name="TextBox 8"/>
          <p:cNvSpPr txBox="1"/>
          <p:nvPr/>
        </p:nvSpPr>
        <p:spPr>
          <a:xfrm>
            <a:off x="566928" y="2057400"/>
            <a:ext cx="8010144"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THE SHARE RULE:</a:t>
            </a:r>
          </a:p>
        </p:txBody>
      </p:sp>
      <p:sp>
        <p:nvSpPr>
          <p:cNvPr id="10" name="TextBox 9"/>
          <p:cNvSpPr txBox="1"/>
          <p:nvPr/>
        </p:nvSpPr>
        <p:spPr>
          <a:xfrm>
            <a:off x="566928" y="2331720"/>
            <a:ext cx="8010144" cy="27432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Across your table, 30 seconds: what's different about their clock compared to yours?</a:t>
            </a:r>
          </a:p>
        </p:txBody>
      </p:sp>
      <p:sp>
        <p:nvSpPr>
          <p:cNvPr id="11" name="TextBox 10"/>
          <p:cNvSpPr txBox="1"/>
          <p:nvPr/>
        </p:nvSpPr>
        <p:spPr>
          <a:xfrm>
            <a:off x="566928" y="2834640"/>
            <a:ext cx="8010144"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NEXT TIME · LESSON 5 — TEACH YOUR HARDWARE TO SEE</a:t>
            </a:r>
          </a:p>
        </p:txBody>
      </p:sp>
      <p:sp>
        <p:nvSpPr>
          <p:cNvPr id="12" name="Rectangle 11"/>
          <p:cNvSpPr/>
          <p:nvPr/>
        </p:nvSpPr>
        <p:spPr>
          <a:xfrm>
            <a:off x="566928" y="3154680"/>
            <a:ext cx="1463040" cy="45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337560"/>
            <a:ext cx="8010144" cy="320040"/>
          </a:xfrm>
          <a:prstGeom prst="rect">
            <a:avLst/>
          </a:prstGeom>
          <a:noFill/>
        </p:spPr>
        <p:txBody>
          <a:bodyPr wrap="square" anchor="t" lIns="0" rIns="0" tIns="0" bIns="0">
            <a:spAutoFit/>
          </a:bodyPr>
          <a:lstStyle/>
          <a:p>
            <a:pPr algn="l">
              <a:lnSpc>
                <a:spcPct val="100000"/>
              </a:lnSpc>
            </a:pPr>
            <a:r>
              <a:rPr sz="1600" b="0">
                <a:solidFill>
                  <a:srgbClr val="000000"/>
                </a:solidFill>
                <a:latin typeface="Source Han Sans SC"/>
              </a:rPr>
              <a:t>It will recognize your face and your hand.</a:t>
            </a:r>
          </a:p>
        </p:txBody>
      </p:sp>
      <p:sp>
        <p:nvSpPr>
          <p:cNvPr id="14" name="TextBox 13"/>
          <p:cNvSpPr txBox="1"/>
          <p:nvPr/>
        </p:nvSpPr>
        <p:spPr>
          <a:xfrm>
            <a:off x="566928" y="3931920"/>
            <a:ext cx="8010144" cy="502920"/>
          </a:xfrm>
          <a:prstGeom prst="rect">
            <a:avLst/>
          </a:prstGeom>
          <a:noFill/>
        </p:spPr>
        <p:txBody>
          <a:bodyPr wrap="square" anchor="t" lIns="0" rIns="0" tIns="0" bIns="0">
            <a:spAutoFit/>
          </a:bodyPr>
          <a:lstStyle/>
          <a:p>
            <a:pPr algn="ctr">
              <a:lnSpc>
                <a:spcPct val="120000"/>
              </a:lnSpc>
            </a:pPr>
            <a:r>
              <a:rPr sz="1100" b="0">
                <a:solidFill>
                  <a:srgbClr val="000000"/>
                </a:solidFill>
                <a:latin typeface="Source Han Sans SC"/>
              </a:rPr>
              <a:t>Keep your timer — it's your first complete project, not your last. Take home (or photograph): your five-screenshot folder, your state-circles paper, your workbook.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