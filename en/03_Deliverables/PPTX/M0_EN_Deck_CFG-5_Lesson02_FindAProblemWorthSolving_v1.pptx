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loops before class. Open with one welcome line and go straight to slide 02 — the cover is not a talking page. Small 3-box icon (Sense -&gt; Logic -&gt; Output) bottom-right, yellow rule under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30 seconds to look back: you put your name on the screen, and you taught the board Sense -&gt; Logic -&gt; Output. Last session you proved 'I can make things.' From today, the question changes: make things for who? Look at two topics from last term: a water reminder — made for a mom who always forgets to drink; a night light — made for a little brother afraid of the dark. See the pattern? Neither is a big invention. Both are real annoyances from real life. Today, you find yours. Write 'who does it light up for?' on the whiteboard — point at it all session. Only 3 minutes — two examples,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hunt for a topic, look at what kinds of things this board can actually make. Get the map in your head first, so your topics don't fly off everywhere. Walk the three columns: kind one — standalone device, the board is the whole thing (the dark-detecting light from last session is exactly this); kind two — the computer's partner (the board and the computer make something together); kind three — the outside world (today just know the road exists). One or two examples per kind, no parameters. Hard timebox: 8 minutes total, do not expand. Kind two: only rehearsed examples go on the page — if the rehearsal didn't run, kind two gets concepts only. A student presses on the internet? 'There's a dedicated lesson later — today, just remember it exists.' CFU: 'Point at the map. Which kind is a flashlight that turns on when it's dark? (wait) Which kind is a controller for a computer game? (wait) One-word answers —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your Student Workbook (or notebook), find the 'annoyances' box. Two minutes. Write three small things that annoy you — at least three, in your own document. Yours, your family's, your friends' — all fine. The smaller the better: 'my mom always forgets her pills' is worth a hundred 'world peace's. I'll go first: ... Model first with your own two real annoyances. Tables stuck? TAs drop the prompt words. Solving for someone else is allowed. Students with no record carrier: remind them to write in their notebook — every later step needs it. Output anchor: at least 3 annoyances in everyone's workbook.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weapons. Last session you learned two spells — one thing at a time, and if it's wrong, add one more line. Today, two more phrase sets: the topic set, four phrases — they help you think about WHAT to make; and the user set, three phrases — they help you think about WHO it's for. These phrases are printed in your Student Workbook — forget them, flip to the page. First, remember these two: 'turn my annoyances into ideas' and 'the Tough Reviewer'. Project the full phrase text and read once together. Set the gate before anything else: the blanks in a phrase must be filled with your own stuff — a phrase sent with blanks doesn't count. That sentence is the gate for today's red 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me once. (project, fill the template) My annoyances: [your three real annoyances]. Send it to AI — (send) see, 10 ideas. (circle 2) Notice: what it gives you is candidates. Which one is buildable, who'd really use it — it doesn't know. You know. Your turn: fill your three annoyances into the phrase, send it — then copy your 3 favorite ideas back into your workbook. Red-line patrol (the TA's main job): a student sends the blank template — send it back to be refilled: 'The blanks are for you to fill — AI doesn't know how old your sister is.' Everyone must get 10+ ideas before this counts as done. Few ideas? 'Give me 5 weirder ones.' AI/network stalls here: don't wait — use the 40-in-1 module chart (or the parts box) as the inspiration pool; the AI divergence moves to the start of the rules segment for 10 minutes. The manifesto round is non-negotiable. [Screenshot asset runs on the live demo track — 30-second cut to backup is not an incident.]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is too many — you can only build one. Meet today's bluntest phrase: the Tough Reviewer — AI plays the rudest, most honest advisor who still wants you to win. Throw your ideas at it, and it grills you, idea by idea, with three questions: can it be done in 3 hours? do you have the hardware? would you really use it every day? (demo once) See? Getting grilled isn't shameful — it kills the ideas that can't stand up, before you've spent half a day on them. Go. Today's number-one pitfall lives here: AI says pick X, the student picks X. The TA's standard move: walk over and ask — 'Tell me why that one is good.' They can answer -&gt; let them through; they can't -&gt; have them run the three questions themselves. All rejected? Run 'how else could this idea work?' once, then screen again. Topic too big ('I want to build a robot')? The three questions are the first gate; still too big? Demo the cut live: 'You can't build the robot today — but a robot head that greets people? That you can start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set — next question: who'll use it? Use the 'who would use it' phrase and let AI make a list — but there's a hard rule: real names only. 'My mom', 'my classmate Liam' — pass. 'All students', 'everyone' — fail. Then interview your neighbor, two at a time, 4 minutes each: you introduce your topic, your neighbor plays your user and asks you the questions from the 'help me make an interview script' phrase. Name the two new words clearly and point at them: 'These aren't exam words — you'll use them today.' Interviews drifting into small talk? The interview questions are in the phrase — reading them aloud counts. A list without real names — send it back: 'A project written for everyone ends up used by no one.' A student embarrassed to interview? Swap roles. Their 'user' is themselves? Fine — but make them write a second real name: 'Besides you — who's most annoyed by this?' Output anchor: a one-line user picture in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thing: one sentence each, announce your topic to the class. The format: I'm making a ___ for ___ because ___. I'll go first: I'm making a [pill reminder] for [my mom], because [she always forgets her blood-pressure meds]. — One by one. When you've said it, write it on a big sticky and put it on the Project Wall; then open your workbook (or notebook) and copy the same sentence in — it's the north star for every lesson after this one. After each manifesto, one line of feedback — praise only the highlight. A manifesto missing a part? Push with questions: 'For who?' 'Why them?' — complete it before it goes on the wall. TA photographs the Project Wall (wall only, no faces). When everyone's up: 'This wall does not come down. Lesson 6, we plan around it; Lesson 10, we present around it — we keep coming back to this wall.' CFU: 'Everyone, point at your manifesto on the wall. (wait) Now read your own because-clause silently. If you can say it to your neighbor in five seconds, you're done here — go.' NON-NEGOTIABLE round.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set. Next: a craft everyone can use — how to say things clearly to AI. Flip straight through — no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two real conversations from last session. This one — worked first try. This one — five rounds of back and forth. Same AI, same classroom. What's the difference? (pause — wait time, let them guess) Not luck. It's how you say it. Talking to AI isn't magic — it's a craft you can practice. The next 15 minutes: five rules, and we verify every single one on your own board. First, a picture: talking to AI is like briefing a new colleague — they're smart, but they don't know what's in your head. Students claiming their own crash conversations? The laughter is good — let it happen. Write 'requirement' in a corner of the whiteboard. [TA collects the two real conversations before class; fallback: instructor's own Rehearsal-2 comparison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meet them once. (read the titles, one by one) Don't copy them down — the next 15 minutes, we verify every one on your own board. Made by your own hands counts. Fast flip to the experiments page. This page is the on-screen mirror of the whiteboard's five titles written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line for each rule is in the Teacher's Guide (14:56-15:11); run the experiment steps projected as you go. Rule 2's experiment is the easiest teaching moment — a vague request produces an absurd result; circulate, collect the most absurd one, project it, let the class laugh, then land the point: 'It's guessing. Your project is ten times more complex than this — you can't afford the wrong guess.' Short on time? Cut the Rule 3 and 5 experiments — and the rules get cut with them: point at the whiteboard and say 'try these two at home', don't force it. Both sides of a comparison come out equally well (AI too clever)? 'Today it guessed your mind right — but your real project is ten times more complex. You can't afford the wrong guess.' Then add a two-condition request ('only light up when it's dark AND there's sound') and run it again. Stays fixed during the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exam: 'make something that reminds my little sister to stop playing on her phone.' What's wrong with that sentence? Rewrite it with the Five Rules, send it, test it. Anyone whose version works within a try or two — read it to the class. Someone got it working? Have them read their version, then name the rule they used ('you specified the input and the output — that's Rule 2'). That's what mastery looks like; no test needed. Segment wrap (no page): 'Last session's two spells — one thing at a time, and if it's wrong, add one more line — they're today's Rule 1 and Rule 4. Plus the error move. All of it is printed in your Student Workbook — forget it, flip to the page. Thirty seconds with your neighbor: which rule hit you hardest today? — Next: the big build.'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 build. Look at the wall once — today we build toward that. Flip straight through.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just set your topic — now make its first working piece. Two options: one, cut a small slice out of your topic and build it (recommended); two, no direction yet? Pick one of the three starter briefs — Reminder, Night Light, Alarm — reference combos on the back. With the kit: 'Now look at the new thing on your table: the parts box. Last session the parts on your board were soldered on — today these modules you wire yourself. First wiring, one rule only: one end into the module, the other into the socket on the edge of the board; plug it in wrong and nothing burns — just flip it around. Watch once. (use the Rehearsal-3 servo demo)' — name the modules before hands touch them. No kit: 'Today we use the modules already on your board — last session's friends: light, sound, button, LED, buzzer, screen. Two linked modules, no problem. Straight to the design sheet.' A topic that really can't be sliced small? The TA maps it 'near enough' onto a starter brief: 'This is the practice piece for your topic.' [Parts-box photo asset: kit classes only — corner label 'if you have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off the keyboard. Design sheet, 5-minute hourglass: what's your project called, who's it for (a real name), Sense ___ -&gt; Logic ___ -&gt; Output ___, which modules. When the hourglass runs out, you build — start, and the build becomes yours as you go. Writing 'who it's for'? Look at the wall once. This design sheet is your design document — building, review, log: everything checks against it. Free-choice design sheets must pass the TA's eye before building starts; starter-brief sheets start right away. Still hesitating at 5 minutes? Pull a starter brief and start with the reference combo.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signal: 'Go. Three rules: one thing at a time; if it's wrong, add a line; stuck? Ask your AI first, then your neighbor, then raise your hand.' Circulation points (never on screen): midway (~16:00) one whole-room callout — 'Stop, 10 seconds — check against your design sheet: are you still building the thing you wrote?'; watch for THE LINK — two modules doing their own separate things doesn't count: 'make the one on the left tell the one on the right something'; a student dumps the whole job on AI — 'directors shoot one scene at a time: get the link working first, then decorate.' Someone badly behind (16:10, no successful flash)? Move them to the instructor demo spot, target drops to 'one linked build runs'. Fast student done before 16:00? No early review — challenge task (rehearsed ones only) or send them to help a slow student (mouth only, hands off the keyboard). Link won't come together? Minimal definition first, then lower the bar to 'one project + one record of the linking attempt' — log the sticking point, still counts. 16:21, kit classes only — the wiring-check callout: 'Hands up, everyone — wiring check: modules facing the right way? Cables pushed all the way in at both ends? Sockets matched? 30 seconds, check your neighbor's once.' No kit? Skip the call-out — those 5 minutes become TA circulation + nudging slow students to wrap up. Stays fixed during the build.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your builds out. Today, a new segment for the first time: review — asking someone to find the flaws in your project. Today's reviewer is AI, but it plays a real person. Watch the demo. (project the Rehearsal-4 conversation) I had it play my mom — someone who's not great with electronics — and it found one flaw. Your turn: send your project description to AI, starting with 'please play ___' — the real name on your design sheet — 'find exactly ONE flaw in my project. Just one.' Note: review isn't abstract fault-finding — it's finding flaws for that one real person. One flaw is a designed dose — a student asking for more? Hold them back: 'one at a time, you can't eat more than that.' First flaw lands too harshly or absurdly? Handle it in public: 'AI's opinion gets reviewed too — do you think it's right?' A student upset by the flaw? Catch the feeling first — strong emotions -&gt; private talk. A build doesn't run at review time? Review it anyway — AI finds flaws in the design, not the bug; 'not running yet' is itself the best 'stuck on' for the log. [Rehearsal-4 screenshot doubles as the projection demo; missing -&gt; live demo on the real interface.]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got the flaw. Now make a decision: change it, or not. Change it — do it right now. Don't change it — tell your neighbor why. Say it clearly: accepting earns credit, and so does rejecting — as long as the reason is yours. Actively find one well-reasoned rejection and praise it out loud: 'They turned down AI's suggestion, because ___ — that reason stands. Knowing how to refuse is what real trade-offs look like.' The decision and the reason must go into today's log. Fast student already done? Give the reverse challenge — hand their project to their neighbor to review. The whole class accepts (nobody dares to reject)? You model a rejection live: 'AI also found a flaw in my demo project — said the reminder sound is too soft. I'm not changing it, because my mom's hearing is fine; a louder sound would just wake her from her nap. See? A rejection with a reason counts the same.' Someone can't say why? Squeeze the reason out: 'did it hit the mark, or are you changing it because you don't know what else to do?' Output anchor: the one-line accept/reject decision in everyone's workbook.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your table, 30 seconds each: demo your build, say one line — 'what AI found, and whether I changed it'. Then today's log — take one photo: your build and your design sheet together, two pieces of paper, one board — all made by you. Say thirty seconds, the usual four sentences: today I made ___ / I got stuck on ___ / then ___ / next time I want ___ — and for today's 'then', include how you handled the flaw. Then the AI-tidy line, then the proofreading duty — 'AI will make things up with a straight face. Proofreading is your job.' (The red warning is this deck's single red element.) The TA takes extra build photos and the Project Wall (hands only, no faces); the design-sheet + build photo is today's most valuable material — everyone must have one. A student with no phone? TA photographs everything, filed by table number.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two minutes — take stock. One: from 10 ideas you fixed your own topic and said who it's for — that's spotting a problem. Two: you directed AI to make your first combination build — building it, one step further. Three: you made the first 'change it or not' decision of your life — that's making trade-offs. Six skills, and today you practiced three. Next session, new gear: a handheld with a color screen — the Wio Terminal. We're going to give your project a screen — from today, your builds have a real interface. Bring your topic. Class dismissed! Have students look at the Project Wall once — today everyone's name is on it. After class: collect the outputs (links or photos); note whether you got them all — you'll need it at the start of Lesson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01 / 22</a:t>
            </a:r>
          </a:p>
        </p:txBody>
      </p:sp>
      <p:sp>
        <p:nvSpPr>
          <p:cNvPr id="4" name="TextBox 3"/>
          <p:cNvSpPr txBox="1"/>
          <p:nvPr/>
        </p:nvSpPr>
        <p:spPr>
          <a:xfrm>
            <a:off x="566928" y="1188720"/>
            <a:ext cx="6035040" cy="32004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Chaihuo Maker Academy · Smart Hardware Fundamentals (M0)</a:t>
            </a:r>
          </a:p>
        </p:txBody>
      </p:sp>
      <p:sp>
        <p:nvSpPr>
          <p:cNvPr id="5" name="TextBox 4"/>
          <p:cNvSpPr txBox="1"/>
          <p:nvPr/>
        </p:nvSpPr>
        <p:spPr>
          <a:xfrm>
            <a:off x="566928" y="1536192"/>
            <a:ext cx="8010144"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Find a Problem Worth Solving</a:t>
            </a:r>
          </a:p>
        </p:txBody>
      </p:sp>
      <p:sp>
        <p:nvSpPr>
          <p:cNvPr id="6" name="Rectangle 5"/>
          <p:cNvSpPr/>
          <p:nvPr/>
        </p:nvSpPr>
        <p:spPr>
          <a:xfrm>
            <a:off x="566928" y="2395728"/>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70048"/>
            <a:ext cx="6035040" cy="365760"/>
          </a:xfrm>
          <a:prstGeom prst="rect">
            <a:avLst/>
          </a:prstGeom>
          <a:noFill/>
        </p:spPr>
        <p:txBody>
          <a:bodyPr wrap="square" anchor="t" lIns="0" rIns="0" tIns="0" bIns="0">
            <a:spAutoFit/>
          </a:bodyPr>
          <a:lstStyle/>
          <a:p>
            <a:pPr algn="l">
              <a:lnSpc>
                <a:spcPct val="100000"/>
              </a:lnSpc>
            </a:pPr>
            <a:r>
              <a:rPr sz="1500" b="0">
                <a:solidFill>
                  <a:srgbClr val="000000"/>
                </a:solidFill>
                <a:latin typeface="Source Han Sans SC"/>
              </a:rPr>
              <a:t>Grove Beginner Kit · IoT Starter Board · M0 Lesson 2</a:t>
            </a:r>
          </a:p>
        </p:txBody>
      </p:sp>
      <p:sp>
        <p:nvSpPr>
          <p:cNvPr id="8" name="TextBox 7"/>
          <p:cNvSpPr txBox="1"/>
          <p:nvPr/>
        </p:nvSpPr>
        <p:spPr>
          <a:xfrm>
            <a:off x="566928" y="3154680"/>
            <a:ext cx="6035040" cy="45720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Good projects grow out of good problems.</a:t>
            </a:r>
          </a:p>
        </p:txBody>
      </p:sp>
      <p:sp>
        <p:nvSpPr>
          <p:cNvPr id="9" name="Rectangle 8"/>
          <p:cNvSpPr/>
          <p:nvPr/>
        </p:nvSpPr>
        <p:spPr>
          <a:xfrm>
            <a:off x="6172200" y="3977639"/>
            <a:ext cx="621792" cy="56692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4123944"/>
            <a:ext cx="621792"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Sense</a:t>
            </a:r>
          </a:p>
        </p:txBody>
      </p:sp>
      <p:sp>
        <p:nvSpPr>
          <p:cNvPr id="11" name="TextBox 10"/>
          <p:cNvSpPr txBox="1"/>
          <p:nvPr/>
        </p:nvSpPr>
        <p:spPr>
          <a:xfrm>
            <a:off x="6812279" y="4096511"/>
            <a:ext cx="219456" cy="329184"/>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12" name="Rectangle 11"/>
          <p:cNvSpPr/>
          <p:nvPr/>
        </p:nvSpPr>
        <p:spPr>
          <a:xfrm>
            <a:off x="7050024" y="3977639"/>
            <a:ext cx="621792" cy="56692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50024" y="4123944"/>
            <a:ext cx="621792"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Logic</a:t>
            </a:r>
          </a:p>
        </p:txBody>
      </p:sp>
      <p:sp>
        <p:nvSpPr>
          <p:cNvPr id="14" name="TextBox 13"/>
          <p:cNvSpPr txBox="1"/>
          <p:nvPr/>
        </p:nvSpPr>
        <p:spPr>
          <a:xfrm>
            <a:off x="7690104" y="4096511"/>
            <a:ext cx="219456" cy="329184"/>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-&gt;</a:t>
            </a:r>
          </a:p>
        </p:txBody>
      </p:sp>
      <p:sp>
        <p:nvSpPr>
          <p:cNvPr id="15" name="Rectangle 14"/>
          <p:cNvSpPr/>
          <p:nvPr/>
        </p:nvSpPr>
        <p:spPr>
          <a:xfrm>
            <a:off x="7927848" y="3977639"/>
            <a:ext cx="621792" cy="56692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7848" y="4123944"/>
            <a:ext cx="621792" cy="274320"/>
          </a:xfrm>
          <a:prstGeom prst="rect">
            <a:avLst/>
          </a:prstGeom>
          <a:noFill/>
        </p:spPr>
        <p:txBody>
          <a:bodyPr wrap="square" anchor="t" lIns="0" rIns="0" tIns="0" bIns="0">
            <a:spAutoFit/>
          </a:bodyPr>
          <a:lstStyle/>
          <a:p>
            <a:pPr algn="ctr">
              <a:lnSpc>
                <a:spcPct val="100000"/>
              </a:lnSpc>
            </a:pPr>
            <a:r>
              <a:rPr sz="1000" b="1">
                <a:solidFill>
                  <a:srgbClr val="000000"/>
                </a:solidFill>
                <a:latin typeface="Source Han Sans SC"/>
              </a:rPr>
              <a:t>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02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Last Time You Made It Light Up</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700" b="0">
                <a:solidFill>
                  <a:srgbClr val="000000"/>
                </a:solidFill>
                <a:latin typeface="Source Han Sans SC"/>
              </a:rPr>
              <a:t>— Today You Decide Who It Lights Up For</a:t>
            </a:r>
          </a:p>
        </p:txBody>
      </p:sp>
      <p:sp>
        <p:nvSpPr>
          <p:cNvPr id="7" name="Rectangle 6"/>
          <p:cNvSpPr/>
          <p:nvPr/>
        </p:nvSpPr>
        <p:spPr>
          <a:xfrm>
            <a:off x="566928" y="1371600"/>
            <a:ext cx="2487168" cy="12344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1499616"/>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536192"/>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1133856" y="1481328"/>
            <a:ext cx="1792224" cy="38404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Your name on the screen</a:t>
            </a:r>
          </a:p>
        </p:txBody>
      </p:sp>
      <p:sp>
        <p:nvSpPr>
          <p:cNvPr id="11" name="TextBox 10"/>
          <p:cNvSpPr txBox="1"/>
          <p:nvPr/>
        </p:nvSpPr>
        <p:spPr>
          <a:xfrm>
            <a:off x="713232" y="1993392"/>
            <a:ext cx="2194560" cy="530352"/>
          </a:xfrm>
          <a:prstGeom prst="rect">
            <a:avLst/>
          </a:prstGeom>
          <a:noFill/>
        </p:spPr>
        <p:txBody>
          <a:bodyPr wrap="square" anchor="t" lIns="0" rIns="0" tIns="0" bIns="0">
            <a:spAutoFit/>
          </a:bodyPr>
          <a:lstStyle/>
          <a:p>
            <a:pPr algn="l">
              <a:lnSpc>
                <a:spcPct val="110000"/>
              </a:lnSpc>
            </a:pPr>
            <a:r>
              <a:rPr sz="1150" b="0">
                <a:solidFill>
                  <a:srgbClr val="000000"/>
                </a:solidFill>
                <a:latin typeface="Source Han Sans SC"/>
              </a:rPr>
              <a:t>"I can make things."</a:t>
            </a:r>
          </a:p>
        </p:txBody>
      </p:sp>
      <p:sp>
        <p:nvSpPr>
          <p:cNvPr id="12" name="TextBox 11"/>
          <p:cNvSpPr txBox="1"/>
          <p:nvPr/>
        </p:nvSpPr>
        <p:spPr>
          <a:xfrm>
            <a:off x="3072384" y="1783080"/>
            <a:ext cx="237744" cy="457200"/>
          </a:xfrm>
          <a:prstGeom prst="rect">
            <a:avLst/>
          </a:prstGeom>
          <a:noFill/>
        </p:spPr>
        <p:txBody>
          <a:bodyPr wrap="square" anchor="t" lIns="0" rIns="0" tIns="0" bIns="0">
            <a:spAutoFit/>
          </a:bodyPr>
          <a:lstStyle/>
          <a:p>
            <a:pPr algn="ctr">
              <a:lnSpc>
                <a:spcPct val="100000"/>
              </a:lnSpc>
            </a:pPr>
            <a:r>
              <a:rPr sz="1800" b="1">
                <a:solidFill>
                  <a:srgbClr val="000000"/>
                </a:solidFill>
                <a:latin typeface="Source Han Sans SC"/>
              </a:rPr>
              <a:t>-&gt;</a:t>
            </a:r>
          </a:p>
        </p:txBody>
      </p:sp>
      <p:sp>
        <p:nvSpPr>
          <p:cNvPr id="13" name="Rectangle 12"/>
          <p:cNvSpPr/>
          <p:nvPr/>
        </p:nvSpPr>
        <p:spPr>
          <a:xfrm>
            <a:off x="3328416" y="1371600"/>
            <a:ext cx="2487168" cy="12344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6432" y="1499616"/>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1536192"/>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6" name="TextBox 15"/>
          <p:cNvSpPr txBox="1"/>
          <p:nvPr/>
        </p:nvSpPr>
        <p:spPr>
          <a:xfrm>
            <a:off x="3895344" y="1481328"/>
            <a:ext cx="1792224" cy="38404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The dark-detecting light</a:t>
            </a:r>
          </a:p>
        </p:txBody>
      </p:sp>
      <p:sp>
        <p:nvSpPr>
          <p:cNvPr id="17" name="TextBox 16"/>
          <p:cNvSpPr txBox="1"/>
          <p:nvPr/>
        </p:nvSpPr>
        <p:spPr>
          <a:xfrm>
            <a:off x="3474720" y="1993392"/>
            <a:ext cx="2194560" cy="530352"/>
          </a:xfrm>
          <a:prstGeom prst="rect">
            <a:avLst/>
          </a:prstGeom>
          <a:noFill/>
        </p:spPr>
        <p:txBody>
          <a:bodyPr wrap="square" anchor="t" lIns="0" rIns="0" tIns="0" bIns="0">
            <a:spAutoFit/>
          </a:bodyPr>
          <a:lstStyle/>
          <a:p>
            <a:pPr algn="l">
              <a:lnSpc>
                <a:spcPct val="110000"/>
              </a:lnSpc>
            </a:pPr>
            <a:r>
              <a:rPr sz="1150" b="0">
                <a:solidFill>
                  <a:srgbClr val="000000"/>
                </a:solidFill>
                <a:latin typeface="Source Han Sans SC"/>
              </a:rPr>
              <a:t>Sense -&gt; Logic -&gt; Output, running for the first time</a:t>
            </a:r>
          </a:p>
        </p:txBody>
      </p:sp>
      <p:sp>
        <p:nvSpPr>
          <p:cNvPr id="18" name="TextBox 17"/>
          <p:cNvSpPr txBox="1"/>
          <p:nvPr/>
        </p:nvSpPr>
        <p:spPr>
          <a:xfrm>
            <a:off x="5833872" y="1783080"/>
            <a:ext cx="237744" cy="457200"/>
          </a:xfrm>
          <a:prstGeom prst="rect">
            <a:avLst/>
          </a:prstGeom>
          <a:noFill/>
        </p:spPr>
        <p:txBody>
          <a:bodyPr wrap="square" anchor="t" lIns="0" rIns="0" tIns="0" bIns="0">
            <a:spAutoFit/>
          </a:bodyPr>
          <a:lstStyle/>
          <a:p>
            <a:pPr algn="ctr">
              <a:lnSpc>
                <a:spcPct val="100000"/>
              </a:lnSpc>
            </a:pPr>
            <a:r>
              <a:rPr sz="1800" b="1">
                <a:solidFill>
                  <a:srgbClr val="000000"/>
                </a:solidFill>
                <a:latin typeface="Source Han Sans SC"/>
              </a:rPr>
              <a:t>-&gt;</a:t>
            </a:r>
          </a:p>
        </p:txBody>
      </p:sp>
      <p:sp>
        <p:nvSpPr>
          <p:cNvPr id="19" name="Rectangle 18"/>
          <p:cNvSpPr/>
          <p:nvPr/>
        </p:nvSpPr>
        <p:spPr>
          <a:xfrm>
            <a:off x="6089904" y="1371600"/>
            <a:ext cx="2487168" cy="12344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99616"/>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536192"/>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22" name="TextBox 21"/>
          <p:cNvSpPr txBox="1"/>
          <p:nvPr/>
        </p:nvSpPr>
        <p:spPr>
          <a:xfrm>
            <a:off x="6656832" y="1481328"/>
            <a:ext cx="1792224" cy="38404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The 3-box diagram</a:t>
            </a:r>
          </a:p>
        </p:txBody>
      </p:sp>
      <p:sp>
        <p:nvSpPr>
          <p:cNvPr id="23" name="TextBox 22"/>
          <p:cNvSpPr txBox="1"/>
          <p:nvPr/>
        </p:nvSpPr>
        <p:spPr>
          <a:xfrm>
            <a:off x="6236208" y="1993392"/>
            <a:ext cx="2194560" cy="530352"/>
          </a:xfrm>
          <a:prstGeom prst="rect">
            <a:avLst/>
          </a:prstGeom>
          <a:noFill/>
        </p:spPr>
        <p:txBody>
          <a:bodyPr wrap="square" anchor="t" lIns="0" rIns="0" tIns="0" bIns="0">
            <a:spAutoFit/>
          </a:bodyPr>
          <a:lstStyle/>
          <a:p>
            <a:pPr algn="l">
              <a:lnSpc>
                <a:spcPct val="110000"/>
              </a:lnSpc>
            </a:pPr>
            <a:r>
              <a:rPr sz="1150" b="0">
                <a:solidFill>
                  <a:srgbClr val="000000"/>
                </a:solidFill>
                <a:latin typeface="Source Han Sans SC"/>
              </a:rPr>
              <a:t>Sense -&gt; Logic -&gt; Output</a:t>
            </a:r>
          </a:p>
        </p:txBody>
      </p:sp>
      <p:sp>
        <p:nvSpPr>
          <p:cNvPr id="24" name="TextBox 23"/>
          <p:cNvSpPr txBox="1"/>
          <p:nvPr/>
        </p:nvSpPr>
        <p:spPr>
          <a:xfrm>
            <a:off x="566928" y="2834640"/>
            <a:ext cx="8010144"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Two topics from last term:</a:t>
            </a:r>
          </a:p>
        </p:txBody>
      </p:sp>
      <p:sp>
        <p:nvSpPr>
          <p:cNvPr id="25" name="Oval 24"/>
          <p:cNvSpPr/>
          <p:nvPr/>
        </p:nvSpPr>
        <p:spPr>
          <a:xfrm>
            <a:off x="658368" y="327355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3182112"/>
            <a:ext cx="7626096"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A water reminder — made for a mom who always forgets to drink</a:t>
            </a:r>
          </a:p>
        </p:txBody>
      </p:sp>
      <p:sp>
        <p:nvSpPr>
          <p:cNvPr id="27" name="Oval 26"/>
          <p:cNvSpPr/>
          <p:nvPr/>
        </p:nvSpPr>
        <p:spPr>
          <a:xfrm>
            <a:off x="658368" y="358444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493008"/>
            <a:ext cx="7626096"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A night light — made for a little brother afraid of the dark</a:t>
            </a:r>
          </a:p>
        </p:txBody>
      </p:sp>
      <p:sp>
        <p:nvSpPr>
          <p:cNvPr id="29" name="Rectangle 28"/>
          <p:cNvSpPr/>
          <p:nvPr/>
        </p:nvSpPr>
        <p:spPr>
          <a:xfrm>
            <a:off x="566928" y="3977639"/>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3995927"/>
            <a:ext cx="7808975" cy="438912"/>
          </a:xfrm>
          <a:prstGeom prst="rect">
            <a:avLst/>
          </a:prstGeom>
          <a:noFill/>
        </p:spPr>
        <p:txBody>
          <a:bodyPr wrap="square" anchor="t" lIns="0" rIns="0" tIns="0" bIns="0">
            <a:spAutoFit/>
          </a:bodyPr>
          <a:lstStyle/>
          <a:p>
            <a:pPr algn="l">
              <a:lnSpc>
                <a:spcPct val="115000"/>
              </a:lnSpc>
            </a:pPr>
            <a:r>
              <a:rPr sz="1500" b="0">
                <a:solidFill>
                  <a:srgbClr val="000000"/>
                </a:solidFill>
                <a:latin typeface="Source Han Sans SC"/>
              </a:rPr>
              <a:t>Neither is a big invention. Both are real annoyances from real life.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03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Three Kinds of Projects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700" b="0">
                <a:solidFill>
                  <a:srgbClr val="000000"/>
                </a:solidFill>
                <a:latin typeface="Source Han Sans SC"/>
              </a:rPr>
              <a:t>Your topic can land in any of them.</a:t>
            </a:r>
          </a:p>
        </p:txBody>
      </p:sp>
      <p:sp>
        <p:nvSpPr>
          <p:cNvPr id="7" name="Rectangle 6"/>
          <p:cNvSpPr/>
          <p:nvPr/>
        </p:nvSpPr>
        <p:spPr>
          <a:xfrm>
            <a:off x="566928" y="1261872"/>
            <a:ext cx="2596896" cy="2798064"/>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4944" y="1389888"/>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426464"/>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0" name="TextBox 9"/>
          <p:cNvSpPr txBox="1"/>
          <p:nvPr/>
        </p:nvSpPr>
        <p:spPr>
          <a:xfrm>
            <a:off x="1133856" y="1417320"/>
            <a:ext cx="1920239" cy="56692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STANDALONE DEVICE</a:t>
            </a:r>
          </a:p>
        </p:txBody>
      </p:sp>
      <p:sp>
        <p:nvSpPr>
          <p:cNvPr id="11" name="Rectangle 10"/>
          <p:cNvSpPr/>
          <p:nvPr/>
        </p:nvSpPr>
        <p:spPr>
          <a:xfrm>
            <a:off x="1499616" y="2103120"/>
            <a:ext cx="731520" cy="4754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91056" y="2267712"/>
            <a:ext cx="109728" cy="109728"/>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5648" y="2231136"/>
            <a:ext cx="457200" cy="237744"/>
          </a:xfrm>
          <a:prstGeom prst="rect">
            <a:avLst/>
          </a:prstGeom>
          <a:noFill/>
        </p:spPr>
        <p:txBody>
          <a:bodyPr wrap="square" anchor="t" lIns="0" rIns="0" tIns="0" bIns="0">
            <a:spAutoFit/>
          </a:bodyPr>
          <a:lstStyle/>
          <a:p>
            <a:pPr algn="l">
              <a:lnSpc>
                <a:spcPct val="100000"/>
              </a:lnSpc>
            </a:pPr>
            <a:r>
              <a:rPr sz="850" b="0">
                <a:solidFill>
                  <a:srgbClr val="000000"/>
                </a:solidFill>
                <a:latin typeface="Source Han Sans SC"/>
              </a:rPr>
              <a:t>board</a:t>
            </a:r>
          </a:p>
        </p:txBody>
      </p:sp>
      <p:sp>
        <p:nvSpPr>
          <p:cNvPr id="14" name="TextBox 13"/>
          <p:cNvSpPr txBox="1"/>
          <p:nvPr/>
        </p:nvSpPr>
        <p:spPr>
          <a:xfrm>
            <a:off x="713232" y="2743200"/>
            <a:ext cx="2304288" cy="566928"/>
          </a:xfrm>
          <a:prstGeom prst="rect">
            <a:avLst/>
          </a:prstGeom>
          <a:noFill/>
        </p:spPr>
        <p:txBody>
          <a:bodyPr wrap="square" anchor="t" lIns="0" rIns="0" tIns="0" bIns="0">
            <a:spAutoFit/>
          </a:bodyPr>
          <a:lstStyle/>
          <a:p>
            <a:pPr algn="l">
              <a:lnSpc>
                <a:spcPct val="112000"/>
              </a:lnSpc>
            </a:pPr>
            <a:r>
              <a:rPr sz="1100" b="0">
                <a:solidFill>
                  <a:srgbClr val="000000"/>
                </a:solidFill>
                <a:latin typeface="Source Han Sans SC"/>
              </a:rPr>
              <a:t>The board is the whole thing — it senses, decides, reacts by itself.</a:t>
            </a:r>
          </a:p>
        </p:txBody>
      </p:sp>
      <p:sp>
        <p:nvSpPr>
          <p:cNvPr id="15" name="TextBox 14"/>
          <p:cNvSpPr txBox="1"/>
          <p:nvPr/>
        </p:nvSpPr>
        <p:spPr>
          <a:xfrm>
            <a:off x="713232" y="3346704"/>
            <a:ext cx="2304288" cy="658368"/>
          </a:xfrm>
          <a:prstGeom prst="rect">
            <a:avLst/>
          </a:prstGeom>
          <a:noFill/>
        </p:spPr>
        <p:txBody>
          <a:bodyPr wrap="square" anchor="t" lIns="0" rIns="0" tIns="0" bIns="0">
            <a:spAutoFit/>
          </a:bodyPr>
          <a:lstStyle/>
          <a:p>
            <a:pPr algn="l">
              <a:lnSpc>
                <a:spcPct val="118000"/>
              </a:lnSpc>
            </a:pPr>
            <a:r>
              <a:rPr sz="950" b="0">
                <a:solidFill>
                  <a:srgbClr val="000000"/>
                </a:solidFill>
                <a:latin typeface="Source Han Sans SC"/>
              </a:rPr>
              <a:t>night light</a:t>
            </a:r>
          </a:p>
          <a:p>
            <a:pPr algn="l">
              <a:lnSpc>
                <a:spcPct val="118000"/>
              </a:lnSpc>
            </a:pPr>
            <a:r>
              <a:rPr sz="950" b="0">
                <a:solidFill>
                  <a:srgbClr val="000000"/>
                </a:solidFill>
                <a:latin typeface="Source Han Sans SC"/>
              </a:rPr>
              <a:t>alarm</a:t>
            </a:r>
          </a:p>
          <a:p>
            <a:pPr algn="l">
              <a:lnSpc>
                <a:spcPct val="118000"/>
              </a:lnSpc>
            </a:pPr>
            <a:r>
              <a:rPr sz="950" b="0">
                <a:solidFill>
                  <a:srgbClr val="000000"/>
                </a:solidFill>
                <a:latin typeface="Source Han Sans SC"/>
              </a:rPr>
              <a:t>desk weather station</a:t>
            </a:r>
          </a:p>
          <a:p>
            <a:pPr algn="l">
              <a:lnSpc>
                <a:spcPct val="118000"/>
              </a:lnSpc>
            </a:pPr>
            <a:r>
              <a:rPr sz="950" b="0">
                <a:solidFill>
                  <a:srgbClr val="000000"/>
                </a:solidFill>
                <a:latin typeface="Source Han Sans SC"/>
              </a:rPr>
              <a:t>pomodoro timer</a:t>
            </a:r>
          </a:p>
          <a:p>
            <a:pPr algn="l">
              <a:lnSpc>
                <a:spcPct val="118000"/>
              </a:lnSpc>
            </a:pPr>
            <a:r>
              <a:rPr sz="950" b="0">
                <a:solidFill>
                  <a:srgbClr val="000000"/>
                </a:solidFill>
                <a:latin typeface="Source Han Sans SC"/>
              </a:rPr>
              <a:t>whack-a-mole game</a:t>
            </a:r>
          </a:p>
        </p:txBody>
      </p:sp>
      <p:sp>
        <p:nvSpPr>
          <p:cNvPr id="16" name="Rectangle 15"/>
          <p:cNvSpPr/>
          <p:nvPr/>
        </p:nvSpPr>
        <p:spPr>
          <a:xfrm>
            <a:off x="3273552" y="1261872"/>
            <a:ext cx="2596896" cy="2798064"/>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01568" y="1389888"/>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1568" y="1426464"/>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9" name="TextBox 18"/>
          <p:cNvSpPr txBox="1"/>
          <p:nvPr/>
        </p:nvSpPr>
        <p:spPr>
          <a:xfrm>
            <a:off x="3840480" y="1417320"/>
            <a:ext cx="1920239" cy="56692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THE COMPUTER'S PARTNER</a:t>
            </a:r>
          </a:p>
        </p:txBody>
      </p:sp>
      <p:sp>
        <p:nvSpPr>
          <p:cNvPr id="20" name="Rectangle 19"/>
          <p:cNvSpPr/>
          <p:nvPr/>
        </p:nvSpPr>
        <p:spPr>
          <a:xfrm>
            <a:off x="3749039" y="2103120"/>
            <a:ext cx="603504" cy="47548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91456" y="2103120"/>
            <a:ext cx="640080" cy="3657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0832" y="2304288"/>
            <a:ext cx="402336" cy="45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39" y="2606039"/>
            <a:ext cx="603504" cy="182880"/>
          </a:xfrm>
          <a:prstGeom prst="rect">
            <a:avLst/>
          </a:prstGeom>
          <a:noFill/>
        </p:spPr>
        <p:txBody>
          <a:bodyPr wrap="square" anchor="t" lIns="0" rIns="0" tIns="0" bIns="0">
            <a:spAutoFit/>
          </a:bodyPr>
          <a:lstStyle/>
          <a:p>
            <a:pPr algn="ctr">
              <a:lnSpc>
                <a:spcPct val="100000"/>
              </a:lnSpc>
            </a:pPr>
            <a:r>
              <a:rPr sz="850" b="0">
                <a:solidFill>
                  <a:srgbClr val="000000"/>
                </a:solidFill>
                <a:latin typeface="Source Han Sans SC"/>
              </a:rPr>
              <a:t>board</a:t>
            </a:r>
          </a:p>
        </p:txBody>
      </p:sp>
      <p:sp>
        <p:nvSpPr>
          <p:cNvPr id="24" name="TextBox 23"/>
          <p:cNvSpPr txBox="1"/>
          <p:nvPr/>
        </p:nvSpPr>
        <p:spPr>
          <a:xfrm>
            <a:off x="4791456" y="2496312"/>
            <a:ext cx="640080" cy="182880"/>
          </a:xfrm>
          <a:prstGeom prst="rect">
            <a:avLst/>
          </a:prstGeom>
          <a:noFill/>
        </p:spPr>
        <p:txBody>
          <a:bodyPr wrap="square" anchor="t" lIns="0" rIns="0" tIns="0" bIns="0">
            <a:spAutoFit/>
          </a:bodyPr>
          <a:lstStyle/>
          <a:p>
            <a:pPr algn="ctr">
              <a:lnSpc>
                <a:spcPct val="100000"/>
              </a:lnSpc>
            </a:pPr>
            <a:r>
              <a:rPr sz="850" b="0">
                <a:solidFill>
                  <a:srgbClr val="000000"/>
                </a:solidFill>
                <a:latin typeface="Source Han Sans SC"/>
              </a:rPr>
              <a:t>computer</a:t>
            </a:r>
          </a:p>
        </p:txBody>
      </p:sp>
      <p:sp>
        <p:nvSpPr>
          <p:cNvPr id="25" name="TextBox 24"/>
          <p:cNvSpPr txBox="1"/>
          <p:nvPr/>
        </p:nvSpPr>
        <p:spPr>
          <a:xfrm>
            <a:off x="3419856" y="2743200"/>
            <a:ext cx="2304288" cy="566928"/>
          </a:xfrm>
          <a:prstGeom prst="rect">
            <a:avLst/>
          </a:prstGeom>
          <a:noFill/>
        </p:spPr>
        <p:txBody>
          <a:bodyPr wrap="square" anchor="t" lIns="0" rIns="0" tIns="0" bIns="0">
            <a:spAutoFit/>
          </a:bodyPr>
          <a:lstStyle/>
          <a:p>
            <a:pPr algn="l">
              <a:lnSpc>
                <a:spcPct val="112000"/>
              </a:lnSpc>
            </a:pPr>
            <a:r>
              <a:rPr sz="1100" b="0">
                <a:solidFill>
                  <a:srgbClr val="000000"/>
                </a:solidFill>
                <a:latin typeface="Source Han Sans SC"/>
              </a:rPr>
              <a:t>The board is the hands and ears; the computer is the screen.</a:t>
            </a:r>
          </a:p>
        </p:txBody>
      </p:sp>
      <p:sp>
        <p:nvSpPr>
          <p:cNvPr id="26" name="TextBox 25"/>
          <p:cNvSpPr txBox="1"/>
          <p:nvPr/>
        </p:nvSpPr>
        <p:spPr>
          <a:xfrm>
            <a:off x="3419856" y="3346704"/>
            <a:ext cx="2304288" cy="658368"/>
          </a:xfrm>
          <a:prstGeom prst="rect">
            <a:avLst/>
          </a:prstGeom>
          <a:noFill/>
        </p:spPr>
        <p:txBody>
          <a:bodyPr wrap="square" anchor="t" lIns="0" rIns="0" tIns="0" bIns="0">
            <a:spAutoFit/>
          </a:bodyPr>
          <a:lstStyle/>
          <a:p>
            <a:pPr algn="l">
              <a:lnSpc>
                <a:spcPct val="118000"/>
              </a:lnSpc>
            </a:pPr>
            <a:r>
              <a:rPr sz="950" b="0">
                <a:solidFill>
                  <a:srgbClr val="000000"/>
                </a:solidFill>
                <a:latin typeface="Source Han Sans SC"/>
              </a:rPr>
              <a:t>game controller (buttons / knob / shake drive the screen game)</a:t>
            </a:r>
          </a:p>
          <a:p>
            <a:pPr algn="l">
              <a:lnSpc>
                <a:spcPct val="118000"/>
              </a:lnSpc>
            </a:pPr>
            <a:r>
              <a:rPr sz="950" b="0">
                <a:solidFill>
                  <a:srgbClr val="000000"/>
                </a:solidFill>
                <a:latin typeface="Source Han Sans SC"/>
              </a:rPr>
              <a:t>presentation clicker (one press turns the slide)</a:t>
            </a:r>
          </a:p>
          <a:p>
            <a:pPr algn="l">
              <a:lnSpc>
                <a:spcPct val="118000"/>
              </a:lnSpc>
            </a:pPr>
            <a:r>
              <a:rPr sz="950" b="0">
                <a:solidFill>
                  <a:srgbClr val="000000"/>
                </a:solidFill>
                <a:latin typeface="Source Han Sans SC"/>
              </a:rPr>
              <a:t>shake-to-vote</a:t>
            </a:r>
          </a:p>
        </p:txBody>
      </p:sp>
      <p:sp>
        <p:nvSpPr>
          <p:cNvPr id="27" name="TextBox 26"/>
          <p:cNvSpPr txBox="1"/>
          <p:nvPr/>
        </p:nvSpPr>
        <p:spPr>
          <a:xfrm>
            <a:off x="3419856" y="3767328"/>
            <a:ext cx="2304288" cy="256032"/>
          </a:xfrm>
          <a:prstGeom prst="rect">
            <a:avLst/>
          </a:prstGeom>
          <a:noFill/>
        </p:spPr>
        <p:txBody>
          <a:bodyPr wrap="square" anchor="t" lIns="0" rIns="0" tIns="0" bIns="0">
            <a:spAutoFit/>
          </a:bodyPr>
          <a:lstStyle/>
          <a:p>
            <a:pPr algn="l">
              <a:lnSpc>
                <a:spcPct val="100000"/>
              </a:lnSpc>
            </a:pPr>
            <a:r>
              <a:rPr sz="850" b="0">
                <a:solidFill>
                  <a:srgbClr val="000000"/>
                </a:solidFill>
                <a:latin typeface="Source Han Sans SC"/>
              </a:rPr>
              <a:t>( examples = the ones your instructor rehearsed )</a:t>
            </a:r>
          </a:p>
        </p:txBody>
      </p:sp>
      <p:sp>
        <p:nvSpPr>
          <p:cNvPr id="28" name="Rectangle 27"/>
          <p:cNvSpPr/>
          <p:nvPr/>
        </p:nvSpPr>
        <p:spPr>
          <a:xfrm>
            <a:off x="5980176" y="1261872"/>
            <a:ext cx="2596896" cy="2798064"/>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08192" y="1389888"/>
            <a:ext cx="347472" cy="347472"/>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08192" y="1426464"/>
            <a:ext cx="347472"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31" name="TextBox 30"/>
          <p:cNvSpPr txBox="1"/>
          <p:nvPr/>
        </p:nvSpPr>
        <p:spPr>
          <a:xfrm>
            <a:off x="6547104" y="1417320"/>
            <a:ext cx="1920239" cy="566928"/>
          </a:xfrm>
          <a:prstGeom prst="rect">
            <a:avLst/>
          </a:prstGeom>
          <a:noFill/>
        </p:spPr>
        <p:txBody>
          <a:bodyPr wrap="square" anchor="t" lIns="0" rIns="0" tIns="0" bIns="0">
            <a:spAutoFit/>
          </a:bodyPr>
          <a:lstStyle/>
          <a:p>
            <a:pPr algn="l">
              <a:lnSpc>
                <a:spcPct val="105000"/>
              </a:lnSpc>
            </a:pPr>
            <a:r>
              <a:rPr sz="1300" b="1">
                <a:solidFill>
                  <a:srgbClr val="000000"/>
                </a:solidFill>
                <a:latin typeface="Source Han Sans SC"/>
              </a:rPr>
              <a:t>THE OUTSIDE WORLD</a:t>
            </a:r>
          </a:p>
        </p:txBody>
      </p:sp>
      <p:sp>
        <p:nvSpPr>
          <p:cNvPr id="32" name="Oval 31"/>
          <p:cNvSpPr/>
          <p:nvPr/>
        </p:nvSpPr>
        <p:spPr>
          <a:xfrm>
            <a:off x="6958584" y="2084831"/>
            <a:ext cx="512064" cy="512064"/>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13448" y="2322576"/>
            <a:ext cx="402336" cy="36576"/>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8584" y="2633472"/>
            <a:ext cx="512064" cy="182880"/>
          </a:xfrm>
          <a:prstGeom prst="rect">
            <a:avLst/>
          </a:prstGeom>
          <a:noFill/>
        </p:spPr>
        <p:txBody>
          <a:bodyPr wrap="square" anchor="t" lIns="0" rIns="0" tIns="0" bIns="0">
            <a:spAutoFit/>
          </a:bodyPr>
          <a:lstStyle/>
          <a:p>
            <a:pPr algn="ctr">
              <a:lnSpc>
                <a:spcPct val="100000"/>
              </a:lnSpc>
            </a:pPr>
            <a:r>
              <a:rPr sz="850" b="0">
                <a:solidFill>
                  <a:srgbClr val="000000"/>
                </a:solidFill>
                <a:latin typeface="Source Han Sans SC"/>
              </a:rPr>
              <a:t>world</a:t>
            </a:r>
          </a:p>
        </p:txBody>
      </p:sp>
      <p:sp>
        <p:nvSpPr>
          <p:cNvPr id="35" name="TextBox 34"/>
          <p:cNvSpPr txBox="1"/>
          <p:nvPr/>
        </p:nvSpPr>
        <p:spPr>
          <a:xfrm>
            <a:off x="6126480" y="2743200"/>
            <a:ext cx="2304288" cy="566928"/>
          </a:xfrm>
          <a:prstGeom prst="rect">
            <a:avLst/>
          </a:prstGeom>
          <a:noFill/>
        </p:spPr>
        <p:txBody>
          <a:bodyPr wrap="square" anchor="t" lIns="0" rIns="0" tIns="0" bIns="0">
            <a:spAutoFit/>
          </a:bodyPr>
          <a:lstStyle/>
          <a:p>
            <a:pPr algn="l">
              <a:lnSpc>
                <a:spcPct val="112000"/>
              </a:lnSpc>
            </a:pPr>
            <a:r>
              <a:rPr sz="1100" b="0">
                <a:solidFill>
                  <a:srgbClr val="000000"/>
                </a:solidFill>
                <a:latin typeface="Source Han Sans SC"/>
              </a:rPr>
              <a:t>The modules can snap off and recombine; later: new modules, even the internet.</a:t>
            </a:r>
          </a:p>
        </p:txBody>
      </p:sp>
      <p:sp>
        <p:nvSpPr>
          <p:cNvPr id="36" name="TextBox 35"/>
          <p:cNvSpPr txBox="1"/>
          <p:nvPr/>
        </p:nvSpPr>
        <p:spPr>
          <a:xfrm>
            <a:off x="6126480" y="3767328"/>
            <a:ext cx="2304288" cy="256032"/>
          </a:xfrm>
          <a:prstGeom prst="rect">
            <a:avLst/>
          </a:prstGeom>
          <a:noFill/>
        </p:spPr>
        <p:txBody>
          <a:bodyPr wrap="square" anchor="t" lIns="0" rIns="0" tIns="0" bIns="0">
            <a:spAutoFit/>
          </a:bodyPr>
          <a:lstStyle/>
          <a:p>
            <a:pPr algn="l">
              <a:lnSpc>
                <a:spcPct val="100000"/>
              </a:lnSpc>
            </a:pPr>
            <a:r>
              <a:rPr sz="850" b="0">
                <a:solidFill>
                  <a:srgbClr val="000000"/>
                </a:solidFill>
                <a:latin typeface="Source Han Sans SC"/>
              </a:rPr>
              <a:t>( have a parts box? It's the door in (if you have one) )</a:t>
            </a:r>
          </a:p>
        </p:txBody>
      </p:sp>
      <p:sp>
        <p:nvSpPr>
          <p:cNvPr id="37" name="Rectangle 36"/>
          <p:cNvSpPr/>
          <p:nvPr/>
        </p:nvSpPr>
        <p:spPr>
          <a:xfrm>
            <a:off x="566928" y="4224528"/>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242816"/>
            <a:ext cx="7808975" cy="438912"/>
          </a:xfrm>
          <a:prstGeom prst="rect">
            <a:avLst/>
          </a:prstGeom>
          <a:noFill/>
        </p:spPr>
        <p:txBody>
          <a:bodyPr wrap="square" anchor="t" lIns="0" rIns="0" tIns="0" bIns="0">
            <a:spAutoFit/>
          </a:bodyPr>
          <a:lstStyle/>
          <a:p>
            <a:pPr algn="l">
              <a:lnSpc>
                <a:spcPct val="115000"/>
              </a:lnSpc>
            </a:pPr>
            <a:r>
              <a:rPr sz="1500" b="0">
                <a:solidFill>
                  <a:srgbClr val="000000"/>
                </a:solidFill>
                <a:latin typeface="Source Han Sans SC"/>
              </a:rPr>
              <a:t>What matters isn't how advanced it is — it's whose annoyance it solves.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04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Two Minutes — Write Three Small Annoyances</a:t>
            </a:r>
          </a:p>
        </p:txBody>
      </p:sp>
      <p:sp>
        <p:nvSpPr>
          <p:cNvPr id="6" name="TextBox 5"/>
          <p:cNvSpPr txBox="1"/>
          <p:nvPr/>
        </p:nvSpPr>
        <p:spPr>
          <a:xfrm>
            <a:off x="566928" y="1188720"/>
            <a:ext cx="8010144" cy="365760"/>
          </a:xfrm>
          <a:prstGeom prst="rect">
            <a:avLst/>
          </a:prstGeom>
          <a:noFill/>
        </p:spPr>
        <p:txBody>
          <a:bodyPr wrap="square" anchor="t" lIns="0" rIns="0" tIns="0" bIns="0">
            <a:spAutoFit/>
          </a:bodyPr>
          <a:lstStyle/>
          <a:p>
            <a:pPr algn="ctr">
              <a:lnSpc>
                <a:spcPct val="100000"/>
              </a:lnSpc>
            </a:pPr>
            <a:r>
              <a:rPr sz="1700" b="1">
                <a:solidFill>
                  <a:srgbClr val="000000"/>
                </a:solidFill>
                <a:latin typeface="Source Han Sans SC"/>
              </a:rPr>
              <a:t>At home  ·  At school  ·  On the way</a:t>
            </a:r>
          </a:p>
        </p:txBody>
      </p:sp>
      <p:sp>
        <p:nvSpPr>
          <p:cNvPr id="7" name="TextBox 6"/>
          <p:cNvSpPr txBox="1"/>
          <p:nvPr/>
        </p:nvSpPr>
        <p:spPr>
          <a:xfrm>
            <a:off x="566928" y="1627632"/>
            <a:ext cx="8010144" cy="365760"/>
          </a:xfrm>
          <a:prstGeom prst="rect">
            <a:avLst/>
          </a:prstGeom>
          <a:noFill/>
        </p:spPr>
        <p:txBody>
          <a:bodyPr wrap="square" anchor="t" lIns="0" rIns="0" tIns="0" bIns="0">
            <a:spAutoFit/>
          </a:bodyPr>
          <a:lstStyle/>
          <a:p>
            <a:pPr algn="ctr">
              <a:lnSpc>
                <a:spcPct val="100000"/>
              </a:lnSpc>
            </a:pPr>
            <a:r>
              <a:rPr sz="1500" b="0">
                <a:solidFill>
                  <a:srgbClr val="000000"/>
                </a:solidFill>
                <a:latin typeface="Source Han Sans SC"/>
              </a:rPr>
              <a:t>What's something that needs running after, something that needs watching?</a:t>
            </a:r>
          </a:p>
        </p:txBody>
      </p:sp>
      <p:sp>
        <p:nvSpPr>
          <p:cNvPr id="8" name="TextBox 7"/>
          <p:cNvSpPr txBox="1"/>
          <p:nvPr/>
        </p:nvSpPr>
        <p:spPr>
          <a:xfrm>
            <a:off x="566928" y="2084831"/>
            <a:ext cx="8010144" cy="274320"/>
          </a:xfrm>
          <a:prstGeom prst="rect">
            <a:avLst/>
          </a:prstGeom>
          <a:noFill/>
        </p:spPr>
        <p:txBody>
          <a:bodyPr wrap="square" anchor="t" lIns="0" rIns="0" tIns="0" bIns="0">
            <a:spAutoFit/>
          </a:bodyPr>
          <a:lstStyle/>
          <a:p>
            <a:pPr algn="ctr">
              <a:lnSpc>
                <a:spcPct val="100000"/>
              </a:lnSpc>
            </a:pPr>
            <a:r>
              <a:rPr sz="1100" b="0">
                <a:solidFill>
                  <a:srgbClr val="000000"/>
                </a:solidFill>
                <a:latin typeface="Source Han Sans SC"/>
              </a:rPr>
              <a:t>(no ideas? prompt words)</a:t>
            </a:r>
          </a:p>
        </p:txBody>
      </p:sp>
      <p:sp>
        <p:nvSpPr>
          <p:cNvPr id="9" name="TextBox 8"/>
          <p:cNvSpPr txBox="1"/>
          <p:nvPr/>
        </p:nvSpPr>
        <p:spPr>
          <a:xfrm>
            <a:off x="566928" y="2359152"/>
            <a:ext cx="8010144" cy="274320"/>
          </a:xfrm>
          <a:prstGeom prst="rect">
            <a:avLst/>
          </a:prstGeom>
          <a:noFill/>
        </p:spPr>
        <p:txBody>
          <a:bodyPr wrap="square" anchor="t" lIns="0" rIns="0" tIns="0" bIns="0">
            <a:spAutoFit/>
          </a:bodyPr>
          <a:lstStyle/>
          <a:p>
            <a:pPr algn="ctr">
              <a:lnSpc>
                <a:spcPct val="100000"/>
              </a:lnSpc>
            </a:pPr>
            <a:r>
              <a:rPr sz="1200" b="0">
                <a:solidFill>
                  <a:srgbClr val="000000"/>
                </a:solidFill>
                <a:latin typeface="Source Han Sans SC"/>
              </a:rPr>
              <a:t>waking up in the morning / your backpack / pets / grandparents / rainy days</a:t>
            </a:r>
          </a:p>
        </p:txBody>
      </p:sp>
      <p:sp>
        <p:nvSpPr>
          <p:cNvPr id="10" name="Rectangle 9"/>
          <p:cNvSpPr/>
          <p:nvPr/>
        </p:nvSpPr>
        <p:spPr>
          <a:xfrm>
            <a:off x="566928" y="2788920"/>
            <a:ext cx="8010144" cy="9144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98648"/>
            <a:ext cx="76809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Write it down:</a:t>
            </a:r>
          </a:p>
        </p:txBody>
      </p:sp>
      <p:sp>
        <p:nvSpPr>
          <p:cNvPr id="12" name="TextBox 11"/>
          <p:cNvSpPr txBox="1"/>
          <p:nvPr/>
        </p:nvSpPr>
        <p:spPr>
          <a:xfrm>
            <a:off x="731520" y="3227832"/>
            <a:ext cx="7680960" cy="329184"/>
          </a:xfrm>
          <a:prstGeom prst="rect">
            <a:avLst/>
          </a:prstGeom>
          <a:noFill/>
        </p:spPr>
        <p:txBody>
          <a:bodyPr wrap="square" anchor="t" lIns="0" rIns="0" tIns="0" bIns="0">
            <a:spAutoFit/>
          </a:bodyPr>
          <a:lstStyle/>
          <a:p>
            <a:pPr algn="l">
              <a:lnSpc>
                <a:spcPct val="125000"/>
              </a:lnSpc>
            </a:pPr>
            <a:r>
              <a:rPr sz="1350" b="0">
                <a:solidFill>
                  <a:srgbClr val="000000"/>
                </a:solidFill>
                <a:latin typeface="Source Han Sans SC"/>
              </a:rPr>
              <a:t>Open your Student Workbook (or notebook) — find the "annoyances" box.</a:t>
            </a:r>
          </a:p>
          <a:p>
            <a:pPr algn="l">
              <a:lnSpc>
                <a:spcPct val="125000"/>
              </a:lnSpc>
            </a:pPr>
            <a:r>
              <a:rPr sz="1350" b="0">
                <a:solidFill>
                  <a:srgbClr val="000000"/>
                </a:solidFill>
                <a:latin typeface="Source Han Sans SC"/>
              </a:rPr>
              <a:t>Write at least 3, in your own document.</a:t>
            </a:r>
          </a:p>
        </p:txBody>
      </p:sp>
      <p:sp>
        <p:nvSpPr>
          <p:cNvPr id="13" name="TextBox 12"/>
          <p:cNvSpPr txBox="1"/>
          <p:nvPr/>
        </p:nvSpPr>
        <p:spPr>
          <a:xfrm>
            <a:off x="566928" y="3886200"/>
            <a:ext cx="8010144" cy="502920"/>
          </a:xfrm>
          <a:prstGeom prst="rect">
            <a:avLst/>
          </a:prstGeom>
          <a:noFill/>
        </p:spPr>
        <p:txBody>
          <a:bodyPr wrap="square" anchor="t" lIns="0" rIns="0" tIns="0" bIns="0">
            <a:spAutoFit/>
          </a:bodyPr>
          <a:lstStyle/>
          <a:p>
            <a:pPr algn="ctr">
              <a:lnSpc>
                <a:spcPct val="100000"/>
              </a:lnSpc>
            </a:pPr>
            <a:r>
              <a:rPr sz="1050" b="0">
                <a:solidFill>
                  <a:srgbClr val="000000"/>
                </a:solidFill>
                <a:latin typeface="Source Han Sans SC"/>
              </a:rPr>
              <a:t>(teacher's own, small)  one from home: I always forget my keys when I leave  ·  one from work: I stare at the screen until my eyes hurt — swap for your own two real 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05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Two New Phrase Sets</a:t>
            </a:r>
          </a:p>
        </p:txBody>
      </p:sp>
      <p:sp>
        <p:nvSpPr>
          <p:cNvPr id="6" name="TextBox 5"/>
          <p:cNvSpPr txBox="1"/>
          <p:nvPr/>
        </p:nvSpPr>
        <p:spPr>
          <a:xfrm>
            <a:off x="566928" y="1170432"/>
            <a:ext cx="8010144"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(read together)</a:t>
            </a:r>
          </a:p>
        </p:txBody>
      </p:sp>
      <p:sp>
        <p:nvSpPr>
          <p:cNvPr id="7" name="TextBox 6"/>
          <p:cNvSpPr txBox="1"/>
          <p:nvPr/>
        </p:nvSpPr>
        <p:spPr>
          <a:xfrm>
            <a:off x="566928" y="1481328"/>
            <a:ext cx="3931920"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THE TOPIC SET — think about WHAT to make</a:t>
            </a:r>
          </a:p>
        </p:txBody>
      </p:sp>
      <p:sp>
        <p:nvSpPr>
          <p:cNvPr id="8" name="Rectangle 7"/>
          <p:cNvSpPr/>
          <p:nvPr/>
        </p:nvSpPr>
        <p:spPr>
          <a:xfrm>
            <a:off x="566928" y="1783080"/>
            <a:ext cx="3931920" cy="17830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01952"/>
            <a:ext cx="3639312" cy="1554480"/>
          </a:xfrm>
          <a:prstGeom prst="rect">
            <a:avLst/>
          </a:prstGeom>
          <a:noFill/>
        </p:spPr>
        <p:txBody>
          <a:bodyPr wrap="square" anchor="t" lIns="0" rIns="0" tIns="0" bIns="0">
            <a:spAutoFit/>
          </a:bodyPr>
          <a:lstStyle/>
          <a:p>
            <a:pPr algn="l">
              <a:lnSpc>
                <a:spcPct val="150000"/>
              </a:lnSpc>
            </a:pPr>
            <a:r>
              <a:rPr sz="1150" b="1">
                <a:solidFill>
                  <a:srgbClr val="000000"/>
                </a:solidFill>
                <a:latin typeface="Source Code Pro"/>
              </a:rPr>
              <a:t>Turn my annoyances into ideas  (we use it today)</a:t>
            </a:r>
          </a:p>
          <a:p>
            <a:pPr algn="l">
              <a:lnSpc>
                <a:spcPct val="150000"/>
              </a:lnSpc>
            </a:pPr>
            <a:r>
              <a:rPr sz="1150" b="0">
                <a:solidFill>
                  <a:srgbClr val="000000"/>
                </a:solidFill>
                <a:latin typeface="Source Code Pro"/>
              </a:rPr>
              <a:t>How else could this idea work?</a:t>
            </a:r>
          </a:p>
          <a:p>
            <a:pPr algn="l">
              <a:lnSpc>
                <a:spcPct val="150000"/>
              </a:lnSpc>
            </a:pPr>
            <a:r>
              <a:rPr sz="1150" b="1">
                <a:solidFill>
                  <a:srgbClr val="000000"/>
                </a:solidFill>
                <a:latin typeface="Source Code Pro"/>
              </a:rPr>
              <a:t>The Tough Reviewer  (we use it today)</a:t>
            </a:r>
          </a:p>
          <a:p>
            <a:pPr algn="l">
              <a:lnSpc>
                <a:spcPct val="150000"/>
              </a:lnSpc>
            </a:pPr>
            <a:r>
              <a:rPr sz="1150" b="0">
                <a:solidFill>
                  <a:srgbClr val="000000"/>
                </a:solidFill>
                <a:latin typeface="Source Code Pro"/>
              </a:rPr>
              <a:t>Why I chose it</a:t>
            </a:r>
          </a:p>
        </p:txBody>
      </p:sp>
      <p:sp>
        <p:nvSpPr>
          <p:cNvPr id="10" name="TextBox 9"/>
          <p:cNvSpPr txBox="1"/>
          <p:nvPr/>
        </p:nvSpPr>
        <p:spPr>
          <a:xfrm>
            <a:off x="4645152" y="1481328"/>
            <a:ext cx="3931920"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THE USER SET — think about WHO it's for</a:t>
            </a:r>
          </a:p>
        </p:txBody>
      </p:sp>
      <p:sp>
        <p:nvSpPr>
          <p:cNvPr id="11" name="Rectangle 10"/>
          <p:cNvSpPr/>
          <p:nvPr/>
        </p:nvSpPr>
        <p:spPr>
          <a:xfrm>
            <a:off x="4645152" y="1783080"/>
            <a:ext cx="3931920" cy="178308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9744" y="1901952"/>
            <a:ext cx="3639312" cy="1554480"/>
          </a:xfrm>
          <a:prstGeom prst="rect">
            <a:avLst/>
          </a:prstGeom>
          <a:noFill/>
        </p:spPr>
        <p:txBody>
          <a:bodyPr wrap="square" anchor="t" lIns="0" rIns="0" tIns="0" bIns="0">
            <a:spAutoFit/>
          </a:bodyPr>
          <a:lstStyle/>
          <a:p>
            <a:pPr algn="l">
              <a:lnSpc>
                <a:spcPct val="150000"/>
              </a:lnSpc>
            </a:pPr>
            <a:r>
              <a:rPr sz="1150" b="0">
                <a:solidFill>
                  <a:srgbClr val="000000"/>
                </a:solidFill>
                <a:latin typeface="Source Code Pro"/>
              </a:rPr>
              <a:t>Who would use it</a:t>
            </a:r>
          </a:p>
          <a:p>
            <a:pPr algn="l">
              <a:lnSpc>
                <a:spcPct val="150000"/>
              </a:lnSpc>
            </a:pPr>
            <a:r>
              <a:rPr sz="1150" b="0">
                <a:solidFill>
                  <a:srgbClr val="000000"/>
                </a:solidFill>
                <a:latin typeface="Source Code Pro"/>
              </a:rPr>
              <a:t>Help me make an interview script</a:t>
            </a:r>
          </a:p>
          <a:p>
            <a:pPr algn="l">
              <a:lnSpc>
                <a:spcPct val="150000"/>
              </a:lnSpc>
            </a:pPr>
            <a:r>
              <a:rPr sz="1150" b="0">
                <a:solidFill>
                  <a:srgbClr val="000000"/>
                </a:solidFill>
                <a:latin typeface="Source Code Pro"/>
              </a:rPr>
              <a:t>Pretend to be my user</a:t>
            </a:r>
          </a:p>
        </p:txBody>
      </p:sp>
      <p:sp>
        <p:nvSpPr>
          <p:cNvPr id="13" name="Rectangle 12"/>
          <p:cNvSpPr/>
          <p:nvPr/>
        </p:nvSpPr>
        <p:spPr>
          <a:xfrm>
            <a:off x="566928" y="3749039"/>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58768"/>
            <a:ext cx="7680960" cy="55778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These phrases are printed in your Student Workbook — forget them, flip to the page.</a:t>
            </a:r>
          </a:p>
          <a:p>
            <a:pPr algn="l">
              <a:lnSpc>
                <a:spcPct val="125000"/>
              </a:lnSpc>
            </a:pPr>
            <a:r>
              <a:rPr sz="1300" b="0">
                <a:solidFill>
                  <a:srgbClr val="000000"/>
                </a:solidFill>
                <a:latin typeface="Source Han Sans SC"/>
              </a:rPr>
              <a:t>The blanks are for you to fill — a phrase sent with blanks doesn't count.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06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Turn My Annoyances into Ideas</a:t>
            </a:r>
          </a:p>
        </p:txBody>
      </p:sp>
      <p:sp>
        <p:nvSpPr>
          <p:cNvPr id="6" name="Rectangle 5"/>
          <p:cNvSpPr/>
          <p:nvPr/>
        </p:nvSpPr>
        <p:spPr>
          <a:xfrm>
            <a:off x="566928" y="1188720"/>
            <a:ext cx="4937760" cy="16002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98448"/>
            <a:ext cx="4608576" cy="1417320"/>
          </a:xfrm>
          <a:prstGeom prst="rect">
            <a:avLst/>
          </a:prstGeom>
          <a:noFill/>
        </p:spPr>
        <p:txBody>
          <a:bodyPr wrap="square" anchor="t" lIns="0" rIns="0" tIns="0" bIns="0">
            <a:spAutoFit/>
          </a:bodyPr>
          <a:lstStyle/>
          <a:p>
            <a:pPr algn="l">
              <a:lnSpc>
                <a:spcPct val="130000"/>
              </a:lnSpc>
            </a:pPr>
            <a:r>
              <a:rPr sz="1150" b="0">
                <a:solidFill>
                  <a:srgbClr val="000000"/>
                </a:solidFill>
                <a:latin typeface="Source Code Pro"/>
              </a:rPr>
              <a:t>I have three real annoyances:</a:t>
            </a:r>
          </a:p>
          <a:p>
            <a:pPr algn="l">
              <a:lnSpc>
                <a:spcPct val="130000"/>
              </a:lnSpc>
            </a:pPr>
            <a:r>
              <a:rPr sz="1150" b="1">
                <a:solidFill>
                  <a:srgbClr val="000000"/>
                </a:solidFill>
                <a:latin typeface="Source Code Pro"/>
              </a:rPr>
              <a:t>1. ___  2. ___  3. ___.</a:t>
            </a:r>
          </a:p>
          <a:p>
            <a:pPr algn="l">
              <a:lnSpc>
                <a:spcPct val="130000"/>
              </a:lnSpc>
            </a:pPr>
            <a:r>
              <a:rPr sz="1150" b="0">
                <a:solidFill>
                  <a:srgbClr val="000000"/>
                </a:solidFill>
                <a:latin typeface="Source Code Pro"/>
              </a:rPr>
              <a:t>Give me 10 ideas that small hardware (sensors)</a:t>
            </a:r>
          </a:p>
          <a:p>
            <a:pPr algn="l">
              <a:lnSpc>
                <a:spcPct val="130000"/>
              </a:lnSpc>
            </a:pPr>
            <a:r>
              <a:rPr sz="1150" b="0">
                <a:solidFill>
                  <a:srgbClr val="000000"/>
                </a:solidFill>
                <a:latin typeface="Source Code Pro"/>
              </a:rPr>
              <a:t>could solve, the more specific the better.</a:t>
            </a:r>
          </a:p>
          <a:p>
            <a:pPr algn="l">
              <a:lnSpc>
                <a:spcPct val="130000"/>
              </a:lnSpc>
            </a:pPr>
            <a:r>
              <a:rPr sz="1150" b="0">
                <a:solidFill>
                  <a:srgbClr val="000000"/>
                </a:solidFill>
                <a:latin typeface="Source Code Pro"/>
              </a:rPr>
              <a:t>Just list ideas — don't choose for me.</a:t>
            </a:r>
          </a:p>
        </p:txBody>
      </p:sp>
      <p:sp>
        <p:nvSpPr>
          <p:cNvPr id="8" name="Rectangle 7"/>
          <p:cNvSpPr/>
          <p:nvPr/>
        </p:nvSpPr>
        <p:spPr>
          <a:xfrm>
            <a:off x="5669280" y="1188720"/>
            <a:ext cx="2907792" cy="16002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15584" y="1298448"/>
            <a:ext cx="2615184" cy="1417320"/>
          </a:xfrm>
          <a:prstGeom prst="rect">
            <a:avLst/>
          </a:prstGeom>
          <a:noFill/>
        </p:spPr>
        <p:txBody>
          <a:bodyPr wrap="square" anchor="t" lIns="0" rIns="0" tIns="0" bIns="0">
            <a:spAutoFit/>
          </a:bodyPr>
          <a:lstStyle/>
          <a:p>
            <a:pPr algn="ctr">
              <a:lnSpc>
                <a:spcPct val="135000"/>
              </a:lnSpc>
            </a:pPr>
            <a:r>
              <a:rPr sz="1050" b="1">
                <a:solidFill>
                  <a:srgbClr val="000000"/>
                </a:solidFill>
                <a:latin typeface="Source Han Sans SC"/>
              </a:rPr>
              <a:t>[ example</a:t>
            </a:r>
          </a:p>
          <a:p>
            <a:pPr algn="ctr">
              <a:lnSpc>
                <a:spcPct val="135000"/>
              </a:lnSpc>
            </a:pPr>
            <a:r>
              <a:rPr sz="1050" b="1">
                <a:solidFill>
                  <a:srgbClr val="000000"/>
                </a:solidFill>
                <a:latin typeface="Source Han Sans SC"/>
              </a:rPr>
              <a:t>conversation ]</a:t>
            </a:r>
          </a:p>
          <a:p>
            <a:pPr algn="ctr">
              <a:lnSpc>
                <a:spcPct val="135000"/>
              </a:lnSpc>
            </a:pPr>
            <a:r>
              <a:rPr sz="1000" b="0">
                <a:solidFill>
                  <a:srgbClr val="000000"/>
                </a:solidFill>
                <a:latin typeface="Source Han Sans SC"/>
              </a:rPr>
              <a:t>filled template</a:t>
            </a:r>
          </a:p>
          <a:p>
            <a:pPr algn="ctr">
              <a:lnSpc>
                <a:spcPct val="135000"/>
              </a:lnSpc>
            </a:pPr>
            <a:r>
              <a:rPr sz="1000" b="0">
                <a:solidFill>
                  <a:srgbClr val="000000"/>
                </a:solidFill>
                <a:latin typeface="Source Han Sans SC"/>
              </a:rPr>
              <a:t>-&gt;  10 ideas</a:t>
            </a:r>
          </a:p>
          <a:p>
            <a:pPr algn="ctr">
              <a:lnSpc>
                <a:spcPct val="135000"/>
              </a:lnSpc>
            </a:pPr>
            <a:r>
              <a:rPr sz="1000" b="0">
                <a:solidFill>
                  <a:srgbClr val="000000"/>
                </a:solidFill>
                <a:latin typeface="Source Han Sans SC"/>
              </a:rPr>
              <a:t>-&gt;  2 circled</a:t>
            </a:r>
          </a:p>
        </p:txBody>
      </p:sp>
      <p:sp>
        <p:nvSpPr>
          <p:cNvPr id="10" name="Rectangle 9"/>
          <p:cNvSpPr/>
          <p:nvPr/>
        </p:nvSpPr>
        <p:spPr>
          <a:xfrm>
            <a:off x="566928" y="297180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990088"/>
            <a:ext cx="7808975" cy="438912"/>
          </a:xfrm>
          <a:prstGeom prst="rect">
            <a:avLst/>
          </a:prstGeom>
          <a:noFill/>
        </p:spPr>
        <p:txBody>
          <a:bodyPr wrap="square" anchor="t" lIns="0" rIns="0" tIns="0" bIns="0">
            <a:spAutoFit/>
          </a:bodyPr>
          <a:lstStyle/>
          <a:p>
            <a:pPr algn="l">
              <a:lnSpc>
                <a:spcPct val="115000"/>
              </a:lnSpc>
            </a:pPr>
            <a:r>
              <a:rPr sz="1600" b="0">
                <a:solidFill>
                  <a:srgbClr val="000000"/>
                </a:solidFill>
                <a:latin typeface="Source Han Sans SC"/>
              </a:rPr>
              <a:t>What it gives you is candidates.</a:t>
            </a:r>
          </a:p>
        </p:txBody>
      </p:sp>
      <p:sp>
        <p:nvSpPr>
          <p:cNvPr id="12" name="TextBox 11"/>
          <p:cNvSpPr txBox="1"/>
          <p:nvPr/>
        </p:nvSpPr>
        <p:spPr>
          <a:xfrm>
            <a:off x="566928" y="3520440"/>
            <a:ext cx="8010144" cy="502920"/>
          </a:xfrm>
          <a:prstGeom prst="rect">
            <a:avLst/>
          </a:prstGeom>
          <a:noFill/>
        </p:spPr>
        <p:txBody>
          <a:bodyPr wrap="square" anchor="t" lIns="0" rIns="0" tIns="0" bIns="0">
            <a:spAutoFit/>
          </a:bodyPr>
          <a:lstStyle/>
          <a:p>
            <a:pPr algn="ctr">
              <a:lnSpc>
                <a:spcPct val="100000"/>
              </a:lnSpc>
            </a:pPr>
            <a:r>
              <a:rPr sz="1500" b="0">
                <a:solidFill>
                  <a:srgbClr val="000000"/>
                </a:solidFill>
                <a:latin typeface="Source Han Sans SC"/>
              </a:rPr>
              <a:t>Which one is buildable and who'd really use it — it doesn't know. You know.</a:t>
            </a:r>
          </a:p>
        </p:txBody>
      </p:sp>
      <p:sp>
        <p:nvSpPr>
          <p:cNvPr id="13" name="Rectangle 12"/>
          <p:cNvSpPr/>
          <p:nvPr/>
        </p:nvSpPr>
        <p:spPr>
          <a:xfrm>
            <a:off x="566928" y="4114800"/>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24528"/>
            <a:ext cx="7680960" cy="347472"/>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The idea list stays in your AI conversation — copy your 3 favorites into your workbook.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07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Ten Is Too Many — Keep One</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700" b="0">
                <a:solidFill>
                  <a:srgbClr val="000000"/>
                </a:solidFill>
                <a:latin typeface="Source Han Sans SC"/>
              </a:rPr>
              <a:t>The Tough Reviewer</a:t>
            </a:r>
          </a:p>
        </p:txBody>
      </p:sp>
      <p:sp>
        <p:nvSpPr>
          <p:cNvPr id="7" name="Rectangle 6"/>
          <p:cNvSpPr/>
          <p:nvPr/>
        </p:nvSpPr>
        <p:spPr>
          <a:xfrm>
            <a:off x="566928" y="1261872"/>
            <a:ext cx="4937760" cy="18288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4608576" cy="1645920"/>
          </a:xfrm>
          <a:prstGeom prst="rect">
            <a:avLst/>
          </a:prstGeom>
          <a:noFill/>
        </p:spPr>
        <p:txBody>
          <a:bodyPr wrap="square" anchor="t" lIns="0" rIns="0" tIns="0" bIns="0">
            <a:spAutoFit/>
          </a:bodyPr>
          <a:lstStyle/>
          <a:p>
            <a:pPr algn="l">
              <a:lnSpc>
                <a:spcPct val="128000"/>
              </a:lnSpc>
            </a:pPr>
            <a:r>
              <a:rPr sz="1100" b="0">
                <a:solidFill>
                  <a:srgbClr val="000000"/>
                </a:solidFill>
                <a:latin typeface="Source Code Pro"/>
              </a:rPr>
              <a:t>You are the bluntest advisor who still</a:t>
            </a:r>
          </a:p>
          <a:p>
            <a:pPr algn="l">
              <a:lnSpc>
                <a:spcPct val="128000"/>
              </a:lnSpc>
            </a:pPr>
            <a:r>
              <a:rPr sz="1100" b="0">
                <a:solidFill>
                  <a:srgbClr val="000000"/>
                </a:solidFill>
                <a:latin typeface="Source Code Pro"/>
              </a:rPr>
              <a:t>wants me to succeed. Here are my ideas: ___</a:t>
            </a:r>
          </a:p>
          <a:p>
            <a:pPr algn="l">
              <a:lnSpc>
                <a:spcPct val="128000"/>
              </a:lnSpc>
            </a:pPr>
            <a:r>
              <a:rPr sz="1100" b="0">
                <a:solidFill>
                  <a:srgbClr val="000000"/>
                </a:solidFill>
                <a:latin typeface="Source Code Pro"/>
              </a:rPr>
              <a:t>Grill me with three questions, one by one:</a:t>
            </a:r>
          </a:p>
          <a:p>
            <a:pPr algn="l">
              <a:lnSpc>
                <a:spcPct val="128000"/>
              </a:lnSpc>
            </a:pPr>
            <a:r>
              <a:rPr sz="1100" b="0">
                <a:solidFill>
                  <a:srgbClr val="000000"/>
                </a:solidFill>
                <a:latin typeface="Source Code Pro"/>
              </a:rPr>
              <a:t>Can it be done in 3 hours?  Do I have the</a:t>
            </a:r>
          </a:p>
          <a:p>
            <a:pPr algn="l">
              <a:lnSpc>
                <a:spcPct val="128000"/>
              </a:lnSpc>
            </a:pPr>
            <a:r>
              <a:rPr sz="1100" b="0">
                <a:solidFill>
                  <a:srgbClr val="000000"/>
                </a:solidFill>
                <a:latin typeface="Source Code Pro"/>
              </a:rPr>
              <a:t>hardware?  Would I really use it every day?</a:t>
            </a:r>
          </a:p>
          <a:p>
            <a:pPr algn="l">
              <a:lnSpc>
                <a:spcPct val="128000"/>
              </a:lnSpc>
            </a:pPr>
            <a:r>
              <a:rPr sz="1100" b="0">
                <a:solidFill>
                  <a:srgbClr val="000000"/>
                </a:solidFill>
                <a:latin typeface="Source Code Pro"/>
              </a:rPr>
              <a:t>Then point out the one that stands up best —</a:t>
            </a:r>
          </a:p>
          <a:p>
            <a:pPr algn="l">
              <a:lnSpc>
                <a:spcPct val="128000"/>
              </a:lnSpc>
            </a:pPr>
            <a:r>
              <a:rPr sz="1100" b="0">
                <a:solidFill>
                  <a:srgbClr val="000000"/>
                </a:solidFill>
                <a:latin typeface="Source Code Pro"/>
              </a:rPr>
              <a:t>but the choice is mine.</a:t>
            </a:r>
          </a:p>
        </p:txBody>
      </p:sp>
      <p:sp>
        <p:nvSpPr>
          <p:cNvPr id="9" name="TextBox 8"/>
          <p:cNvSpPr txBox="1"/>
          <p:nvPr/>
        </p:nvSpPr>
        <p:spPr>
          <a:xfrm>
            <a:off x="5669280" y="1298448"/>
            <a:ext cx="2907792"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The three questions:</a:t>
            </a:r>
          </a:p>
        </p:txBody>
      </p:sp>
      <p:sp>
        <p:nvSpPr>
          <p:cNvPr id="10" name="Rectangle 9"/>
          <p:cNvSpPr/>
          <p:nvPr/>
        </p:nvSpPr>
        <p:spPr>
          <a:xfrm>
            <a:off x="5669280" y="162763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1664208"/>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2" name="TextBox 11"/>
          <p:cNvSpPr txBox="1"/>
          <p:nvPr/>
        </p:nvSpPr>
        <p:spPr>
          <a:xfrm>
            <a:off x="6071616" y="1645920"/>
            <a:ext cx="2505456"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Can it be done in 3 hours?</a:t>
            </a:r>
          </a:p>
        </p:txBody>
      </p:sp>
      <p:sp>
        <p:nvSpPr>
          <p:cNvPr id="13" name="Rectangle 12"/>
          <p:cNvSpPr/>
          <p:nvPr/>
        </p:nvSpPr>
        <p:spPr>
          <a:xfrm>
            <a:off x="5669280" y="208483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2121408"/>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5" name="TextBox 14"/>
          <p:cNvSpPr txBox="1"/>
          <p:nvPr/>
        </p:nvSpPr>
        <p:spPr>
          <a:xfrm>
            <a:off x="6071616" y="2103120"/>
            <a:ext cx="2505456"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Do I have the hardware?</a:t>
            </a:r>
          </a:p>
        </p:txBody>
      </p:sp>
      <p:sp>
        <p:nvSpPr>
          <p:cNvPr id="16" name="Rectangle 15"/>
          <p:cNvSpPr/>
          <p:nvPr/>
        </p:nvSpPr>
        <p:spPr>
          <a:xfrm>
            <a:off x="5669280" y="254203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578608"/>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8" name="TextBox 17"/>
          <p:cNvSpPr txBox="1"/>
          <p:nvPr/>
        </p:nvSpPr>
        <p:spPr>
          <a:xfrm>
            <a:off x="6071616" y="2560320"/>
            <a:ext cx="2505456"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Would I really use it every day?</a:t>
            </a:r>
          </a:p>
        </p:txBody>
      </p:sp>
      <p:sp>
        <p:nvSpPr>
          <p:cNvPr id="19" name="Rectangle 18"/>
          <p:cNvSpPr/>
          <p:nvPr/>
        </p:nvSpPr>
        <p:spPr>
          <a:xfrm>
            <a:off x="566928" y="3246120"/>
            <a:ext cx="4937760" cy="6858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355848"/>
            <a:ext cx="4608576" cy="46634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The 2 surviving ideas + one line on "why I kept it" — write it into your workbook.</a:t>
            </a:r>
          </a:p>
        </p:txBody>
      </p:sp>
      <p:sp>
        <p:nvSpPr>
          <p:cNvPr id="21" name="TextBox 20"/>
          <p:cNvSpPr txBox="1"/>
          <p:nvPr/>
        </p:nvSpPr>
        <p:spPr>
          <a:xfrm>
            <a:off x="566928" y="4114800"/>
            <a:ext cx="8010144" cy="548640"/>
          </a:xfrm>
          <a:prstGeom prst="rect">
            <a:avLst/>
          </a:prstGeom>
          <a:noFill/>
        </p:spPr>
        <p:txBody>
          <a:bodyPr wrap="square" anchor="t" lIns="0" rIns="0" tIns="0" bIns="0">
            <a:spAutoFit/>
          </a:bodyPr>
          <a:lstStyle/>
          <a:p>
            <a:pPr algn="ctr">
              <a:lnSpc>
                <a:spcPct val="100000"/>
              </a:lnSpc>
            </a:pPr>
            <a:r>
              <a:rPr sz="1100" b="0">
                <a:solidFill>
                  <a:srgbClr val="000000"/>
                </a:solidFill>
                <a:latin typeface="Source Han Sans SC"/>
              </a:rPr>
              <a:t>(no panic, small)  All rejected? Take the one you're most attached to, run "how else could this idea work?" once, then screen again.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08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200" b="1">
                <a:solidFill>
                  <a:srgbClr val="000000"/>
                </a:solidFill>
                <a:latin typeface="Source Han Sans SC"/>
              </a:rPr>
              <a:t>Who Would Use It? — Real Names Only</a:t>
            </a:r>
          </a:p>
        </p:txBody>
      </p:sp>
      <p:sp>
        <p:nvSpPr>
          <p:cNvPr id="6" name="Rectangle 5"/>
          <p:cNvSpPr/>
          <p:nvPr/>
        </p:nvSpPr>
        <p:spPr>
          <a:xfrm>
            <a:off x="566928" y="1188720"/>
            <a:ext cx="3931920"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80160"/>
            <a:ext cx="3602736"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PASS</a:t>
            </a:r>
          </a:p>
        </p:txBody>
      </p:sp>
      <p:sp>
        <p:nvSpPr>
          <p:cNvPr id="8" name="TextBox 7"/>
          <p:cNvSpPr txBox="1"/>
          <p:nvPr/>
        </p:nvSpPr>
        <p:spPr>
          <a:xfrm>
            <a:off x="731520" y="1572768"/>
            <a:ext cx="3602736" cy="32004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"My mom"  /  "my classmate Liam"</a:t>
            </a:r>
          </a:p>
        </p:txBody>
      </p:sp>
      <p:sp>
        <p:nvSpPr>
          <p:cNvPr id="9" name="Rectangle 8"/>
          <p:cNvSpPr/>
          <p:nvPr/>
        </p:nvSpPr>
        <p:spPr>
          <a:xfrm>
            <a:off x="4645152" y="1188720"/>
            <a:ext cx="3931920" cy="7772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9744" y="1280160"/>
            <a:ext cx="3602736" cy="274320"/>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FAIL</a:t>
            </a:r>
          </a:p>
        </p:txBody>
      </p:sp>
      <p:sp>
        <p:nvSpPr>
          <p:cNvPr id="11" name="TextBox 10"/>
          <p:cNvSpPr txBox="1"/>
          <p:nvPr/>
        </p:nvSpPr>
        <p:spPr>
          <a:xfrm>
            <a:off x="4809744" y="1572768"/>
            <a:ext cx="3602736" cy="32004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"All students"  /  "everyone"</a:t>
            </a:r>
          </a:p>
        </p:txBody>
      </p:sp>
      <p:sp>
        <p:nvSpPr>
          <p:cNvPr id="12" name="TextBox 11"/>
          <p:cNvSpPr txBox="1"/>
          <p:nvPr/>
        </p:nvSpPr>
        <p:spPr>
          <a:xfrm>
            <a:off x="566928" y="2148840"/>
            <a:ext cx="8010144"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Interview your neighbor — 4 minutes each:</a:t>
            </a:r>
          </a:p>
        </p:txBody>
      </p:sp>
      <p:sp>
        <p:nvSpPr>
          <p:cNvPr id="13" name="TextBox 12"/>
          <p:cNvSpPr txBox="1"/>
          <p:nvPr/>
        </p:nvSpPr>
        <p:spPr>
          <a:xfrm>
            <a:off x="566928" y="2468880"/>
            <a:ext cx="8010144" cy="50292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you introduce your topic, your neighbor plays your user and asks you the questions from the "help me make an interview script" phrase.</a:t>
            </a:r>
          </a:p>
        </p:txBody>
      </p:sp>
      <p:sp>
        <p:nvSpPr>
          <p:cNvPr id="14" name="Rectangle 13"/>
          <p:cNvSpPr/>
          <p:nvPr/>
        </p:nvSpPr>
        <p:spPr>
          <a:xfrm>
            <a:off x="566928" y="3063240"/>
            <a:ext cx="4937760" cy="56692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54680"/>
            <a:ext cx="4608576" cy="384048"/>
          </a:xfrm>
          <a:prstGeom prst="rect">
            <a:avLst/>
          </a:prstGeom>
          <a:noFill/>
        </p:spPr>
        <p:txBody>
          <a:bodyPr wrap="square" anchor="t" lIns="0" rIns="0" tIns="0" bIns="0">
            <a:spAutoFit/>
          </a:bodyPr>
          <a:lstStyle/>
          <a:p>
            <a:pPr algn="l">
              <a:lnSpc>
                <a:spcPct val="120000"/>
              </a:lnSpc>
            </a:pPr>
            <a:r>
              <a:rPr sz="1400" b="0">
                <a:solidFill>
                  <a:srgbClr val="000000"/>
                </a:solidFill>
                <a:latin typeface="Source Code Pro"/>
              </a:rPr>
              <a:t>My project is for ___ because ___.</a:t>
            </a:r>
          </a:p>
        </p:txBody>
      </p:sp>
      <p:sp>
        <p:nvSpPr>
          <p:cNvPr id="16" name="TextBox 15"/>
          <p:cNvSpPr txBox="1"/>
          <p:nvPr/>
        </p:nvSpPr>
        <p:spPr>
          <a:xfrm>
            <a:off x="5669280" y="3127248"/>
            <a:ext cx="2907792" cy="5029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Write this user picture into your workbook.</a:t>
            </a:r>
          </a:p>
        </p:txBody>
      </p:sp>
      <p:sp>
        <p:nvSpPr>
          <p:cNvPr id="17" name="TextBox 16"/>
          <p:cNvSpPr txBox="1"/>
          <p:nvPr/>
        </p:nvSpPr>
        <p:spPr>
          <a:xfrm>
            <a:off x="566928" y="3840480"/>
            <a:ext cx="8010144" cy="274320"/>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(two new words)</a:t>
            </a:r>
          </a:p>
        </p:txBody>
      </p:sp>
      <p:sp>
        <p:nvSpPr>
          <p:cNvPr id="18" name="TextBox 17"/>
          <p:cNvSpPr txBox="1"/>
          <p:nvPr/>
        </p:nvSpPr>
        <p:spPr>
          <a:xfrm>
            <a:off x="566928" y="4114800"/>
            <a:ext cx="8010144" cy="548640"/>
          </a:xfrm>
          <a:prstGeom prst="rect">
            <a:avLst/>
          </a:prstGeom>
          <a:noFill/>
        </p:spPr>
        <p:txBody>
          <a:bodyPr wrap="square" anchor="t" lIns="0" rIns="0" tIns="0" bIns="0">
            <a:spAutoFit/>
          </a:bodyPr>
          <a:lstStyle/>
          <a:p>
            <a:pPr algn="l">
              <a:lnSpc>
                <a:spcPct val="130000"/>
              </a:lnSpc>
            </a:pPr>
            <a:r>
              <a:rPr sz="1200" b="0">
                <a:solidFill>
                  <a:srgbClr val="000000"/>
                </a:solidFill>
                <a:latin typeface="Source Han Sans SC"/>
              </a:rPr>
              <a:t>user — the real person who'll actually use your project</a:t>
            </a:r>
          </a:p>
          <a:p>
            <a:pPr algn="l">
              <a:lnSpc>
                <a:spcPct val="130000"/>
              </a:lnSpc>
            </a:pPr>
            <a:r>
              <a:rPr sz="1200" b="0">
                <a:solidFill>
                  <a:srgbClr val="000000"/>
                </a:solidFill>
                <a:latin typeface="Source Han Sans SC"/>
              </a:rPr>
              <a:t>interview — going to ask that person a few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09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One Sentence — Announce Your Topic to the Class</a:t>
            </a:r>
          </a:p>
        </p:txBody>
      </p:sp>
      <p:sp>
        <p:nvSpPr>
          <p:cNvPr id="6" name="Rectangle 5"/>
          <p:cNvSpPr/>
          <p:nvPr/>
        </p:nvSpPr>
        <p:spPr>
          <a:xfrm>
            <a:off x="566928" y="1207008"/>
            <a:ext cx="8010144" cy="77724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353312"/>
            <a:ext cx="7644383" cy="50292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Code Pro"/>
              </a:rPr>
              <a:t>I'm making a ___ for ___ because ___.</a:t>
            </a:r>
          </a:p>
        </p:txBody>
      </p:sp>
      <p:sp>
        <p:nvSpPr>
          <p:cNvPr id="8" name="TextBox 7"/>
          <p:cNvSpPr txBox="1"/>
          <p:nvPr/>
        </p:nvSpPr>
        <p:spPr>
          <a:xfrm>
            <a:off x="566928" y="2103120"/>
            <a:ext cx="8010144"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Teacher's example:</a:t>
            </a:r>
          </a:p>
        </p:txBody>
      </p:sp>
      <p:sp>
        <p:nvSpPr>
          <p:cNvPr id="9" name="Rectangle 8"/>
          <p:cNvSpPr/>
          <p:nvPr/>
        </p:nvSpPr>
        <p:spPr>
          <a:xfrm>
            <a:off x="566928" y="2395728"/>
            <a:ext cx="8010144" cy="548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87168"/>
            <a:ext cx="7680960" cy="365759"/>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I'm making a [pill reminder] for [my mom], because [she always forgets her blood-pressure meds].</a:t>
            </a:r>
          </a:p>
        </p:txBody>
      </p:sp>
      <p:sp>
        <p:nvSpPr>
          <p:cNvPr id="11" name="Rectangle 10"/>
          <p:cNvSpPr/>
          <p:nvPr/>
        </p:nvSpPr>
        <p:spPr>
          <a:xfrm>
            <a:off x="566928" y="3090672"/>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127248"/>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3" name="TextBox 12"/>
          <p:cNvSpPr txBox="1"/>
          <p:nvPr/>
        </p:nvSpPr>
        <p:spPr>
          <a:xfrm>
            <a:off x="969264" y="3108960"/>
            <a:ext cx="7589520"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Write it on a big sticky  -&gt;  put it on the Project Wall</a:t>
            </a:r>
          </a:p>
        </p:txBody>
      </p:sp>
      <p:sp>
        <p:nvSpPr>
          <p:cNvPr id="14" name="Rectangle 13"/>
          <p:cNvSpPr/>
          <p:nvPr/>
        </p:nvSpPr>
        <p:spPr>
          <a:xfrm>
            <a:off x="566928" y="3493008"/>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529584"/>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6" name="TextBox 15"/>
          <p:cNvSpPr txBox="1"/>
          <p:nvPr/>
        </p:nvSpPr>
        <p:spPr>
          <a:xfrm>
            <a:off x="969264" y="3511296"/>
            <a:ext cx="7589520" cy="292608"/>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Open your workbook (or notebook)  -&gt;  copy the same sentence in</a:t>
            </a:r>
          </a:p>
        </p:txBody>
      </p:sp>
      <p:sp>
        <p:nvSpPr>
          <p:cNvPr id="17" name="Rectangle 16"/>
          <p:cNvSpPr/>
          <p:nvPr/>
        </p:nvSpPr>
        <p:spPr>
          <a:xfrm>
            <a:off x="566928" y="402336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41648"/>
            <a:ext cx="7808975" cy="438912"/>
          </a:xfrm>
          <a:prstGeom prst="rect">
            <a:avLst/>
          </a:prstGeom>
          <a:noFill/>
        </p:spPr>
        <p:txBody>
          <a:bodyPr wrap="square" anchor="t" lIns="0" rIns="0" tIns="0" bIns="0">
            <a:spAutoFit/>
          </a:bodyPr>
          <a:lstStyle/>
          <a:p>
            <a:pPr algn="l">
              <a:lnSpc>
                <a:spcPct val="115000"/>
              </a:lnSpc>
            </a:pPr>
            <a:r>
              <a:rPr sz="1500" b="0">
                <a:solidFill>
                  <a:srgbClr val="000000"/>
                </a:solidFill>
                <a:latin typeface="Source Han Sans SC"/>
              </a:rPr>
              <a:t>This sentence is the north star for every lesson after this one.</a:t>
            </a:r>
          </a:p>
        </p:txBody>
      </p:sp>
      <p:sp>
        <p:nvSpPr>
          <p:cNvPr id="19" name="TextBox 18"/>
          <p:cNvSpPr txBox="1"/>
          <p:nvPr/>
        </p:nvSpPr>
        <p:spPr>
          <a:xfrm>
            <a:off x="566928" y="4572000"/>
            <a:ext cx="8010144" cy="274320"/>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The wall and the workbook must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10 / 22</a:t>
            </a:r>
          </a:p>
        </p:txBody>
      </p:sp>
      <p:sp>
        <p:nvSpPr>
          <p:cNvPr id="4" name="TextBox 3"/>
          <p:cNvSpPr txBox="1"/>
          <p:nvPr/>
        </p:nvSpPr>
        <p:spPr>
          <a:xfrm>
            <a:off x="566928" y="1828800"/>
            <a:ext cx="8010144" cy="640080"/>
          </a:xfrm>
          <a:prstGeom prst="rect">
            <a:avLst/>
          </a:prstGeom>
          <a:noFill/>
        </p:spPr>
        <p:txBody>
          <a:bodyPr wrap="square" anchor="t" lIns="0" rIns="0" tIns="0" bIns="0">
            <a:spAutoFit/>
          </a:bodyPr>
          <a:lstStyle/>
          <a:p>
            <a:pPr algn="ctr">
              <a:lnSpc>
                <a:spcPct val="100000"/>
              </a:lnSpc>
            </a:pPr>
            <a:r>
              <a:rPr sz="3600" b="1">
                <a:solidFill>
                  <a:srgbClr val="000000"/>
                </a:solidFill>
                <a:latin typeface="Source Han Sans SC"/>
              </a:rPr>
              <a:t>The Five Rules for Talking to AI</a:t>
            </a:r>
          </a:p>
        </p:txBody>
      </p:sp>
      <p:sp>
        <p:nvSpPr>
          <p:cNvPr id="5" name="Rectangle 4"/>
          <p:cNvSpPr/>
          <p:nvPr/>
        </p:nvSpPr>
        <p:spPr>
          <a:xfrm>
            <a:off x="3931920" y="2606040"/>
            <a:ext cx="128016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880360"/>
            <a:ext cx="8010144" cy="457200"/>
          </a:xfrm>
          <a:prstGeom prst="rect">
            <a:avLst/>
          </a:prstGeom>
          <a:noFill/>
        </p:spPr>
        <p:txBody>
          <a:bodyPr wrap="square" anchor="t" lIns="0" rIns="0" tIns="0" bIns="0">
            <a:spAutoFit/>
          </a:bodyPr>
          <a:lstStyle/>
          <a:p>
            <a:pPr algn="ctr">
              <a:lnSpc>
                <a:spcPct val="100000"/>
              </a:lnSpc>
            </a:pPr>
            <a:r>
              <a:rPr sz="1800" b="0">
                <a:solidFill>
                  <a:srgbClr val="000000"/>
                </a:solidFill>
                <a:latin typeface="Source Han Sans SC"/>
              </a:rPr>
              <a:t>Not magic — a craft you can practice.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11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Same AI, Same Classroom — What's the Difference?</a:t>
            </a:r>
          </a:p>
        </p:txBody>
      </p:sp>
      <p:sp>
        <p:nvSpPr>
          <p:cNvPr id="6" name="Rectangle 5"/>
          <p:cNvSpPr/>
          <p:nvPr/>
        </p:nvSpPr>
        <p:spPr>
          <a:xfrm>
            <a:off x="566928" y="1280160"/>
            <a:ext cx="3749039"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3419856" cy="502920"/>
          </a:xfrm>
          <a:prstGeom prst="rect">
            <a:avLst/>
          </a:prstGeom>
          <a:noFill/>
        </p:spPr>
        <p:txBody>
          <a:bodyPr wrap="square" anchor="t" lIns="0" rIns="0" tIns="0" bIns="0">
            <a:spAutoFit/>
          </a:bodyPr>
          <a:lstStyle/>
          <a:p>
            <a:pPr algn="l">
              <a:lnSpc>
                <a:spcPct val="110000"/>
              </a:lnSpc>
            </a:pPr>
            <a:r>
              <a:rPr sz="1350" b="1">
                <a:solidFill>
                  <a:srgbClr val="000000"/>
                </a:solidFill>
                <a:latin typeface="Source Han Sans SC"/>
              </a:rPr>
              <a:t>Lesson 1, real conversation A</a:t>
            </a:r>
          </a:p>
        </p:txBody>
      </p:sp>
      <p:sp>
        <p:nvSpPr>
          <p:cNvPr id="8" name="TextBox 7"/>
          <p:cNvSpPr txBox="1"/>
          <p:nvPr/>
        </p:nvSpPr>
        <p:spPr>
          <a:xfrm>
            <a:off x="731520" y="2011680"/>
            <a:ext cx="3419856" cy="32004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worked first try</a:t>
            </a:r>
          </a:p>
        </p:txBody>
      </p:sp>
      <p:sp>
        <p:nvSpPr>
          <p:cNvPr id="9" name="TextBox 8"/>
          <p:cNvSpPr txBox="1"/>
          <p:nvPr/>
        </p:nvSpPr>
        <p:spPr>
          <a:xfrm>
            <a:off x="4343400" y="1691640"/>
            <a:ext cx="365760" cy="457200"/>
          </a:xfrm>
          <a:prstGeom prst="rect">
            <a:avLst/>
          </a:prstGeom>
          <a:noFill/>
        </p:spPr>
        <p:txBody>
          <a:bodyPr wrap="square" anchor="t" lIns="0" rIns="0" tIns="0" bIns="0">
            <a:spAutoFit/>
          </a:bodyPr>
          <a:lstStyle/>
          <a:p>
            <a:pPr algn="ctr">
              <a:lnSpc>
                <a:spcPct val="100000"/>
              </a:lnSpc>
            </a:pPr>
            <a:r>
              <a:rPr sz="2000" b="1">
                <a:solidFill>
                  <a:srgbClr val="000000"/>
                </a:solidFill>
                <a:latin typeface="Source Han Sans SC"/>
              </a:rPr>
              <a:t>-&gt;</a:t>
            </a:r>
          </a:p>
        </p:txBody>
      </p:sp>
      <p:sp>
        <p:nvSpPr>
          <p:cNvPr id="10" name="Rectangle 9"/>
          <p:cNvSpPr/>
          <p:nvPr/>
        </p:nvSpPr>
        <p:spPr>
          <a:xfrm>
            <a:off x="4828032" y="1280160"/>
            <a:ext cx="3749039" cy="11887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92624" y="1417320"/>
            <a:ext cx="3419856" cy="502920"/>
          </a:xfrm>
          <a:prstGeom prst="rect">
            <a:avLst/>
          </a:prstGeom>
          <a:noFill/>
        </p:spPr>
        <p:txBody>
          <a:bodyPr wrap="square" anchor="t" lIns="0" rIns="0" tIns="0" bIns="0">
            <a:spAutoFit/>
          </a:bodyPr>
          <a:lstStyle/>
          <a:p>
            <a:pPr algn="l">
              <a:lnSpc>
                <a:spcPct val="110000"/>
              </a:lnSpc>
            </a:pPr>
            <a:r>
              <a:rPr sz="1350" b="1">
                <a:solidFill>
                  <a:srgbClr val="000000"/>
                </a:solidFill>
                <a:latin typeface="Source Han Sans SC"/>
              </a:rPr>
              <a:t>Lesson 1, real conversation B</a:t>
            </a:r>
          </a:p>
        </p:txBody>
      </p:sp>
      <p:sp>
        <p:nvSpPr>
          <p:cNvPr id="12" name="TextBox 11"/>
          <p:cNvSpPr txBox="1"/>
          <p:nvPr/>
        </p:nvSpPr>
        <p:spPr>
          <a:xfrm>
            <a:off x="4992624" y="2011680"/>
            <a:ext cx="3419856" cy="32004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five rounds of back and forth</a:t>
            </a:r>
          </a:p>
        </p:txBody>
      </p:sp>
      <p:sp>
        <p:nvSpPr>
          <p:cNvPr id="13" name="Rectangle 12"/>
          <p:cNvSpPr/>
          <p:nvPr/>
        </p:nvSpPr>
        <p:spPr>
          <a:xfrm>
            <a:off x="566928" y="269748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715768"/>
            <a:ext cx="7808975" cy="438912"/>
          </a:xfrm>
          <a:prstGeom prst="rect">
            <a:avLst/>
          </a:prstGeom>
          <a:noFill/>
        </p:spPr>
        <p:txBody>
          <a:bodyPr wrap="square" anchor="t" lIns="0" rIns="0" tIns="0" bIns="0">
            <a:spAutoFit/>
          </a:bodyPr>
          <a:lstStyle/>
          <a:p>
            <a:pPr algn="l">
              <a:lnSpc>
                <a:spcPct val="115000"/>
              </a:lnSpc>
            </a:pPr>
            <a:r>
              <a:rPr sz="1700" b="0">
                <a:solidFill>
                  <a:srgbClr val="000000"/>
                </a:solidFill>
                <a:latin typeface="Source Han Sans SC"/>
              </a:rPr>
              <a:t>Not luck. It's how you say it.</a:t>
            </a:r>
          </a:p>
        </p:txBody>
      </p:sp>
      <p:sp>
        <p:nvSpPr>
          <p:cNvPr id="15" name="TextBox 14"/>
          <p:cNvSpPr txBox="1"/>
          <p:nvPr/>
        </p:nvSpPr>
        <p:spPr>
          <a:xfrm>
            <a:off x="566928" y="3337560"/>
            <a:ext cx="8010144" cy="640080"/>
          </a:xfrm>
          <a:prstGeom prst="rect">
            <a:avLst/>
          </a:prstGeom>
          <a:noFill/>
        </p:spPr>
        <p:txBody>
          <a:bodyPr wrap="square" anchor="t" lIns="0" rIns="0" tIns="0" bIns="0">
            <a:spAutoFit/>
          </a:bodyPr>
          <a:lstStyle/>
          <a:p>
            <a:pPr algn="ctr">
              <a:lnSpc>
                <a:spcPct val="120000"/>
              </a:lnSpc>
            </a:pPr>
            <a:r>
              <a:rPr sz="1500" b="0">
                <a:solidFill>
                  <a:srgbClr val="000000"/>
                </a:solidFill>
                <a:latin typeface="Source Han Sans SC"/>
              </a:rPr>
              <a:t>Talking to AI is like briefing a new colleague — they're smart, but they don't know what's in your head.</a:t>
            </a:r>
          </a:p>
        </p:txBody>
      </p:sp>
      <p:sp>
        <p:nvSpPr>
          <p:cNvPr id="16" name="TextBox 15"/>
          <p:cNvSpPr txBox="1"/>
          <p:nvPr/>
        </p:nvSpPr>
        <p:spPr>
          <a:xfrm>
            <a:off x="566928" y="4160520"/>
            <a:ext cx="8010144" cy="274320"/>
          </a:xfrm>
          <a:prstGeom prst="rect">
            <a:avLst/>
          </a:prstGeom>
          <a:noFill/>
        </p:spPr>
        <p:txBody>
          <a:bodyPr wrap="square" anchor="t" lIns="0" rIns="0" tIns="0" bIns="0">
            <a:spAutoFit/>
          </a:bodyPr>
          <a:lstStyle/>
          <a:p>
            <a:pPr algn="l">
              <a:lnSpc>
                <a:spcPct val="100000"/>
              </a:lnSpc>
            </a:pPr>
            <a:r>
              <a:rPr sz="1100" b="1">
                <a:solidFill>
                  <a:srgbClr val="000000"/>
                </a:solidFill>
                <a:latin typeface="Source Han Sans SC"/>
              </a:rPr>
              <a:t>(new word)</a:t>
            </a:r>
          </a:p>
        </p:txBody>
      </p:sp>
      <p:sp>
        <p:nvSpPr>
          <p:cNvPr id="17" name="TextBox 16"/>
          <p:cNvSpPr txBox="1"/>
          <p:nvPr/>
        </p:nvSpPr>
        <p:spPr>
          <a:xfrm>
            <a:off x="566928" y="4434840"/>
            <a:ext cx="8010144"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requirement — the sentence that says clearly what you want your project to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12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Five Rules — Every One Verified by Hand</a:t>
            </a:r>
          </a:p>
        </p:txBody>
      </p:sp>
      <p:sp>
        <p:nvSpPr>
          <p:cNvPr id="6" name="Rectangle 5"/>
          <p:cNvSpPr/>
          <p:nvPr/>
        </p:nvSpPr>
        <p:spPr>
          <a:xfrm>
            <a:off x="749808" y="1298448"/>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335024"/>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280160" y="1325880"/>
            <a:ext cx="722376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One thing at a time</a:t>
            </a:r>
          </a:p>
        </p:txBody>
      </p:sp>
      <p:sp>
        <p:nvSpPr>
          <p:cNvPr id="9" name="Rectangle 8"/>
          <p:cNvSpPr/>
          <p:nvPr/>
        </p:nvSpPr>
        <p:spPr>
          <a:xfrm>
            <a:off x="749808" y="1865376"/>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01952"/>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1280160" y="1892807"/>
            <a:ext cx="722376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Say the input &amp; the output</a:t>
            </a:r>
          </a:p>
        </p:txBody>
      </p:sp>
      <p:sp>
        <p:nvSpPr>
          <p:cNvPr id="12" name="Rectangle 11"/>
          <p:cNvSpPr/>
          <p:nvPr/>
        </p:nvSpPr>
        <p:spPr>
          <a:xfrm>
            <a:off x="749808" y="2432304"/>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68880"/>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1280160" y="2459736"/>
            <a:ext cx="722376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Give it an example</a:t>
            </a:r>
          </a:p>
        </p:txBody>
      </p:sp>
      <p:sp>
        <p:nvSpPr>
          <p:cNvPr id="15" name="Rectangle 14"/>
          <p:cNvSpPr/>
          <p:nvPr/>
        </p:nvSpPr>
        <p:spPr>
          <a:xfrm>
            <a:off x="749808" y="2999232"/>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035808"/>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17" name="TextBox 16"/>
          <p:cNvSpPr txBox="1"/>
          <p:nvPr/>
        </p:nvSpPr>
        <p:spPr>
          <a:xfrm>
            <a:off x="1280160" y="3026664"/>
            <a:ext cx="722376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If it's wrong, add a line</a:t>
            </a:r>
          </a:p>
        </p:txBody>
      </p:sp>
      <p:sp>
        <p:nvSpPr>
          <p:cNvPr id="18" name="Rectangle 17"/>
          <p:cNvSpPr/>
          <p:nvPr/>
        </p:nvSpPr>
        <p:spPr>
          <a:xfrm>
            <a:off x="749808" y="356616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60273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5</a:t>
            </a:r>
          </a:p>
        </p:txBody>
      </p:sp>
      <p:sp>
        <p:nvSpPr>
          <p:cNvPr id="20" name="TextBox 19"/>
          <p:cNvSpPr txBox="1"/>
          <p:nvPr/>
        </p:nvSpPr>
        <p:spPr>
          <a:xfrm>
            <a:off x="1280160" y="3593592"/>
            <a:ext cx="7223760"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Ask it to explain</a:t>
            </a:r>
          </a:p>
        </p:txBody>
      </p:sp>
      <p:sp>
        <p:nvSpPr>
          <p:cNvPr id="21" name="TextBox 20"/>
          <p:cNvSpPr txBox="1"/>
          <p:nvPr/>
        </p:nvSpPr>
        <p:spPr>
          <a:xfrm>
            <a:off x="566928" y="4224528"/>
            <a:ext cx="8010144" cy="274320"/>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(house rule, small)</a:t>
            </a:r>
          </a:p>
        </p:txBody>
      </p:sp>
      <p:sp>
        <p:nvSpPr>
          <p:cNvPr id="22" name="TextBox 21"/>
          <p:cNvSpPr txBox="1"/>
          <p:nvPr/>
        </p:nvSpPr>
        <p:spPr>
          <a:xfrm>
            <a:off x="566928" y="4462272"/>
            <a:ext cx="8010144"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No experiments, no rules. A rule must have run on your own board to count.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13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Each Rule, 3 Minutes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500" b="0">
                <a:solidFill>
                  <a:srgbClr val="000000"/>
                </a:solidFill>
                <a:latin typeface="Source Han Sans SC"/>
              </a:rPr>
              <a:t>30 s talk  +  2 min experiment  +  30 s show the result</a:t>
            </a:r>
          </a:p>
        </p:txBody>
      </p:sp>
      <p:sp>
        <p:nvSpPr>
          <p:cNvPr id="7" name="Rectangle 6"/>
          <p:cNvSpPr/>
          <p:nvPr/>
        </p:nvSpPr>
        <p:spPr>
          <a:xfrm>
            <a:off x="566928" y="1252728"/>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89304"/>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969264" y="1243584"/>
            <a:ext cx="758952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One thing at a time</a:t>
            </a:r>
          </a:p>
        </p:txBody>
      </p:sp>
      <p:sp>
        <p:nvSpPr>
          <p:cNvPr id="10" name="TextBox 9"/>
          <p:cNvSpPr txBox="1"/>
          <p:nvPr/>
        </p:nvSpPr>
        <p:spPr>
          <a:xfrm>
            <a:off x="969264" y="1490472"/>
            <a:ext cx="7589520" cy="384048"/>
          </a:xfrm>
          <a:prstGeom prst="rect">
            <a:avLst/>
          </a:prstGeom>
          <a:noFill/>
        </p:spPr>
        <p:txBody>
          <a:bodyPr wrap="square" anchor="t" lIns="0" rIns="0" tIns="0" bIns="0">
            <a:spAutoFit/>
          </a:bodyPr>
          <a:lstStyle/>
          <a:p>
            <a:pPr algn="l">
              <a:lnSpc>
                <a:spcPct val="112000"/>
              </a:lnSpc>
            </a:pPr>
            <a:r>
              <a:rPr sz="1050" b="0">
                <a:solidFill>
                  <a:srgbClr val="000000"/>
                </a:solidFill>
                <a:latin typeface="Source Han Sans SC"/>
              </a:rPr>
              <a:t>first:  first: "turn on the LED, beep the buzzer, and show something on the screen, all at once"</a:t>
            </a:r>
          </a:p>
          <a:p>
            <a:pPr algn="l">
              <a:lnSpc>
                <a:spcPct val="112000"/>
              </a:lnSpc>
            </a:pPr>
            <a:r>
              <a:rPr sz="1050" b="0">
                <a:solidFill>
                  <a:srgbClr val="000000"/>
                </a:solidFill>
                <a:latin typeface="Source Han Sans SC"/>
              </a:rPr>
              <a:t>then:  then: split it into three sentences, one at a time — see the difference yourself</a:t>
            </a:r>
          </a:p>
        </p:txBody>
      </p:sp>
      <p:sp>
        <p:nvSpPr>
          <p:cNvPr id="11" name="Rectangle 10"/>
          <p:cNvSpPr/>
          <p:nvPr/>
        </p:nvSpPr>
        <p:spPr>
          <a:xfrm>
            <a:off x="566928" y="1837943"/>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874519"/>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969264" y="1828800"/>
            <a:ext cx="758952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Say the input &amp; the output</a:t>
            </a:r>
          </a:p>
        </p:txBody>
      </p:sp>
      <p:sp>
        <p:nvSpPr>
          <p:cNvPr id="14" name="TextBox 13"/>
          <p:cNvSpPr txBox="1"/>
          <p:nvPr/>
        </p:nvSpPr>
        <p:spPr>
          <a:xfrm>
            <a:off x="969264" y="2075688"/>
            <a:ext cx="7589520" cy="384048"/>
          </a:xfrm>
          <a:prstGeom prst="rect">
            <a:avLst/>
          </a:prstGeom>
          <a:noFill/>
        </p:spPr>
        <p:txBody>
          <a:bodyPr wrap="square" anchor="t" lIns="0" rIns="0" tIns="0" bIns="0">
            <a:spAutoFit/>
          </a:bodyPr>
          <a:lstStyle/>
          <a:p>
            <a:pPr algn="l">
              <a:lnSpc>
                <a:spcPct val="112000"/>
              </a:lnSpc>
            </a:pPr>
            <a:r>
              <a:rPr sz="1050" b="0">
                <a:solidFill>
                  <a:srgbClr val="000000"/>
                </a:solidFill>
                <a:latin typeface="Source Han Sans SC"/>
              </a:rPr>
              <a:t>first:  first: "make a reminder"</a:t>
            </a:r>
          </a:p>
          <a:p>
            <a:pPr algn="l">
              <a:lnSpc>
                <a:spcPct val="112000"/>
              </a:lnSpc>
            </a:pPr>
            <a:r>
              <a:rPr sz="1050" b="0">
                <a:solidFill>
                  <a:srgbClr val="000000"/>
                </a:solidFill>
                <a:latin typeface="Source Han Sans SC"/>
              </a:rPr>
              <a:t>then:  then: "if no movement is detected for 1 minute, make the LED blink" — which one is precise?</a:t>
            </a:r>
          </a:p>
        </p:txBody>
      </p:sp>
      <p:sp>
        <p:nvSpPr>
          <p:cNvPr id="15" name="Rectangle 14"/>
          <p:cNvSpPr/>
          <p:nvPr/>
        </p:nvSpPr>
        <p:spPr>
          <a:xfrm>
            <a:off x="566928" y="2423160"/>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459736"/>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7" name="TextBox 16"/>
          <p:cNvSpPr txBox="1"/>
          <p:nvPr/>
        </p:nvSpPr>
        <p:spPr>
          <a:xfrm>
            <a:off x="969264" y="2414016"/>
            <a:ext cx="758952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Give it an example</a:t>
            </a:r>
          </a:p>
        </p:txBody>
      </p:sp>
      <p:sp>
        <p:nvSpPr>
          <p:cNvPr id="18" name="TextBox 17"/>
          <p:cNvSpPr txBox="1"/>
          <p:nvPr/>
        </p:nvSpPr>
        <p:spPr>
          <a:xfrm>
            <a:off x="969264" y="2660904"/>
            <a:ext cx="7589520" cy="384048"/>
          </a:xfrm>
          <a:prstGeom prst="rect">
            <a:avLst/>
          </a:prstGeom>
          <a:noFill/>
        </p:spPr>
        <p:txBody>
          <a:bodyPr wrap="square" anchor="t" lIns="0" rIns="0" tIns="0" bIns="0">
            <a:spAutoFit/>
          </a:bodyPr>
          <a:lstStyle/>
          <a:p>
            <a:pPr algn="l">
              <a:lnSpc>
                <a:spcPct val="112000"/>
              </a:lnSpc>
            </a:pPr>
            <a:r>
              <a:rPr sz="1050" b="0">
                <a:solidFill>
                  <a:srgbClr val="000000"/>
                </a:solidFill>
                <a:latin typeface="Source Han Sans SC"/>
              </a:rPr>
              <a:t>first:  "show numbers on the screen like an elevator does" — one comparison beats ten descriptions</a:t>
            </a:r>
          </a:p>
        </p:txBody>
      </p:sp>
      <p:sp>
        <p:nvSpPr>
          <p:cNvPr id="19" name="Rectangle 18"/>
          <p:cNvSpPr/>
          <p:nvPr/>
        </p:nvSpPr>
        <p:spPr>
          <a:xfrm>
            <a:off x="566928" y="3008376"/>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44952"/>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4</a:t>
            </a:r>
          </a:p>
        </p:txBody>
      </p:sp>
      <p:sp>
        <p:nvSpPr>
          <p:cNvPr id="21" name="TextBox 20"/>
          <p:cNvSpPr txBox="1"/>
          <p:nvPr/>
        </p:nvSpPr>
        <p:spPr>
          <a:xfrm>
            <a:off x="969264" y="2999232"/>
            <a:ext cx="758952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If it's wrong, add a line</a:t>
            </a:r>
          </a:p>
        </p:txBody>
      </p:sp>
      <p:sp>
        <p:nvSpPr>
          <p:cNvPr id="22" name="TextBox 21"/>
          <p:cNvSpPr txBox="1"/>
          <p:nvPr/>
        </p:nvSpPr>
        <p:spPr>
          <a:xfrm>
            <a:off x="969264" y="3246120"/>
            <a:ext cx="7589520" cy="384048"/>
          </a:xfrm>
          <a:prstGeom prst="rect">
            <a:avLst/>
          </a:prstGeom>
          <a:noFill/>
        </p:spPr>
        <p:txBody>
          <a:bodyPr wrap="square" anchor="t" lIns="0" rIns="0" tIns="0" bIns="0">
            <a:spAutoFit/>
          </a:bodyPr>
          <a:lstStyle/>
          <a:p>
            <a:pPr algn="l">
              <a:lnSpc>
                <a:spcPct val="112000"/>
              </a:lnSpc>
            </a:pPr>
            <a:r>
              <a:rPr sz="1050" b="0">
                <a:solidFill>
                  <a:srgbClr val="000000"/>
                </a:solidFill>
                <a:latin typeface="Source Han Sans SC"/>
              </a:rPr>
              <a:t>first:  break the effect you just made on purpose, then add one line to fix it — time it</a:t>
            </a:r>
          </a:p>
        </p:txBody>
      </p:sp>
      <p:sp>
        <p:nvSpPr>
          <p:cNvPr id="23" name="Rectangle 22"/>
          <p:cNvSpPr/>
          <p:nvPr/>
        </p:nvSpPr>
        <p:spPr>
          <a:xfrm>
            <a:off x="566928" y="3593592"/>
            <a:ext cx="310896" cy="31089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3630168"/>
            <a:ext cx="310896"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5</a:t>
            </a:r>
          </a:p>
        </p:txBody>
      </p:sp>
      <p:sp>
        <p:nvSpPr>
          <p:cNvPr id="25" name="TextBox 24"/>
          <p:cNvSpPr txBox="1"/>
          <p:nvPr/>
        </p:nvSpPr>
        <p:spPr>
          <a:xfrm>
            <a:off x="969264" y="3584448"/>
            <a:ext cx="7589520" cy="256032"/>
          </a:xfrm>
          <a:prstGeom prst="rect">
            <a:avLst/>
          </a:prstGeom>
          <a:noFill/>
        </p:spPr>
        <p:txBody>
          <a:bodyPr wrap="square" anchor="t" lIns="0" rIns="0" tIns="0" bIns="0">
            <a:spAutoFit/>
          </a:bodyPr>
          <a:lstStyle/>
          <a:p>
            <a:pPr algn="l">
              <a:lnSpc>
                <a:spcPct val="100000"/>
              </a:lnSpc>
            </a:pPr>
            <a:r>
              <a:rPr sz="1300" b="1">
                <a:solidFill>
                  <a:srgbClr val="000000"/>
                </a:solidFill>
                <a:latin typeface="Source Han Sans SC"/>
              </a:rPr>
              <a:t>Ask it to explain</a:t>
            </a:r>
          </a:p>
        </p:txBody>
      </p:sp>
      <p:sp>
        <p:nvSpPr>
          <p:cNvPr id="26" name="TextBox 25"/>
          <p:cNvSpPr txBox="1"/>
          <p:nvPr/>
        </p:nvSpPr>
        <p:spPr>
          <a:xfrm>
            <a:off x="969264" y="3831336"/>
            <a:ext cx="7589520" cy="384048"/>
          </a:xfrm>
          <a:prstGeom prst="rect">
            <a:avLst/>
          </a:prstGeom>
          <a:noFill/>
        </p:spPr>
        <p:txBody>
          <a:bodyPr wrap="square" anchor="t" lIns="0" rIns="0" tIns="0" bIns="0">
            <a:spAutoFit/>
          </a:bodyPr>
          <a:lstStyle/>
          <a:p>
            <a:pPr algn="l">
              <a:lnSpc>
                <a:spcPct val="112000"/>
              </a:lnSpc>
            </a:pPr>
            <a:r>
              <a:rPr sz="1050" b="0">
                <a:solidFill>
                  <a:srgbClr val="000000"/>
                </a:solidFill>
                <a:latin typeface="Source Han Sans SC"/>
              </a:rPr>
              <a:t>first:  throw the code it just wrote back at it: "what is this doing? in plain words"</a:t>
            </a:r>
          </a:p>
        </p:txBody>
      </p:sp>
      <p:sp>
        <p:nvSpPr>
          <p:cNvPr id="27" name="TextBox 26"/>
          <p:cNvSpPr txBox="1"/>
          <p:nvPr/>
        </p:nvSpPr>
        <p:spPr>
          <a:xfrm>
            <a:off x="566928" y="4242816"/>
            <a:ext cx="8010144" cy="256032"/>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(fast lane)  add the Rule 3 advanced — one comparison, flashier display.</a:t>
            </a:r>
          </a:p>
        </p:txBody>
      </p:sp>
      <p:sp>
        <p:nvSpPr>
          <p:cNvPr id="28" name="TextBox 27"/>
          <p:cNvSpPr txBox="1"/>
          <p:nvPr/>
        </p:nvSpPr>
        <p:spPr>
          <a:xfrm>
            <a:off x="566928" y="4517136"/>
            <a:ext cx="8010144" cy="256032"/>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(slow lane)  Rules 1, 2 and 4 are enough.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14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Final Exam</a:t>
            </a:r>
          </a:p>
        </p:txBody>
      </p:sp>
      <p:sp>
        <p:nvSpPr>
          <p:cNvPr id="6" name="Rectangle 5"/>
          <p:cNvSpPr/>
          <p:nvPr/>
        </p:nvSpPr>
        <p:spPr>
          <a:xfrm>
            <a:off x="566928" y="1280160"/>
            <a:ext cx="8010144" cy="91440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481328"/>
            <a:ext cx="7644383" cy="548640"/>
          </a:xfrm>
          <a:prstGeom prst="rect">
            <a:avLst/>
          </a:prstGeom>
          <a:noFill/>
        </p:spPr>
        <p:txBody>
          <a:bodyPr wrap="square" anchor="t" lIns="0" rIns="0" tIns="0" bIns="0">
            <a:spAutoFit/>
          </a:bodyPr>
          <a:lstStyle/>
          <a:p>
            <a:pPr algn="ctr">
              <a:lnSpc>
                <a:spcPct val="100000"/>
              </a:lnSpc>
            </a:pPr>
            <a:r>
              <a:rPr sz="1600" b="0">
                <a:solidFill>
                  <a:srgbClr val="000000"/>
                </a:solidFill>
                <a:latin typeface="Source Code Pro"/>
              </a:rPr>
              <a:t>Make something that reminds my little sister to stop playing on her phone.</a:t>
            </a:r>
          </a:p>
        </p:txBody>
      </p:sp>
      <p:sp>
        <p:nvSpPr>
          <p:cNvPr id="8" name="TextBox 7"/>
          <p:cNvSpPr txBox="1"/>
          <p:nvPr/>
        </p:nvSpPr>
        <p:spPr>
          <a:xfrm>
            <a:off x="566928" y="2423160"/>
            <a:ext cx="8010144" cy="411480"/>
          </a:xfrm>
          <a:prstGeom prst="rect">
            <a:avLst/>
          </a:prstGeom>
          <a:noFill/>
        </p:spPr>
        <p:txBody>
          <a:bodyPr wrap="square" anchor="t" lIns="0" rIns="0" tIns="0" bIns="0">
            <a:spAutoFit/>
          </a:bodyPr>
          <a:lstStyle/>
          <a:p>
            <a:pPr algn="ctr">
              <a:lnSpc>
                <a:spcPct val="100000"/>
              </a:lnSpc>
            </a:pPr>
            <a:r>
              <a:rPr sz="1900" b="1">
                <a:solidFill>
                  <a:srgbClr val="000000"/>
                </a:solidFill>
                <a:latin typeface="Source Han Sans SC"/>
              </a:rPr>
              <a:t>What's wrong with that sentence?</a:t>
            </a:r>
          </a:p>
        </p:txBody>
      </p:sp>
      <p:sp>
        <p:nvSpPr>
          <p:cNvPr id="9" name="TextBox 8"/>
          <p:cNvSpPr txBox="1"/>
          <p:nvPr/>
        </p:nvSpPr>
        <p:spPr>
          <a:xfrm>
            <a:off x="566928" y="2971800"/>
            <a:ext cx="8010144" cy="365760"/>
          </a:xfrm>
          <a:prstGeom prst="rect">
            <a:avLst/>
          </a:prstGeom>
          <a:noFill/>
        </p:spPr>
        <p:txBody>
          <a:bodyPr wrap="square" anchor="t" lIns="0" rIns="0" tIns="0" bIns="0">
            <a:spAutoFit/>
          </a:bodyPr>
          <a:lstStyle/>
          <a:p>
            <a:pPr algn="ctr">
              <a:lnSpc>
                <a:spcPct val="100000"/>
              </a:lnSpc>
            </a:pPr>
            <a:r>
              <a:rPr sz="1600" b="0">
                <a:solidFill>
                  <a:srgbClr val="000000"/>
                </a:solidFill>
                <a:latin typeface="Source Han Sans SC"/>
              </a:rPr>
              <a:t>Rewrite it with the Five Rules — send it, test it.</a:t>
            </a:r>
          </a:p>
        </p:txBody>
      </p:sp>
      <p:sp>
        <p:nvSpPr>
          <p:cNvPr id="10" name="Rectangle 9"/>
          <p:cNvSpPr/>
          <p:nvPr/>
        </p:nvSpPr>
        <p:spPr>
          <a:xfrm>
            <a:off x="566928" y="361188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630168"/>
            <a:ext cx="7808975" cy="438912"/>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Works within a try or two? Read your version to the class — and name the rule you used.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15 / 22</a:t>
            </a:r>
          </a:p>
        </p:txBody>
      </p:sp>
      <p:sp>
        <p:nvSpPr>
          <p:cNvPr id="4" name="TextBox 3"/>
          <p:cNvSpPr txBox="1"/>
          <p:nvPr/>
        </p:nvSpPr>
        <p:spPr>
          <a:xfrm>
            <a:off x="566928" y="1828800"/>
            <a:ext cx="8010144" cy="640080"/>
          </a:xfrm>
          <a:prstGeom prst="rect">
            <a:avLst/>
          </a:prstGeom>
          <a:noFill/>
        </p:spPr>
        <p:txBody>
          <a:bodyPr wrap="square" anchor="t" lIns="0" rIns="0" tIns="0" bIns="0">
            <a:spAutoFit/>
          </a:bodyPr>
          <a:lstStyle/>
          <a:p>
            <a:pPr algn="ctr">
              <a:lnSpc>
                <a:spcPct val="100000"/>
              </a:lnSpc>
            </a:pPr>
            <a:r>
              <a:rPr sz="3600" b="1">
                <a:solidFill>
                  <a:srgbClr val="000000"/>
                </a:solidFill>
                <a:latin typeface="Source Han Sans SC"/>
              </a:rPr>
              <a:t>Build Toward Your Own Topic</a:t>
            </a:r>
          </a:p>
        </p:txBody>
      </p:sp>
      <p:sp>
        <p:nvSpPr>
          <p:cNvPr id="5" name="Rectangle 4"/>
          <p:cNvSpPr/>
          <p:nvPr/>
        </p:nvSpPr>
        <p:spPr>
          <a:xfrm>
            <a:off x="3931920" y="2606040"/>
            <a:ext cx="128016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880360"/>
            <a:ext cx="8010144" cy="457200"/>
          </a:xfrm>
          <a:prstGeom prst="rect">
            <a:avLst/>
          </a:prstGeom>
          <a:noFill/>
        </p:spPr>
        <p:txBody>
          <a:bodyPr wrap="square" anchor="t" lIns="0" rIns="0" tIns="0" bIns="0">
            <a:spAutoFit/>
          </a:bodyPr>
          <a:lstStyle/>
          <a:p>
            <a:pPr algn="ctr">
              <a:lnSpc>
                <a:spcPct val="100000"/>
              </a:lnSpc>
            </a:pPr>
            <a:r>
              <a:rPr sz="1800" b="0">
                <a:solidFill>
                  <a:srgbClr val="000000"/>
                </a:solidFill>
                <a:latin typeface="Source Han Sans SC"/>
              </a:rPr>
              <a:t>No new tech today — combine what you know to hold up a bigger intent.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16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For Your Topic, Make Its First Working Piece</a:t>
            </a:r>
          </a:p>
        </p:txBody>
      </p:sp>
      <p:sp>
        <p:nvSpPr>
          <p:cNvPr id="6" name="Rectangle 5"/>
          <p:cNvSpPr/>
          <p:nvPr/>
        </p:nvSpPr>
        <p:spPr>
          <a:xfrm>
            <a:off x="566928" y="1207008"/>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43584"/>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969264" y="1225296"/>
            <a:ext cx="7589520"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Cut a small slice out of your topic and build it (recommended)</a:t>
            </a:r>
          </a:p>
        </p:txBody>
      </p:sp>
      <p:sp>
        <p:nvSpPr>
          <p:cNvPr id="9" name="Rectangle 8"/>
          <p:cNvSpPr/>
          <p:nvPr/>
        </p:nvSpPr>
        <p:spPr>
          <a:xfrm>
            <a:off x="566928" y="1572768"/>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09344"/>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969264" y="1591056"/>
            <a:ext cx="7589520" cy="274320"/>
          </a:xfrm>
          <a:prstGeom prst="rect">
            <a:avLst/>
          </a:prstGeom>
          <a:noFill/>
        </p:spPr>
        <p:txBody>
          <a:bodyPr wrap="square" anchor="t" lIns="0" rIns="0" tIns="0" bIns="0">
            <a:spAutoFit/>
          </a:bodyPr>
          <a:lstStyle/>
          <a:p>
            <a:pPr algn="l">
              <a:lnSpc>
                <a:spcPct val="100000"/>
              </a:lnSpc>
            </a:pPr>
            <a:r>
              <a:rPr sz="1400" b="1">
                <a:solidFill>
                  <a:srgbClr val="000000"/>
                </a:solidFill>
                <a:latin typeface="Source Han Sans SC"/>
              </a:rPr>
              <a:t>No direction? Pick one of the three starter briefs</a:t>
            </a:r>
          </a:p>
        </p:txBody>
      </p:sp>
      <p:sp>
        <p:nvSpPr>
          <p:cNvPr id="12" name="Rectangle 11"/>
          <p:cNvSpPr/>
          <p:nvPr/>
        </p:nvSpPr>
        <p:spPr>
          <a:xfrm>
            <a:off x="566928" y="1965960"/>
            <a:ext cx="1828800"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1828800" cy="292608"/>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Reminder</a:t>
            </a:r>
          </a:p>
        </p:txBody>
      </p:sp>
      <p:sp>
        <p:nvSpPr>
          <p:cNvPr id="14" name="Rectangle 13"/>
          <p:cNvSpPr/>
          <p:nvPr/>
        </p:nvSpPr>
        <p:spPr>
          <a:xfrm>
            <a:off x="2487168" y="1965960"/>
            <a:ext cx="1828800"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87168" y="2075688"/>
            <a:ext cx="1828800" cy="292608"/>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Night Light</a:t>
            </a:r>
          </a:p>
        </p:txBody>
      </p:sp>
      <p:sp>
        <p:nvSpPr>
          <p:cNvPr id="16" name="Rectangle 15"/>
          <p:cNvSpPr/>
          <p:nvPr/>
        </p:nvSpPr>
        <p:spPr>
          <a:xfrm>
            <a:off x="4407408" y="1965960"/>
            <a:ext cx="1828800" cy="5029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7408" y="2075688"/>
            <a:ext cx="1828800" cy="292608"/>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Alarm</a:t>
            </a:r>
          </a:p>
        </p:txBody>
      </p:sp>
      <p:sp>
        <p:nvSpPr>
          <p:cNvPr id="18" name="TextBox 17"/>
          <p:cNvSpPr txBox="1"/>
          <p:nvPr/>
        </p:nvSpPr>
        <p:spPr>
          <a:xfrm>
            <a:off x="566928" y="2542032"/>
            <a:ext cx="8010144" cy="256032"/>
          </a:xfrm>
          <a:prstGeom prst="rect">
            <a:avLst/>
          </a:prstGeom>
          <a:noFill/>
        </p:spPr>
        <p:txBody>
          <a:bodyPr wrap="square" anchor="t" lIns="0" rIns="0" tIns="0" bIns="0">
            <a:spAutoFit/>
          </a:bodyPr>
          <a:lstStyle/>
          <a:p>
            <a:pPr algn="ctr">
              <a:lnSpc>
                <a:spcPct val="100000"/>
              </a:lnSpc>
            </a:pPr>
            <a:r>
              <a:rPr sz="1050" b="0">
                <a:solidFill>
                  <a:srgbClr val="000000"/>
                </a:solidFill>
                <a:latin typeface="Source Han Sans SC"/>
              </a:rPr>
              <a:t>(reference combos on the back)</a:t>
            </a:r>
          </a:p>
        </p:txBody>
      </p:sp>
      <p:sp>
        <p:nvSpPr>
          <p:cNvPr id="19" name="TextBox 18"/>
          <p:cNvSpPr txBox="1"/>
          <p:nvPr/>
        </p:nvSpPr>
        <p:spPr>
          <a:xfrm>
            <a:off x="566928" y="2880360"/>
            <a:ext cx="393192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WITH THE PARTS BOX (if you have one)</a:t>
            </a:r>
          </a:p>
        </p:txBody>
      </p:sp>
      <p:sp>
        <p:nvSpPr>
          <p:cNvPr id="20" name="Rectangle 19"/>
          <p:cNvSpPr/>
          <p:nvPr/>
        </p:nvSpPr>
        <p:spPr>
          <a:xfrm>
            <a:off x="566928" y="3154680"/>
            <a:ext cx="3931920" cy="14173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64408"/>
            <a:ext cx="3602736" cy="1197864"/>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First wiring — one rule only:</a:t>
            </a:r>
          </a:p>
          <a:p>
            <a:pPr algn="l">
              <a:lnSpc>
                <a:spcPct val="125000"/>
              </a:lnSpc>
            </a:pPr>
            <a:r>
              <a:rPr sz="1150" b="0">
                <a:solidFill>
                  <a:srgbClr val="000000"/>
                </a:solidFill>
                <a:latin typeface="Source Han Sans SC"/>
              </a:rPr>
              <a:t>"One end into the module, the other into the socket on the edge of the board. Plug it in wrong and nothing burns — just flip it around."</a:t>
            </a:r>
          </a:p>
        </p:txBody>
      </p:sp>
      <p:sp>
        <p:nvSpPr>
          <p:cNvPr id="22" name="TextBox 21"/>
          <p:cNvSpPr txBox="1"/>
          <p:nvPr/>
        </p:nvSpPr>
        <p:spPr>
          <a:xfrm>
            <a:off x="4645152" y="2880360"/>
            <a:ext cx="3931920" cy="274320"/>
          </a:xfrm>
          <a:prstGeom prst="rect">
            <a:avLst/>
          </a:prstGeom>
          <a:noFill/>
        </p:spPr>
        <p:txBody>
          <a:bodyPr wrap="square" anchor="t" lIns="0" rIns="0" tIns="0" bIns="0">
            <a:spAutoFit/>
          </a:bodyPr>
          <a:lstStyle/>
          <a:p>
            <a:pPr algn="l">
              <a:lnSpc>
                <a:spcPct val="100000"/>
              </a:lnSpc>
            </a:pPr>
            <a:r>
              <a:rPr sz="1200" b="1">
                <a:solidFill>
                  <a:srgbClr val="000000"/>
                </a:solidFill>
                <a:latin typeface="Source Han Sans SC"/>
              </a:rPr>
              <a:t>NO PARTS BOX</a:t>
            </a:r>
          </a:p>
        </p:txBody>
      </p:sp>
      <p:sp>
        <p:nvSpPr>
          <p:cNvPr id="23" name="Rectangle 22"/>
          <p:cNvSpPr/>
          <p:nvPr/>
        </p:nvSpPr>
        <p:spPr>
          <a:xfrm>
            <a:off x="4645152" y="3154680"/>
            <a:ext cx="3931920"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9744" y="3273552"/>
            <a:ext cx="3602736" cy="1188720"/>
          </a:xfrm>
          <a:prstGeom prst="rect">
            <a:avLst/>
          </a:prstGeom>
          <a:noFill/>
        </p:spPr>
        <p:txBody>
          <a:bodyPr wrap="square" anchor="t" lIns="0" rIns="0" tIns="0" bIns="0">
            <a:spAutoFit/>
          </a:bodyPr>
          <a:lstStyle/>
          <a:p>
            <a:pPr algn="l">
              <a:lnSpc>
                <a:spcPct val="130000"/>
              </a:lnSpc>
            </a:pPr>
            <a:r>
              <a:rPr sz="1150" b="0">
                <a:solidFill>
                  <a:srgbClr val="000000"/>
                </a:solidFill>
                <a:latin typeface="Source Han Sans SC"/>
              </a:rPr>
              <a:t>Today we use the modules already on your board —</a:t>
            </a:r>
          </a:p>
          <a:p>
            <a:pPr algn="l">
              <a:lnSpc>
                <a:spcPct val="130000"/>
              </a:lnSpc>
            </a:pPr>
            <a:r>
              <a:rPr sz="1150" b="0">
                <a:solidFill>
                  <a:srgbClr val="000000"/>
                </a:solidFill>
                <a:latin typeface="Source Han Sans SC"/>
              </a:rPr>
              <a:t>light, sound, button, LED, buzzer, screen.</a:t>
            </a:r>
          </a:p>
          <a:p>
            <a:pPr algn="l">
              <a:lnSpc>
                <a:spcPct val="130000"/>
              </a:lnSpc>
            </a:pPr>
            <a:r>
              <a:rPr sz="1150" b="0">
                <a:solidFill>
                  <a:srgbClr val="000000"/>
                </a:solidFill>
                <a:latin typeface="Source Han Sans SC"/>
              </a:rPr>
              <a:t>Two linked modules, no problem.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17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Hands Off the Keyboard — 5 Minutes, Fill Your Design Sheet</a:t>
            </a:r>
          </a:p>
        </p:txBody>
      </p:sp>
      <p:sp>
        <p:nvSpPr>
          <p:cNvPr id="6" name="Rectangle 5"/>
          <p:cNvSpPr/>
          <p:nvPr/>
        </p:nvSpPr>
        <p:spPr>
          <a:xfrm>
            <a:off x="566928" y="1234440"/>
            <a:ext cx="8010144" cy="173736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71600"/>
            <a:ext cx="7571231" cy="1508760"/>
          </a:xfrm>
          <a:prstGeom prst="rect">
            <a:avLst/>
          </a:prstGeom>
          <a:noFill/>
        </p:spPr>
        <p:txBody>
          <a:bodyPr wrap="square" anchor="t" lIns="0" rIns="0" tIns="0" bIns="0">
            <a:spAutoFit/>
          </a:bodyPr>
          <a:lstStyle/>
          <a:p>
            <a:pPr algn="l">
              <a:lnSpc>
                <a:spcPct val="155000"/>
              </a:lnSpc>
            </a:pPr>
            <a:r>
              <a:rPr sz="1300" b="0">
                <a:solidFill>
                  <a:srgbClr val="000000"/>
                </a:solidFill>
                <a:latin typeface="Source Code Pro"/>
              </a:rPr>
              <a:t>My project is called: ___</a:t>
            </a:r>
          </a:p>
          <a:p>
            <a:pPr algn="l">
              <a:lnSpc>
                <a:spcPct val="155000"/>
              </a:lnSpc>
            </a:pPr>
            <a:r>
              <a:rPr sz="1300" b="0">
                <a:solidFill>
                  <a:srgbClr val="000000"/>
                </a:solidFill>
                <a:latin typeface="Source Code Pro"/>
              </a:rPr>
              <a:t>Who it's for (write a real person's name): ___</a:t>
            </a:r>
          </a:p>
          <a:p>
            <a:pPr algn="l">
              <a:lnSpc>
                <a:spcPct val="155000"/>
              </a:lnSpc>
            </a:pPr>
            <a:r>
              <a:rPr sz="1300" b="0">
                <a:solidFill>
                  <a:srgbClr val="000000"/>
                </a:solidFill>
                <a:latin typeface="Source Code Pro"/>
              </a:rPr>
              <a:t>Sense: ___  -&gt;  Logic: ___  -&gt;  Output: ___</a:t>
            </a:r>
          </a:p>
          <a:p>
            <a:pPr algn="l">
              <a:lnSpc>
                <a:spcPct val="155000"/>
              </a:lnSpc>
            </a:pPr>
            <a:r>
              <a:rPr sz="1300" b="0">
                <a:solidFill>
                  <a:srgbClr val="000000"/>
                </a:solidFill>
                <a:latin typeface="Source Code Pro"/>
              </a:rPr>
              <a:t>Modules I'll use (tick the onboard ones; circle the parts-box extras if you have one): ___</a:t>
            </a:r>
          </a:p>
        </p:txBody>
      </p:sp>
      <p:sp>
        <p:nvSpPr>
          <p:cNvPr id="8" name="TextBox 7"/>
          <p:cNvSpPr txBox="1"/>
          <p:nvPr/>
        </p:nvSpPr>
        <p:spPr>
          <a:xfrm>
            <a:off x="566928" y="3154680"/>
            <a:ext cx="8010144" cy="365760"/>
          </a:xfrm>
          <a:prstGeom prst="rect">
            <a:avLst/>
          </a:prstGeom>
          <a:noFill/>
        </p:spPr>
        <p:txBody>
          <a:bodyPr wrap="square" anchor="t" lIns="0" rIns="0" tIns="0" bIns="0">
            <a:spAutoFit/>
          </a:bodyPr>
          <a:lstStyle/>
          <a:p>
            <a:pPr algn="ctr">
              <a:lnSpc>
                <a:spcPct val="100000"/>
              </a:lnSpc>
            </a:pPr>
            <a:r>
              <a:rPr sz="1600" b="1">
                <a:solidFill>
                  <a:srgbClr val="000000"/>
                </a:solidFill>
                <a:latin typeface="Source Han Sans SC"/>
              </a:rPr>
              <a:t>The hourglass runs out — then you build.</a:t>
            </a:r>
          </a:p>
        </p:txBody>
      </p:sp>
      <p:sp>
        <p:nvSpPr>
          <p:cNvPr id="9" name="TextBox 8"/>
          <p:cNvSpPr txBox="1"/>
          <p:nvPr/>
        </p:nvSpPr>
        <p:spPr>
          <a:xfrm>
            <a:off x="566928" y="3566160"/>
            <a:ext cx="8010144" cy="320040"/>
          </a:xfrm>
          <a:prstGeom prst="rect">
            <a:avLst/>
          </a:prstGeom>
          <a:noFill/>
        </p:spPr>
        <p:txBody>
          <a:bodyPr wrap="square" anchor="t" lIns="0" rIns="0" tIns="0" bIns="0">
            <a:spAutoFit/>
          </a:bodyPr>
          <a:lstStyle/>
          <a:p>
            <a:pPr algn="ctr">
              <a:lnSpc>
                <a:spcPct val="100000"/>
              </a:lnSpc>
            </a:pPr>
            <a:r>
              <a:rPr sz="1400" b="0">
                <a:solidFill>
                  <a:srgbClr val="000000"/>
                </a:solidFill>
                <a:latin typeface="Source Han Sans SC"/>
              </a:rPr>
              <a:t>Start, and the build becomes yours as you go.</a:t>
            </a:r>
          </a:p>
        </p:txBody>
      </p:sp>
      <p:sp>
        <p:nvSpPr>
          <p:cNvPr id="10" name="Rectangle 9"/>
          <p:cNvSpPr/>
          <p:nvPr/>
        </p:nvSpPr>
        <p:spPr>
          <a:xfrm>
            <a:off x="566928" y="4069080"/>
            <a:ext cx="8010144" cy="6400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78808"/>
            <a:ext cx="7680960" cy="420623"/>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This design sheet is your design document — building, review, log: everything checks against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18 / 22</a:t>
            </a:r>
          </a:p>
        </p:txBody>
      </p:sp>
      <p:sp>
        <p:nvSpPr>
          <p:cNvPr id="4" name="TextBox 3"/>
          <p:cNvSpPr txBox="1"/>
          <p:nvPr/>
        </p:nvSpPr>
        <p:spPr>
          <a:xfrm>
            <a:off x="566928" y="960120"/>
            <a:ext cx="3108960" cy="1600200"/>
          </a:xfrm>
          <a:prstGeom prst="rect">
            <a:avLst/>
          </a:prstGeom>
          <a:noFill/>
        </p:spPr>
        <p:txBody>
          <a:bodyPr wrap="square" anchor="t" lIns="0" rIns="0" tIns="0" bIns="0">
            <a:spAutoFit/>
          </a:bodyPr>
          <a:lstStyle/>
          <a:p>
            <a:pPr algn="ctr">
              <a:lnSpc>
                <a:spcPct val="100000"/>
              </a:lnSpc>
            </a:pPr>
            <a:r>
              <a:rPr sz="9600" b="1">
                <a:solidFill>
                  <a:srgbClr val="000000"/>
                </a:solidFill>
                <a:latin typeface="Source Han Sans SC"/>
              </a:rPr>
              <a:t>51</a:t>
            </a:r>
          </a:p>
        </p:txBody>
      </p:sp>
      <p:sp>
        <p:nvSpPr>
          <p:cNvPr id="5" name="TextBox 4"/>
          <p:cNvSpPr txBox="1"/>
          <p:nvPr/>
        </p:nvSpPr>
        <p:spPr>
          <a:xfrm>
            <a:off x="566928" y="2633472"/>
            <a:ext cx="3108960" cy="457200"/>
          </a:xfrm>
          <a:prstGeom prst="rect">
            <a:avLst/>
          </a:prstGeom>
          <a:noFill/>
        </p:spPr>
        <p:txBody>
          <a:bodyPr wrap="square" anchor="t" lIns="0" rIns="0" tIns="0" bIns="0">
            <a:spAutoFit/>
          </a:bodyPr>
          <a:lstStyle/>
          <a:p>
            <a:pPr algn="ctr">
              <a:lnSpc>
                <a:spcPct val="100000"/>
              </a:lnSpc>
            </a:pPr>
            <a:r>
              <a:rPr sz="2600" b="1">
                <a:solidFill>
                  <a:srgbClr val="000000"/>
                </a:solidFill>
                <a:latin typeface="Source Han Sans SC"/>
              </a:rPr>
              <a:t>minutes</a:t>
            </a:r>
          </a:p>
        </p:txBody>
      </p:sp>
      <p:sp>
        <p:nvSpPr>
          <p:cNvPr id="6" name="Rectangle 5"/>
          <p:cNvSpPr/>
          <p:nvPr/>
        </p:nvSpPr>
        <p:spPr>
          <a:xfrm>
            <a:off x="3931920" y="137160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40817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4462272" y="1399032"/>
            <a:ext cx="4297680" cy="548640"/>
          </a:xfrm>
          <a:prstGeom prst="rect">
            <a:avLst/>
          </a:prstGeom>
          <a:noFill/>
        </p:spPr>
        <p:txBody>
          <a:bodyPr wrap="square" anchor="t" lIns="0" rIns="0" tIns="0" bIns="0">
            <a:spAutoFit/>
          </a:bodyPr>
          <a:lstStyle/>
          <a:p>
            <a:pPr algn="l">
              <a:lnSpc>
                <a:spcPct val="105000"/>
              </a:lnSpc>
            </a:pPr>
            <a:r>
              <a:rPr sz="1500" b="1">
                <a:solidFill>
                  <a:srgbClr val="000000"/>
                </a:solidFill>
                <a:latin typeface="Source Han Sans SC"/>
              </a:rPr>
              <a:t>One thing at a time</a:t>
            </a:r>
          </a:p>
        </p:txBody>
      </p:sp>
      <p:sp>
        <p:nvSpPr>
          <p:cNvPr id="9" name="Rectangle 8"/>
          <p:cNvSpPr/>
          <p:nvPr/>
        </p:nvSpPr>
        <p:spPr>
          <a:xfrm>
            <a:off x="3931920" y="2029967"/>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066543"/>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1" name="TextBox 10"/>
          <p:cNvSpPr txBox="1"/>
          <p:nvPr/>
        </p:nvSpPr>
        <p:spPr>
          <a:xfrm>
            <a:off x="4462272" y="2057399"/>
            <a:ext cx="4297680" cy="548640"/>
          </a:xfrm>
          <a:prstGeom prst="rect">
            <a:avLst/>
          </a:prstGeom>
          <a:noFill/>
        </p:spPr>
        <p:txBody>
          <a:bodyPr wrap="square" anchor="t" lIns="0" rIns="0" tIns="0" bIns="0">
            <a:spAutoFit/>
          </a:bodyPr>
          <a:lstStyle/>
          <a:p>
            <a:pPr algn="l">
              <a:lnSpc>
                <a:spcPct val="105000"/>
              </a:lnSpc>
            </a:pPr>
            <a:r>
              <a:rPr sz="1500" b="1">
                <a:solidFill>
                  <a:srgbClr val="000000"/>
                </a:solidFill>
                <a:latin typeface="Source Han Sans SC"/>
              </a:rPr>
              <a:t>If it's wrong, add one line</a:t>
            </a:r>
          </a:p>
        </p:txBody>
      </p:sp>
      <p:sp>
        <p:nvSpPr>
          <p:cNvPr id="12" name="Rectangle 11"/>
          <p:cNvSpPr/>
          <p:nvPr/>
        </p:nvSpPr>
        <p:spPr>
          <a:xfrm>
            <a:off x="3931920" y="2688335"/>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2724911"/>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4" name="TextBox 13"/>
          <p:cNvSpPr txBox="1"/>
          <p:nvPr/>
        </p:nvSpPr>
        <p:spPr>
          <a:xfrm>
            <a:off x="4462272" y="2715767"/>
            <a:ext cx="4297680" cy="548640"/>
          </a:xfrm>
          <a:prstGeom prst="rect">
            <a:avLst/>
          </a:prstGeom>
          <a:noFill/>
        </p:spPr>
        <p:txBody>
          <a:bodyPr wrap="square" anchor="t" lIns="0" rIns="0" tIns="0" bIns="0">
            <a:spAutoFit/>
          </a:bodyPr>
          <a:lstStyle/>
          <a:p>
            <a:pPr algn="l">
              <a:lnSpc>
                <a:spcPct val="105000"/>
              </a:lnSpc>
            </a:pPr>
            <a:r>
              <a:rPr sz="1500" b="1">
                <a:solidFill>
                  <a:srgbClr val="000000"/>
                </a:solidFill>
                <a:latin typeface="Source Han Sans SC"/>
              </a:rPr>
              <a:t>Stuck? Ask your AI first, then your neighbor, then raise your hand</a:t>
            </a:r>
          </a:p>
        </p:txBody>
      </p:sp>
      <p:sp>
        <p:nvSpPr>
          <p:cNvPr id="15" name="Rectangle 14"/>
          <p:cNvSpPr/>
          <p:nvPr/>
        </p:nvSpPr>
        <p:spPr>
          <a:xfrm>
            <a:off x="3931920" y="338328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33087" y="3401568"/>
            <a:ext cx="4096512" cy="438912"/>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Cut a small slice and make it solid — directors shoot one scene at a time. Get the link working first, then decorate.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19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000" b="1">
                <a:solidFill>
                  <a:srgbClr val="000000"/>
                </a:solidFill>
                <a:latin typeface="Source Han Sans SC"/>
              </a:rPr>
              <a:t>Review — Ask Someone to Find the Flaws</a:t>
            </a:r>
          </a:p>
        </p:txBody>
      </p:sp>
      <p:sp>
        <p:nvSpPr>
          <p:cNvPr id="6" name="Rectangle 5"/>
          <p:cNvSpPr/>
          <p:nvPr/>
        </p:nvSpPr>
        <p:spPr>
          <a:xfrm>
            <a:off x="566928" y="1188720"/>
            <a:ext cx="4937760" cy="12344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298448"/>
            <a:ext cx="4608576" cy="1051560"/>
          </a:xfrm>
          <a:prstGeom prst="rect">
            <a:avLst/>
          </a:prstGeom>
          <a:noFill/>
        </p:spPr>
        <p:txBody>
          <a:bodyPr wrap="square" anchor="t" lIns="0" rIns="0" tIns="0" bIns="0">
            <a:spAutoFit/>
          </a:bodyPr>
          <a:lstStyle/>
          <a:p>
            <a:pPr algn="l">
              <a:lnSpc>
                <a:spcPct val="135000"/>
              </a:lnSpc>
            </a:pPr>
            <a:r>
              <a:rPr sz="1150" b="0">
                <a:solidFill>
                  <a:srgbClr val="000000"/>
                </a:solidFill>
                <a:latin typeface="Source Code Pro"/>
              </a:rPr>
              <a:t>Please play ___ (the real name on your</a:t>
            </a:r>
          </a:p>
          <a:p>
            <a:pPr algn="l">
              <a:lnSpc>
                <a:spcPct val="135000"/>
              </a:lnSpc>
            </a:pPr>
            <a:r>
              <a:rPr sz="1150" b="0">
                <a:solidFill>
                  <a:srgbClr val="000000"/>
                </a:solidFill>
                <a:latin typeface="Source Code Pro"/>
              </a:rPr>
              <a:t>design sheet).</a:t>
            </a:r>
          </a:p>
          <a:p>
            <a:pPr algn="l">
              <a:lnSpc>
                <a:spcPct val="135000"/>
              </a:lnSpc>
            </a:pPr>
            <a:r>
              <a:rPr sz="1150" b="1">
                <a:solidFill>
                  <a:srgbClr val="000000"/>
                </a:solidFill>
                <a:latin typeface="Source Code Pro"/>
              </a:rPr>
              <a:t>Find exactly ONE flaw in my project.</a:t>
            </a:r>
          </a:p>
          <a:p>
            <a:pPr algn="l">
              <a:lnSpc>
                <a:spcPct val="135000"/>
              </a:lnSpc>
            </a:pPr>
            <a:r>
              <a:rPr sz="1150" b="1">
                <a:solidFill>
                  <a:srgbClr val="000000"/>
                </a:solidFill>
                <a:latin typeface="Source Code Pro"/>
              </a:rPr>
              <a:t>Just one.</a:t>
            </a:r>
          </a:p>
        </p:txBody>
      </p:sp>
      <p:sp>
        <p:nvSpPr>
          <p:cNvPr id="8" name="Rectangle 7"/>
          <p:cNvSpPr/>
          <p:nvPr/>
        </p:nvSpPr>
        <p:spPr>
          <a:xfrm>
            <a:off x="5669280" y="1188720"/>
            <a:ext cx="2907792" cy="123444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15584" y="1298448"/>
            <a:ext cx="2615184" cy="1051560"/>
          </a:xfrm>
          <a:prstGeom prst="rect">
            <a:avLst/>
          </a:prstGeom>
          <a:noFill/>
        </p:spPr>
        <p:txBody>
          <a:bodyPr wrap="square" anchor="t" lIns="0" rIns="0" tIns="0" bIns="0">
            <a:spAutoFit/>
          </a:bodyPr>
          <a:lstStyle/>
          <a:p>
            <a:pPr algn="ctr">
              <a:lnSpc>
                <a:spcPct val="130000"/>
              </a:lnSpc>
            </a:pPr>
            <a:r>
              <a:rPr sz="1050" b="1">
                <a:solidFill>
                  <a:srgbClr val="000000"/>
                </a:solidFill>
                <a:latin typeface="Source Han Sans SC"/>
              </a:rPr>
              <a:t>[ demo</a:t>
            </a:r>
          </a:p>
          <a:p>
            <a:pPr algn="ctr">
              <a:lnSpc>
                <a:spcPct val="130000"/>
              </a:lnSpc>
            </a:pPr>
            <a:r>
              <a:rPr sz="1050" b="1">
                <a:solidFill>
                  <a:srgbClr val="000000"/>
                </a:solidFill>
                <a:latin typeface="Source Han Sans SC"/>
              </a:rPr>
              <a:t>screenshot ]</a:t>
            </a:r>
          </a:p>
          <a:p>
            <a:pPr algn="ctr">
              <a:lnSpc>
                <a:spcPct val="130000"/>
              </a:lnSpc>
            </a:pPr>
            <a:r>
              <a:rPr sz="950" b="0">
                <a:solidFill>
                  <a:srgbClr val="000000"/>
                </a:solidFill>
                <a:latin typeface="Source Han Sans SC"/>
              </a:rPr>
              <a:t>AI plays "my mom, someone who's</a:t>
            </a:r>
          </a:p>
          <a:p>
            <a:pPr algn="ctr">
              <a:lnSpc>
                <a:spcPct val="130000"/>
              </a:lnSpc>
            </a:pPr>
            <a:r>
              <a:rPr sz="950" b="0">
                <a:solidFill>
                  <a:srgbClr val="000000"/>
                </a:solidFill>
                <a:latin typeface="Source Han Sans SC"/>
              </a:rPr>
              <a:t>not great with electronics"</a:t>
            </a:r>
          </a:p>
          <a:p>
            <a:pPr algn="ctr">
              <a:lnSpc>
                <a:spcPct val="130000"/>
              </a:lnSpc>
            </a:pPr>
            <a:r>
              <a:rPr sz="950" b="0">
                <a:solidFill>
                  <a:srgbClr val="000000"/>
                </a:solidFill>
                <a:latin typeface="Source Han Sans SC"/>
              </a:rPr>
              <a:t>-&gt; finds one flaw</a:t>
            </a:r>
          </a:p>
        </p:txBody>
      </p:sp>
      <p:sp>
        <p:nvSpPr>
          <p:cNvPr id="10" name="Rectangle 9"/>
          <p:cNvSpPr/>
          <p:nvPr/>
        </p:nvSpPr>
        <p:spPr>
          <a:xfrm>
            <a:off x="566928" y="2606040"/>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642616"/>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12" name="TextBox 11"/>
          <p:cNvSpPr txBox="1"/>
          <p:nvPr/>
        </p:nvSpPr>
        <p:spPr>
          <a:xfrm>
            <a:off x="969264" y="2624328"/>
            <a:ext cx="7589520" cy="502920"/>
          </a:xfrm>
          <a:prstGeom prst="rect">
            <a:avLst/>
          </a:prstGeom>
          <a:noFill/>
        </p:spPr>
        <p:txBody>
          <a:bodyPr wrap="square" anchor="t" lIns="0" rIns="0" tIns="0" bIns="0">
            <a:spAutoFit/>
          </a:bodyPr>
          <a:lstStyle/>
          <a:p>
            <a:pPr algn="l">
              <a:lnSpc>
                <a:spcPct val="110000"/>
              </a:lnSpc>
            </a:pPr>
            <a:r>
              <a:rPr sz="1350" b="1">
                <a:solidFill>
                  <a:srgbClr val="000000"/>
                </a:solidFill>
                <a:latin typeface="Source Han Sans SC"/>
              </a:rPr>
              <a:t>Exactly one flaw — the first review must be "useful and painless"</a:t>
            </a:r>
          </a:p>
        </p:txBody>
      </p:sp>
      <p:sp>
        <p:nvSpPr>
          <p:cNvPr id="13" name="Rectangle 12"/>
          <p:cNvSpPr/>
          <p:nvPr/>
        </p:nvSpPr>
        <p:spPr>
          <a:xfrm>
            <a:off x="566928" y="3200400"/>
            <a:ext cx="329184" cy="3291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236976"/>
            <a:ext cx="329184"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5" name="TextBox 14"/>
          <p:cNvSpPr txBox="1"/>
          <p:nvPr/>
        </p:nvSpPr>
        <p:spPr>
          <a:xfrm>
            <a:off x="969264" y="3218688"/>
            <a:ext cx="7589520" cy="50292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Review isn't abstract fault-finding — it's finding flaws for that one real person</a:t>
            </a:r>
          </a:p>
        </p:txBody>
      </p:sp>
      <p:sp>
        <p:nvSpPr>
          <p:cNvPr id="16" name="TextBox 15"/>
          <p:cNvSpPr txBox="1"/>
          <p:nvPr/>
        </p:nvSpPr>
        <p:spPr>
          <a:xfrm>
            <a:off x="566928" y="3886200"/>
            <a:ext cx="8010144" cy="502920"/>
          </a:xfrm>
          <a:prstGeom prst="rect">
            <a:avLst/>
          </a:prstGeom>
          <a:noFill/>
        </p:spPr>
        <p:txBody>
          <a:bodyPr wrap="square" anchor="t" lIns="0" rIns="0" tIns="0" bIns="0">
            <a:spAutoFit/>
          </a:bodyPr>
          <a:lstStyle/>
          <a:p>
            <a:pPr algn="ctr">
              <a:lnSpc>
                <a:spcPct val="100000"/>
              </a:lnSpc>
            </a:pPr>
            <a:r>
              <a:rPr sz="1100" b="0">
                <a:solidFill>
                  <a:srgbClr val="000000"/>
                </a:solidFill>
                <a:latin typeface="Source Han Sans SC"/>
              </a:rPr>
              <a:t>(small)  "The Picky User" gets expanded in Lesson 4 — today, project and use it; that's enough.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20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You've Got the Flaw — Now Make a Decision</a:t>
            </a:r>
          </a:p>
        </p:txBody>
      </p:sp>
      <p:sp>
        <p:nvSpPr>
          <p:cNvPr id="6" name="Rectangle 5"/>
          <p:cNvSpPr/>
          <p:nvPr/>
        </p:nvSpPr>
        <p:spPr>
          <a:xfrm>
            <a:off x="566928" y="1280160"/>
            <a:ext cx="3749039" cy="9601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3419856"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CHANGE IT</a:t>
            </a:r>
          </a:p>
        </p:txBody>
      </p:sp>
      <p:sp>
        <p:nvSpPr>
          <p:cNvPr id="8" name="TextBox 7"/>
          <p:cNvSpPr txBox="1"/>
          <p:nvPr/>
        </p:nvSpPr>
        <p:spPr>
          <a:xfrm>
            <a:off x="731520" y="1783080"/>
            <a:ext cx="3419856" cy="32004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do it right now</a:t>
            </a:r>
          </a:p>
        </p:txBody>
      </p:sp>
      <p:sp>
        <p:nvSpPr>
          <p:cNvPr id="9" name="Rectangle 8"/>
          <p:cNvSpPr/>
          <p:nvPr/>
        </p:nvSpPr>
        <p:spPr>
          <a:xfrm>
            <a:off x="4645152" y="1280160"/>
            <a:ext cx="3749039"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9744" y="1417320"/>
            <a:ext cx="3419856" cy="320040"/>
          </a:xfrm>
          <a:prstGeom prst="rect">
            <a:avLst/>
          </a:prstGeom>
          <a:noFill/>
        </p:spPr>
        <p:txBody>
          <a:bodyPr wrap="square" anchor="t" lIns="0" rIns="0" tIns="0" bIns="0">
            <a:spAutoFit/>
          </a:bodyPr>
          <a:lstStyle/>
          <a:p>
            <a:pPr algn="l">
              <a:lnSpc>
                <a:spcPct val="100000"/>
              </a:lnSpc>
            </a:pPr>
            <a:r>
              <a:rPr sz="1700" b="1">
                <a:solidFill>
                  <a:srgbClr val="000000"/>
                </a:solidFill>
                <a:latin typeface="Source Han Sans SC"/>
              </a:rPr>
              <a:t>DON'T CHANGE IT</a:t>
            </a:r>
          </a:p>
        </p:txBody>
      </p:sp>
      <p:sp>
        <p:nvSpPr>
          <p:cNvPr id="11" name="TextBox 10"/>
          <p:cNvSpPr txBox="1"/>
          <p:nvPr/>
        </p:nvSpPr>
        <p:spPr>
          <a:xfrm>
            <a:off x="4809744" y="1783080"/>
            <a:ext cx="3419856" cy="320040"/>
          </a:xfrm>
          <a:prstGeom prst="rect">
            <a:avLst/>
          </a:prstGeom>
          <a:noFill/>
        </p:spPr>
        <p:txBody>
          <a:bodyPr wrap="square" anchor="t" lIns="0" rIns="0" tIns="0" bIns="0">
            <a:spAutoFit/>
          </a:bodyPr>
          <a:lstStyle/>
          <a:p>
            <a:pPr algn="l">
              <a:lnSpc>
                <a:spcPct val="100000"/>
              </a:lnSpc>
            </a:pPr>
            <a:r>
              <a:rPr sz="1350" b="0">
                <a:solidFill>
                  <a:srgbClr val="000000"/>
                </a:solidFill>
                <a:latin typeface="Source Han Sans SC"/>
              </a:rPr>
              <a:t>tell your neighbor why</a:t>
            </a:r>
          </a:p>
        </p:txBody>
      </p:sp>
      <p:sp>
        <p:nvSpPr>
          <p:cNvPr id="12" name="Rectangle 11"/>
          <p:cNvSpPr/>
          <p:nvPr/>
        </p:nvSpPr>
        <p:spPr>
          <a:xfrm>
            <a:off x="566928" y="2514600"/>
            <a:ext cx="54864" cy="47548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532888"/>
            <a:ext cx="7808975" cy="438912"/>
          </a:xfrm>
          <a:prstGeom prst="rect">
            <a:avLst/>
          </a:prstGeom>
          <a:noFill/>
        </p:spPr>
        <p:txBody>
          <a:bodyPr wrap="square" anchor="t" lIns="0" rIns="0" tIns="0" bIns="0">
            <a:spAutoFit/>
          </a:bodyPr>
          <a:lstStyle/>
          <a:p>
            <a:pPr algn="l">
              <a:lnSpc>
                <a:spcPct val="115000"/>
              </a:lnSpc>
            </a:pPr>
            <a:r>
              <a:rPr sz="1600" b="0">
                <a:solidFill>
                  <a:srgbClr val="000000"/>
                </a:solidFill>
                <a:latin typeface="Source Han Sans SC"/>
              </a:rPr>
              <a:t>Accepting earns credit — and so does rejecting, as long as the reason is yours.</a:t>
            </a:r>
          </a:p>
        </p:txBody>
      </p:sp>
      <p:sp>
        <p:nvSpPr>
          <p:cNvPr id="14" name="Rectangle 13"/>
          <p:cNvSpPr/>
          <p:nvPr/>
        </p:nvSpPr>
        <p:spPr>
          <a:xfrm>
            <a:off x="566928" y="3200400"/>
            <a:ext cx="8010144"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10128"/>
            <a:ext cx="76809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Write it down:</a:t>
            </a:r>
          </a:p>
        </p:txBody>
      </p:sp>
      <p:sp>
        <p:nvSpPr>
          <p:cNvPr id="16" name="TextBox 15"/>
          <p:cNvSpPr txBox="1"/>
          <p:nvPr/>
        </p:nvSpPr>
        <p:spPr>
          <a:xfrm>
            <a:off x="731520" y="3639312"/>
            <a:ext cx="7680960" cy="283463"/>
          </a:xfrm>
          <a:prstGeom prst="rect">
            <a:avLst/>
          </a:prstGeom>
          <a:noFill/>
        </p:spPr>
        <p:txBody>
          <a:bodyPr wrap="square" anchor="t" lIns="0" rIns="0" tIns="0" bIns="0">
            <a:spAutoFit/>
          </a:bodyPr>
          <a:lstStyle/>
          <a:p>
            <a:pPr algn="l">
              <a:lnSpc>
                <a:spcPct val="125000"/>
              </a:lnSpc>
            </a:pPr>
            <a:r>
              <a:rPr sz="1350" b="0">
                <a:solidFill>
                  <a:srgbClr val="000000"/>
                </a:solidFill>
                <a:latin typeface="Source Han Sans SC"/>
              </a:rPr>
              <a:t>Write one line in your workbook:</a:t>
            </a:r>
          </a:p>
          <a:p>
            <a:pPr algn="l">
              <a:lnSpc>
                <a:spcPct val="125000"/>
              </a:lnSpc>
            </a:pPr>
            <a:r>
              <a:rPr sz="1350" b="0">
                <a:solidFill>
                  <a:srgbClr val="000000"/>
                </a:solidFill>
                <a:latin typeface="Source Han Sans SC"/>
              </a:rPr>
              <a:t>"I accepted/rejected AI's suggestion, because ___."</a:t>
            </a:r>
          </a:p>
        </p:txBody>
      </p:sp>
      <p:sp>
        <p:nvSpPr>
          <p:cNvPr id="17" name="TextBox 16"/>
          <p:cNvSpPr txBox="1"/>
          <p:nvPr/>
        </p:nvSpPr>
        <p:spPr>
          <a:xfrm>
            <a:off x="566928" y="4251960"/>
            <a:ext cx="8010144" cy="320040"/>
          </a:xfrm>
          <a:prstGeom prst="rect">
            <a:avLst/>
          </a:prstGeom>
          <a:noFill/>
        </p:spPr>
        <p:txBody>
          <a:bodyPr wrap="square" anchor="t" lIns="0" rIns="0" tIns="0" bIns="0">
            <a:spAutoFit/>
          </a:bodyPr>
          <a:lstStyle/>
          <a:p>
            <a:pPr algn="ctr">
              <a:lnSpc>
                <a:spcPct val="100000"/>
              </a:lnSpc>
            </a:pPr>
            <a:r>
              <a:rPr sz="1500" b="1">
                <a:solidFill>
                  <a:srgbClr val="000000"/>
                </a:solidFill>
                <a:latin typeface="Source Han Sans SC"/>
              </a:rPr>
              <a:t>Your proof of being the director.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21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Flash Show &amp; Tell + Your AI Log</a:t>
            </a:r>
          </a:p>
        </p:txBody>
      </p:sp>
      <p:sp>
        <p:nvSpPr>
          <p:cNvPr id="6" name="TextBox 5"/>
          <p:cNvSpPr txBox="1"/>
          <p:nvPr/>
        </p:nvSpPr>
        <p:spPr>
          <a:xfrm>
            <a:off x="566928" y="1170432"/>
            <a:ext cx="8010144" cy="502920"/>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Show &amp; tell: in your table, 30 seconds each — demo your build, say one line: "what AI found, and whether I changed it"</a:t>
            </a:r>
          </a:p>
        </p:txBody>
      </p:sp>
      <p:sp>
        <p:nvSpPr>
          <p:cNvPr id="7" name="TextBox 6"/>
          <p:cNvSpPr txBox="1"/>
          <p:nvPr/>
        </p:nvSpPr>
        <p:spPr>
          <a:xfrm>
            <a:off x="566928" y="1783080"/>
            <a:ext cx="8010144" cy="274320"/>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Your log, four sentences:</a:t>
            </a:r>
          </a:p>
        </p:txBody>
      </p:sp>
      <p:sp>
        <p:nvSpPr>
          <p:cNvPr id="8" name="Oval 7"/>
          <p:cNvSpPr/>
          <p:nvPr/>
        </p:nvSpPr>
        <p:spPr>
          <a:xfrm>
            <a:off x="658368" y="219456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03120"/>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Today I made ___</a:t>
            </a:r>
          </a:p>
        </p:txBody>
      </p:sp>
      <p:sp>
        <p:nvSpPr>
          <p:cNvPr id="10" name="Oval 9"/>
          <p:cNvSpPr/>
          <p:nvPr/>
        </p:nvSpPr>
        <p:spPr>
          <a:xfrm>
            <a:off x="658368" y="248716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95727"/>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I got stuck on ___</a:t>
            </a:r>
          </a:p>
        </p:txBody>
      </p:sp>
      <p:sp>
        <p:nvSpPr>
          <p:cNvPr id="12" name="Oval 11"/>
          <p:cNvSpPr/>
          <p:nvPr/>
        </p:nvSpPr>
        <p:spPr>
          <a:xfrm>
            <a:off x="658368" y="2779775"/>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688335"/>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Then ___  (today's "then": include how you handled the flaw)</a:t>
            </a:r>
          </a:p>
        </p:txBody>
      </p:sp>
      <p:sp>
        <p:nvSpPr>
          <p:cNvPr id="14" name="Oval 13"/>
          <p:cNvSpPr/>
          <p:nvPr/>
        </p:nvSpPr>
        <p:spPr>
          <a:xfrm>
            <a:off x="658368" y="3072383"/>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980943"/>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Next time I want ___</a:t>
            </a:r>
          </a:p>
        </p:txBody>
      </p:sp>
      <p:sp>
        <p:nvSpPr>
          <p:cNvPr id="16" name="TextBox 15"/>
          <p:cNvSpPr txBox="1"/>
          <p:nvPr/>
        </p:nvSpPr>
        <p:spPr>
          <a:xfrm>
            <a:off x="566928" y="3337560"/>
            <a:ext cx="8010144"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Say it, then send it to AI with one more line:</a:t>
            </a:r>
          </a:p>
        </p:txBody>
      </p:sp>
      <p:sp>
        <p:nvSpPr>
          <p:cNvPr id="17" name="Rectangle 16"/>
          <p:cNvSpPr/>
          <p:nvPr/>
        </p:nvSpPr>
        <p:spPr>
          <a:xfrm>
            <a:off x="566928" y="3611880"/>
            <a:ext cx="8010144" cy="4572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703320"/>
            <a:ext cx="7680960" cy="274320"/>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"Tidy this into a learning log — only what I said, nothing I didn't say."</a:t>
            </a:r>
          </a:p>
        </p:txBody>
      </p:sp>
      <p:sp>
        <p:nvSpPr>
          <p:cNvPr id="19" name="Rectangle 18"/>
          <p:cNvSpPr/>
          <p:nvPr/>
        </p:nvSpPr>
        <p:spPr>
          <a:xfrm>
            <a:off x="566928" y="4206240"/>
            <a:ext cx="54864" cy="77724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4315968"/>
            <a:ext cx="100584" cy="100584"/>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261103"/>
            <a:ext cx="7507223" cy="320040"/>
          </a:xfrm>
          <a:prstGeom prst="rect">
            <a:avLst/>
          </a:prstGeom>
          <a:noFill/>
        </p:spPr>
        <p:txBody>
          <a:bodyPr wrap="square" anchor="t" lIns="0" rIns="0" tIns="0" bIns="0">
            <a:spAutoFit/>
          </a:bodyPr>
          <a:lstStyle/>
          <a:p>
            <a:pPr algn="l">
              <a:lnSpc>
                <a:spcPct val="100000"/>
              </a:lnSpc>
            </a:pPr>
            <a:r>
              <a:rPr sz="2000" b="1">
                <a:solidFill>
                  <a:srgbClr val="000000"/>
                </a:solidFill>
                <a:latin typeface="Source Han Sans SC"/>
              </a:rPr>
              <a:t>Warning</a:t>
            </a:r>
          </a:p>
        </p:txBody>
      </p:sp>
      <p:sp>
        <p:nvSpPr>
          <p:cNvPr id="22" name="TextBox 21"/>
          <p:cNvSpPr txBox="1"/>
          <p:nvPr/>
        </p:nvSpPr>
        <p:spPr>
          <a:xfrm>
            <a:off x="932688" y="4608576"/>
            <a:ext cx="7507223" cy="320040"/>
          </a:xfrm>
          <a:prstGeom prst="rect">
            <a:avLst/>
          </a:prstGeom>
          <a:noFill/>
        </p:spPr>
        <p:txBody>
          <a:bodyPr wrap="square" anchor="t" lIns="0" rIns="0" tIns="0" bIns="0">
            <a:spAutoFit/>
          </a:bodyPr>
          <a:lstStyle/>
          <a:p>
            <a:pPr algn="l">
              <a:lnSpc>
                <a:spcPct val="115000"/>
              </a:lnSpc>
            </a:pPr>
            <a:r>
              <a:rPr sz="1300" b="0">
                <a:solidFill>
                  <a:srgbClr val="000000"/>
                </a:solidFill>
                <a:latin typeface="Source Han Sans SC"/>
              </a:rPr>
              <a:t>AI will make things up with a straight face. Proofreading is your job.</a:t>
            </a:r>
          </a:p>
        </p:txBody>
      </p:sp>
      <p:sp>
        <p:nvSpPr>
          <p:cNvPr id="23" name="TextBox 22"/>
          <p:cNvSpPr txBox="1"/>
          <p:nvPr/>
        </p:nvSpPr>
        <p:spPr>
          <a:xfrm>
            <a:off x="5029200" y="1170432"/>
            <a:ext cx="3566160" cy="45720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(small) Take one photo — your build and your design sheet together. Two pieces of paper, one board — all made by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Find a Problem Worth Solving | 22 / 22</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200" b="1">
                <a:solidFill>
                  <a:srgbClr val="000000"/>
                </a:solidFill>
                <a:latin typeface="Source Han Sans SC"/>
              </a:rPr>
              <a:t>Six Skills — Today You Practiced Three</a:t>
            </a:r>
          </a:p>
        </p:txBody>
      </p:sp>
      <p:sp>
        <p:nvSpPr>
          <p:cNvPr id="6" name="Rectangle 5"/>
          <p:cNvSpPr/>
          <p:nvPr/>
        </p:nvSpPr>
        <p:spPr>
          <a:xfrm>
            <a:off x="566928" y="123444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7101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8" name="TextBox 7"/>
          <p:cNvSpPr txBox="1"/>
          <p:nvPr/>
        </p:nvSpPr>
        <p:spPr>
          <a:xfrm>
            <a:off x="1097280" y="1216152"/>
            <a:ext cx="274320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Spot a problem</a:t>
            </a:r>
          </a:p>
        </p:txBody>
      </p:sp>
      <p:sp>
        <p:nvSpPr>
          <p:cNvPr id="9" name="TextBox 8"/>
          <p:cNvSpPr txBox="1"/>
          <p:nvPr/>
        </p:nvSpPr>
        <p:spPr>
          <a:xfrm>
            <a:off x="1097280" y="1490472"/>
            <a:ext cx="7223760"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from 10 ideas you fixed your own topic and said who it's for</a:t>
            </a:r>
          </a:p>
        </p:txBody>
      </p:sp>
      <p:sp>
        <p:nvSpPr>
          <p:cNvPr id="10" name="Rectangle 9"/>
          <p:cNvSpPr/>
          <p:nvPr/>
        </p:nvSpPr>
        <p:spPr>
          <a:xfrm>
            <a:off x="566928" y="1892808"/>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29384"/>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2" name="TextBox 11"/>
          <p:cNvSpPr txBox="1"/>
          <p:nvPr/>
        </p:nvSpPr>
        <p:spPr>
          <a:xfrm>
            <a:off x="1097280" y="1874520"/>
            <a:ext cx="274320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Build it</a:t>
            </a:r>
          </a:p>
        </p:txBody>
      </p:sp>
      <p:sp>
        <p:nvSpPr>
          <p:cNvPr id="13" name="TextBox 12"/>
          <p:cNvSpPr txBox="1"/>
          <p:nvPr/>
        </p:nvSpPr>
        <p:spPr>
          <a:xfrm>
            <a:off x="1097280" y="2148840"/>
            <a:ext cx="7223760"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you directed AI to make your first combination build</a:t>
            </a:r>
          </a:p>
        </p:txBody>
      </p:sp>
      <p:sp>
        <p:nvSpPr>
          <p:cNvPr id="14" name="Rectangle 13"/>
          <p:cNvSpPr/>
          <p:nvPr/>
        </p:nvSpPr>
        <p:spPr>
          <a:xfrm>
            <a:off x="566928" y="2551176"/>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2"/>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6" name="TextBox 15"/>
          <p:cNvSpPr txBox="1"/>
          <p:nvPr/>
        </p:nvSpPr>
        <p:spPr>
          <a:xfrm>
            <a:off x="1097280" y="2532888"/>
            <a:ext cx="2743200"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Make trade-offs</a:t>
            </a:r>
          </a:p>
        </p:txBody>
      </p:sp>
      <p:sp>
        <p:nvSpPr>
          <p:cNvPr id="17" name="TextBox 16"/>
          <p:cNvSpPr txBox="1"/>
          <p:nvPr/>
        </p:nvSpPr>
        <p:spPr>
          <a:xfrm>
            <a:off x="1097280" y="2807208"/>
            <a:ext cx="7223760" cy="27432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the first "change it or not" decision of your life</a:t>
            </a:r>
          </a:p>
        </p:txBody>
      </p:sp>
      <p:sp>
        <p:nvSpPr>
          <p:cNvPr id="18" name="TextBox 17"/>
          <p:cNvSpPr txBox="1"/>
          <p:nvPr/>
        </p:nvSpPr>
        <p:spPr>
          <a:xfrm>
            <a:off x="566928" y="3291840"/>
            <a:ext cx="8010144" cy="292608"/>
          </a:xfrm>
          <a:prstGeom prst="rect">
            <a:avLst/>
          </a:prstGeom>
          <a:noFill/>
        </p:spPr>
        <p:txBody>
          <a:bodyPr wrap="square" anchor="t" lIns="0" rIns="0" tIns="0" bIns="0">
            <a:spAutoFit/>
          </a:bodyPr>
          <a:lstStyle/>
          <a:p>
            <a:pPr algn="ctr">
              <a:lnSpc>
                <a:spcPct val="100000"/>
              </a:lnSpc>
            </a:pPr>
            <a:r>
              <a:rPr sz="1300" b="1">
                <a:solidFill>
                  <a:srgbClr val="000000"/>
                </a:solidFill>
                <a:latin typeface="Source Han Sans SC"/>
              </a:rPr>
              <a:t>NEXT TIME</a:t>
            </a:r>
          </a:p>
        </p:txBody>
      </p:sp>
      <p:sp>
        <p:nvSpPr>
          <p:cNvPr id="19" name="Rectangle 18"/>
          <p:cNvSpPr/>
          <p:nvPr/>
        </p:nvSpPr>
        <p:spPr>
          <a:xfrm>
            <a:off x="566928" y="3611880"/>
            <a:ext cx="8010144" cy="10058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721608"/>
            <a:ext cx="7680960" cy="786384"/>
          </a:xfrm>
          <a:prstGeom prst="rect">
            <a:avLst/>
          </a:prstGeom>
          <a:noFill/>
        </p:spPr>
        <p:txBody>
          <a:bodyPr wrap="square" anchor="t" lIns="0" rIns="0" tIns="0" bIns="0">
            <a:spAutoFit/>
          </a:bodyPr>
          <a:lstStyle/>
          <a:p>
            <a:pPr algn="l">
              <a:lnSpc>
                <a:spcPct val="125000"/>
              </a:lnSpc>
            </a:pPr>
            <a:r>
              <a:rPr sz="1400" b="0">
                <a:solidFill>
                  <a:srgbClr val="000000"/>
                </a:solidFill>
                <a:latin typeface="Source Han Sans SC"/>
              </a:rPr>
              <a:t>Lesson 3: Give Your Project a Screen</a:t>
            </a:r>
          </a:p>
          <a:p>
            <a:pPr algn="l">
              <a:lnSpc>
                <a:spcPct val="125000"/>
              </a:lnSpc>
            </a:pPr>
            <a:r>
              <a:rPr sz="1400" b="0">
                <a:solidFill>
                  <a:srgbClr val="000000"/>
                </a:solidFill>
                <a:latin typeface="Source Han Sans SC"/>
              </a:rPr>
              <a:t>New gear: the Wio Terminal — a handheld with a color screen</a:t>
            </a:r>
          </a:p>
        </p:txBody>
      </p:sp>
      <p:sp>
        <p:nvSpPr>
          <p:cNvPr id="21" name="TextBox 20"/>
          <p:cNvSpPr txBox="1"/>
          <p:nvPr/>
        </p:nvSpPr>
        <p:spPr>
          <a:xfrm>
            <a:off x="566928" y="4663440"/>
            <a:ext cx="8010144" cy="256032"/>
          </a:xfrm>
          <a:prstGeom prst="rect">
            <a:avLst/>
          </a:prstGeom>
          <a:noFill/>
        </p:spPr>
        <p:txBody>
          <a:bodyPr wrap="square" anchor="t" lIns="0" rIns="0" tIns="0" bIns="0">
            <a:spAutoFit/>
          </a:bodyPr>
          <a:lstStyle/>
          <a:p>
            <a:pPr algn="ctr">
              <a:lnSpc>
                <a:spcPct val="100000"/>
              </a:lnSpc>
            </a:pPr>
            <a:r>
              <a:rPr sz="1050" b="0">
                <a:solidFill>
                  <a:srgbClr val="000000"/>
                </a:solidFill>
                <a:latin typeface="Source Han Sans SC"/>
              </a:rPr>
              <a:t>Bring your topic. After class: online docs get links, handwritten gets photographed — you'll need it at the start of Lesson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