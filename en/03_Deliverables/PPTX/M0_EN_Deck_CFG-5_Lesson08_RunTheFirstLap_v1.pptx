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page only; students see it as they sit down. No script. When the session starts, go straight to slide 02 — the opener's 30-second look-back is spoken, not projected. Right side: the baton illustration (the CN deck's IMG-01-01 — reused because it carries no Chinese glyphs); yellow rule under the subtitle. Footer: Chaihuo Maker Academy · M0 · Run the First Lap | 08 / 42.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30-second look-back: last session, your project got its brief — the requirements sheet is in your workbook, the core feature is down to one, and what got cut keeps its name. The session before, your project moved into your own computer — from tenant to owner — and for the first time you saw what lives inside the code AI writes. From today, the course shifts gear. Before, you followed me; from today, I only circulate. I don't teach. What comes next is the marathon — three legs. Leg one (today): build your project's MVP. Leg two (Lesson 9): bring in the help — new modules, new libraries, and the MVP grows new abilities. Leg three (Lesson 10): the final polish — out to the showcase to meet people. Every leg runs the same rhythm: stand-up → build → AI review → decide → handoff. Run all three legs, and your project has grown up. This page is the first golden-line peak — big type, wide white space, the three legs as the visual spine.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What's an MVP? It's engineer slang for minimum viable product — the smallest version you can put on the table and demonstrate. Careful: it's not a half-finished thing. Half-finished is 'made half of it.' MVP is 'minimal but one complete loop' — it senses something, then it reacts, start to finish, once. All the features on your requirements sheet? Not today. Today is only the smallest loop. Remember Neil's spiral development? Today is lap one. 'What if I don't finish?' → 'The first version is only the smallest closed loop. Everything else on the sheet is sleeping soundly on the later list.' The two NOT lines sell the definition by contrast — the 'half-finished' line is the commonest misunderstanding.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Remember Brandy from the kickoff session? Li Shiwen, Seeed's application engineer — the one who built a voice keyboard with zero code. Look at her first version — it had one key. One. And the acceptance standard was a single line: 20 presses in a row, not one missed. Doesn't pass? No new features. Passes? Then the second key goes in. She uses that keyboard every day now. That's a professional engineer's MVP: minimal, but a complete loop, with an acceptance standard stated out loud. Minimal is not crude — it's professional. Your first loop is the same: don't grab for more. Walk it through once. Twenty presses, not one missed. 'Does one key really count as a project?' → 'Yes. She verified the hardest segment first — your first loop verifies your hardest segment first, too.' This page is a V4 addition the CN v2 plan never had — the reason Act 1 is 7 pages. Keep it to one minute; the golden line is the payload.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rules. One: check against your requirements sheet — changing it is allowed, cross it out, don't erase. Two: 15 minutes with no progress = raise your hand. Stuck is not shameful; toughing it out silently is. Three: code questions go to your AI first. I and the TAs answer direction only and rescue the stuck only. The red line is the deck's first red — the survival rule. After reading, do NOT flip away — this page stays up for the whole build (115 min); slides 08/09/10/11 are temporary cut-ins that return here. Largest type in the deck — readable from the back row. Rule two is rendered entirely in red. A student quietly changes the sheet and adds features during the build → point at the projected rule, no scolding: 'Change is allowed — cross it out, don't erase. But ask first: does it serve the core feature? No? It goes on the later list.'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stand-up — the first thing every marathon work session does. The rule: one sentence each, no more: 'Today I'll first make ___ run.' It has to be verifiable — 'keep working' doesn't count; 'make the button light the LED when pressed' counts. Vague goal ('keep working on my project') → push on the spot: 'The moment you finish — what will I be able to see?' Push until it's one verifiable action. The stand-up turns into a report (someone talks over 30 seconds) → raise the hourglass: 'Noted. Details are for build time, one-on-one.' Two ways to run it — pick by headcount (small: everyone stands and says it, you hold the hourglass, 'you first'; large: no going around — pair up, write the sentence at the top of the requirements sheet, you call 3–4 people at random to stand and say it to the class, the rest get a glance at their page as you circulate).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Check-out rules: take only what your requirements sheet's hardware row says; register everything you take — name on the sheet on your table. No taking parts you don't need (everything you eyed during the tour waits until the sheet changes). Hot part already gone? Write it in the queue area on the board — then find a substitute. Remember? An engineer's first lesson: solve the problem with what you have. At the end of every leg, parts you're not using go back. It's a shared pool — you'll need it next leg. Check-out bottleneck → TA B calls tables in batches (tables 1 and 3 first); whoever's checked out starts building. A hot part runs out and there's an argument → register in the queue area + the 'make it or not' three questions to coordinate substitutes; no purchase promises. A student's sheet lists something not in the pool → change the need on the spot (cross out, don't erase, write the substitute); TA A helps in 2 minutes. Stand-still while check-out runs.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First move: cut the smallest loop into two steps — first make it sense (the sensor has a reading), then make it react (light / buzzer / screen). One step at a time. I do one lap every 15 minutes; raise your hand and I'm there. Water and bathroom — your call. Devices stay on; AI conversation windows stay open. Then immediately back to slide 05. Your circulation rhythm (this lesson's core skill — the shift from teaching to circulating): one lap every 15 minutes, three looks per lap — the screen (chatting with AI, or staring off / browsing?), the requirements sheet (is it on the table? are they building to it?), the face (a frown past 5 minutes — stop and ask one question). Intervention red line: direction only ('Back to your sheet — what's the core feature?'); no writing code, no thinking up solutions, no making decisions; a student asks 'which should I do?' → 'What does your requirements sheet say?'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line: where I am / where I'm stuck / what I do next. Anyone who can't say 'next' — the TA notes your name, and you get rescued first when the second half starts. No unified break; the mid-way stand-up is done standing (a stretch too), hourglass timed. Noting who can't say 'next step' and rescuing them first in the second half is the pace officer's job (TA C) — instructor-side, never on screen.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half's job: close the loop. Whatever segment the loop is still broken on — that's what you fix. 15 minutes before review, everyone stops. Wherever you are, the review starts on time. Remember: the review isn't something you earn by finishing — a half-finished thing deserves the faults even more. Circulation rhythm same as slide 08's notes; from '15 minutes to review' onward, remind table by table: 'Save your progress. Prepare two lines: my project can ___ now; it still can't ___.' — and flip to slide 11. A student begs 'give me 10 more minutes' at the stop → warm but firm: 'The review 15 is the institutional floor — nobody squeezes it, including me. Write your can't yet clearly — that's the review's first material.' Morale-drained ('everyone else's is so good') → TA C: 'One thing more than yesterday is a win. Is your loop closed? Closed = today's 100.' After the announcement, return to slide 05.</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Save your progress. Prepare two lines: my project can ___ now; it still can't ___. The two lines are the review's feeding lines — the review conversation must be fed the current real state; anyone feeding the old brief description gets sent back to rewrite (this is the review's only food). The warning line carries the discipline — bold black on yellow, NOT red (outside the quota). Cut in once at '15 minutes to review'; after the table-by-table reminder, the deck returns to slide 05 until the review actually starts, then on to slide 12.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Hands off. Review time. Before, you had AI as a colleague. Today, it's a judge — its job is finding faults, not praising you. Two judges: first, the real person from your requirements sheet (the Picky User); second, an old friend — Quinn. A sizing note: in Lesson 3's group build, the Picky User picked one fault. From today it's the full edition — 3 faults + a 5-item list — and every leg from here runs this size. Two review prompts, on screen; keep going in the conversation you already have — no new windows. Note: you must feed the current real state — 'it can do this now, it can't do that' — a bragging review is no review at all. The red line is the deck's second red — the institutional floor. This is the Act 3 gear change ('hands off — review time'); whatever's done, you shift gears on time — that rhythm itself is part of what today teaches.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Send this to AI (project it). You must feed the current real state — what it can do now, what it can't. If it dares to praise you, push the red line back at it — a review that praises you is a review that didn't show up to work. The red line is the deck's third red — the push-back line. The AI review turns into AI praise ('your project is great, may I suggest some features…') → the student pushes back (projected): 'No praising. Faults only — 3, one sentence each.' Project your own pre-rehearsed 'AI praised → I pushed back' demo conversation once. A review item contradicts the requirements sheet (AI pushing a cut feature) → a teaching point: 'It doesn't know your trade-off history. Flip to your later list — this one's already slept there. Original verdict stands.' Stand-still. The prompt box is 6.2 verbatim — shared text with the Teacher's Guide and the workbook; any edit must sync all three documents. The review record template (6.5) is workbook-borne — no projected page; students fill it as they go.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Quinn, same deal. List in hand — pick 2 items and test them for real. Don't be polite — it's built to be used the wrong way. Record the results in the review record in your workbook. One reminder: Quinn is the BMAD team's test engineer — this conversation window needs the team in it for Quinn to appear. Projects running since Lesson 4's team build can send it directly; a fresh conversation sends the background line first (the small print on screen), then the prompt. Verify Quinn's entrance condition in a fresh window during rehearsal (Section 1.3) — what happens calling Quinn with no background vs. with the background sentence; mention this contrast in one line in class. Offline → human peer review instead (the same 3-faults-5-items frame, executed by the neighbor, swapped) — the review is never canceled, only its executor changes (instructor-side, never on screen). Stand-still. The prompt box is 6.3 verbatim and the entrance line is 6.3's small print — shared text; any edit must sync all three documents.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Old rule, item by item: Accept or Reject — and both need a reason. One reminder: rejecting with a reason scores the same as accepting — but if you accept everything, I'm coming to talk to you (no backbone is more dangerous than no changes). Accepted and fixable now — fix it (anything under 5 minutes). Can't finish? Into the handoff sheet under 'first thing next leg' — not 'later,' the first action of next leg's build time. The red line is the deck's fourth red — the decision discipline. Accept-everything → 30-second one-on-one: 'Eight items all in? Can you even finish them? Take the 3 most important; reject the rest — rejecting is a professional decision too.' The sheet's 'first thing next leg' says 'keep going' → send it back: 'Write it as a verifiable action — make ___ work even when ___.' Fixable-now items stay under 5 minutes; anything bigger goes to the handoff sheet — the review's decisions move the project, not stall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Fill the baton handoff sheet (template on screen, into your workbook). It's your marathon baton — the moment you walk into Lesson 9, it's how you find today's feeling again. It's also the comeback anchor for anyone who missed class. Log finish: four-line template; 'done' reads as on screen. The template is 6.4 verbatim — identical to the workbook; any edit must sync all three documents. Stand-still while students fill.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 back at this leg — three things done. One: from a requirements sheet, you made a demonstrable first version — it really sensed something, it really reacted. Two: you took a full round of faults from two judges, and you're still standing. Three: you made Accept-or-Reject calls with reasons, and you know the first thing next leg. That's one complete engineer's iteration — today, you really ran a whole lap. Next session preview: the marathon's second leg — both homes at once (aily and the web version), and your project grows new abilities. Bring your baton handoff sheet and your two-views cheat sheet. Return modules you're not using; main kits in the box; the Brief Wall stickies stay. This page is the second golden-line peak (same register as slide 02) — it closes the arc and previews the second leg; no ability-card ceremony today.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Brandy appendix slide 18: Who Is Brandy?. Flexible use — pick pages if time remains, or a full walkthrough after class. See Teacher's Guide Section 6 for script.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Brandy appendix slide 19: Look Beyond the Finished Product. Flexible use — pick pages if time remains, or a full walkthrough after class. See Teacher's Guide Section 6 for script.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Brandy appendix slide 20: The Big-Picture Before / After. Flexible use — pick pages if time remains, or a full walkthrough after class. See Teacher's Guide Section 6 for script.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Brandy appendix slide 21: 90% of Attention Interrupted. Flexible use — pick pages if time remains, or a full walkthrough after class. See Teacher's Guide Section 6 for script.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Brandy appendix slide 22: Two Devices, One Method. Flexible use — pick pages if time remains, or a full walkthrough after class. See Teacher's Guide Section 6 for script.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Brandy appendix slide 23: Where to Start. Flexible use — pick pages if time remains, or a full walkthrough after class. See Teacher's Guide Section 6 for script.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Brandy appendix slide 24: The Method Overview. Flexible use — pick pages if time remains, or a full walkthrough after class. See Teacher's Guide Section 6 for script.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Brandy appendix slide 25: A Live Mini-Exercise. Flexible use — pick pages if time remains, or a full walkthrough after class. See Teacher's Guide Section 6 for script.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Brandy appendix slide 26: The Voice Keyboard. Flexible use — pick pages if time remains, or a full walkthrough after class. See Teacher's Guide Section 6 for script.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Brandy appendix slide 27: The Voice Keyboard. Flexible use — pick pages if time remains, or a full walkthrough after class. See Teacher's Guide Section 6 for script.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Brandy appendix slide 28: The Voice Keyboard. Flexible use — pick pages if time remains, or a full walkthrough after class. See Teacher's Guide Section 6 for script.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Brandy appendix slide 29: The Voice Keyboard. Flexible use — pick pages if time remains, or a full walkthrough after class. See Teacher's Guide Section 6 for script.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Brandy appendix slide 30: The Voice Keyboard. Flexible use — pick pages if time remains, or a full walkthrough after class. See Teacher's Guide Section 6 for script.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Brandy appendix slide 31: The Voice Keyboard. Flexible use — pick pages if time remains, or a full walkthrough after class. See Teacher's Guide Section 6 for script.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Brandy appendix slide 32: The Voice Keyboard. Flexible use — pick pages if time remains, or a full walkthrough after class. See Teacher's Guide Section 6 for script.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Brandy appendix slide 33: The Voice Keyboard. Flexible use — pick pages if time remains, or a full walkthrough after class. See Teacher's Guide Section 6 for script.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Brandy appendix slide 34: The Digital Hourglass. Flexible use — pick pages if time remains, or a full walkthrough after class. See Teacher's Guide Section 6 for script.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Brandy appendix slide 35: The Digital Hourglass. Flexible use — pick pages if time remains, or a full walkthrough after class. See Teacher's Guide Section 6 for script.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Brandy appendix slide 36: The Digital Hourglass. Flexible use — pick pages if time remains, or a full walkthrough after class. See Teacher's Guide Section 6 for script.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Brandy appendix slide 37: The Digital Hourglass. Flexible use — pick pages if time remains, or a full walkthrough after class. See Teacher's Guide Section 6 for script.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Brandy appendix slide 38: Two Key Translations. Flexible use — pick pages if time remains, or a full walkthrough after class. See Teacher's Guide Section 6 for script.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Brandy appendix slide 39: A Reusable Hardware Prompt. Flexible use — pick pages if time remains, or a full walkthrough after class. See Teacher's Guide Section 6 for script.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Brandy appendix slide 40: The Five-Step Loop. Flexible use — pick pages if time remains, or a full walkthrough after class. See Teacher's Guide Section 6 for script.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Brandy appendix slide 41: Closing on the Four-Line Spec. Flexible use — pick pages if time remains, or a full walkthrough after class. See Teacher's Guide Section 6 for script.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Brandy appendix slide 42: Your Turn. Flexible use — pick pages if time remains, or a full walkthrough after class. See Teacher's Guide Section 6 for script.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Run the First Lap | 01 / 42</a:t>
            </a:r>
          </a:p>
        </p:txBody>
      </p:sp>
      <p:sp>
        <p:nvSpPr>
          <p:cNvPr id="4" name="TextBox 3"/>
          <p:cNvSpPr txBox="1"/>
          <p:nvPr/>
        </p:nvSpPr>
        <p:spPr>
          <a:xfrm>
            <a:off x="566928" y="1097280"/>
            <a:ext cx="5852160" cy="274320"/>
          </a:xfrm>
          <a:prstGeom prst="rect">
            <a:avLst/>
          </a:prstGeom>
          <a:noFill/>
        </p:spPr>
        <p:txBody>
          <a:bodyPr wrap="square" anchor="t" lIns="0" rIns="0" tIns="0" bIns="0">
            <a:spAutoFit/>
          </a:bodyPr>
          <a:lstStyle/>
          <a:p>
            <a:pPr algn="l">
              <a:lnSpc>
                <a:spcPct val="100000"/>
              </a:lnSpc>
            </a:pPr>
            <a:r>
              <a:rPr sz="1300" b="0">
                <a:solidFill>
                  <a:srgbClr val="000000"/>
                </a:solidFill>
                <a:latin typeface="Source Han Sans SC"/>
              </a:rPr>
              <a:t>Chaihuo Maker Academy · Smart Hardware Fundamentals (M0)</a:t>
            </a:r>
          </a:p>
        </p:txBody>
      </p:sp>
      <p:sp>
        <p:nvSpPr>
          <p:cNvPr id="5" name="TextBox 4"/>
          <p:cNvSpPr txBox="1"/>
          <p:nvPr/>
        </p:nvSpPr>
        <p:spPr>
          <a:xfrm>
            <a:off x="566928" y="1417320"/>
            <a:ext cx="8010144" cy="68580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Run the First Lap</a:t>
            </a:r>
          </a:p>
        </p:txBody>
      </p:sp>
      <p:sp>
        <p:nvSpPr>
          <p:cNvPr id="6" name="Rectangle 5"/>
          <p:cNvSpPr/>
          <p:nvPr/>
        </p:nvSpPr>
        <p:spPr>
          <a:xfrm>
            <a:off x="566928" y="2286000"/>
            <a:ext cx="1463040" cy="54864"/>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2450592"/>
            <a:ext cx="5852160" cy="548640"/>
          </a:xfrm>
          <a:prstGeom prst="rect">
            <a:avLst/>
          </a:prstGeom>
          <a:noFill/>
        </p:spPr>
        <p:txBody>
          <a:bodyPr wrap="square" anchor="t" lIns="0" rIns="0" tIns="0" bIns="0">
            <a:spAutoFit/>
          </a:bodyPr>
          <a:lstStyle/>
          <a:p>
            <a:pPr algn="l">
              <a:lnSpc>
                <a:spcPct val="120000"/>
              </a:lnSpc>
            </a:pPr>
            <a:r>
              <a:rPr sz="1400" b="0">
                <a:solidFill>
                  <a:srgbClr val="000000"/>
                </a:solidFill>
                <a:latin typeface="Source Han Sans SC"/>
              </a:rPr>
              <a:t>Build Your Project's MVP · The Marathon's First Leg · Chaihuo Maker Academy · M0 Lesson 8</a:t>
            </a:r>
          </a:p>
        </p:txBody>
      </p:sp>
      <p:sp>
        <p:nvSpPr>
          <p:cNvPr id="8" name="TextBox 7"/>
          <p:cNvSpPr txBox="1"/>
          <p:nvPr/>
        </p:nvSpPr>
        <p:spPr>
          <a:xfrm>
            <a:off x="566928" y="3291840"/>
            <a:ext cx="5303520" cy="868680"/>
          </a:xfrm>
          <a:prstGeom prst="rect">
            <a:avLst/>
          </a:prstGeom>
          <a:noFill/>
        </p:spPr>
        <p:txBody>
          <a:bodyPr wrap="square" anchor="t" lIns="0" rIns="0" tIns="0" bIns="0">
            <a:spAutoFit/>
          </a:bodyPr>
          <a:lstStyle/>
          <a:p>
            <a:pPr algn="l">
              <a:lnSpc>
                <a:spcPct val="135000"/>
              </a:lnSpc>
            </a:pPr>
            <a:r>
              <a:rPr sz="1250" b="0">
                <a:solidFill>
                  <a:srgbClr val="000000"/>
                </a:solidFill>
                <a:latin typeface="Source Han Sans SC"/>
              </a:rPr>
              <a:t>Today: from a requirements sheet to a running first version —</a:t>
            </a:r>
          </a:p>
          <a:p>
            <a:pPr algn="l">
              <a:lnSpc>
                <a:spcPct val="135000"/>
              </a:lnSpc>
            </a:pPr>
            <a:r>
              <a:rPr sz="1250" b="0">
                <a:solidFill>
                  <a:srgbClr val="000000"/>
                </a:solidFill>
                <a:latin typeface="Source Han Sans SC"/>
              </a:rPr>
              <a:t>and AI becomes a reviewer for the first time.</a:t>
            </a:r>
          </a:p>
        </p:txBody>
      </p:sp>
      <p:pic>
        <p:nvPicPr>
          <p:cNvPr id="9" name="Picture 8" descr="L8_封面插画_第一棒MVP.png"/>
          <p:cNvPicPr>
            <a:picLocks noChangeAspect="1"/>
          </p:cNvPicPr>
          <p:nvPr/>
        </p:nvPicPr>
        <p:blipFill>
          <a:blip r:embed="rId2"/>
          <a:stretch>
            <a:fillRect/>
          </a:stretch>
        </p:blipFill>
        <p:spPr>
          <a:xfrm>
            <a:off x="6217920" y="2788920"/>
            <a:ext cx="2240280" cy="224028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Run the First Lap | 02 / 42</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From Today, I Only Circulate</a:t>
            </a:r>
          </a:p>
        </p:txBody>
      </p:sp>
      <p:sp>
        <p:nvSpPr>
          <p:cNvPr id="6" name="TextBox 5"/>
          <p:cNvSpPr txBox="1"/>
          <p:nvPr/>
        </p:nvSpPr>
        <p:spPr>
          <a:xfrm>
            <a:off x="566928" y="914400"/>
            <a:ext cx="8138160" cy="365760"/>
          </a:xfrm>
          <a:prstGeom prst="rect">
            <a:avLst/>
          </a:prstGeom>
          <a:noFill/>
        </p:spPr>
        <p:txBody>
          <a:bodyPr wrap="square" anchor="t" lIns="0" rIns="0" tIns="0" bIns="0">
            <a:spAutoFit/>
          </a:bodyPr>
          <a:lstStyle/>
          <a:p>
            <a:pPr algn="l">
              <a:lnSpc>
                <a:spcPct val="100000"/>
              </a:lnSpc>
            </a:pPr>
            <a:r>
              <a:rPr sz="1300" b="0">
                <a:solidFill>
                  <a:srgbClr val="000000"/>
                </a:solidFill>
                <a:latin typeface="Source Han Sans SC"/>
              </a:rPr>
              <a:t>I don't teach</a:t>
            </a:r>
          </a:p>
        </p:txBody>
      </p:sp>
      <p:sp>
        <p:nvSpPr>
          <p:cNvPr id="7" name="Rectangle 6"/>
          <p:cNvSpPr/>
          <p:nvPr/>
        </p:nvSpPr>
        <p:spPr>
          <a:xfrm>
            <a:off x="566928" y="1371600"/>
            <a:ext cx="64008" cy="96012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1389888"/>
            <a:ext cx="7772400" cy="914400"/>
          </a:xfrm>
          <a:prstGeom prst="rect">
            <a:avLst/>
          </a:prstGeom>
          <a:noFill/>
        </p:spPr>
        <p:txBody>
          <a:bodyPr wrap="square" anchor="t" lIns="0" rIns="0" tIns="0" bIns="0">
            <a:spAutoFit/>
          </a:bodyPr>
          <a:lstStyle/>
          <a:p>
            <a:pPr algn="l">
              <a:lnSpc>
                <a:spcPct val="135000"/>
              </a:lnSpc>
            </a:pPr>
            <a:r>
              <a:rPr sz="1100" b="0">
                <a:solidFill>
                  <a:srgbClr val="000000"/>
                </a:solidFill>
                <a:latin typeface="Source Han Sans SC"/>
              </a:rPr>
              <a:t>Last session: your project got its brief — the requirements sheet is in your workbook, the core feature is down to one, and what got cut keeps its name.</a:t>
            </a:r>
          </a:p>
          <a:p>
            <a:pPr algn="l">
              <a:lnSpc>
                <a:spcPct val="135000"/>
              </a:lnSpc>
            </a:pPr>
            <a:r>
              <a:rPr sz="1100" b="0">
                <a:solidFill>
                  <a:srgbClr val="000000"/>
                </a:solidFill>
                <a:latin typeface="Source Han Sans SC"/>
              </a:rPr>
              <a:t>The session before: your project moved into your own computer — from tenant to owner — and for the first time you saw what lives inside the code AI writes.</a:t>
            </a:r>
          </a:p>
        </p:txBody>
      </p:sp>
      <p:sp>
        <p:nvSpPr>
          <p:cNvPr id="9" name="TextBox 8"/>
          <p:cNvSpPr txBox="1"/>
          <p:nvPr/>
        </p:nvSpPr>
        <p:spPr>
          <a:xfrm>
            <a:off x="566928" y="2487168"/>
            <a:ext cx="8010144" cy="237744"/>
          </a:xfrm>
          <a:prstGeom prst="rect">
            <a:avLst/>
          </a:prstGeom>
          <a:noFill/>
        </p:spPr>
        <p:txBody>
          <a:bodyPr wrap="square" anchor="t" lIns="0" rIns="0" tIns="0" bIns="0">
            <a:spAutoFit/>
          </a:bodyPr>
          <a:lstStyle/>
          <a:p>
            <a:pPr algn="l">
              <a:lnSpc>
                <a:spcPct val="100000"/>
              </a:lnSpc>
            </a:pPr>
            <a:r>
              <a:rPr sz="1050" b="1">
                <a:solidFill>
                  <a:srgbClr val="000000"/>
                </a:solidFill>
                <a:latin typeface="Source Han Sans SC"/>
              </a:rPr>
              <a:t>THE THREE LEGS</a:t>
            </a:r>
          </a:p>
        </p:txBody>
      </p:sp>
      <p:sp>
        <p:nvSpPr>
          <p:cNvPr id="10" name="Rectangle 9"/>
          <p:cNvSpPr/>
          <p:nvPr/>
        </p:nvSpPr>
        <p:spPr>
          <a:xfrm>
            <a:off x="566928" y="2788920"/>
            <a:ext cx="8010144" cy="54864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76656" y="2880360"/>
            <a:ext cx="310896" cy="310896"/>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6656" y="2907791"/>
            <a:ext cx="310896" cy="292608"/>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1</a:t>
            </a:r>
          </a:p>
        </p:txBody>
      </p:sp>
      <p:sp>
        <p:nvSpPr>
          <p:cNvPr id="13" name="TextBox 12"/>
          <p:cNvSpPr txBox="1"/>
          <p:nvPr/>
        </p:nvSpPr>
        <p:spPr>
          <a:xfrm>
            <a:off x="1097280" y="2862072"/>
            <a:ext cx="7315200" cy="201168"/>
          </a:xfrm>
          <a:prstGeom prst="rect">
            <a:avLst/>
          </a:prstGeom>
          <a:noFill/>
        </p:spPr>
        <p:txBody>
          <a:bodyPr wrap="square" anchor="t" lIns="0" rIns="0" tIns="0" bIns="0">
            <a:spAutoFit/>
          </a:bodyPr>
          <a:lstStyle/>
          <a:p>
            <a:pPr algn="l">
              <a:lnSpc>
                <a:spcPct val="100000"/>
              </a:lnSpc>
            </a:pPr>
            <a:r>
              <a:rPr sz="1100" b="1">
                <a:solidFill>
                  <a:srgbClr val="000000"/>
                </a:solidFill>
                <a:latin typeface="Source Han Sans SC"/>
              </a:rPr>
              <a:t>LEG 1 (today)</a:t>
            </a:r>
          </a:p>
        </p:txBody>
      </p:sp>
      <p:sp>
        <p:nvSpPr>
          <p:cNvPr id="14" name="TextBox 13"/>
          <p:cNvSpPr txBox="1"/>
          <p:nvPr/>
        </p:nvSpPr>
        <p:spPr>
          <a:xfrm>
            <a:off x="1097280" y="3081527"/>
            <a:ext cx="7315200" cy="201168"/>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BUILD YOUR PROJECT'S MVP</a:t>
            </a:r>
          </a:p>
        </p:txBody>
      </p:sp>
      <p:sp>
        <p:nvSpPr>
          <p:cNvPr id="15" name="Rectangle 14"/>
          <p:cNvSpPr/>
          <p:nvPr/>
        </p:nvSpPr>
        <p:spPr>
          <a:xfrm>
            <a:off x="566928" y="3447287"/>
            <a:ext cx="8010144" cy="54864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76656" y="3538727"/>
            <a:ext cx="310896" cy="310896"/>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6656" y="3566159"/>
            <a:ext cx="310896" cy="292608"/>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2</a:t>
            </a:r>
          </a:p>
        </p:txBody>
      </p:sp>
      <p:sp>
        <p:nvSpPr>
          <p:cNvPr id="18" name="TextBox 17"/>
          <p:cNvSpPr txBox="1"/>
          <p:nvPr/>
        </p:nvSpPr>
        <p:spPr>
          <a:xfrm>
            <a:off x="1097280" y="3520439"/>
            <a:ext cx="7315200" cy="201168"/>
          </a:xfrm>
          <a:prstGeom prst="rect">
            <a:avLst/>
          </a:prstGeom>
          <a:noFill/>
        </p:spPr>
        <p:txBody>
          <a:bodyPr wrap="square" anchor="t" lIns="0" rIns="0" tIns="0" bIns="0">
            <a:spAutoFit/>
          </a:bodyPr>
          <a:lstStyle/>
          <a:p>
            <a:pPr algn="l">
              <a:lnSpc>
                <a:spcPct val="100000"/>
              </a:lnSpc>
            </a:pPr>
            <a:r>
              <a:rPr sz="1100" b="1">
                <a:solidFill>
                  <a:srgbClr val="000000"/>
                </a:solidFill>
                <a:latin typeface="Source Han Sans SC"/>
              </a:rPr>
              <a:t>LEG 2 (Lesson 9)</a:t>
            </a:r>
          </a:p>
        </p:txBody>
      </p:sp>
      <p:sp>
        <p:nvSpPr>
          <p:cNvPr id="19" name="TextBox 18"/>
          <p:cNvSpPr txBox="1"/>
          <p:nvPr/>
        </p:nvSpPr>
        <p:spPr>
          <a:xfrm>
            <a:off x="1097280" y="3739896"/>
            <a:ext cx="7315200" cy="201168"/>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CALL IN REINFORCEMENTS — new modules, new libraries, the MVP grows new abilities</a:t>
            </a:r>
          </a:p>
        </p:txBody>
      </p:sp>
      <p:sp>
        <p:nvSpPr>
          <p:cNvPr id="20" name="Rectangle 19"/>
          <p:cNvSpPr/>
          <p:nvPr/>
        </p:nvSpPr>
        <p:spPr>
          <a:xfrm>
            <a:off x="566928" y="4105655"/>
            <a:ext cx="8010144" cy="54864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76656" y="4197095"/>
            <a:ext cx="310896" cy="310896"/>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6656" y="4224527"/>
            <a:ext cx="310896" cy="292608"/>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3</a:t>
            </a:r>
          </a:p>
        </p:txBody>
      </p:sp>
      <p:sp>
        <p:nvSpPr>
          <p:cNvPr id="23" name="TextBox 22"/>
          <p:cNvSpPr txBox="1"/>
          <p:nvPr/>
        </p:nvSpPr>
        <p:spPr>
          <a:xfrm>
            <a:off x="1097280" y="4178807"/>
            <a:ext cx="7315200" cy="201168"/>
          </a:xfrm>
          <a:prstGeom prst="rect">
            <a:avLst/>
          </a:prstGeom>
          <a:noFill/>
        </p:spPr>
        <p:txBody>
          <a:bodyPr wrap="square" anchor="t" lIns="0" rIns="0" tIns="0" bIns="0">
            <a:spAutoFit/>
          </a:bodyPr>
          <a:lstStyle/>
          <a:p>
            <a:pPr algn="l">
              <a:lnSpc>
                <a:spcPct val="100000"/>
              </a:lnSpc>
            </a:pPr>
            <a:r>
              <a:rPr sz="1100" b="1">
                <a:solidFill>
                  <a:srgbClr val="000000"/>
                </a:solidFill>
                <a:latin typeface="Source Han Sans SC"/>
              </a:rPr>
              <a:t>LEG 3 (Lesson 10)</a:t>
            </a:r>
          </a:p>
        </p:txBody>
      </p:sp>
      <p:sp>
        <p:nvSpPr>
          <p:cNvPr id="24" name="TextBox 23"/>
          <p:cNvSpPr txBox="1"/>
          <p:nvPr/>
        </p:nvSpPr>
        <p:spPr>
          <a:xfrm>
            <a:off x="1097280" y="4398264"/>
            <a:ext cx="7315200" cy="201168"/>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FINAL POLISH — out to the showcase to meet people</a:t>
            </a:r>
          </a:p>
        </p:txBody>
      </p:sp>
      <p:sp>
        <p:nvSpPr>
          <p:cNvPr id="25" name="Rectangle 24"/>
          <p:cNvSpPr/>
          <p:nvPr/>
        </p:nvSpPr>
        <p:spPr>
          <a:xfrm>
            <a:off x="566928" y="4114800"/>
            <a:ext cx="8010144" cy="65836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224528"/>
            <a:ext cx="7680960" cy="438912"/>
          </a:xfrm>
          <a:prstGeom prst="rect">
            <a:avLst/>
          </a:prstGeom>
          <a:noFill/>
        </p:spPr>
        <p:txBody>
          <a:bodyPr wrap="square" anchor="t" lIns="0" rIns="0" tIns="0" bIns="0">
            <a:spAutoFit/>
          </a:bodyPr>
          <a:lstStyle/>
          <a:p>
            <a:pPr algn="l">
              <a:lnSpc>
                <a:spcPct val="125000"/>
              </a:lnSpc>
            </a:pPr>
            <a:r>
              <a:rPr sz="1200" b="0">
                <a:solidFill>
                  <a:srgbClr val="000000"/>
                </a:solidFill>
                <a:latin typeface="Source Han Sans SC"/>
              </a:rPr>
              <a:t>Every leg runs the same rhythm — STAND-UP → BUILD → AI REVIEW → DECIDE → HANDOFF. Run all three legs, and your project has grown up.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Run the First Lap | 03 / 42</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Today's Goal — Build Your MVP</a:t>
            </a:r>
          </a:p>
        </p:txBody>
      </p:sp>
      <p:sp>
        <p:nvSpPr>
          <p:cNvPr id="6" name="Rectangle 5"/>
          <p:cNvSpPr/>
          <p:nvPr/>
        </p:nvSpPr>
        <p:spPr>
          <a:xfrm>
            <a:off x="566928" y="1005840"/>
            <a:ext cx="8010144" cy="420624"/>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078992"/>
            <a:ext cx="7680960" cy="274320"/>
          </a:xfrm>
          <a:prstGeom prst="rect">
            <a:avLst/>
          </a:prstGeom>
          <a:noFill/>
        </p:spPr>
        <p:txBody>
          <a:bodyPr wrap="square" anchor="t" lIns="0" rIns="0" tIns="0" bIns="0">
            <a:spAutoFit/>
          </a:bodyPr>
          <a:lstStyle/>
          <a:p>
            <a:pPr algn="l">
              <a:lnSpc>
                <a:spcPct val="100000"/>
              </a:lnSpc>
            </a:pPr>
            <a:r>
              <a:rPr sz="1200" b="1">
                <a:solidFill>
                  <a:srgbClr val="000000"/>
                </a:solidFill>
                <a:latin typeface="Source Han Sans SC"/>
              </a:rPr>
              <a:t>MVP = MINIMUM VIABLE PRODUCT — the smallest version you can put on the table and demonstrate.</a:t>
            </a:r>
          </a:p>
        </p:txBody>
      </p:sp>
      <p:sp>
        <p:nvSpPr>
          <p:cNvPr id="8" name="TextBox 7"/>
          <p:cNvSpPr txBox="1"/>
          <p:nvPr/>
        </p:nvSpPr>
        <p:spPr>
          <a:xfrm>
            <a:off x="566928" y="1572768"/>
            <a:ext cx="8010144" cy="219456"/>
          </a:xfrm>
          <a:prstGeom prst="rect">
            <a:avLst/>
          </a:prstGeom>
          <a:noFill/>
        </p:spPr>
        <p:txBody>
          <a:bodyPr wrap="square" anchor="t" lIns="0" rIns="0" tIns="0" bIns="0">
            <a:spAutoFit/>
          </a:bodyPr>
          <a:lstStyle/>
          <a:p>
            <a:pPr algn="l">
              <a:lnSpc>
                <a:spcPct val="100000"/>
              </a:lnSpc>
            </a:pPr>
            <a:r>
              <a:rPr sz="1050" b="1">
                <a:solidFill>
                  <a:srgbClr val="000000"/>
                </a:solidFill>
                <a:latin typeface="Source Han Sans SC"/>
              </a:rPr>
              <a:t>THE CLOSED LOOP</a:t>
            </a:r>
          </a:p>
        </p:txBody>
      </p:sp>
      <p:sp>
        <p:nvSpPr>
          <p:cNvPr id="9" name="Rectangle 8"/>
          <p:cNvSpPr/>
          <p:nvPr/>
        </p:nvSpPr>
        <p:spPr>
          <a:xfrm>
            <a:off x="566928" y="1847088"/>
            <a:ext cx="3474720" cy="77724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975104"/>
            <a:ext cx="3145536" cy="548640"/>
          </a:xfrm>
          <a:prstGeom prst="rect">
            <a:avLst/>
          </a:prstGeom>
          <a:noFill/>
        </p:spPr>
        <p:txBody>
          <a:bodyPr wrap="square" anchor="ctr" lIns="0" rIns="0" tIns="0" bIns="0">
            <a:spAutoFit/>
          </a:bodyPr>
          <a:lstStyle/>
          <a:p>
            <a:pPr algn="ctr">
              <a:lnSpc>
                <a:spcPct val="120000"/>
              </a:lnSpc>
            </a:pPr>
            <a:r>
              <a:rPr sz="1150" b="0">
                <a:solidFill>
                  <a:srgbClr val="000000"/>
                </a:solidFill>
                <a:latin typeface="Source Han Sans SC"/>
              </a:rPr>
              <a:t>IT SENSES SOMETHING
(the sensor has a reading)</a:t>
            </a:r>
          </a:p>
        </p:txBody>
      </p:sp>
      <p:sp>
        <p:nvSpPr>
          <p:cNvPr id="11" name="TextBox 10"/>
          <p:cNvSpPr txBox="1"/>
          <p:nvPr/>
        </p:nvSpPr>
        <p:spPr>
          <a:xfrm>
            <a:off x="4224528" y="1993392"/>
            <a:ext cx="694944" cy="502920"/>
          </a:xfrm>
          <a:prstGeom prst="rect">
            <a:avLst/>
          </a:prstGeom>
          <a:noFill/>
        </p:spPr>
        <p:txBody>
          <a:bodyPr wrap="square" anchor="ctr" lIns="0" rIns="0" tIns="0" bIns="0">
            <a:spAutoFit/>
          </a:bodyPr>
          <a:lstStyle/>
          <a:p>
            <a:pPr algn="ctr">
              <a:lnSpc>
                <a:spcPct val="100000"/>
              </a:lnSpc>
            </a:pPr>
            <a:r>
              <a:rPr sz="2800" b="1">
                <a:solidFill>
                  <a:srgbClr val="F3D230"/>
                </a:solidFill>
                <a:latin typeface="Source Han Sans SC"/>
              </a:rPr>
              <a:t>→</a:t>
            </a:r>
          </a:p>
        </p:txBody>
      </p:sp>
      <p:sp>
        <p:nvSpPr>
          <p:cNvPr id="12" name="Rectangle 11"/>
          <p:cNvSpPr/>
          <p:nvPr/>
        </p:nvSpPr>
        <p:spPr>
          <a:xfrm>
            <a:off x="5029200" y="1847088"/>
            <a:ext cx="3547872" cy="77724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93792" y="1975104"/>
            <a:ext cx="3218688" cy="548640"/>
          </a:xfrm>
          <a:prstGeom prst="rect">
            <a:avLst/>
          </a:prstGeom>
          <a:noFill/>
        </p:spPr>
        <p:txBody>
          <a:bodyPr wrap="square" anchor="ctr" lIns="0" rIns="0" tIns="0" bIns="0">
            <a:spAutoFit/>
          </a:bodyPr>
          <a:lstStyle/>
          <a:p>
            <a:pPr algn="ctr">
              <a:lnSpc>
                <a:spcPct val="120000"/>
              </a:lnSpc>
            </a:pPr>
            <a:r>
              <a:rPr sz="1150" b="0">
                <a:solidFill>
                  <a:srgbClr val="000000"/>
                </a:solidFill>
                <a:latin typeface="Source Han Sans SC"/>
              </a:rPr>
              <a:t>IT REACTS
(light / buzzer / screen)</a:t>
            </a:r>
          </a:p>
        </p:txBody>
      </p:sp>
      <p:sp>
        <p:nvSpPr>
          <p:cNvPr id="14" name="TextBox 13"/>
          <p:cNvSpPr txBox="1"/>
          <p:nvPr/>
        </p:nvSpPr>
        <p:spPr>
          <a:xfrm>
            <a:off x="566928" y="2788920"/>
            <a:ext cx="8010144" cy="219456"/>
          </a:xfrm>
          <a:prstGeom prst="rect">
            <a:avLst/>
          </a:prstGeom>
          <a:noFill/>
        </p:spPr>
        <p:txBody>
          <a:bodyPr wrap="square" anchor="t" lIns="0" rIns="0" tIns="0" bIns="0">
            <a:spAutoFit/>
          </a:bodyPr>
          <a:lstStyle/>
          <a:p>
            <a:pPr algn="ctr">
              <a:lnSpc>
                <a:spcPct val="100000"/>
              </a:lnSpc>
            </a:pPr>
            <a:r>
              <a:rPr sz="1200" b="0">
                <a:solidFill>
                  <a:srgbClr val="000000"/>
                </a:solidFill>
                <a:latin typeface="Source Han Sans SC"/>
              </a:rPr>
              <a:t>— start to finish, once.</a:t>
            </a:r>
          </a:p>
        </p:txBody>
      </p:sp>
      <p:sp>
        <p:nvSpPr>
          <p:cNvPr id="15" name="TextBox 14"/>
          <p:cNvSpPr txBox="1"/>
          <p:nvPr/>
        </p:nvSpPr>
        <p:spPr>
          <a:xfrm>
            <a:off x="566928" y="3154680"/>
            <a:ext cx="8010144" cy="219456"/>
          </a:xfrm>
          <a:prstGeom prst="rect">
            <a:avLst/>
          </a:prstGeom>
          <a:noFill/>
        </p:spPr>
        <p:txBody>
          <a:bodyPr wrap="square" anchor="t" lIns="0" rIns="0" tIns="0" bIns="0">
            <a:spAutoFit/>
          </a:bodyPr>
          <a:lstStyle/>
          <a:p>
            <a:pPr algn="l">
              <a:lnSpc>
                <a:spcPct val="100000"/>
              </a:lnSpc>
            </a:pPr>
            <a:r>
              <a:rPr sz="1050" b="1">
                <a:solidFill>
                  <a:srgbClr val="000000"/>
                </a:solidFill>
                <a:latin typeface="Source Han Sans SC"/>
              </a:rPr>
              <a:t>YES / NO</a:t>
            </a:r>
          </a:p>
        </p:txBody>
      </p:sp>
      <p:sp>
        <p:nvSpPr>
          <p:cNvPr id="16" name="Rectangle 15"/>
          <p:cNvSpPr/>
          <p:nvPr/>
        </p:nvSpPr>
        <p:spPr>
          <a:xfrm>
            <a:off x="566928" y="3456432"/>
            <a:ext cx="731520" cy="365760"/>
          </a:xfrm>
          <a:prstGeom prst="rect">
            <a:avLst/>
          </a:prstGeom>
          <a:solidFill>
            <a:srgbClr val="F3D230"/>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3502151"/>
            <a:ext cx="585216" cy="274320"/>
          </a:xfrm>
          <a:prstGeom prst="rect">
            <a:avLst/>
          </a:prstGeom>
          <a:noFill/>
        </p:spPr>
        <p:txBody>
          <a:bodyPr wrap="square" anchor="t" lIns="0" rIns="0" tIns="0" bIns="0">
            <a:spAutoFit/>
          </a:bodyPr>
          <a:lstStyle/>
          <a:p>
            <a:pPr algn="ctr">
              <a:lnSpc>
                <a:spcPct val="100000"/>
              </a:lnSpc>
            </a:pPr>
            <a:r>
              <a:rPr sz="1000" b="1">
                <a:solidFill>
                  <a:srgbClr val="000000"/>
                </a:solidFill>
                <a:latin typeface="Source Han Sans SC"/>
              </a:rPr>
              <a:t>YES</a:t>
            </a:r>
          </a:p>
        </p:txBody>
      </p:sp>
      <p:sp>
        <p:nvSpPr>
          <p:cNvPr id="18" name="TextBox 17"/>
          <p:cNvSpPr txBox="1"/>
          <p:nvPr/>
        </p:nvSpPr>
        <p:spPr>
          <a:xfrm>
            <a:off x="1463040" y="3493008"/>
            <a:ext cx="7114032" cy="329184"/>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minimal but one complete loop — it senses, then it reacts, once. Today is lap one of Neil's spiral development.</a:t>
            </a:r>
          </a:p>
        </p:txBody>
      </p:sp>
      <p:sp>
        <p:nvSpPr>
          <p:cNvPr id="19" name="Rectangle 18"/>
          <p:cNvSpPr/>
          <p:nvPr/>
        </p:nvSpPr>
        <p:spPr>
          <a:xfrm>
            <a:off x="566928" y="3895344"/>
            <a:ext cx="731520" cy="36576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3941063"/>
            <a:ext cx="585216" cy="274320"/>
          </a:xfrm>
          <a:prstGeom prst="rect">
            <a:avLst/>
          </a:prstGeom>
          <a:noFill/>
        </p:spPr>
        <p:txBody>
          <a:bodyPr wrap="square" anchor="t" lIns="0" rIns="0" tIns="0" bIns="0">
            <a:spAutoFit/>
          </a:bodyPr>
          <a:lstStyle/>
          <a:p>
            <a:pPr algn="ctr">
              <a:lnSpc>
                <a:spcPct val="100000"/>
              </a:lnSpc>
            </a:pPr>
            <a:r>
              <a:rPr sz="1000" b="1">
                <a:solidFill>
                  <a:srgbClr val="000000"/>
                </a:solidFill>
                <a:latin typeface="Source Han Sans SC"/>
              </a:rPr>
              <a:t>NOT</a:t>
            </a:r>
          </a:p>
        </p:txBody>
      </p:sp>
      <p:sp>
        <p:nvSpPr>
          <p:cNvPr id="21" name="TextBox 20"/>
          <p:cNvSpPr txBox="1"/>
          <p:nvPr/>
        </p:nvSpPr>
        <p:spPr>
          <a:xfrm>
            <a:off x="1463040" y="3931920"/>
            <a:ext cx="7114032" cy="329184"/>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every feature on your requirements sheet — the rest sleeps soundly on the "later" list.</a:t>
            </a:r>
          </a:p>
        </p:txBody>
      </p:sp>
      <p:sp>
        <p:nvSpPr>
          <p:cNvPr id="22" name="Rectangle 21"/>
          <p:cNvSpPr/>
          <p:nvPr/>
        </p:nvSpPr>
        <p:spPr>
          <a:xfrm>
            <a:off x="566928" y="4334256"/>
            <a:ext cx="731520" cy="36576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4379976"/>
            <a:ext cx="585216" cy="274320"/>
          </a:xfrm>
          <a:prstGeom prst="rect">
            <a:avLst/>
          </a:prstGeom>
          <a:noFill/>
        </p:spPr>
        <p:txBody>
          <a:bodyPr wrap="square" anchor="t" lIns="0" rIns="0" tIns="0" bIns="0">
            <a:spAutoFit/>
          </a:bodyPr>
          <a:lstStyle/>
          <a:p>
            <a:pPr algn="ctr">
              <a:lnSpc>
                <a:spcPct val="100000"/>
              </a:lnSpc>
            </a:pPr>
            <a:r>
              <a:rPr sz="1000" b="1">
                <a:solidFill>
                  <a:srgbClr val="000000"/>
                </a:solidFill>
                <a:latin typeface="Source Han Sans SC"/>
              </a:rPr>
              <a:t>NOT</a:t>
            </a:r>
          </a:p>
        </p:txBody>
      </p:sp>
      <p:sp>
        <p:nvSpPr>
          <p:cNvPr id="24" name="TextBox 23"/>
          <p:cNvSpPr txBox="1"/>
          <p:nvPr/>
        </p:nvSpPr>
        <p:spPr>
          <a:xfrm>
            <a:off x="1463040" y="4370832"/>
            <a:ext cx="7114032" cy="329184"/>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a half-finished thing. Half-finished is "made half of 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Run the First Lap | 04 / 42</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Brandy's First Version? One Key.</a:t>
            </a:r>
          </a:p>
        </p:txBody>
      </p:sp>
      <p:sp>
        <p:nvSpPr>
          <p:cNvPr id="6" name="TextBox 5"/>
          <p:cNvSpPr txBox="1"/>
          <p:nvPr/>
        </p:nvSpPr>
        <p:spPr>
          <a:xfrm>
            <a:off x="566928" y="932688"/>
            <a:ext cx="8010144" cy="512064"/>
          </a:xfrm>
          <a:prstGeom prst="rect">
            <a:avLst/>
          </a:prstGeom>
          <a:noFill/>
        </p:spPr>
        <p:txBody>
          <a:bodyPr wrap="square" anchor="t" lIns="0" rIns="0" tIns="0" bIns="0">
            <a:spAutoFit/>
          </a:bodyPr>
          <a:lstStyle/>
          <a:p>
            <a:pPr algn="l">
              <a:lnSpc>
                <a:spcPct val="130000"/>
              </a:lnSpc>
            </a:pPr>
            <a:r>
              <a:rPr sz="1250" b="0">
                <a:solidFill>
                  <a:srgbClr val="000000"/>
                </a:solidFill>
                <a:latin typeface="Source Han Sans SC"/>
              </a:rPr>
              <a:t>Remember Brandy — Seeed's application engineer, the one who built a voice keyboard with ZERO code. Her first version had ONE key. One.</a:t>
            </a:r>
          </a:p>
        </p:txBody>
      </p:sp>
      <p:sp>
        <p:nvSpPr>
          <p:cNvPr id="7" name="Rectangle 6"/>
          <p:cNvSpPr/>
          <p:nvPr/>
        </p:nvSpPr>
        <p:spPr>
          <a:xfrm>
            <a:off x="566928" y="1572768"/>
            <a:ext cx="8010144" cy="987552"/>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1700784"/>
            <a:ext cx="7607808" cy="768096"/>
          </a:xfrm>
          <a:prstGeom prst="rect">
            <a:avLst/>
          </a:prstGeom>
          <a:noFill/>
        </p:spPr>
        <p:txBody>
          <a:bodyPr wrap="square" anchor="t" lIns="0" rIns="0" tIns="0" bIns="0">
            <a:spAutoFit/>
          </a:bodyPr>
          <a:lstStyle/>
          <a:p>
            <a:pPr algn="l">
              <a:lnSpc>
                <a:spcPct val="135000"/>
              </a:lnSpc>
            </a:pPr>
            <a:r>
              <a:rPr sz="1600" b="1">
                <a:solidFill>
                  <a:srgbClr val="000000"/>
                </a:solidFill>
                <a:latin typeface="Source Han Sans SC"/>
              </a:rPr>
              <a:t>20 presses in a row, not one missed.</a:t>
            </a:r>
          </a:p>
          <a:p>
            <a:pPr algn="l">
              <a:lnSpc>
                <a:spcPct val="135000"/>
              </a:lnSpc>
            </a:pPr>
            <a:r>
              <a:rPr sz="1150" b="0">
                <a:solidFill>
                  <a:srgbClr val="000000"/>
                </a:solidFill>
                <a:latin typeface="Source Han Sans SC"/>
              </a:rPr>
              <a:t>Doesn't pass? No new features. Passes? Then the second key goes in. She uses that keyboard every day now.</a:t>
            </a:r>
          </a:p>
        </p:txBody>
      </p:sp>
      <p:pic>
        <p:nvPicPr>
          <p:cNvPr id="9" name="Picture 8" descr="brandy_single_key.jpg"/>
          <p:cNvPicPr>
            <a:picLocks noChangeAspect="1"/>
          </p:cNvPicPr>
          <p:nvPr/>
        </p:nvPicPr>
        <p:blipFill>
          <a:blip r:embed="rId2"/>
          <a:stretch>
            <a:fillRect/>
          </a:stretch>
        </p:blipFill>
        <p:spPr>
          <a:xfrm>
            <a:off x="2926080" y="2743200"/>
            <a:ext cx="3291840" cy="2011680"/>
          </a:xfrm>
          <a:prstGeom prst="rect">
            <a:avLst/>
          </a:prstGeom>
        </p:spPr>
      </p:pic>
      <p:sp>
        <p:nvSpPr>
          <p:cNvPr id="10" name="Rectangle 9"/>
          <p:cNvSpPr/>
          <p:nvPr/>
        </p:nvSpPr>
        <p:spPr>
          <a:xfrm>
            <a:off x="566928" y="4041648"/>
            <a:ext cx="64008" cy="73152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4096512"/>
            <a:ext cx="7772400" cy="676656"/>
          </a:xfrm>
          <a:prstGeom prst="rect">
            <a:avLst/>
          </a:prstGeom>
          <a:noFill/>
        </p:spPr>
        <p:txBody>
          <a:bodyPr wrap="square" anchor="t" lIns="0" rIns="0" tIns="0" bIns="0">
            <a:spAutoFit/>
          </a:bodyPr>
          <a:lstStyle/>
          <a:p>
            <a:pPr algn="l">
              <a:lnSpc>
                <a:spcPct val="125000"/>
              </a:lnSpc>
            </a:pPr>
            <a:r>
              <a:rPr sz="1300" b="1">
                <a:solidFill>
                  <a:srgbClr val="000000"/>
                </a:solidFill>
                <a:latin typeface="Source Han Sans SC"/>
              </a:rPr>
              <a:t>MINIMAL IS NOT CRUDE — IT'S PROFESSIONAL.</a:t>
            </a:r>
          </a:p>
          <a:p>
            <a:pPr algn="l">
              <a:lnSpc>
                <a:spcPct val="125000"/>
              </a:lnSpc>
            </a:pPr>
            <a:r>
              <a:rPr sz="1100" b="0">
                <a:solidFill>
                  <a:srgbClr val="000000"/>
                </a:solidFill>
                <a:latin typeface="Source Han Sans SC"/>
              </a:rPr>
              <a:t>Your first loop is the same: don't grab for more. Walk it through once. Twenty presses, not one missed.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Run the First Lap | 05 / 42</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The Three Rules of Build Time</a:t>
            </a:r>
          </a:p>
        </p:txBody>
      </p:sp>
      <p:sp>
        <p:nvSpPr>
          <p:cNvPr id="6" name="Rectangle 5"/>
          <p:cNvSpPr/>
          <p:nvPr/>
        </p:nvSpPr>
        <p:spPr>
          <a:xfrm>
            <a:off x="566928" y="1024128"/>
            <a:ext cx="8010144" cy="932688"/>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76656" y="1115568"/>
            <a:ext cx="310896" cy="310896"/>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6656" y="1143000"/>
            <a:ext cx="310896" cy="292608"/>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1</a:t>
            </a:r>
          </a:p>
        </p:txBody>
      </p:sp>
      <p:sp>
        <p:nvSpPr>
          <p:cNvPr id="9" name="TextBox 8"/>
          <p:cNvSpPr txBox="1"/>
          <p:nvPr/>
        </p:nvSpPr>
        <p:spPr>
          <a:xfrm>
            <a:off x="1133856" y="1170432"/>
            <a:ext cx="7223760" cy="713232"/>
          </a:xfrm>
          <a:prstGeom prst="rect">
            <a:avLst/>
          </a:prstGeom>
          <a:noFill/>
        </p:spPr>
        <p:txBody>
          <a:bodyPr wrap="square" anchor="t" lIns="0" rIns="0" tIns="0" bIns="0">
            <a:spAutoFit/>
          </a:bodyPr>
          <a:lstStyle/>
          <a:p>
            <a:pPr algn="l">
              <a:lnSpc>
                <a:spcPct val="120000"/>
              </a:lnSpc>
            </a:pPr>
            <a:r>
              <a:rPr sz="1400" b="1">
                <a:solidFill>
                  <a:srgbClr val="000000"/>
                </a:solidFill>
                <a:latin typeface="Source Han Sans SC"/>
              </a:rPr>
              <a:t>Check against your requirements sheet — changing it is allowed, CROSS IT OUT, DON'T ERASE.</a:t>
            </a:r>
          </a:p>
        </p:txBody>
      </p:sp>
      <p:sp>
        <p:nvSpPr>
          <p:cNvPr id="10" name="Rectangle 9"/>
          <p:cNvSpPr/>
          <p:nvPr/>
        </p:nvSpPr>
        <p:spPr>
          <a:xfrm>
            <a:off x="566928" y="2048256"/>
            <a:ext cx="8010144" cy="932688"/>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76656" y="2139696"/>
            <a:ext cx="310896" cy="310896"/>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6656" y="2167127"/>
            <a:ext cx="310896" cy="292608"/>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2</a:t>
            </a:r>
          </a:p>
        </p:txBody>
      </p:sp>
      <p:sp>
        <p:nvSpPr>
          <p:cNvPr id="13" name="Rectangle 12"/>
          <p:cNvSpPr/>
          <p:nvPr/>
        </p:nvSpPr>
        <p:spPr>
          <a:xfrm>
            <a:off x="566928" y="2048256"/>
            <a:ext cx="64008" cy="932688"/>
          </a:xfrm>
          <a:prstGeom prst="rect">
            <a:avLst/>
          </a:prstGeom>
          <a:solidFill>
            <a:srgbClr val="D841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86384" y="2157984"/>
            <a:ext cx="109728" cy="109728"/>
          </a:xfrm>
          <a:prstGeom prst="ellipse">
            <a:avLst/>
          </a:prstGeom>
          <a:solidFill>
            <a:srgbClr val="D841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33856" y="2103120"/>
            <a:ext cx="7223760" cy="822960"/>
          </a:xfrm>
          <a:prstGeom prst="rect">
            <a:avLst/>
          </a:prstGeom>
          <a:noFill/>
        </p:spPr>
        <p:txBody>
          <a:bodyPr wrap="square" anchor="t" lIns="0" rIns="0" tIns="0" bIns="0">
            <a:spAutoFit/>
          </a:bodyPr>
          <a:lstStyle/>
          <a:p>
            <a:pPr algn="l">
              <a:lnSpc>
                <a:spcPct val="120000"/>
              </a:lnSpc>
            </a:pPr>
            <a:r>
              <a:rPr sz="1400" b="1">
                <a:solidFill>
                  <a:srgbClr val="D84144"/>
                </a:solidFill>
                <a:latin typeface="Source Han Sans SC"/>
              </a:rPr>
              <a:t>15 MINUTES WITH NO PROGRESS = RAISE YOUR HAND —</a:t>
            </a:r>
          </a:p>
          <a:p>
            <a:pPr algn="l">
              <a:lnSpc>
                <a:spcPct val="120000"/>
              </a:lnSpc>
            </a:pPr>
            <a:r>
              <a:rPr sz="1350" b="1">
                <a:solidFill>
                  <a:srgbClr val="D84144"/>
                </a:solidFill>
                <a:latin typeface="Source Han Sans SC"/>
              </a:rPr>
              <a:t>STUCK IS NOT SHAMEFUL; TOUGHING IT OUT SILENTLY IS</a:t>
            </a:r>
          </a:p>
        </p:txBody>
      </p:sp>
      <p:sp>
        <p:nvSpPr>
          <p:cNvPr id="16" name="Rectangle 15"/>
          <p:cNvSpPr/>
          <p:nvPr/>
        </p:nvSpPr>
        <p:spPr>
          <a:xfrm>
            <a:off x="566928" y="3072384"/>
            <a:ext cx="8010144" cy="932688"/>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76656" y="3163824"/>
            <a:ext cx="310896" cy="310896"/>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6656" y="3191256"/>
            <a:ext cx="310896" cy="292608"/>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3</a:t>
            </a:r>
          </a:p>
        </p:txBody>
      </p:sp>
      <p:sp>
        <p:nvSpPr>
          <p:cNvPr id="19" name="TextBox 18"/>
          <p:cNvSpPr txBox="1"/>
          <p:nvPr/>
        </p:nvSpPr>
        <p:spPr>
          <a:xfrm>
            <a:off x="1133856" y="3218688"/>
            <a:ext cx="7223760" cy="713232"/>
          </a:xfrm>
          <a:prstGeom prst="rect">
            <a:avLst/>
          </a:prstGeom>
          <a:noFill/>
        </p:spPr>
        <p:txBody>
          <a:bodyPr wrap="square" anchor="t" lIns="0" rIns="0" tIns="0" bIns="0">
            <a:spAutoFit/>
          </a:bodyPr>
          <a:lstStyle/>
          <a:p>
            <a:pPr algn="l">
              <a:lnSpc>
                <a:spcPct val="120000"/>
              </a:lnSpc>
            </a:pPr>
            <a:r>
              <a:rPr sz="1400" b="1">
                <a:solidFill>
                  <a:srgbClr val="000000"/>
                </a:solidFill>
                <a:latin typeface="Source Han Sans SC"/>
              </a:rPr>
              <a:t>Code questions go to your AI first — "one step at a time."</a:t>
            </a:r>
          </a:p>
        </p:txBody>
      </p:sp>
      <p:sp>
        <p:nvSpPr>
          <p:cNvPr id="20" name="Rectangle 19"/>
          <p:cNvSpPr/>
          <p:nvPr/>
        </p:nvSpPr>
        <p:spPr>
          <a:xfrm>
            <a:off x="566928" y="4133087"/>
            <a:ext cx="8010144" cy="6400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4242816"/>
            <a:ext cx="7680960" cy="420623"/>
          </a:xfrm>
          <a:prstGeom prst="rect">
            <a:avLst/>
          </a:prstGeom>
          <a:noFill/>
        </p:spPr>
        <p:txBody>
          <a:bodyPr wrap="square" anchor="t" lIns="0" rIns="0" tIns="0" bIns="0">
            <a:spAutoFit/>
          </a:bodyPr>
          <a:lstStyle/>
          <a:p>
            <a:pPr algn="l">
              <a:lnSpc>
                <a:spcPct val="125000"/>
              </a:lnSpc>
            </a:pPr>
            <a:r>
              <a:rPr sz="1300" b="0">
                <a:solidFill>
                  <a:srgbClr val="000000"/>
                </a:solidFill>
                <a:latin typeface="Source Han Sans SC"/>
              </a:rPr>
              <a:t>Change is allowed — cross it out, don't erase — so everyone can see you changed your mind.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Run the First Lap | 06 / 42</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The Stand-Up</a:t>
            </a:r>
          </a:p>
        </p:txBody>
      </p:sp>
      <p:sp>
        <p:nvSpPr>
          <p:cNvPr id="6" name="TextBox 5"/>
          <p:cNvSpPr txBox="1"/>
          <p:nvPr/>
        </p:nvSpPr>
        <p:spPr>
          <a:xfrm>
            <a:off x="566928" y="914400"/>
            <a:ext cx="8138160" cy="365760"/>
          </a:xfrm>
          <a:prstGeom prst="rect">
            <a:avLst/>
          </a:prstGeom>
          <a:noFill/>
        </p:spPr>
        <p:txBody>
          <a:bodyPr wrap="square" anchor="t" lIns="0" rIns="0" tIns="0" bIns="0">
            <a:spAutoFit/>
          </a:bodyPr>
          <a:lstStyle/>
          <a:p>
            <a:pPr algn="l">
              <a:lnSpc>
                <a:spcPct val="100000"/>
              </a:lnSpc>
            </a:pPr>
            <a:r>
              <a:rPr sz="1300" b="0">
                <a:solidFill>
                  <a:srgbClr val="000000"/>
                </a:solidFill>
                <a:latin typeface="Source Han Sans SC"/>
              </a:rPr>
              <a:t>one sentence each, verifiable</a:t>
            </a:r>
          </a:p>
        </p:txBody>
      </p:sp>
      <p:sp>
        <p:nvSpPr>
          <p:cNvPr id="7" name="Rectangle 6"/>
          <p:cNvSpPr/>
          <p:nvPr/>
        </p:nvSpPr>
        <p:spPr>
          <a:xfrm>
            <a:off x="566928" y="1325880"/>
            <a:ext cx="8010144" cy="109728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00200"/>
            <a:ext cx="7315200" cy="594360"/>
          </a:xfrm>
          <a:prstGeom prst="rect">
            <a:avLst/>
          </a:prstGeom>
          <a:noFill/>
        </p:spPr>
        <p:txBody>
          <a:bodyPr wrap="square" anchor="t" lIns="0" rIns="0" tIns="0" bIns="0">
            <a:spAutoFit/>
          </a:bodyPr>
          <a:lstStyle/>
          <a:p>
            <a:pPr algn="ctr">
              <a:lnSpc>
                <a:spcPct val="100000"/>
              </a:lnSpc>
            </a:pPr>
            <a:r>
              <a:rPr sz="2200" b="1">
                <a:solidFill>
                  <a:srgbClr val="000000"/>
                </a:solidFill>
                <a:latin typeface="Source Han Sans SC"/>
              </a:rPr>
              <a:t>"TODAY I'LL FIRST MAKE ___ RUN."</a:t>
            </a:r>
          </a:p>
        </p:txBody>
      </p:sp>
      <p:sp>
        <p:nvSpPr>
          <p:cNvPr id="9" name="TextBox 8"/>
          <p:cNvSpPr txBox="1"/>
          <p:nvPr/>
        </p:nvSpPr>
        <p:spPr>
          <a:xfrm>
            <a:off x="566928" y="2633472"/>
            <a:ext cx="8010144" cy="219456"/>
          </a:xfrm>
          <a:prstGeom prst="rect">
            <a:avLst/>
          </a:prstGeom>
          <a:noFill/>
        </p:spPr>
        <p:txBody>
          <a:bodyPr wrap="square" anchor="t" lIns="0" rIns="0" tIns="0" bIns="0">
            <a:spAutoFit/>
          </a:bodyPr>
          <a:lstStyle/>
          <a:p>
            <a:pPr algn="l">
              <a:lnSpc>
                <a:spcPct val="100000"/>
              </a:lnSpc>
            </a:pPr>
            <a:r>
              <a:rPr sz="1050" b="1">
                <a:solidFill>
                  <a:srgbClr val="000000"/>
                </a:solidFill>
                <a:latin typeface="Source Han Sans SC"/>
              </a:rPr>
              <a:t>CONTRAST</a:t>
            </a:r>
          </a:p>
        </p:txBody>
      </p:sp>
      <p:sp>
        <p:nvSpPr>
          <p:cNvPr id="10" name="Rectangle 9"/>
          <p:cNvSpPr/>
          <p:nvPr/>
        </p:nvSpPr>
        <p:spPr>
          <a:xfrm>
            <a:off x="566928" y="2907792"/>
            <a:ext cx="8010144" cy="438912"/>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907792"/>
            <a:ext cx="731520" cy="438912"/>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999232"/>
            <a:ext cx="548640" cy="256032"/>
          </a:xfrm>
          <a:prstGeom prst="rect">
            <a:avLst/>
          </a:prstGeom>
          <a:noFill/>
        </p:spPr>
        <p:txBody>
          <a:bodyPr wrap="square" anchor="t" lIns="0" rIns="0" tIns="0" bIns="0">
            <a:spAutoFit/>
          </a:bodyPr>
          <a:lstStyle/>
          <a:p>
            <a:pPr algn="ctr">
              <a:lnSpc>
                <a:spcPct val="100000"/>
              </a:lnSpc>
            </a:pPr>
            <a:r>
              <a:rPr sz="1100" b="1">
                <a:solidFill>
                  <a:srgbClr val="000000"/>
                </a:solidFill>
                <a:latin typeface="Source Han Sans SC"/>
              </a:rPr>
              <a:t>NO</a:t>
            </a:r>
          </a:p>
        </p:txBody>
      </p:sp>
      <p:sp>
        <p:nvSpPr>
          <p:cNvPr id="13" name="TextBox 12"/>
          <p:cNvSpPr txBox="1"/>
          <p:nvPr/>
        </p:nvSpPr>
        <p:spPr>
          <a:xfrm>
            <a:off x="1463040" y="2962656"/>
            <a:ext cx="6949440" cy="329184"/>
          </a:xfrm>
          <a:prstGeom prst="rect">
            <a:avLst/>
          </a:prstGeom>
          <a:noFill/>
        </p:spPr>
        <p:txBody>
          <a:bodyPr wrap="square" anchor="t" lIns="0" rIns="0" tIns="0" bIns="0">
            <a:spAutoFit/>
          </a:bodyPr>
          <a:lstStyle/>
          <a:p>
            <a:pPr algn="l">
              <a:lnSpc>
                <a:spcPct val="100000"/>
              </a:lnSpc>
            </a:pPr>
            <a:r>
              <a:rPr sz="1100" b="0">
                <a:solidFill>
                  <a:srgbClr val="000000"/>
                </a:solidFill>
                <a:latin typeface="Source Han Sans SC"/>
              </a:rPr>
              <a:t>"Keep working on my project" — doesn't count</a:t>
            </a:r>
          </a:p>
        </p:txBody>
      </p:sp>
      <p:sp>
        <p:nvSpPr>
          <p:cNvPr id="14" name="Rectangle 13"/>
          <p:cNvSpPr/>
          <p:nvPr/>
        </p:nvSpPr>
        <p:spPr>
          <a:xfrm>
            <a:off x="566928" y="3419856"/>
            <a:ext cx="8010144" cy="64008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3419856"/>
            <a:ext cx="731520" cy="640080"/>
          </a:xfrm>
          <a:prstGeom prst="rect">
            <a:avLst/>
          </a:prstGeom>
          <a:solidFill>
            <a:srgbClr val="F3D230"/>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3602736"/>
            <a:ext cx="548640" cy="256032"/>
          </a:xfrm>
          <a:prstGeom prst="rect">
            <a:avLst/>
          </a:prstGeom>
          <a:noFill/>
        </p:spPr>
        <p:txBody>
          <a:bodyPr wrap="square" anchor="t" lIns="0" rIns="0" tIns="0" bIns="0">
            <a:spAutoFit/>
          </a:bodyPr>
          <a:lstStyle/>
          <a:p>
            <a:pPr algn="ctr">
              <a:lnSpc>
                <a:spcPct val="100000"/>
              </a:lnSpc>
            </a:pPr>
            <a:r>
              <a:rPr sz="1100" b="1">
                <a:solidFill>
                  <a:srgbClr val="000000"/>
                </a:solidFill>
                <a:latin typeface="Source Han Sans SC"/>
              </a:rPr>
              <a:t>YES</a:t>
            </a:r>
          </a:p>
        </p:txBody>
      </p:sp>
      <p:sp>
        <p:nvSpPr>
          <p:cNvPr id="17" name="TextBox 16"/>
          <p:cNvSpPr txBox="1"/>
          <p:nvPr/>
        </p:nvSpPr>
        <p:spPr>
          <a:xfrm>
            <a:off x="1463040" y="3493008"/>
            <a:ext cx="6949440" cy="512064"/>
          </a:xfrm>
          <a:prstGeom prst="rect">
            <a:avLst/>
          </a:prstGeom>
          <a:noFill/>
        </p:spPr>
        <p:txBody>
          <a:bodyPr wrap="square" anchor="t" lIns="0" rIns="0" tIns="0" bIns="0">
            <a:spAutoFit/>
          </a:bodyPr>
          <a:lstStyle/>
          <a:p>
            <a:pPr algn="l">
              <a:lnSpc>
                <a:spcPct val="130000"/>
              </a:lnSpc>
            </a:pPr>
            <a:r>
              <a:rPr sz="1150" b="1">
                <a:solidFill>
                  <a:srgbClr val="000000"/>
                </a:solidFill>
                <a:latin typeface="Source Han Sans SC"/>
              </a:rPr>
              <a:t>"Make the button light the LED when pressed" — counts</a:t>
            </a:r>
          </a:p>
          <a:p>
            <a:pPr algn="l">
              <a:lnSpc>
                <a:spcPct val="130000"/>
              </a:lnSpc>
            </a:pPr>
            <a:r>
              <a:rPr sz="1050" b="0">
                <a:solidFill>
                  <a:srgbClr val="000000"/>
                </a:solidFill>
                <a:latin typeface="Source Han Sans SC"/>
              </a:rPr>
              <a:t>(The moment you finish — what will I be able to see?)</a:t>
            </a:r>
          </a:p>
        </p:txBody>
      </p:sp>
      <p:sp>
        <p:nvSpPr>
          <p:cNvPr id="18" name="Rectangle 17"/>
          <p:cNvSpPr/>
          <p:nvPr/>
        </p:nvSpPr>
        <p:spPr>
          <a:xfrm>
            <a:off x="566928" y="4059936"/>
            <a:ext cx="8010144" cy="6400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4169664"/>
            <a:ext cx="7680960" cy="420623"/>
          </a:xfrm>
          <a:prstGeom prst="rect">
            <a:avLst/>
          </a:prstGeom>
          <a:noFill/>
        </p:spPr>
        <p:txBody>
          <a:bodyPr wrap="square" anchor="t" lIns="0" rIns="0" tIns="0" bIns="0">
            <a:spAutoFit/>
          </a:bodyPr>
          <a:lstStyle/>
          <a:p>
            <a:pPr algn="l">
              <a:lnSpc>
                <a:spcPct val="125000"/>
              </a:lnSpc>
            </a:pPr>
            <a:r>
              <a:rPr sz="1000" b="0">
                <a:solidFill>
                  <a:srgbClr val="000000"/>
                </a:solidFill>
                <a:latin typeface="Source Han Sans SC"/>
              </a:rPr>
              <a:t>SMALL CLASS: everyone stands — really standing, that's the stand-up's dignity — one by one. | LARGE CLASS: pair up and say it to each other, then write the sentence at the top of your requirements sheet (that's the stand-up's trace).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Run the First Lap | 07 / 42</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Check Out the Parts</a:t>
            </a:r>
          </a:p>
        </p:txBody>
      </p:sp>
      <p:sp>
        <p:nvSpPr>
          <p:cNvPr id="6" name="TextBox 5"/>
          <p:cNvSpPr txBox="1"/>
          <p:nvPr/>
        </p:nvSpPr>
        <p:spPr>
          <a:xfrm>
            <a:off x="566928" y="914400"/>
            <a:ext cx="8138160" cy="365760"/>
          </a:xfrm>
          <a:prstGeom prst="rect">
            <a:avLst/>
          </a:prstGeom>
          <a:noFill/>
        </p:spPr>
        <p:txBody>
          <a:bodyPr wrap="square" anchor="t" lIns="0" rIns="0" tIns="0" bIns="0">
            <a:spAutoFit/>
          </a:bodyPr>
          <a:lstStyle/>
          <a:p>
            <a:pPr algn="l">
              <a:lnSpc>
                <a:spcPct val="100000"/>
              </a:lnSpc>
            </a:pPr>
            <a:r>
              <a:rPr sz="1300" b="0">
                <a:solidFill>
                  <a:srgbClr val="000000"/>
                </a:solidFill>
                <a:latin typeface="Source Han Sans SC"/>
              </a:rPr>
              <a:t>by the sheet, register everything</a:t>
            </a:r>
          </a:p>
        </p:txBody>
      </p:sp>
      <p:sp>
        <p:nvSpPr>
          <p:cNvPr id="7" name="Rectangle 6"/>
          <p:cNvSpPr/>
          <p:nvPr/>
        </p:nvSpPr>
        <p:spPr>
          <a:xfrm>
            <a:off x="566928" y="1298448"/>
            <a:ext cx="8010144" cy="64008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76656" y="1463039"/>
            <a:ext cx="310896" cy="310896"/>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6656" y="1490472"/>
            <a:ext cx="310896" cy="292608"/>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1</a:t>
            </a:r>
          </a:p>
        </p:txBody>
      </p:sp>
      <p:sp>
        <p:nvSpPr>
          <p:cNvPr id="10" name="TextBox 9"/>
          <p:cNvSpPr txBox="1"/>
          <p:nvPr/>
        </p:nvSpPr>
        <p:spPr>
          <a:xfrm>
            <a:off x="1133856" y="1389888"/>
            <a:ext cx="7315200" cy="475488"/>
          </a:xfrm>
          <a:prstGeom prst="rect">
            <a:avLst/>
          </a:prstGeom>
          <a:noFill/>
        </p:spPr>
        <p:txBody>
          <a:bodyPr wrap="square" anchor="t" lIns="0" rIns="0" tIns="0" bIns="0">
            <a:spAutoFit/>
          </a:bodyPr>
          <a:lstStyle/>
          <a:p>
            <a:pPr algn="l">
              <a:lnSpc>
                <a:spcPct val="115000"/>
              </a:lnSpc>
            </a:pPr>
            <a:r>
              <a:rPr sz="1050" b="0">
                <a:solidFill>
                  <a:srgbClr val="000000"/>
                </a:solidFill>
                <a:latin typeface="Source Han Sans SC"/>
              </a:rPr>
              <a:t>Take only what your requirements sheet's hardware row says — NO TAKING PARTS YOU DON'T NEED (everything you eyed during the tour waits until the sheet changes)</a:t>
            </a:r>
          </a:p>
        </p:txBody>
      </p:sp>
      <p:sp>
        <p:nvSpPr>
          <p:cNvPr id="11" name="Rectangle 10"/>
          <p:cNvSpPr/>
          <p:nvPr/>
        </p:nvSpPr>
        <p:spPr>
          <a:xfrm>
            <a:off x="566928" y="2011680"/>
            <a:ext cx="8010144" cy="64008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76656" y="2176272"/>
            <a:ext cx="310896" cy="310896"/>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6656" y="2203704"/>
            <a:ext cx="310896" cy="292608"/>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2</a:t>
            </a:r>
          </a:p>
        </p:txBody>
      </p:sp>
      <p:sp>
        <p:nvSpPr>
          <p:cNvPr id="14" name="TextBox 13"/>
          <p:cNvSpPr txBox="1"/>
          <p:nvPr/>
        </p:nvSpPr>
        <p:spPr>
          <a:xfrm>
            <a:off x="1133856" y="2103120"/>
            <a:ext cx="7315200" cy="475488"/>
          </a:xfrm>
          <a:prstGeom prst="rect">
            <a:avLst/>
          </a:prstGeom>
          <a:noFill/>
        </p:spPr>
        <p:txBody>
          <a:bodyPr wrap="square" anchor="t" lIns="0" rIns="0" tIns="0" bIns="0">
            <a:spAutoFit/>
          </a:bodyPr>
          <a:lstStyle/>
          <a:p>
            <a:pPr algn="l">
              <a:lnSpc>
                <a:spcPct val="115000"/>
              </a:lnSpc>
            </a:pPr>
            <a:r>
              <a:rPr sz="1050" b="0">
                <a:solidFill>
                  <a:srgbClr val="000000"/>
                </a:solidFill>
                <a:latin typeface="Source Han Sans SC"/>
              </a:rPr>
              <a:t>Register everything you take — name on your table's sheet</a:t>
            </a:r>
          </a:p>
        </p:txBody>
      </p:sp>
      <p:sp>
        <p:nvSpPr>
          <p:cNvPr id="15" name="Rectangle 14"/>
          <p:cNvSpPr/>
          <p:nvPr/>
        </p:nvSpPr>
        <p:spPr>
          <a:xfrm>
            <a:off x="566928" y="2724912"/>
            <a:ext cx="8010144" cy="64008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76656" y="2889504"/>
            <a:ext cx="310896" cy="310896"/>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6656" y="2916936"/>
            <a:ext cx="310896" cy="292608"/>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3</a:t>
            </a:r>
          </a:p>
        </p:txBody>
      </p:sp>
      <p:sp>
        <p:nvSpPr>
          <p:cNvPr id="18" name="TextBox 17"/>
          <p:cNvSpPr txBox="1"/>
          <p:nvPr/>
        </p:nvSpPr>
        <p:spPr>
          <a:xfrm>
            <a:off x="1133856" y="2816352"/>
            <a:ext cx="7315200" cy="475488"/>
          </a:xfrm>
          <a:prstGeom prst="rect">
            <a:avLst/>
          </a:prstGeom>
          <a:noFill/>
        </p:spPr>
        <p:txBody>
          <a:bodyPr wrap="square" anchor="t" lIns="0" rIns="0" tIns="0" bIns="0">
            <a:spAutoFit/>
          </a:bodyPr>
          <a:lstStyle/>
          <a:p>
            <a:pPr algn="l">
              <a:lnSpc>
                <a:spcPct val="115000"/>
              </a:lnSpc>
            </a:pPr>
            <a:r>
              <a:rPr sz="1050" b="0">
                <a:solidFill>
                  <a:srgbClr val="000000"/>
                </a:solidFill>
                <a:latin typeface="Source Han Sans SC"/>
              </a:rPr>
              <a:t>Hot part already gone? Write it in the queue area on the board — then find a substitute. Engineer's first lesson: solve the problem with what you have</a:t>
            </a:r>
          </a:p>
        </p:txBody>
      </p:sp>
      <p:sp>
        <p:nvSpPr>
          <p:cNvPr id="19" name="Rectangle 18"/>
          <p:cNvSpPr/>
          <p:nvPr/>
        </p:nvSpPr>
        <p:spPr>
          <a:xfrm>
            <a:off x="566928" y="3438144"/>
            <a:ext cx="8010144" cy="64008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76656" y="3602736"/>
            <a:ext cx="310896" cy="310896"/>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6656" y="3630168"/>
            <a:ext cx="310896" cy="292608"/>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4</a:t>
            </a:r>
          </a:p>
        </p:txBody>
      </p:sp>
      <p:sp>
        <p:nvSpPr>
          <p:cNvPr id="22" name="TextBox 21"/>
          <p:cNvSpPr txBox="1"/>
          <p:nvPr/>
        </p:nvSpPr>
        <p:spPr>
          <a:xfrm>
            <a:off x="1133856" y="3529584"/>
            <a:ext cx="7315200" cy="475488"/>
          </a:xfrm>
          <a:prstGeom prst="rect">
            <a:avLst/>
          </a:prstGeom>
          <a:noFill/>
        </p:spPr>
        <p:txBody>
          <a:bodyPr wrap="square" anchor="t" lIns="0" rIns="0" tIns="0" bIns="0">
            <a:spAutoFit/>
          </a:bodyPr>
          <a:lstStyle/>
          <a:p>
            <a:pPr algn="l">
              <a:lnSpc>
                <a:spcPct val="115000"/>
              </a:lnSpc>
            </a:pPr>
            <a:r>
              <a:rPr sz="1050" b="0">
                <a:solidFill>
                  <a:srgbClr val="000000"/>
                </a:solidFill>
                <a:latin typeface="Source Han Sans SC"/>
              </a:rPr>
              <a:t>Sheet lists something not in the pool? Change the need on the spot — cross it out, don't erase, write the substitute</a:t>
            </a:r>
          </a:p>
        </p:txBody>
      </p:sp>
      <p:sp>
        <p:nvSpPr>
          <p:cNvPr id="23" name="Rectangle 22"/>
          <p:cNvSpPr/>
          <p:nvPr/>
        </p:nvSpPr>
        <p:spPr>
          <a:xfrm>
            <a:off x="566928" y="4187952"/>
            <a:ext cx="8010144" cy="585216"/>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4297680"/>
            <a:ext cx="7680960" cy="365760"/>
          </a:xfrm>
          <a:prstGeom prst="rect">
            <a:avLst/>
          </a:prstGeom>
          <a:noFill/>
        </p:spPr>
        <p:txBody>
          <a:bodyPr wrap="square" anchor="t" lIns="0" rIns="0" tIns="0" bIns="0">
            <a:spAutoFit/>
          </a:bodyPr>
          <a:lstStyle/>
          <a:p>
            <a:pPr algn="l">
              <a:lnSpc>
                <a:spcPct val="125000"/>
              </a:lnSpc>
            </a:pPr>
            <a:r>
              <a:rPr sz="1200" b="0">
                <a:solidFill>
                  <a:srgbClr val="000000"/>
                </a:solidFill>
                <a:latin typeface="Source Han Sans SC"/>
              </a:rPr>
              <a:t>At the end of every leg, parts you're not using go back — it's a shared pool; you'll need it next leg.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Run the First Lap | 08 / 42</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Start — Cut the Loop in Two</a:t>
            </a:r>
          </a:p>
        </p:txBody>
      </p:sp>
      <p:sp>
        <p:nvSpPr>
          <p:cNvPr id="6" name="Rectangle 5"/>
          <p:cNvSpPr/>
          <p:nvPr/>
        </p:nvSpPr>
        <p:spPr>
          <a:xfrm>
            <a:off x="566928" y="1325880"/>
            <a:ext cx="3474720" cy="100584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481328"/>
            <a:ext cx="3145536" cy="731520"/>
          </a:xfrm>
          <a:prstGeom prst="rect">
            <a:avLst/>
          </a:prstGeom>
          <a:noFill/>
        </p:spPr>
        <p:txBody>
          <a:bodyPr wrap="square" anchor="t" lIns="0" rIns="0" tIns="0" bIns="0">
            <a:spAutoFit/>
          </a:bodyPr>
          <a:lstStyle/>
          <a:p>
            <a:pPr algn="l">
              <a:lnSpc>
                <a:spcPct val="130000"/>
              </a:lnSpc>
            </a:pPr>
            <a:r>
              <a:rPr sz="1600" b="1">
                <a:solidFill>
                  <a:srgbClr val="000000"/>
                </a:solidFill>
                <a:latin typeface="Source Han Sans SC"/>
              </a:rPr>
              <a:t>1</a:t>
            </a:r>
          </a:p>
          <a:p>
            <a:pPr algn="l">
              <a:lnSpc>
                <a:spcPct val="130000"/>
              </a:lnSpc>
            </a:pPr>
            <a:r>
              <a:rPr sz="1350" b="1">
                <a:solidFill>
                  <a:srgbClr val="000000"/>
                </a:solidFill>
                <a:latin typeface="Source Han Sans SC"/>
              </a:rPr>
              <a:t>MAKE IT SENSE</a:t>
            </a:r>
          </a:p>
          <a:p>
            <a:pPr algn="l">
              <a:lnSpc>
                <a:spcPct val="130000"/>
              </a:lnSpc>
            </a:pPr>
            <a:r>
              <a:rPr sz="1100" b="0">
                <a:solidFill>
                  <a:srgbClr val="000000"/>
                </a:solidFill>
                <a:latin typeface="Source Han Sans SC"/>
              </a:rPr>
              <a:t>the sensor has a reading</a:t>
            </a:r>
          </a:p>
        </p:txBody>
      </p:sp>
      <p:sp>
        <p:nvSpPr>
          <p:cNvPr id="8" name="TextBox 7"/>
          <p:cNvSpPr txBox="1"/>
          <p:nvPr/>
        </p:nvSpPr>
        <p:spPr>
          <a:xfrm>
            <a:off x="4224528" y="1572768"/>
            <a:ext cx="694944" cy="502920"/>
          </a:xfrm>
          <a:prstGeom prst="rect">
            <a:avLst/>
          </a:prstGeom>
          <a:noFill/>
        </p:spPr>
        <p:txBody>
          <a:bodyPr wrap="square" anchor="ctr" lIns="0" rIns="0" tIns="0" bIns="0">
            <a:spAutoFit/>
          </a:bodyPr>
          <a:lstStyle/>
          <a:p>
            <a:pPr algn="ctr">
              <a:lnSpc>
                <a:spcPct val="100000"/>
              </a:lnSpc>
            </a:pPr>
            <a:r>
              <a:rPr sz="2800" b="1">
                <a:solidFill>
                  <a:srgbClr val="F3D230"/>
                </a:solidFill>
                <a:latin typeface="Source Han Sans SC"/>
              </a:rPr>
              <a:t>→</a:t>
            </a:r>
          </a:p>
        </p:txBody>
      </p:sp>
      <p:sp>
        <p:nvSpPr>
          <p:cNvPr id="9" name="Rectangle 8"/>
          <p:cNvSpPr/>
          <p:nvPr/>
        </p:nvSpPr>
        <p:spPr>
          <a:xfrm>
            <a:off x="5029200" y="1325880"/>
            <a:ext cx="3547872" cy="100584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93792" y="1481328"/>
            <a:ext cx="3218688" cy="731520"/>
          </a:xfrm>
          <a:prstGeom prst="rect">
            <a:avLst/>
          </a:prstGeom>
          <a:noFill/>
        </p:spPr>
        <p:txBody>
          <a:bodyPr wrap="square" anchor="t" lIns="0" rIns="0" tIns="0" bIns="0">
            <a:spAutoFit/>
          </a:bodyPr>
          <a:lstStyle/>
          <a:p>
            <a:pPr algn="l">
              <a:lnSpc>
                <a:spcPct val="130000"/>
              </a:lnSpc>
            </a:pPr>
            <a:r>
              <a:rPr sz="1600" b="1">
                <a:solidFill>
                  <a:srgbClr val="000000"/>
                </a:solidFill>
                <a:latin typeface="Source Han Sans SC"/>
              </a:rPr>
              <a:t>2</a:t>
            </a:r>
          </a:p>
          <a:p>
            <a:pPr algn="l">
              <a:lnSpc>
                <a:spcPct val="130000"/>
              </a:lnSpc>
            </a:pPr>
            <a:r>
              <a:rPr sz="1350" b="1">
                <a:solidFill>
                  <a:srgbClr val="000000"/>
                </a:solidFill>
                <a:latin typeface="Source Han Sans SC"/>
              </a:rPr>
              <a:t>MAKE IT REACT</a:t>
            </a:r>
          </a:p>
          <a:p>
            <a:pPr algn="l">
              <a:lnSpc>
                <a:spcPct val="130000"/>
              </a:lnSpc>
            </a:pPr>
            <a:r>
              <a:rPr sz="1100" b="0">
                <a:solidFill>
                  <a:srgbClr val="000000"/>
                </a:solidFill>
                <a:latin typeface="Source Han Sans SC"/>
              </a:rPr>
              <a:t>light / buzzer / screen</a:t>
            </a:r>
          </a:p>
        </p:txBody>
      </p:sp>
      <p:sp>
        <p:nvSpPr>
          <p:cNvPr id="11" name="Rectangle 10"/>
          <p:cNvSpPr/>
          <p:nvPr/>
        </p:nvSpPr>
        <p:spPr>
          <a:xfrm>
            <a:off x="566928" y="2560320"/>
            <a:ext cx="8010144" cy="804672"/>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670048"/>
            <a:ext cx="7680960" cy="585216"/>
          </a:xfrm>
          <a:prstGeom prst="rect">
            <a:avLst/>
          </a:prstGeom>
          <a:noFill/>
        </p:spPr>
        <p:txBody>
          <a:bodyPr wrap="square" anchor="t" lIns="0" rIns="0" tIns="0" bIns="0">
            <a:spAutoFit/>
          </a:bodyPr>
          <a:lstStyle/>
          <a:p>
            <a:pPr algn="l">
              <a:lnSpc>
                <a:spcPct val="125000"/>
              </a:lnSpc>
            </a:pPr>
            <a:r>
              <a:rPr sz="1300" b="0">
                <a:solidFill>
                  <a:srgbClr val="000000"/>
                </a:solidFill>
                <a:latin typeface="Source Han Sans SC"/>
              </a:rPr>
              <a:t>ONE STEP AT A TIME. Devices stay on; AI conversation windows stay open. Water and bathroom — your call.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Run the First Lap | 09 / 42</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The Mid-Way Stand-Up</a:t>
            </a:r>
          </a:p>
        </p:txBody>
      </p:sp>
      <p:sp>
        <p:nvSpPr>
          <p:cNvPr id="6" name="TextBox 5"/>
          <p:cNvSpPr txBox="1"/>
          <p:nvPr/>
        </p:nvSpPr>
        <p:spPr>
          <a:xfrm>
            <a:off x="566928" y="914400"/>
            <a:ext cx="8138160" cy="365760"/>
          </a:xfrm>
          <a:prstGeom prst="rect">
            <a:avLst/>
          </a:prstGeom>
          <a:noFill/>
        </p:spPr>
        <p:txBody>
          <a:bodyPr wrap="square" anchor="t" lIns="0" rIns="0" tIns="0" bIns="0">
            <a:spAutoFit/>
          </a:bodyPr>
          <a:lstStyle/>
          <a:p>
            <a:pPr algn="l">
              <a:lnSpc>
                <a:spcPct val="100000"/>
              </a:lnSpc>
            </a:pPr>
            <a:r>
              <a:rPr sz="1300" b="0">
                <a:solidFill>
                  <a:srgbClr val="000000"/>
                </a:solidFill>
                <a:latin typeface="Source Han Sans SC"/>
              </a:rPr>
              <a:t>still standing, still one line</a:t>
            </a:r>
          </a:p>
        </p:txBody>
      </p:sp>
      <p:sp>
        <p:nvSpPr>
          <p:cNvPr id="7" name="Rectangle 6"/>
          <p:cNvSpPr/>
          <p:nvPr/>
        </p:nvSpPr>
        <p:spPr>
          <a:xfrm>
            <a:off x="566928" y="1325880"/>
            <a:ext cx="82296" cy="10972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7824" y="1463040"/>
            <a:ext cx="7589520" cy="822960"/>
          </a:xfrm>
          <a:prstGeom prst="rect">
            <a:avLst/>
          </a:prstGeom>
          <a:noFill/>
        </p:spPr>
        <p:txBody>
          <a:bodyPr wrap="square" anchor="ctr" lIns="0" rIns="0" tIns="0" bIns="0">
            <a:spAutoFit/>
          </a:bodyPr>
          <a:lstStyle/>
          <a:p>
            <a:pPr algn="ctr">
              <a:lnSpc>
                <a:spcPct val="100000"/>
              </a:lnSpc>
            </a:pPr>
            <a:r>
              <a:rPr sz="1800" b="1">
                <a:solidFill>
                  <a:srgbClr val="000000"/>
                </a:solidFill>
                <a:latin typeface="Source Han Sans SC"/>
              </a:rPr>
              <a:t>WHERE I AM  |  WHERE I'M STUCK  |  WHAT I DO NEXT</a:t>
            </a:r>
          </a:p>
        </p:txBody>
      </p:sp>
      <p:sp>
        <p:nvSpPr>
          <p:cNvPr id="9" name="Rectangle 8"/>
          <p:cNvSpPr/>
          <p:nvPr/>
        </p:nvSpPr>
        <p:spPr>
          <a:xfrm>
            <a:off x="566928" y="2651760"/>
            <a:ext cx="8010144" cy="54864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761488"/>
            <a:ext cx="7680960" cy="329184"/>
          </a:xfrm>
          <a:prstGeom prst="rect">
            <a:avLst/>
          </a:prstGeom>
          <a:noFill/>
        </p:spPr>
        <p:txBody>
          <a:bodyPr wrap="square" anchor="t" lIns="0" rIns="0" tIns="0" bIns="0">
            <a:spAutoFit/>
          </a:bodyPr>
          <a:lstStyle/>
          <a:p>
            <a:pPr algn="l">
              <a:lnSpc>
                <a:spcPct val="125000"/>
              </a:lnSpc>
            </a:pPr>
            <a:r>
              <a:rPr sz="1250" b="0">
                <a:solidFill>
                  <a:srgbClr val="000000"/>
                </a:solidFill>
                <a:latin typeface="Source Han Sans SC"/>
              </a:rPr>
              <a:t>Anyone who can't say "next" — the TA notes your name; you get rescued first when the second half starts.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Run the First Lap | 10 / 42</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Second Half — Close the Loop</a:t>
            </a:r>
          </a:p>
        </p:txBody>
      </p:sp>
      <p:sp>
        <p:nvSpPr>
          <p:cNvPr id="6" name="TextBox 5"/>
          <p:cNvSpPr txBox="1"/>
          <p:nvPr/>
        </p:nvSpPr>
        <p:spPr>
          <a:xfrm>
            <a:off x="566928" y="1234440"/>
            <a:ext cx="8010144" cy="502920"/>
          </a:xfrm>
          <a:prstGeom prst="rect">
            <a:avLst/>
          </a:prstGeom>
          <a:noFill/>
        </p:spPr>
        <p:txBody>
          <a:bodyPr wrap="square" anchor="t" lIns="0" rIns="0" tIns="0" bIns="0">
            <a:spAutoFit/>
          </a:bodyPr>
          <a:lstStyle/>
          <a:p>
            <a:pPr algn="ctr">
              <a:lnSpc>
                <a:spcPct val="100000"/>
              </a:lnSpc>
            </a:pPr>
            <a:r>
              <a:rPr sz="1700" b="1">
                <a:solidFill>
                  <a:srgbClr val="000000"/>
                </a:solidFill>
                <a:latin typeface="Source Han Sans SC"/>
              </a:rPr>
              <a:t>Whatever segment the loop is still broken on — that's what you fix.</a:t>
            </a:r>
          </a:p>
        </p:txBody>
      </p:sp>
      <p:sp>
        <p:nvSpPr>
          <p:cNvPr id="7" name="Rectangle 6"/>
          <p:cNvSpPr/>
          <p:nvPr/>
        </p:nvSpPr>
        <p:spPr>
          <a:xfrm>
            <a:off x="566928" y="1901952"/>
            <a:ext cx="8010144" cy="73152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011680"/>
            <a:ext cx="7680960" cy="512064"/>
          </a:xfrm>
          <a:prstGeom prst="rect">
            <a:avLst/>
          </a:prstGeom>
          <a:noFill/>
        </p:spPr>
        <p:txBody>
          <a:bodyPr wrap="square" anchor="t" lIns="0" rIns="0" tIns="0" bIns="0">
            <a:spAutoFit/>
          </a:bodyPr>
          <a:lstStyle/>
          <a:p>
            <a:pPr algn="l">
              <a:lnSpc>
                <a:spcPct val="125000"/>
              </a:lnSpc>
            </a:pPr>
            <a:r>
              <a:rPr sz="1250" b="0">
                <a:solidFill>
                  <a:srgbClr val="000000"/>
                </a:solidFill>
                <a:latin typeface="Source Han Sans SC"/>
              </a:rPr>
              <a:t>15 MINUTES BEFORE REVIEW, EVERYONE STOPS — WHEREVER YOU ARE, THE REVIEW STARTS ON TIME.</a:t>
            </a:r>
          </a:p>
        </p:txBody>
      </p:sp>
      <p:sp>
        <p:nvSpPr>
          <p:cNvPr id="9" name="Rectangle 8"/>
          <p:cNvSpPr/>
          <p:nvPr/>
        </p:nvSpPr>
        <p:spPr>
          <a:xfrm>
            <a:off x="566928" y="2697480"/>
            <a:ext cx="64008" cy="713232"/>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2743200"/>
            <a:ext cx="7772400" cy="658368"/>
          </a:xfrm>
          <a:prstGeom prst="rect">
            <a:avLst/>
          </a:prstGeom>
          <a:noFill/>
        </p:spPr>
        <p:txBody>
          <a:bodyPr wrap="square" anchor="t" lIns="0" rIns="0" tIns="0" bIns="0">
            <a:spAutoFit/>
          </a:bodyPr>
          <a:lstStyle/>
          <a:p>
            <a:pPr algn="l">
              <a:lnSpc>
                <a:spcPct val="125000"/>
              </a:lnSpc>
            </a:pPr>
            <a:r>
              <a:rPr sz="1300" b="1">
                <a:solidFill>
                  <a:srgbClr val="000000"/>
                </a:solidFill>
                <a:latin typeface="Source Han Sans SC"/>
              </a:rPr>
              <a:t>A half-finished thing deserves the faults even more.</a:t>
            </a:r>
          </a:p>
          <a:p>
            <a:pPr algn="l">
              <a:lnSpc>
                <a:spcPct val="125000"/>
              </a:lnSpc>
            </a:pPr>
            <a:r>
              <a:rPr sz="1200" b="0">
                <a:solidFill>
                  <a:srgbClr val="000000"/>
                </a:solidFill>
                <a:latin typeface="Source Han Sans SC"/>
              </a:rPr>
              <a:t>The review isn't a reward for finishing — it's how you finish.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Run the First Lap | 11 / 42</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Hands Off — Prepare Two Lines</a:t>
            </a:r>
          </a:p>
        </p:txBody>
      </p:sp>
      <p:sp>
        <p:nvSpPr>
          <p:cNvPr id="6" name="Rectangle 5"/>
          <p:cNvSpPr/>
          <p:nvPr/>
        </p:nvSpPr>
        <p:spPr>
          <a:xfrm>
            <a:off x="566928" y="1325880"/>
            <a:ext cx="3913632" cy="77724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499616"/>
            <a:ext cx="3584448" cy="457200"/>
          </a:xfrm>
          <a:prstGeom prst="rect">
            <a:avLst/>
          </a:prstGeom>
          <a:noFill/>
        </p:spPr>
        <p:txBody>
          <a:bodyPr wrap="square" anchor="t" lIns="0" rIns="0" tIns="0" bIns="0">
            <a:spAutoFit/>
          </a:bodyPr>
          <a:lstStyle/>
          <a:p>
            <a:pPr algn="ctr">
              <a:lnSpc>
                <a:spcPct val="100000"/>
              </a:lnSpc>
            </a:pPr>
            <a:r>
              <a:rPr sz="1500" b="1">
                <a:solidFill>
                  <a:srgbClr val="000000"/>
                </a:solidFill>
                <a:latin typeface="Source Han Sans SC"/>
              </a:rPr>
              <a:t>MY PROJECT CAN ___ NOW.</a:t>
            </a:r>
          </a:p>
        </p:txBody>
      </p:sp>
      <p:sp>
        <p:nvSpPr>
          <p:cNvPr id="8" name="Rectangle 7"/>
          <p:cNvSpPr/>
          <p:nvPr/>
        </p:nvSpPr>
        <p:spPr>
          <a:xfrm>
            <a:off x="4663440" y="1325880"/>
            <a:ext cx="3913632" cy="77724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828032" y="1499616"/>
            <a:ext cx="3584448" cy="457200"/>
          </a:xfrm>
          <a:prstGeom prst="rect">
            <a:avLst/>
          </a:prstGeom>
          <a:noFill/>
        </p:spPr>
        <p:txBody>
          <a:bodyPr wrap="square" anchor="t" lIns="0" rIns="0" tIns="0" bIns="0">
            <a:spAutoFit/>
          </a:bodyPr>
          <a:lstStyle/>
          <a:p>
            <a:pPr algn="ctr">
              <a:lnSpc>
                <a:spcPct val="100000"/>
              </a:lnSpc>
            </a:pPr>
            <a:r>
              <a:rPr sz="1500" b="1">
                <a:solidFill>
                  <a:srgbClr val="000000"/>
                </a:solidFill>
                <a:latin typeface="Source Han Sans SC"/>
              </a:rPr>
              <a:t>IT STILL CAN'T ___ YET.</a:t>
            </a:r>
          </a:p>
        </p:txBody>
      </p:sp>
      <p:sp>
        <p:nvSpPr>
          <p:cNvPr id="10" name="Rectangle 9"/>
          <p:cNvSpPr/>
          <p:nvPr/>
        </p:nvSpPr>
        <p:spPr>
          <a:xfrm>
            <a:off x="566928" y="2331720"/>
            <a:ext cx="64008" cy="10972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2377440"/>
            <a:ext cx="7772400" cy="1024128"/>
          </a:xfrm>
          <a:prstGeom prst="rect">
            <a:avLst/>
          </a:prstGeom>
          <a:noFill/>
        </p:spPr>
        <p:txBody>
          <a:bodyPr wrap="square" anchor="t" lIns="0" rIns="0" tIns="0" bIns="0">
            <a:spAutoFit/>
          </a:bodyPr>
          <a:lstStyle/>
          <a:p>
            <a:pPr algn="l">
              <a:lnSpc>
                <a:spcPct val="130000"/>
              </a:lnSpc>
            </a:pPr>
            <a:r>
              <a:rPr sz="1150" b="1">
                <a:solidFill>
                  <a:srgbClr val="000000"/>
                </a:solidFill>
                <a:latin typeface="Source Han Sans SC"/>
              </a:rPr>
              <a:t>The review must be fed your CURRENT real state — sending the old brief description gets you sent back to rewrite.</a:t>
            </a:r>
          </a:p>
          <a:p>
            <a:pPr algn="l">
              <a:lnSpc>
                <a:spcPct val="130000"/>
              </a:lnSpc>
            </a:pPr>
            <a:r>
              <a:rPr sz="1200" b="1">
                <a:solidFill>
                  <a:srgbClr val="000000"/>
                </a:solidFill>
                <a:latin typeface="Source Han Sans SC"/>
              </a:rPr>
              <a:t>A bragging review is no review at all.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Run the First Lap | 12 / 42</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Hands Off. Review Time.</a:t>
            </a:r>
          </a:p>
        </p:txBody>
      </p:sp>
      <p:sp>
        <p:nvSpPr>
          <p:cNvPr id="6" name="TextBox 5"/>
          <p:cNvSpPr txBox="1"/>
          <p:nvPr/>
        </p:nvSpPr>
        <p:spPr>
          <a:xfrm>
            <a:off x="566928" y="960120"/>
            <a:ext cx="8010144" cy="548640"/>
          </a:xfrm>
          <a:prstGeom prst="rect">
            <a:avLst/>
          </a:prstGeom>
          <a:noFill/>
        </p:spPr>
        <p:txBody>
          <a:bodyPr wrap="square" anchor="t" lIns="0" rIns="0" tIns="0" bIns="0">
            <a:spAutoFit/>
          </a:bodyPr>
          <a:lstStyle/>
          <a:p>
            <a:pPr algn="l">
              <a:lnSpc>
                <a:spcPct val="125000"/>
              </a:lnSpc>
            </a:pPr>
            <a:r>
              <a:rPr sz="1300" b="0">
                <a:solidFill>
                  <a:srgbClr val="000000"/>
                </a:solidFill>
                <a:latin typeface="Source Han Sans SC"/>
              </a:rPr>
              <a:t>Before, AI was your colleague. Today, it's a JUDGE — its job is finding faults, not praising you.</a:t>
            </a:r>
          </a:p>
        </p:txBody>
      </p:sp>
      <p:sp>
        <p:nvSpPr>
          <p:cNvPr id="7" name="Rectangle 6"/>
          <p:cNvSpPr/>
          <p:nvPr/>
        </p:nvSpPr>
        <p:spPr>
          <a:xfrm>
            <a:off x="566928" y="1627632"/>
            <a:ext cx="8010144" cy="82296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792224"/>
            <a:ext cx="7680960" cy="274320"/>
          </a:xfrm>
          <a:prstGeom prst="rect">
            <a:avLst/>
          </a:prstGeom>
          <a:noFill/>
        </p:spPr>
        <p:txBody>
          <a:bodyPr wrap="square" anchor="t" lIns="0" rIns="0" tIns="0" bIns="0">
            <a:spAutoFit/>
          </a:bodyPr>
          <a:lstStyle/>
          <a:p>
            <a:pPr algn="l">
              <a:lnSpc>
                <a:spcPct val="100000"/>
              </a:lnSpc>
            </a:pPr>
            <a:r>
              <a:rPr sz="1150" b="1">
                <a:solidFill>
                  <a:srgbClr val="000000"/>
                </a:solidFill>
                <a:latin typeface="Source Han Sans SC"/>
              </a:rPr>
              <a:t>JUDGE 1 · THE PICKY USER — the real person from your requirements sheet — 3 FAULTS</a:t>
            </a:r>
          </a:p>
        </p:txBody>
      </p:sp>
      <p:sp>
        <p:nvSpPr>
          <p:cNvPr id="9" name="TextBox 8"/>
          <p:cNvSpPr txBox="1"/>
          <p:nvPr/>
        </p:nvSpPr>
        <p:spPr>
          <a:xfrm>
            <a:off x="731520" y="2103120"/>
            <a:ext cx="7680960" cy="274320"/>
          </a:xfrm>
          <a:prstGeom prst="rect">
            <a:avLst/>
          </a:prstGeom>
          <a:noFill/>
        </p:spPr>
        <p:txBody>
          <a:bodyPr wrap="square" anchor="t" lIns="0" rIns="0" tIns="0" bIns="0">
            <a:spAutoFit/>
          </a:bodyPr>
          <a:lstStyle/>
          <a:p>
            <a:pPr algn="l">
              <a:lnSpc>
                <a:spcPct val="100000"/>
              </a:lnSpc>
            </a:pPr>
            <a:r>
              <a:rPr sz="1150" b="0">
                <a:solidFill>
                  <a:srgbClr val="000000"/>
                </a:solidFill>
                <a:latin typeface="Source Han Sans SC"/>
              </a:rPr>
              <a:t>JUDGE 2 · QUINN — old friend, the team's test engineer — a 5-ITEM "BREAK IT" LIST</a:t>
            </a:r>
          </a:p>
        </p:txBody>
      </p:sp>
      <p:sp>
        <p:nvSpPr>
          <p:cNvPr id="10" name="Rectangle 9"/>
          <p:cNvSpPr/>
          <p:nvPr/>
        </p:nvSpPr>
        <p:spPr>
          <a:xfrm>
            <a:off x="566928" y="2606040"/>
            <a:ext cx="8010144" cy="530352"/>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715768"/>
            <a:ext cx="7680960" cy="310896"/>
          </a:xfrm>
          <a:prstGeom prst="rect">
            <a:avLst/>
          </a:prstGeom>
          <a:noFill/>
        </p:spPr>
        <p:txBody>
          <a:bodyPr wrap="square" anchor="t" lIns="0" rIns="0" tIns="0" bIns="0">
            <a:spAutoFit/>
          </a:bodyPr>
          <a:lstStyle/>
          <a:p>
            <a:pPr algn="l">
              <a:lnSpc>
                <a:spcPct val="125000"/>
              </a:lnSpc>
            </a:pPr>
            <a:r>
              <a:rPr sz="1100" b="0">
                <a:solidFill>
                  <a:srgbClr val="000000"/>
                </a:solidFill>
                <a:latin typeface="Source Han Sans SC"/>
              </a:rPr>
              <a:t>In Lesson 3, it picked ONE fault. From today: the full edition — 3 faults + a 5-item list. Every leg from here runs this size.</a:t>
            </a:r>
          </a:p>
        </p:txBody>
      </p:sp>
      <p:sp>
        <p:nvSpPr>
          <p:cNvPr id="12" name="Rectangle 11"/>
          <p:cNvSpPr/>
          <p:nvPr/>
        </p:nvSpPr>
        <p:spPr>
          <a:xfrm>
            <a:off x="566928" y="3273552"/>
            <a:ext cx="64008" cy="530352"/>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3291840"/>
            <a:ext cx="7772400" cy="493776"/>
          </a:xfrm>
          <a:prstGeom prst="rect">
            <a:avLst/>
          </a:prstGeom>
          <a:noFill/>
        </p:spPr>
        <p:txBody>
          <a:bodyPr wrap="square" anchor="t" lIns="0" rIns="0" tIns="0" bIns="0">
            <a:spAutoFit/>
          </a:bodyPr>
          <a:lstStyle/>
          <a:p>
            <a:pPr algn="l">
              <a:lnSpc>
                <a:spcPct val="100000"/>
              </a:lnSpc>
            </a:pPr>
            <a:r>
              <a:rPr sz="1050" b="1">
                <a:solidFill>
                  <a:srgbClr val="000000"/>
                </a:solidFill>
                <a:latin typeface="Source Han Sans SC"/>
              </a:rPr>
              <a:t>Both reviews run in the conversation you already have — NO NEW WINDOWS. A new window = a dropped baton.</a:t>
            </a:r>
          </a:p>
        </p:txBody>
      </p:sp>
      <p:sp>
        <p:nvSpPr>
          <p:cNvPr id="14" name="Rectangle 13"/>
          <p:cNvSpPr/>
          <p:nvPr/>
        </p:nvSpPr>
        <p:spPr>
          <a:xfrm>
            <a:off x="566928" y="3913632"/>
            <a:ext cx="64008" cy="420624"/>
          </a:xfrm>
          <a:prstGeom prst="rect">
            <a:avLst/>
          </a:prstGeom>
          <a:solidFill>
            <a:srgbClr val="D841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86384" y="3968496"/>
            <a:ext cx="109728" cy="109728"/>
          </a:xfrm>
          <a:prstGeom prst="ellipse">
            <a:avLst/>
          </a:prstGeom>
          <a:solidFill>
            <a:srgbClr val="D841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3931920"/>
            <a:ext cx="7552944" cy="274320"/>
          </a:xfrm>
          <a:prstGeom prst="rect">
            <a:avLst/>
          </a:prstGeom>
          <a:noFill/>
        </p:spPr>
        <p:txBody>
          <a:bodyPr wrap="square" anchor="t" lIns="0" rIns="0" tIns="0" bIns="0">
            <a:spAutoFit/>
          </a:bodyPr>
          <a:lstStyle/>
          <a:p>
            <a:pPr algn="l">
              <a:lnSpc>
                <a:spcPct val="100000"/>
              </a:lnSpc>
            </a:pPr>
            <a:r>
              <a:rPr sz="1350" b="1">
                <a:solidFill>
                  <a:srgbClr val="D84144"/>
                </a:solidFill>
                <a:latin typeface="Source Han Sans SC"/>
              </a:rPr>
              <a:t>THE REVIEW STARTS ON TIME — NOBODY SQUEEZES IT, INCLUDING ME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Run the First Lap | 13 / 42</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The Picky User — 3 Faults</a:t>
            </a:r>
          </a:p>
        </p:txBody>
      </p:sp>
      <p:sp>
        <p:nvSpPr>
          <p:cNvPr id="6" name="TextBox 5"/>
          <p:cNvSpPr txBox="1"/>
          <p:nvPr/>
        </p:nvSpPr>
        <p:spPr>
          <a:xfrm>
            <a:off x="566928" y="960120"/>
            <a:ext cx="8010144" cy="219456"/>
          </a:xfrm>
          <a:prstGeom prst="rect">
            <a:avLst/>
          </a:prstGeom>
          <a:noFill/>
        </p:spPr>
        <p:txBody>
          <a:bodyPr wrap="square" anchor="t" lIns="0" rIns="0" tIns="0" bIns="0">
            <a:spAutoFit/>
          </a:bodyPr>
          <a:lstStyle/>
          <a:p>
            <a:pPr algn="l">
              <a:lnSpc>
                <a:spcPct val="100000"/>
              </a:lnSpc>
            </a:pPr>
            <a:r>
              <a:rPr sz="1200" b="1">
                <a:solidFill>
                  <a:srgbClr val="000000"/>
                </a:solidFill>
                <a:latin typeface="Source Han Sans SC"/>
              </a:rPr>
              <a:t>Send this in the conversation you already have — no new windows.</a:t>
            </a:r>
          </a:p>
        </p:txBody>
      </p:sp>
      <p:sp>
        <p:nvSpPr>
          <p:cNvPr id="7" name="Rectangle 6"/>
          <p:cNvSpPr/>
          <p:nvPr/>
        </p:nvSpPr>
        <p:spPr>
          <a:xfrm>
            <a:off x="566928" y="1280160"/>
            <a:ext cx="8010144" cy="1645920"/>
          </a:xfrm>
          <a:prstGeom prst="rect">
            <a:avLst/>
          </a:prstGeom>
          <a:solidFill>
            <a:srgbClr val="F5F5F5"/>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371600"/>
            <a:ext cx="7717536" cy="1463040"/>
          </a:xfrm>
          <a:prstGeom prst="rect">
            <a:avLst/>
          </a:prstGeom>
          <a:noFill/>
        </p:spPr>
        <p:txBody>
          <a:bodyPr wrap="square" anchor="t" lIns="0" rIns="0" tIns="0" bIns="0">
            <a:spAutoFit/>
          </a:bodyPr>
          <a:lstStyle/>
          <a:p>
            <a:pPr algn="l">
              <a:lnSpc>
                <a:spcPct val="130000"/>
              </a:lnSpc>
            </a:pPr>
            <a:r>
              <a:rPr sz="1000" b="0">
                <a:solidFill>
                  <a:srgbClr val="000000"/>
                </a:solidFill>
                <a:latin typeface="Source Code Pro"/>
              </a:rPr>
              <a:t>You are now my real user (name: ___; their situation: ___ — copy the real</a:t>
            </a:r>
          </a:p>
          <a:p>
            <a:pPr algn="l">
              <a:lnSpc>
                <a:spcPct val="130000"/>
              </a:lnSpc>
            </a:pPr>
            <a:r>
              <a:rPr sz="1000" b="0">
                <a:solidFill>
                  <a:srgbClr val="000000"/>
                </a:solidFill>
                <a:latin typeface="Source Code Pro"/>
              </a:rPr>
              <a:t>person from my requirements sheet).</a:t>
            </a:r>
          </a:p>
          <a:p>
            <a:pPr algn="l">
              <a:lnSpc>
                <a:spcPct val="130000"/>
              </a:lnSpc>
            </a:pPr>
            <a:r>
              <a:rPr sz="1000" b="0">
                <a:solidFill>
                  <a:srgbClr val="000000"/>
                </a:solidFill>
                <a:latin typeface="Source Code Pro"/>
              </a:rPr>
              <a:t>My project currently does: ___ (current real state, no bragging).</a:t>
            </a:r>
          </a:p>
          <a:p>
            <a:pPr algn="l">
              <a:lnSpc>
                <a:spcPct val="130000"/>
              </a:lnSpc>
            </a:pPr>
            <a:r>
              <a:rPr sz="1000" b="0">
                <a:solidFill>
                  <a:srgbClr val="000000"/>
                </a:solidFill>
                <a:latin typeface="Source Code Pro"/>
              </a:rPr>
              <a:t>It still can't: ___.</a:t>
            </a:r>
          </a:p>
          <a:p>
            <a:pPr algn="l">
              <a:lnSpc>
                <a:spcPct val="130000"/>
              </a:lnSpc>
            </a:pPr>
            <a:r>
              <a:rPr sz="1000" b="0">
                <a:solidFill>
                  <a:srgbClr val="000000"/>
                </a:solidFill>
                <a:latin typeface="Source Code Pro"/>
              </a:rPr>
              <a:t>You are not allowed to praise me. As them, pick 3 faults:</a:t>
            </a:r>
          </a:p>
          <a:p>
            <a:pPr algn="l">
              <a:lnSpc>
                <a:spcPct val="130000"/>
              </a:lnSpc>
            </a:pPr>
            <a:r>
              <a:rPr sz="1000" b="0">
                <a:solidFill>
                  <a:srgbClr val="000000"/>
                </a:solidFill>
                <a:latin typeface="Source Code Pro"/>
              </a:rPr>
              <a:t>the one they'd care about most, the one most likely to make them not use it,</a:t>
            </a:r>
          </a:p>
          <a:p>
            <a:pPr algn="l">
              <a:lnSpc>
                <a:spcPct val="130000"/>
              </a:lnSpc>
            </a:pPr>
            <a:r>
              <a:rPr sz="1000" b="0">
                <a:solidFill>
                  <a:srgbClr val="000000"/>
                </a:solidFill>
                <a:latin typeface="Source Code Pro"/>
              </a:rPr>
              <a:t>the one most confusing. One sentence per fault.</a:t>
            </a:r>
          </a:p>
        </p:txBody>
      </p:sp>
      <p:sp>
        <p:nvSpPr>
          <p:cNvPr id="9" name="Rectangle 8"/>
          <p:cNvSpPr/>
          <p:nvPr/>
        </p:nvSpPr>
        <p:spPr>
          <a:xfrm>
            <a:off x="566928" y="3054096"/>
            <a:ext cx="64008" cy="566928"/>
          </a:xfrm>
          <a:prstGeom prst="rect">
            <a:avLst/>
          </a:prstGeom>
          <a:solidFill>
            <a:srgbClr val="D841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86384" y="3108960"/>
            <a:ext cx="109728" cy="109728"/>
          </a:xfrm>
          <a:prstGeom prst="ellipse">
            <a:avLst/>
          </a:prstGeom>
          <a:solidFill>
            <a:srgbClr val="D841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3072384"/>
            <a:ext cx="7552944" cy="530352"/>
          </a:xfrm>
          <a:prstGeom prst="rect">
            <a:avLst/>
          </a:prstGeom>
          <a:noFill/>
        </p:spPr>
        <p:txBody>
          <a:bodyPr wrap="square" anchor="t" lIns="0" rIns="0" tIns="0" bIns="0">
            <a:spAutoFit/>
          </a:bodyPr>
          <a:lstStyle/>
          <a:p>
            <a:pPr algn="l">
              <a:lnSpc>
                <a:spcPct val="120000"/>
              </a:lnSpc>
            </a:pPr>
            <a:r>
              <a:rPr sz="1250" b="1">
                <a:solidFill>
                  <a:srgbClr val="D84144"/>
                </a:solidFill>
                <a:latin typeface="Source Han Sans SC"/>
              </a:rPr>
              <a:t>AI STARTED PRAISING? PUSH BACK —</a:t>
            </a:r>
          </a:p>
          <a:p>
            <a:pPr algn="l">
              <a:lnSpc>
                <a:spcPct val="120000"/>
              </a:lnSpc>
            </a:pPr>
            <a:r>
              <a:rPr sz="1250" b="1">
                <a:solidFill>
                  <a:srgbClr val="D84144"/>
                </a:solidFill>
                <a:latin typeface="Source Han Sans SC"/>
              </a:rPr>
              <a:t>"NO PRAISING. FAULTS ONLY — 3, ONE SENTENCE EACH."</a:t>
            </a:r>
          </a:p>
        </p:txBody>
      </p:sp>
      <p:sp>
        <p:nvSpPr>
          <p:cNvPr id="12" name="Rectangle 11"/>
          <p:cNvSpPr/>
          <p:nvPr/>
        </p:nvSpPr>
        <p:spPr>
          <a:xfrm>
            <a:off x="566928" y="3767328"/>
            <a:ext cx="8010144" cy="54864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877056"/>
            <a:ext cx="7680960" cy="329184"/>
          </a:xfrm>
          <a:prstGeom prst="rect">
            <a:avLst/>
          </a:prstGeom>
          <a:noFill/>
        </p:spPr>
        <p:txBody>
          <a:bodyPr wrap="square" anchor="t" lIns="0" rIns="0" tIns="0" bIns="0">
            <a:spAutoFit/>
          </a:bodyPr>
          <a:lstStyle/>
          <a:p>
            <a:pPr algn="l">
              <a:lnSpc>
                <a:spcPct val="125000"/>
              </a:lnSpc>
            </a:pPr>
            <a:r>
              <a:rPr sz="1200" b="0">
                <a:solidFill>
                  <a:srgbClr val="000000"/>
                </a:solidFill>
                <a:latin typeface="Source Han Sans SC"/>
              </a:rPr>
              <a:t>The 3 faults + your notes go into your review record in your workbook.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Run the First Lap | 14 / 42</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Quinn — the 5-Item "Break It" List</a:t>
            </a:r>
          </a:p>
        </p:txBody>
      </p:sp>
      <p:sp>
        <p:nvSpPr>
          <p:cNvPr id="6" name="Rectangle 5"/>
          <p:cNvSpPr/>
          <p:nvPr/>
        </p:nvSpPr>
        <p:spPr>
          <a:xfrm>
            <a:off x="566928" y="1078992"/>
            <a:ext cx="8010144" cy="1170432"/>
          </a:xfrm>
          <a:prstGeom prst="rect">
            <a:avLst/>
          </a:prstGeom>
          <a:solidFill>
            <a:srgbClr val="F5F5F5"/>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170432"/>
            <a:ext cx="7717536" cy="987552"/>
          </a:xfrm>
          <a:prstGeom prst="rect">
            <a:avLst/>
          </a:prstGeom>
          <a:noFill/>
        </p:spPr>
        <p:txBody>
          <a:bodyPr wrap="square" anchor="t" lIns="0" rIns="0" tIns="0" bIns="0">
            <a:spAutoFit/>
          </a:bodyPr>
          <a:lstStyle/>
          <a:p>
            <a:pPr algn="l">
              <a:lnSpc>
                <a:spcPct val="130000"/>
              </a:lnSpc>
            </a:pPr>
            <a:r>
              <a:rPr sz="1000" b="0">
                <a:solidFill>
                  <a:srgbClr val="000000"/>
                </a:solidFill>
                <a:latin typeface="Source Code Pro"/>
              </a:rPr>
              <a:t>Quinn, still you. Based on the current state: my project can ___ now, and can't ___ yet.</a:t>
            </a:r>
          </a:p>
          <a:p>
            <a:pPr algn="l">
              <a:lnSpc>
                <a:spcPct val="130000"/>
              </a:lnSpc>
            </a:pPr>
            <a:r>
              <a:rPr sz="1000" b="0">
                <a:solidFill>
                  <a:srgbClr val="000000"/>
                </a:solidFill>
                <a:latin typeface="Source Code Pro"/>
              </a:rPr>
              <a:t>You're a test engineer. Give me a 5-item list of "how to break or fail it,"</a:t>
            </a:r>
          </a:p>
          <a:p>
            <a:pPr algn="l">
              <a:lnSpc>
                <a:spcPct val="130000"/>
              </a:lnSpc>
            </a:pPr>
            <a:r>
              <a:rPr sz="1000" b="0">
                <a:solidFill>
                  <a:srgbClr val="000000"/>
                </a:solidFill>
                <a:latin typeface="Source Code Pro"/>
              </a:rPr>
              <a:t>specific to how I operate it and what I watch for.</a:t>
            </a:r>
          </a:p>
        </p:txBody>
      </p:sp>
      <p:sp>
        <p:nvSpPr>
          <p:cNvPr id="8" name="Rectangle 7"/>
          <p:cNvSpPr/>
          <p:nvPr/>
        </p:nvSpPr>
        <p:spPr>
          <a:xfrm>
            <a:off x="566928" y="2359152"/>
            <a:ext cx="8010144" cy="530352"/>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468880"/>
            <a:ext cx="7680960" cy="310896"/>
          </a:xfrm>
          <a:prstGeom prst="rect">
            <a:avLst/>
          </a:prstGeom>
          <a:noFill/>
        </p:spPr>
        <p:txBody>
          <a:bodyPr wrap="square" anchor="t" lIns="0" rIns="0" tIns="0" bIns="0">
            <a:spAutoFit/>
          </a:bodyPr>
          <a:lstStyle/>
          <a:p>
            <a:pPr algn="l">
              <a:lnSpc>
                <a:spcPct val="125000"/>
              </a:lnSpc>
            </a:pPr>
            <a:r>
              <a:rPr sz="1150" b="0">
                <a:solidFill>
                  <a:srgbClr val="000000"/>
                </a:solidFill>
                <a:latin typeface="Source Han Sans SC"/>
              </a:rPr>
              <a:t>List in hand — PICK 2 ITEMS AND TEST THEM FOR REAL. Record pass / broke in your review record.</a:t>
            </a:r>
          </a:p>
        </p:txBody>
      </p:sp>
      <p:sp>
        <p:nvSpPr>
          <p:cNvPr id="10" name="Rectangle 9"/>
          <p:cNvSpPr/>
          <p:nvPr/>
        </p:nvSpPr>
        <p:spPr>
          <a:xfrm>
            <a:off x="566928" y="2999232"/>
            <a:ext cx="8010144" cy="146304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3108960"/>
            <a:ext cx="7607808" cy="1261872"/>
          </a:xfrm>
          <a:prstGeom prst="rect">
            <a:avLst/>
          </a:prstGeom>
          <a:noFill/>
        </p:spPr>
        <p:txBody>
          <a:bodyPr wrap="square" anchor="t" lIns="0" rIns="0" tIns="0" bIns="0">
            <a:spAutoFit/>
          </a:bodyPr>
          <a:lstStyle/>
          <a:p>
            <a:pPr algn="l">
              <a:lnSpc>
                <a:spcPct val="125000"/>
              </a:lnSpc>
            </a:pPr>
            <a:r>
              <a:rPr sz="1050" b="1">
                <a:solidFill>
                  <a:srgbClr val="000000"/>
                </a:solidFill>
                <a:latin typeface="Source Han Sans SC"/>
              </a:rPr>
              <a:t>Quinn is the BMAD team's test engineer — this conversation needs the team in it.</a:t>
            </a:r>
          </a:p>
          <a:p>
            <a:pPr algn="l">
              <a:lnSpc>
                <a:spcPct val="125000"/>
              </a:lnSpc>
            </a:pPr>
            <a:r>
              <a:rPr sz="1000" b="0">
                <a:solidFill>
                  <a:srgbClr val="000000"/>
                </a:solidFill>
                <a:latin typeface="Source Han Sans SC"/>
              </a:rPr>
              <a:t>Ran continuously since Lesson 4 → send it directly. Fresh window → send this background line FIRST, then the prompt above:</a:t>
            </a:r>
          </a:p>
          <a:p>
            <a:pPr algn="l">
              <a:lnSpc>
                <a:spcPct val="125000"/>
              </a:lnSpc>
            </a:pPr>
            <a:r>
              <a:rPr sz="950" b="0">
                <a:solidFill>
                  <a:srgbClr val="000000"/>
                </a:solidFill>
                <a:latin typeface="Source Code Pro"/>
              </a:rPr>
              <a:t>This conversation has a BMAD team: John (PM), Sally (UX designer), Winston (architect), Amelia (developer), Quinn (test engineer).</a:t>
            </a:r>
          </a:p>
          <a:p>
            <a:pPr algn="l">
              <a:lnSpc>
                <a:spcPct val="125000"/>
              </a:lnSpc>
            </a:pPr>
            <a:r>
              <a:rPr sz="950" b="0">
                <a:solidFill>
                  <a:srgbClr val="000000"/>
                </a:solidFill>
                <a:latin typeface="Source Code Pro"/>
              </a:rPr>
              <a:t>Remember them — I'll call on them directly from now 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Run the First Lap | 15 / 42</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Decide — Accept or Reject</a:t>
            </a:r>
          </a:p>
        </p:txBody>
      </p:sp>
      <p:sp>
        <p:nvSpPr>
          <p:cNvPr id="6" name="TextBox 5"/>
          <p:cNvSpPr txBox="1"/>
          <p:nvPr/>
        </p:nvSpPr>
        <p:spPr>
          <a:xfrm>
            <a:off x="566928" y="914400"/>
            <a:ext cx="8138160" cy="365760"/>
          </a:xfrm>
          <a:prstGeom prst="rect">
            <a:avLst/>
          </a:prstGeom>
          <a:noFill/>
        </p:spPr>
        <p:txBody>
          <a:bodyPr wrap="square" anchor="t" lIns="0" rIns="0" tIns="0" bIns="0">
            <a:spAutoFit/>
          </a:bodyPr>
          <a:lstStyle/>
          <a:p>
            <a:pPr algn="l">
              <a:lnSpc>
                <a:spcPct val="100000"/>
              </a:lnSpc>
            </a:pPr>
            <a:r>
              <a:rPr sz="1300" b="0">
                <a:solidFill>
                  <a:srgbClr val="000000"/>
                </a:solidFill>
                <a:latin typeface="Source Han Sans SC"/>
              </a:rPr>
              <a:t>both need a reason</a:t>
            </a:r>
          </a:p>
        </p:txBody>
      </p:sp>
      <p:sp>
        <p:nvSpPr>
          <p:cNvPr id="7" name="Rectangle 6"/>
          <p:cNvSpPr/>
          <p:nvPr/>
        </p:nvSpPr>
        <p:spPr>
          <a:xfrm>
            <a:off x="566928" y="1353312"/>
            <a:ext cx="3913632" cy="146304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481328"/>
            <a:ext cx="3584448" cy="1243584"/>
          </a:xfrm>
          <a:prstGeom prst="rect">
            <a:avLst/>
          </a:prstGeom>
          <a:noFill/>
        </p:spPr>
        <p:txBody>
          <a:bodyPr wrap="square" anchor="t" lIns="0" rIns="0" tIns="0" bIns="0">
            <a:spAutoFit/>
          </a:bodyPr>
          <a:lstStyle/>
          <a:p>
            <a:pPr algn="l">
              <a:lnSpc>
                <a:spcPct val="130000"/>
              </a:lnSpc>
            </a:pPr>
            <a:r>
              <a:rPr sz="1350" b="1">
                <a:solidFill>
                  <a:srgbClr val="000000"/>
                </a:solidFill>
                <a:latin typeface="Source Han Sans SC"/>
              </a:rPr>
              <a:t>ACCEPT</a:t>
            </a:r>
          </a:p>
          <a:p>
            <a:pPr algn="l">
              <a:lnSpc>
                <a:spcPct val="130000"/>
              </a:lnSpc>
            </a:pPr>
            <a:r>
              <a:rPr sz="1050" b="0">
                <a:solidFill>
                  <a:srgbClr val="000000"/>
                </a:solidFill>
                <a:latin typeface="Source Han Sans SC"/>
              </a:rPr>
              <a:t>fix it now if it's under 5 minutes; can't finish? → the baton sheet, under "first thing next leg"</a:t>
            </a:r>
          </a:p>
        </p:txBody>
      </p:sp>
      <p:sp>
        <p:nvSpPr>
          <p:cNvPr id="9" name="Rectangle 8"/>
          <p:cNvSpPr/>
          <p:nvPr/>
        </p:nvSpPr>
        <p:spPr>
          <a:xfrm>
            <a:off x="4663440" y="1353312"/>
            <a:ext cx="3913632" cy="146304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28032" y="1481328"/>
            <a:ext cx="3584448" cy="1243584"/>
          </a:xfrm>
          <a:prstGeom prst="rect">
            <a:avLst/>
          </a:prstGeom>
          <a:noFill/>
        </p:spPr>
        <p:txBody>
          <a:bodyPr wrap="square" anchor="t" lIns="0" rIns="0" tIns="0" bIns="0">
            <a:spAutoFit/>
          </a:bodyPr>
          <a:lstStyle/>
          <a:p>
            <a:pPr algn="l">
              <a:lnSpc>
                <a:spcPct val="130000"/>
              </a:lnSpc>
            </a:pPr>
            <a:r>
              <a:rPr sz="1350" b="1">
                <a:solidFill>
                  <a:srgbClr val="000000"/>
                </a:solidFill>
                <a:latin typeface="Source Han Sans SC"/>
              </a:rPr>
              <a:t>REJECT</a:t>
            </a:r>
          </a:p>
          <a:p>
            <a:pPr algn="l">
              <a:lnSpc>
                <a:spcPct val="130000"/>
              </a:lnSpc>
            </a:pPr>
            <a:r>
              <a:rPr sz="1050" b="0">
                <a:solidFill>
                  <a:srgbClr val="000000"/>
                </a:solidFill>
                <a:latin typeface="Source Han Sans SC"/>
              </a:rPr>
              <a:t>write the reason — rejecting with a reason scores the same as accepting</a:t>
            </a:r>
          </a:p>
        </p:txBody>
      </p:sp>
      <p:sp>
        <p:nvSpPr>
          <p:cNvPr id="11" name="Rectangle 10"/>
          <p:cNvSpPr/>
          <p:nvPr/>
        </p:nvSpPr>
        <p:spPr>
          <a:xfrm>
            <a:off x="566928" y="3017520"/>
            <a:ext cx="64008"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3035808"/>
            <a:ext cx="7772400" cy="530352"/>
          </a:xfrm>
          <a:prstGeom prst="rect">
            <a:avLst/>
          </a:prstGeom>
          <a:noFill/>
        </p:spPr>
        <p:txBody>
          <a:bodyPr wrap="square" anchor="t" lIns="0" rIns="0" tIns="0" bIns="0">
            <a:spAutoFit/>
          </a:bodyPr>
          <a:lstStyle/>
          <a:p>
            <a:pPr algn="l">
              <a:lnSpc>
                <a:spcPct val="100000"/>
              </a:lnSpc>
            </a:pPr>
            <a:r>
              <a:rPr sz="1100" b="1">
                <a:solidFill>
                  <a:srgbClr val="000000"/>
                </a:solidFill>
                <a:latin typeface="Source Han Sans SC"/>
              </a:rPr>
              <a:t>"First thing next leg" is not "later" — it's the FIRST action of next leg's build time.</a:t>
            </a:r>
          </a:p>
        </p:txBody>
      </p:sp>
      <p:sp>
        <p:nvSpPr>
          <p:cNvPr id="13" name="Rectangle 12"/>
          <p:cNvSpPr/>
          <p:nvPr/>
        </p:nvSpPr>
        <p:spPr>
          <a:xfrm>
            <a:off x="566928" y="3749039"/>
            <a:ext cx="64008" cy="585216"/>
          </a:xfrm>
          <a:prstGeom prst="rect">
            <a:avLst/>
          </a:prstGeom>
          <a:solidFill>
            <a:srgbClr val="D841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86384" y="3803903"/>
            <a:ext cx="109728" cy="109728"/>
          </a:xfrm>
          <a:prstGeom prst="ellipse">
            <a:avLst/>
          </a:prstGeom>
          <a:solidFill>
            <a:srgbClr val="D841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4128" y="3767327"/>
            <a:ext cx="7552944" cy="548640"/>
          </a:xfrm>
          <a:prstGeom prst="rect">
            <a:avLst/>
          </a:prstGeom>
          <a:noFill/>
        </p:spPr>
        <p:txBody>
          <a:bodyPr wrap="square" anchor="t" lIns="0" rIns="0" tIns="0" bIns="0">
            <a:spAutoFit/>
          </a:bodyPr>
          <a:lstStyle/>
          <a:p>
            <a:pPr algn="l">
              <a:lnSpc>
                <a:spcPct val="120000"/>
              </a:lnSpc>
            </a:pPr>
            <a:r>
              <a:rPr sz="1250" b="1">
                <a:solidFill>
                  <a:srgbClr val="D84144"/>
                </a:solidFill>
                <a:latin typeface="Source Han Sans SC"/>
              </a:rPr>
              <a:t>ACCEPT EVERYTHING? I'M COMING TO TALK TO YOU —</a:t>
            </a:r>
          </a:p>
          <a:p>
            <a:pPr algn="l">
              <a:lnSpc>
                <a:spcPct val="120000"/>
              </a:lnSpc>
            </a:pPr>
            <a:r>
              <a:rPr sz="1250" b="1">
                <a:solidFill>
                  <a:srgbClr val="D84144"/>
                </a:solidFill>
                <a:latin typeface="Source Han Sans SC"/>
              </a:rPr>
              <a:t>NO BACKBONE IS MORE DANGEROUS THAN NO CHANGES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Run the First Lap | 16 / 42</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The Baton Handoff Sheet</a:t>
            </a:r>
          </a:p>
        </p:txBody>
      </p:sp>
      <p:sp>
        <p:nvSpPr>
          <p:cNvPr id="6" name="TextBox 5"/>
          <p:cNvSpPr txBox="1"/>
          <p:nvPr/>
        </p:nvSpPr>
        <p:spPr>
          <a:xfrm>
            <a:off x="566928" y="914400"/>
            <a:ext cx="8138160" cy="365760"/>
          </a:xfrm>
          <a:prstGeom prst="rect">
            <a:avLst/>
          </a:prstGeom>
          <a:noFill/>
        </p:spPr>
        <p:txBody>
          <a:bodyPr wrap="square" anchor="t" lIns="0" rIns="0" tIns="0" bIns="0">
            <a:spAutoFit/>
          </a:bodyPr>
          <a:lstStyle/>
          <a:p>
            <a:pPr algn="l">
              <a:lnSpc>
                <a:spcPct val="100000"/>
              </a:lnSpc>
            </a:pPr>
            <a:r>
              <a:rPr sz="1300" b="0">
                <a:solidFill>
                  <a:srgbClr val="000000"/>
                </a:solidFill>
                <a:latin typeface="Source Han Sans SC"/>
              </a:rPr>
              <a:t>your marathon baton</a:t>
            </a:r>
          </a:p>
        </p:txBody>
      </p:sp>
      <p:sp>
        <p:nvSpPr>
          <p:cNvPr id="7" name="Rectangle 6"/>
          <p:cNvSpPr/>
          <p:nvPr/>
        </p:nvSpPr>
        <p:spPr>
          <a:xfrm>
            <a:off x="566928" y="1298448"/>
            <a:ext cx="8010144" cy="1920240"/>
          </a:xfrm>
          <a:prstGeom prst="rect">
            <a:avLst/>
          </a:prstGeom>
          <a:solidFill>
            <a:srgbClr val="F5F5F5"/>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389888"/>
            <a:ext cx="7717536" cy="1737360"/>
          </a:xfrm>
          <a:prstGeom prst="rect">
            <a:avLst/>
          </a:prstGeom>
          <a:noFill/>
        </p:spPr>
        <p:txBody>
          <a:bodyPr wrap="square" anchor="t" lIns="0" rIns="0" tIns="0" bIns="0">
            <a:spAutoFit/>
          </a:bodyPr>
          <a:lstStyle/>
          <a:p>
            <a:pPr algn="l">
              <a:lnSpc>
                <a:spcPct val="135000"/>
              </a:lnSpc>
            </a:pPr>
            <a:r>
              <a:rPr sz="1050" b="0">
                <a:solidFill>
                  <a:srgbClr val="000000"/>
                </a:solidFill>
                <a:latin typeface="Source Code Pro"/>
              </a:rPr>
              <a:t># Baton Handoff Sheet · Leg 1</a:t>
            </a:r>
          </a:p>
          <a:p>
            <a:pPr algn="l">
              <a:lnSpc>
                <a:spcPct val="135000"/>
              </a:lnSpc>
            </a:pPr>
            <a:r>
              <a:rPr sz="1050" b="0">
                <a:solidFill>
                  <a:srgbClr val="000000"/>
                </a:solidFill>
                <a:latin typeface="Source Code Pro"/>
              </a:rPr>
              <a:t>Name: ______  Date: ______</a:t>
            </a:r>
          </a:p>
          <a:p>
            <a:pPr algn="l">
              <a:lnSpc>
                <a:spcPct val="135000"/>
              </a:lnSpc>
            </a:pPr>
            <a:r>
              <a:rPr sz="1050" b="0">
                <a:solidFill>
                  <a:srgbClr val="000000"/>
                </a:solidFill>
                <a:latin typeface="Source Code Pro"/>
              </a:rPr>
              <a:t>## Where this leg ended (one verifiable sentence: what it can demo)</a:t>
            </a:r>
          </a:p>
          <a:p>
            <a:pPr algn="l">
              <a:lnSpc>
                <a:spcPct val="135000"/>
              </a:lnSpc>
            </a:pPr>
            <a:r>
              <a:rPr sz="1050" b="0">
                <a:solidFill>
                  <a:srgbClr val="000000"/>
                </a:solidFill>
                <a:latin typeface="Source Code Pro"/>
              </a:rPr>
              <a:t>## The review fault that matters most + my decision (accept/reject + reason)</a:t>
            </a:r>
          </a:p>
          <a:p>
            <a:pPr algn="l">
              <a:lnSpc>
                <a:spcPct val="135000"/>
              </a:lnSpc>
            </a:pPr>
            <a:r>
              <a:rPr sz="1050" b="0">
                <a:solidFill>
                  <a:srgbClr val="000000"/>
                </a:solidFill>
                <a:latin typeface="Source Code Pro"/>
              </a:rPr>
              <a:t>## The first thing next leg (specific, verifiable)</a:t>
            </a:r>
          </a:p>
        </p:txBody>
      </p:sp>
      <p:sp>
        <p:nvSpPr>
          <p:cNvPr id="9" name="Rectangle 8"/>
          <p:cNvSpPr/>
          <p:nvPr/>
        </p:nvSpPr>
        <p:spPr>
          <a:xfrm>
            <a:off x="566928" y="3346704"/>
            <a:ext cx="8010144" cy="694944"/>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3456432"/>
            <a:ext cx="7680960" cy="475488"/>
          </a:xfrm>
          <a:prstGeom prst="rect">
            <a:avLst/>
          </a:prstGeom>
          <a:noFill/>
        </p:spPr>
        <p:txBody>
          <a:bodyPr wrap="square" anchor="t" lIns="0" rIns="0" tIns="0" bIns="0">
            <a:spAutoFit/>
          </a:bodyPr>
          <a:lstStyle/>
          <a:p>
            <a:pPr algn="l">
              <a:lnSpc>
                <a:spcPct val="125000"/>
              </a:lnSpc>
            </a:pPr>
            <a:r>
              <a:rPr sz="1100" b="0">
                <a:solidFill>
                  <a:srgbClr val="000000"/>
                </a:solidFill>
                <a:latin typeface="Source Han Sans SC"/>
              </a:rPr>
              <a:t>Into your workbook. Walk into Lesson 9 — this is how you find today's feeling again. It's also the comeback anchor for anyone who missed class.</a:t>
            </a:r>
          </a:p>
        </p:txBody>
      </p:sp>
      <p:sp>
        <p:nvSpPr>
          <p:cNvPr id="11" name="Rectangle 10"/>
          <p:cNvSpPr/>
          <p:nvPr/>
        </p:nvSpPr>
        <p:spPr>
          <a:xfrm>
            <a:off x="566928" y="4096512"/>
            <a:ext cx="8010144" cy="676656"/>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4206240"/>
            <a:ext cx="7680960" cy="457200"/>
          </a:xfrm>
          <a:prstGeom prst="rect">
            <a:avLst/>
          </a:prstGeom>
          <a:noFill/>
        </p:spPr>
        <p:txBody>
          <a:bodyPr wrap="square" anchor="t" lIns="0" rIns="0" tIns="0" bIns="0">
            <a:spAutoFit/>
          </a:bodyPr>
          <a:lstStyle/>
          <a:p>
            <a:pPr algn="l">
              <a:lnSpc>
                <a:spcPct val="125000"/>
              </a:lnSpc>
            </a:pPr>
            <a:r>
              <a:rPr sz="1100" b="0">
                <a:solidFill>
                  <a:srgbClr val="000000"/>
                </a:solidFill>
                <a:latin typeface="Source Han Sans SC"/>
              </a:rPr>
              <a:t>Today's "done" line —</a:t>
            </a:r>
          </a:p>
          <a:p>
            <a:pPr algn="l">
              <a:lnSpc>
                <a:spcPct val="125000"/>
              </a:lnSpc>
            </a:pPr>
            <a:r>
              <a:rPr sz="1100" b="0">
                <a:solidFill>
                  <a:srgbClr val="000000"/>
                </a:solidFill>
                <a:latin typeface="Source Han Sans SC"/>
              </a:rPr>
              <a:t>MY PROJECT'S FIRST VERSION CAN ___; THE REVIEW PICKED ___ FAULTS; I ACCEPTED ___ AND REJECTED ___.</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Run the First Lap | 17 / 42</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Today, You Ran a Whole Lap</a:t>
            </a:r>
          </a:p>
        </p:txBody>
      </p:sp>
      <p:sp>
        <p:nvSpPr>
          <p:cNvPr id="6" name="Rectangle 5"/>
          <p:cNvSpPr/>
          <p:nvPr/>
        </p:nvSpPr>
        <p:spPr>
          <a:xfrm>
            <a:off x="566928" y="996696"/>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 y="960120"/>
            <a:ext cx="7699248" cy="402336"/>
          </a:xfrm>
          <a:prstGeom prst="rect">
            <a:avLst/>
          </a:prstGeom>
          <a:noFill/>
        </p:spPr>
        <p:txBody>
          <a:bodyPr wrap="square" anchor="t" lIns="0" rIns="0" tIns="0" bIns="0">
            <a:spAutoFit/>
          </a:bodyPr>
          <a:lstStyle/>
          <a:p>
            <a:pPr algn="l">
              <a:lnSpc>
                <a:spcPct val="100000"/>
              </a:lnSpc>
            </a:pPr>
            <a:r>
              <a:rPr sz="1100" b="0">
                <a:solidFill>
                  <a:srgbClr val="000000"/>
                </a:solidFill>
                <a:latin typeface="Source Han Sans SC"/>
              </a:rPr>
              <a:t>From a requirements sheet, you made a DEMONSTRABLE FIRST VERSION — it really sensed something, it really reacted</a:t>
            </a:r>
          </a:p>
        </p:txBody>
      </p:sp>
      <p:sp>
        <p:nvSpPr>
          <p:cNvPr id="8" name="Rectangle 7"/>
          <p:cNvSpPr/>
          <p:nvPr/>
        </p:nvSpPr>
        <p:spPr>
          <a:xfrm>
            <a:off x="566928" y="1472184"/>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435608"/>
            <a:ext cx="7699248" cy="402336"/>
          </a:xfrm>
          <a:prstGeom prst="rect">
            <a:avLst/>
          </a:prstGeom>
          <a:noFill/>
        </p:spPr>
        <p:txBody>
          <a:bodyPr wrap="square" anchor="t" lIns="0" rIns="0" tIns="0" bIns="0">
            <a:spAutoFit/>
          </a:bodyPr>
          <a:lstStyle/>
          <a:p>
            <a:pPr algn="l">
              <a:lnSpc>
                <a:spcPct val="100000"/>
              </a:lnSpc>
            </a:pPr>
            <a:r>
              <a:rPr sz="1100" b="0">
                <a:solidFill>
                  <a:srgbClr val="000000"/>
                </a:solidFill>
                <a:latin typeface="Source Han Sans SC"/>
              </a:rPr>
              <a:t>You took a full round of faults from two judges — and you're still standing</a:t>
            </a:r>
          </a:p>
        </p:txBody>
      </p:sp>
      <p:sp>
        <p:nvSpPr>
          <p:cNvPr id="10" name="Rectangle 9"/>
          <p:cNvSpPr/>
          <p:nvPr/>
        </p:nvSpPr>
        <p:spPr>
          <a:xfrm>
            <a:off x="566928" y="1947672"/>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7824" y="1911095"/>
            <a:ext cx="7699248" cy="402336"/>
          </a:xfrm>
          <a:prstGeom prst="rect">
            <a:avLst/>
          </a:prstGeom>
          <a:noFill/>
        </p:spPr>
        <p:txBody>
          <a:bodyPr wrap="square" anchor="t" lIns="0" rIns="0" tIns="0" bIns="0">
            <a:spAutoFit/>
          </a:bodyPr>
          <a:lstStyle/>
          <a:p>
            <a:pPr algn="l">
              <a:lnSpc>
                <a:spcPct val="100000"/>
              </a:lnSpc>
            </a:pPr>
            <a:r>
              <a:rPr sz="1100" b="0">
                <a:solidFill>
                  <a:srgbClr val="000000"/>
                </a:solidFill>
                <a:latin typeface="Source Han Sans SC"/>
              </a:rPr>
              <a:t>You made Accept-or-Reject calls with reasons — and you know the first thing next leg</a:t>
            </a:r>
          </a:p>
        </p:txBody>
      </p:sp>
      <p:sp>
        <p:nvSpPr>
          <p:cNvPr id="12" name="Rectangle 11"/>
          <p:cNvSpPr/>
          <p:nvPr/>
        </p:nvSpPr>
        <p:spPr>
          <a:xfrm>
            <a:off x="566928" y="2468880"/>
            <a:ext cx="8010144" cy="82296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78608"/>
            <a:ext cx="7680960" cy="603504"/>
          </a:xfrm>
          <a:prstGeom prst="rect">
            <a:avLst/>
          </a:prstGeom>
          <a:noFill/>
        </p:spPr>
        <p:txBody>
          <a:bodyPr wrap="square" anchor="t" lIns="0" rIns="0" tIns="0" bIns="0">
            <a:spAutoFit/>
          </a:bodyPr>
          <a:lstStyle/>
          <a:p>
            <a:pPr algn="l">
              <a:lnSpc>
                <a:spcPct val="125000"/>
              </a:lnSpc>
            </a:pPr>
            <a:r>
              <a:rPr sz="1100" b="0">
                <a:solidFill>
                  <a:srgbClr val="000000"/>
                </a:solidFill>
                <a:latin typeface="Source Han Sans SC"/>
              </a:rPr>
              <a:t>NEXT TIME — the marathon's second leg: BOTH HOMES AT ONCE (aily + the web version), and your project grows new abilities. Bring your baton handoff sheet and your two-views cheat sheet.</a:t>
            </a:r>
          </a:p>
        </p:txBody>
      </p:sp>
      <p:sp>
        <p:nvSpPr>
          <p:cNvPr id="14" name="TextBox 13"/>
          <p:cNvSpPr txBox="1"/>
          <p:nvPr/>
        </p:nvSpPr>
        <p:spPr>
          <a:xfrm>
            <a:off x="566928" y="3401568"/>
            <a:ext cx="8010144" cy="502920"/>
          </a:xfrm>
          <a:prstGeom prst="rect">
            <a:avLst/>
          </a:prstGeom>
          <a:noFill/>
        </p:spPr>
        <p:txBody>
          <a:bodyPr wrap="square" anchor="t" lIns="0" rIns="0" tIns="0" bIns="0">
            <a:spAutoFit/>
          </a:bodyPr>
          <a:lstStyle/>
          <a:p>
            <a:pPr algn="ctr">
              <a:lnSpc>
                <a:spcPct val="100000"/>
              </a:lnSpc>
            </a:pPr>
            <a:r>
              <a:rPr sz="1100" b="0">
                <a:solidFill>
                  <a:srgbClr val="000000"/>
                </a:solidFill>
                <a:latin typeface="Source Han Sans SC"/>
              </a:rPr>
              <a:t>Return modules you're not using; main kits in the box; the Brief Wall stickies stay.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Run the First Lap | 18 / 42</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Who Is Brandy?</a:t>
            </a:r>
          </a:p>
        </p:txBody>
      </p:sp>
      <p:sp>
        <p:nvSpPr>
          <p:cNvPr id="6" name="TextBox 5"/>
          <p:cNvSpPr txBox="1"/>
          <p:nvPr/>
        </p:nvSpPr>
        <p:spPr>
          <a:xfrm>
            <a:off x="566928" y="914400"/>
            <a:ext cx="8138160" cy="365760"/>
          </a:xfrm>
          <a:prstGeom prst="rect">
            <a:avLst/>
          </a:prstGeom>
          <a:noFill/>
        </p:spPr>
        <p:txBody>
          <a:bodyPr wrap="square" anchor="t" lIns="0" rIns="0" tIns="0" bIns="0">
            <a:spAutoFit/>
          </a:bodyPr>
          <a:lstStyle/>
          <a:p>
            <a:pPr algn="l">
              <a:lnSpc>
                <a:spcPct val="100000"/>
              </a:lnSpc>
            </a:pPr>
            <a:r>
              <a:rPr sz="1200" b="0">
                <a:solidFill>
                  <a:srgbClr val="000000"/>
                </a:solidFill>
                <a:latin typeface="Source Han Sans SC"/>
              </a:rPr>
              <a:t>Seeed's application engineer</a:t>
            </a:r>
          </a:p>
        </p:txBody>
      </p:sp>
      <p:sp>
        <p:nvSpPr>
          <p:cNvPr id="7" name="Rectangle 6"/>
          <p:cNvSpPr/>
          <p:nvPr/>
        </p:nvSpPr>
        <p:spPr>
          <a:xfrm>
            <a:off x="566928" y="1371600"/>
            <a:ext cx="8010144" cy="1389888"/>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536192"/>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0704" y="1499616"/>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Built a voice keyboard with zero code.</a:t>
            </a:r>
          </a:p>
        </p:txBody>
      </p:sp>
      <p:sp>
        <p:nvSpPr>
          <p:cNvPr id="10" name="Rectangle 9"/>
          <p:cNvSpPr/>
          <p:nvPr/>
        </p:nvSpPr>
        <p:spPr>
          <a:xfrm>
            <a:off x="749808" y="1847088"/>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0704" y="1810512"/>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Her method: one closed loop at a time, with an acceptance test.</a:t>
            </a:r>
          </a:p>
        </p:txBody>
      </p:sp>
      <p:sp>
        <p:nvSpPr>
          <p:cNvPr id="12" name="Rectangle 11"/>
          <p:cNvSpPr/>
          <p:nvPr/>
        </p:nvSpPr>
        <p:spPr>
          <a:xfrm>
            <a:off x="749808" y="2157984"/>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0704" y="2121408"/>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The appendix walks her two projects end to end.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Run the First Lap | 19 / 42</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600" b="1">
                <a:solidFill>
                  <a:srgbClr val="000000"/>
                </a:solidFill>
                <a:latin typeface="Source Han Sans SC"/>
              </a:rPr>
              <a:t>Look Beyond the Finished Product</a:t>
            </a:r>
          </a:p>
        </p:txBody>
      </p:sp>
      <p:sp>
        <p:nvSpPr>
          <p:cNvPr id="6" name="Rectangle 5"/>
          <p:cNvSpPr/>
          <p:nvPr/>
        </p:nvSpPr>
        <p:spPr>
          <a:xfrm>
            <a:off x="566928" y="1280160"/>
            <a:ext cx="8010144" cy="1389888"/>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444752"/>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60704" y="1408176"/>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The polished keyboard is the LAST frame, not the first.</a:t>
            </a:r>
          </a:p>
        </p:txBody>
      </p:sp>
      <p:sp>
        <p:nvSpPr>
          <p:cNvPr id="9" name="Rectangle 8"/>
          <p:cNvSpPr/>
          <p:nvPr/>
        </p:nvSpPr>
        <p:spPr>
          <a:xfrm>
            <a:off x="749808" y="1755648"/>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60704" y="1719072"/>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The real story is what the first frame looked like: one key.</a:t>
            </a:r>
          </a:p>
        </p:txBody>
      </p:sp>
      <p:sp>
        <p:nvSpPr>
          <p:cNvPr id="11" name="Rectangle 10"/>
          <p:cNvSpPr/>
          <p:nvPr/>
        </p:nvSpPr>
        <p:spPr>
          <a:xfrm>
            <a:off x="749808" y="2066544"/>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60704" y="2029968"/>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Every finished thing you admire started embarrassingly small.</a:t>
            </a:r>
          </a:p>
        </p:txBody>
      </p:sp>
      <p:pic>
        <p:nvPicPr>
          <p:cNvPr id="13" name="Picture 12" descr="brandy_kbd.jpg"/>
          <p:cNvPicPr>
            <a:picLocks noChangeAspect="1"/>
          </p:cNvPicPr>
          <p:nvPr/>
        </p:nvPicPr>
        <p:blipFill>
          <a:blip r:embed="rId2"/>
          <a:stretch>
            <a:fillRect/>
          </a:stretch>
        </p:blipFill>
        <p:spPr>
          <a:xfrm>
            <a:off x="2011680" y="3749039"/>
            <a:ext cx="5120640" cy="109728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Run the First Lap | 20 / 42</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The Big-Picture Before / After</a:t>
            </a:r>
          </a:p>
        </p:txBody>
      </p:sp>
      <p:sp>
        <p:nvSpPr>
          <p:cNvPr id="6" name="Rectangle 5"/>
          <p:cNvSpPr/>
          <p:nvPr/>
        </p:nvSpPr>
        <p:spPr>
          <a:xfrm>
            <a:off x="566928" y="1280160"/>
            <a:ext cx="8010144" cy="1389888"/>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444752"/>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60704" y="1408176"/>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Before: talking into a computer and typing it out by hand.</a:t>
            </a:r>
          </a:p>
        </p:txBody>
      </p:sp>
      <p:sp>
        <p:nvSpPr>
          <p:cNvPr id="9" name="Rectangle 8"/>
          <p:cNvSpPr/>
          <p:nvPr/>
        </p:nvSpPr>
        <p:spPr>
          <a:xfrm>
            <a:off x="749808" y="1755648"/>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60704" y="1719072"/>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After: one button press turns speech into text.</a:t>
            </a:r>
          </a:p>
        </p:txBody>
      </p:sp>
      <p:sp>
        <p:nvSpPr>
          <p:cNvPr id="11" name="Rectangle 10"/>
          <p:cNvSpPr/>
          <p:nvPr/>
        </p:nvSpPr>
        <p:spPr>
          <a:xfrm>
            <a:off x="749808" y="2066544"/>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60704" y="2029968"/>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The gap is closed by a chain of tiny, tested loops.</a:t>
            </a:r>
          </a:p>
        </p:txBody>
      </p:sp>
      <p:pic>
        <p:nvPicPr>
          <p:cNvPr id="13" name="Picture 12" descr="brandy_interact.jpg"/>
          <p:cNvPicPr>
            <a:picLocks noChangeAspect="1"/>
          </p:cNvPicPr>
          <p:nvPr/>
        </p:nvPicPr>
        <p:blipFill>
          <a:blip r:embed="rId2"/>
          <a:stretch>
            <a:fillRect/>
          </a:stretch>
        </p:blipFill>
        <p:spPr>
          <a:xfrm>
            <a:off x="2011680" y="3749039"/>
            <a:ext cx="5120640" cy="109728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Run the First Lap | 21 / 42</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90% of Attention Interrupted</a:t>
            </a:r>
          </a:p>
        </p:txBody>
      </p:sp>
      <p:sp>
        <p:nvSpPr>
          <p:cNvPr id="6" name="Rectangle 5"/>
          <p:cNvSpPr/>
          <p:nvPr/>
        </p:nvSpPr>
        <p:spPr>
          <a:xfrm>
            <a:off x="566928" y="1280160"/>
            <a:ext cx="8010144" cy="1389888"/>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444752"/>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60704" y="1408176"/>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Switching windows costs more than you think.</a:t>
            </a:r>
          </a:p>
        </p:txBody>
      </p:sp>
      <p:sp>
        <p:nvSpPr>
          <p:cNvPr id="9" name="Rectangle 8"/>
          <p:cNvSpPr/>
          <p:nvPr/>
        </p:nvSpPr>
        <p:spPr>
          <a:xfrm>
            <a:off x="749808" y="1755648"/>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60704" y="1719072"/>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A physical button keeps your eyes on the work that matters.</a:t>
            </a:r>
          </a:p>
        </p:txBody>
      </p:sp>
      <p:sp>
        <p:nvSpPr>
          <p:cNvPr id="11" name="Rectangle 10"/>
          <p:cNvSpPr/>
          <p:nvPr/>
        </p:nvSpPr>
        <p:spPr>
          <a:xfrm>
            <a:off x="749808" y="2066544"/>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60704" y="2029968"/>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Good tools remove friction, not add features.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Run the First Lap | 22 / 42</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Two Devices, One Method</a:t>
            </a:r>
          </a:p>
        </p:txBody>
      </p:sp>
      <p:sp>
        <p:nvSpPr>
          <p:cNvPr id="6" name="Rectangle 5"/>
          <p:cNvSpPr/>
          <p:nvPr/>
        </p:nvSpPr>
        <p:spPr>
          <a:xfrm>
            <a:off x="566928" y="1280160"/>
            <a:ext cx="8010144" cy="1389888"/>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444752"/>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60704" y="1408176"/>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Voice keyboard: press → hear → text appears.</a:t>
            </a:r>
          </a:p>
        </p:txBody>
      </p:sp>
      <p:sp>
        <p:nvSpPr>
          <p:cNvPr id="9" name="Rectangle 8"/>
          <p:cNvSpPr/>
          <p:nvPr/>
        </p:nvSpPr>
        <p:spPr>
          <a:xfrm>
            <a:off x="749808" y="1755648"/>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60704" y="1719072"/>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Digital hourglass: tilt → sand falls → time shows.</a:t>
            </a:r>
          </a:p>
        </p:txBody>
      </p:sp>
      <p:sp>
        <p:nvSpPr>
          <p:cNvPr id="11" name="Rectangle 10"/>
          <p:cNvSpPr/>
          <p:nvPr/>
        </p:nvSpPr>
        <p:spPr>
          <a:xfrm>
            <a:off x="749808" y="2066544"/>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60704" y="2029968"/>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Both start with ONE loop, then grow.</a:t>
            </a:r>
          </a:p>
        </p:txBody>
      </p:sp>
      <p:pic>
        <p:nvPicPr>
          <p:cNvPr id="13" name="Picture 12" descr="brandy_hourglass_final.jpg"/>
          <p:cNvPicPr>
            <a:picLocks noChangeAspect="1"/>
          </p:cNvPicPr>
          <p:nvPr/>
        </p:nvPicPr>
        <p:blipFill>
          <a:blip r:embed="rId2"/>
          <a:stretch>
            <a:fillRect/>
          </a:stretch>
        </p:blipFill>
        <p:spPr>
          <a:xfrm>
            <a:off x="2011680" y="3749039"/>
            <a:ext cx="5120640" cy="109728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Run the First Lap | 23 / 42</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Where to Start</a:t>
            </a:r>
          </a:p>
        </p:txBody>
      </p:sp>
      <p:sp>
        <p:nvSpPr>
          <p:cNvPr id="6" name="Rectangle 5"/>
          <p:cNvSpPr/>
          <p:nvPr/>
        </p:nvSpPr>
        <p:spPr>
          <a:xfrm>
            <a:off x="566928" y="1280160"/>
            <a:ext cx="8010144" cy="1389888"/>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444752"/>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60704" y="1408176"/>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Don't start with the final enclosure.</a:t>
            </a:r>
          </a:p>
        </p:txBody>
      </p:sp>
      <p:sp>
        <p:nvSpPr>
          <p:cNvPr id="9" name="Rectangle 8"/>
          <p:cNvSpPr/>
          <p:nvPr/>
        </p:nvSpPr>
        <p:spPr>
          <a:xfrm>
            <a:off x="749808" y="1755648"/>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60704" y="1719072"/>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Start with the riskiest part: does the input become an output?</a:t>
            </a:r>
          </a:p>
        </p:txBody>
      </p:sp>
      <p:sp>
        <p:nvSpPr>
          <p:cNvPr id="11" name="Rectangle 10"/>
          <p:cNvSpPr/>
          <p:nvPr/>
        </p:nvSpPr>
        <p:spPr>
          <a:xfrm>
            <a:off x="749808" y="2066544"/>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60704" y="2029968"/>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Everything else is decoration until that loop works.</a:t>
            </a:r>
          </a:p>
        </p:txBody>
      </p:sp>
      <p:pic>
        <p:nvPicPr>
          <p:cNvPr id="13" name="Picture 12" descr="brandy_single_key.jpg"/>
          <p:cNvPicPr>
            <a:picLocks noChangeAspect="1"/>
          </p:cNvPicPr>
          <p:nvPr/>
        </p:nvPicPr>
        <p:blipFill>
          <a:blip r:embed="rId2"/>
          <a:stretch>
            <a:fillRect/>
          </a:stretch>
        </p:blipFill>
        <p:spPr>
          <a:xfrm>
            <a:off x="2011680" y="3749039"/>
            <a:ext cx="5120640" cy="109728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Run the First Lap | 24 / 42</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The Method Overview</a:t>
            </a:r>
          </a:p>
        </p:txBody>
      </p:sp>
      <p:sp>
        <p:nvSpPr>
          <p:cNvPr id="6" name="TextBox 5"/>
          <p:cNvSpPr txBox="1"/>
          <p:nvPr/>
        </p:nvSpPr>
        <p:spPr>
          <a:xfrm>
            <a:off x="566928" y="914400"/>
            <a:ext cx="8138160" cy="365760"/>
          </a:xfrm>
          <a:prstGeom prst="rect">
            <a:avLst/>
          </a:prstGeom>
          <a:noFill/>
        </p:spPr>
        <p:txBody>
          <a:bodyPr wrap="square" anchor="t" lIns="0" rIns="0" tIns="0" bIns="0">
            <a:spAutoFit/>
          </a:bodyPr>
          <a:lstStyle/>
          <a:p>
            <a:pPr algn="l">
              <a:lnSpc>
                <a:spcPct val="100000"/>
              </a:lnSpc>
            </a:pPr>
            <a:r>
              <a:rPr sz="1200" b="0">
                <a:solidFill>
                  <a:srgbClr val="000000"/>
                </a:solidFill>
                <a:latin typeface="Source Han Sans SC"/>
              </a:rPr>
              <a:t>four tools</a:t>
            </a:r>
          </a:p>
        </p:txBody>
      </p:sp>
      <p:sp>
        <p:nvSpPr>
          <p:cNvPr id="7" name="Rectangle 6"/>
          <p:cNvSpPr/>
          <p:nvPr/>
        </p:nvSpPr>
        <p:spPr>
          <a:xfrm>
            <a:off x="566928" y="1371600"/>
            <a:ext cx="8010144" cy="1700784"/>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536192"/>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0704" y="1499616"/>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Input / output contract — write what goes in and what must come out.</a:t>
            </a:r>
          </a:p>
        </p:txBody>
      </p:sp>
      <p:sp>
        <p:nvSpPr>
          <p:cNvPr id="10" name="Rectangle 9"/>
          <p:cNvSpPr/>
          <p:nvPr/>
        </p:nvSpPr>
        <p:spPr>
          <a:xfrm>
            <a:off x="749808" y="1847088"/>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0704" y="1810512"/>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One-key first loop — prove the hardest part first.</a:t>
            </a:r>
          </a:p>
        </p:txBody>
      </p:sp>
      <p:sp>
        <p:nvSpPr>
          <p:cNvPr id="12" name="Rectangle 11"/>
          <p:cNvSpPr/>
          <p:nvPr/>
        </p:nvSpPr>
        <p:spPr>
          <a:xfrm>
            <a:off x="749808" y="2157984"/>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0704" y="2121408"/>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AI as teammate — generate, fix, explain code one step at a time.</a:t>
            </a:r>
          </a:p>
        </p:txBody>
      </p:sp>
      <p:sp>
        <p:nvSpPr>
          <p:cNvPr id="14" name="Rectangle 13"/>
          <p:cNvSpPr/>
          <p:nvPr/>
        </p:nvSpPr>
        <p:spPr>
          <a:xfrm>
            <a:off x="749808" y="2468880"/>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60704" y="2432304"/>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Acceptance test — state what 'good enough' looks like.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Run the First Lap | 25 / 42</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A Live Mini-Exercise</a:t>
            </a:r>
          </a:p>
        </p:txBody>
      </p:sp>
      <p:sp>
        <p:nvSpPr>
          <p:cNvPr id="6" name="TextBox 5"/>
          <p:cNvSpPr txBox="1"/>
          <p:nvPr/>
        </p:nvSpPr>
        <p:spPr>
          <a:xfrm>
            <a:off x="566928" y="914400"/>
            <a:ext cx="8138160" cy="365760"/>
          </a:xfrm>
          <a:prstGeom prst="rect">
            <a:avLst/>
          </a:prstGeom>
          <a:noFill/>
        </p:spPr>
        <p:txBody>
          <a:bodyPr wrap="square" anchor="t" lIns="0" rIns="0" tIns="0" bIns="0">
            <a:spAutoFit/>
          </a:bodyPr>
          <a:lstStyle/>
          <a:p>
            <a:pPr algn="l">
              <a:lnSpc>
                <a:spcPct val="100000"/>
              </a:lnSpc>
            </a:pPr>
            <a:r>
              <a:rPr sz="1200" b="0">
                <a:solidFill>
                  <a:srgbClr val="000000"/>
                </a:solidFill>
                <a:latin typeface="Source Han Sans SC"/>
              </a:rPr>
              <a:t>try it now</a:t>
            </a:r>
          </a:p>
        </p:txBody>
      </p:sp>
      <p:sp>
        <p:nvSpPr>
          <p:cNvPr id="7" name="Rectangle 6"/>
          <p:cNvSpPr/>
          <p:nvPr/>
        </p:nvSpPr>
        <p:spPr>
          <a:xfrm>
            <a:off x="566928" y="1371600"/>
            <a:ext cx="8010144" cy="1389888"/>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536192"/>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0704" y="1499616"/>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Name one thing you use every day that has ONE button.</a:t>
            </a:r>
          </a:p>
        </p:txBody>
      </p:sp>
      <p:sp>
        <p:nvSpPr>
          <p:cNvPr id="10" name="Rectangle 9"/>
          <p:cNvSpPr/>
          <p:nvPr/>
        </p:nvSpPr>
        <p:spPr>
          <a:xfrm>
            <a:off x="749808" y="1847088"/>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0704" y="1810512"/>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What is its input? What is its output?</a:t>
            </a:r>
          </a:p>
        </p:txBody>
      </p:sp>
      <p:sp>
        <p:nvSpPr>
          <p:cNvPr id="12" name="Rectangle 11"/>
          <p:cNvSpPr/>
          <p:nvPr/>
        </p:nvSpPr>
        <p:spPr>
          <a:xfrm>
            <a:off x="749808" y="2157984"/>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0704" y="2121408"/>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That's an I/O contract — and you already understand it.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Run the First Lap | 26 / 42</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The Voice Keyboard</a:t>
            </a:r>
          </a:p>
        </p:txBody>
      </p:sp>
      <p:sp>
        <p:nvSpPr>
          <p:cNvPr id="6" name="TextBox 5"/>
          <p:cNvSpPr txBox="1"/>
          <p:nvPr/>
        </p:nvSpPr>
        <p:spPr>
          <a:xfrm>
            <a:off x="566928" y="914400"/>
            <a:ext cx="8138160" cy="365760"/>
          </a:xfrm>
          <a:prstGeom prst="rect">
            <a:avLst/>
          </a:prstGeom>
          <a:noFill/>
        </p:spPr>
        <p:txBody>
          <a:bodyPr wrap="square" anchor="t" lIns="0" rIns="0" tIns="0" bIns="0">
            <a:spAutoFit/>
          </a:bodyPr>
          <a:lstStyle/>
          <a:p>
            <a:pPr algn="l">
              <a:lnSpc>
                <a:spcPct val="100000"/>
              </a:lnSpc>
            </a:pPr>
            <a:r>
              <a:rPr sz="1200" b="0">
                <a:solidFill>
                  <a:srgbClr val="000000"/>
                </a:solidFill>
                <a:latin typeface="Source Han Sans SC"/>
              </a:rPr>
              <a:t>breaking the problem</a:t>
            </a:r>
          </a:p>
        </p:txBody>
      </p:sp>
      <p:sp>
        <p:nvSpPr>
          <p:cNvPr id="7" name="Rectangle 6"/>
          <p:cNvSpPr/>
          <p:nvPr/>
        </p:nvSpPr>
        <p:spPr>
          <a:xfrm>
            <a:off x="566928" y="1371600"/>
            <a:ext cx="8010144" cy="1389888"/>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536192"/>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0704" y="1499616"/>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Input: press and hold a button while speaking.</a:t>
            </a:r>
          </a:p>
        </p:txBody>
      </p:sp>
      <p:sp>
        <p:nvSpPr>
          <p:cNvPr id="10" name="Rectangle 9"/>
          <p:cNvSpPr/>
          <p:nvPr/>
        </p:nvSpPr>
        <p:spPr>
          <a:xfrm>
            <a:off x="749808" y="1847088"/>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0704" y="1810512"/>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Process: turn speech into text.</a:t>
            </a:r>
          </a:p>
        </p:txBody>
      </p:sp>
      <p:sp>
        <p:nvSpPr>
          <p:cNvPr id="12" name="Rectangle 11"/>
          <p:cNvSpPr/>
          <p:nvPr/>
        </p:nvSpPr>
        <p:spPr>
          <a:xfrm>
            <a:off x="749808" y="2157984"/>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0704" y="2121408"/>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Output: paste the text where the cursor is.</a:t>
            </a:r>
          </a:p>
        </p:txBody>
      </p:sp>
      <p:pic>
        <p:nvPicPr>
          <p:cNvPr id="14" name="Picture 13" descr="brandy_kbd.jpg"/>
          <p:cNvPicPr>
            <a:picLocks noChangeAspect="1"/>
          </p:cNvPicPr>
          <p:nvPr/>
        </p:nvPicPr>
        <p:blipFill>
          <a:blip r:embed="rId2"/>
          <a:stretch>
            <a:fillRect/>
          </a:stretch>
        </p:blipFill>
        <p:spPr>
          <a:xfrm>
            <a:off x="2011680" y="3749039"/>
            <a:ext cx="5120640" cy="109728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Run the First Lap | 27 / 42</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The Voice Keyboard</a:t>
            </a:r>
          </a:p>
        </p:txBody>
      </p:sp>
      <p:sp>
        <p:nvSpPr>
          <p:cNvPr id="6" name="TextBox 5"/>
          <p:cNvSpPr txBox="1"/>
          <p:nvPr/>
        </p:nvSpPr>
        <p:spPr>
          <a:xfrm>
            <a:off x="566928" y="914400"/>
            <a:ext cx="8138160" cy="365760"/>
          </a:xfrm>
          <a:prstGeom prst="rect">
            <a:avLst/>
          </a:prstGeom>
          <a:noFill/>
        </p:spPr>
        <p:txBody>
          <a:bodyPr wrap="square" anchor="t" lIns="0" rIns="0" tIns="0" bIns="0">
            <a:spAutoFit/>
          </a:bodyPr>
          <a:lstStyle/>
          <a:p>
            <a:pPr algn="l">
              <a:lnSpc>
                <a:spcPct val="100000"/>
              </a:lnSpc>
            </a:pPr>
            <a:r>
              <a:rPr sz="1200" b="0">
                <a:solidFill>
                  <a:srgbClr val="000000"/>
                </a:solidFill>
                <a:latin typeface="Source Han Sans SC"/>
              </a:rPr>
              <a:t>mind map</a:t>
            </a:r>
          </a:p>
        </p:txBody>
      </p:sp>
      <p:sp>
        <p:nvSpPr>
          <p:cNvPr id="7" name="Rectangle 6"/>
          <p:cNvSpPr/>
          <p:nvPr/>
        </p:nvSpPr>
        <p:spPr>
          <a:xfrm>
            <a:off x="566928" y="1371600"/>
            <a:ext cx="8010144" cy="1389888"/>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536192"/>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0704" y="1499616"/>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Hardware: button, microphone, microcontroller.</a:t>
            </a:r>
          </a:p>
        </p:txBody>
      </p:sp>
      <p:sp>
        <p:nvSpPr>
          <p:cNvPr id="10" name="Rectangle 9"/>
          <p:cNvSpPr/>
          <p:nvPr/>
        </p:nvSpPr>
        <p:spPr>
          <a:xfrm>
            <a:off x="749808" y="1847088"/>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0704" y="1810512"/>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Software: speech-to-text service, hotkey simulation.</a:t>
            </a:r>
          </a:p>
        </p:txBody>
      </p:sp>
      <p:sp>
        <p:nvSpPr>
          <p:cNvPr id="12" name="Rectangle 11"/>
          <p:cNvSpPr/>
          <p:nvPr/>
        </p:nvSpPr>
        <p:spPr>
          <a:xfrm>
            <a:off x="749808" y="2157984"/>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0704" y="2121408"/>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Experience: one press, one sentence, one less context switch.</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Run the First Lap | 28 / 42</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The Voice Keyboard</a:t>
            </a:r>
          </a:p>
        </p:txBody>
      </p:sp>
      <p:sp>
        <p:nvSpPr>
          <p:cNvPr id="6" name="TextBox 5"/>
          <p:cNvSpPr txBox="1"/>
          <p:nvPr/>
        </p:nvSpPr>
        <p:spPr>
          <a:xfrm>
            <a:off x="566928" y="914400"/>
            <a:ext cx="8138160" cy="365760"/>
          </a:xfrm>
          <a:prstGeom prst="rect">
            <a:avLst/>
          </a:prstGeom>
          <a:noFill/>
        </p:spPr>
        <p:txBody>
          <a:bodyPr wrap="square" anchor="t" lIns="0" rIns="0" tIns="0" bIns="0">
            <a:spAutoFit/>
          </a:bodyPr>
          <a:lstStyle/>
          <a:p>
            <a:pPr algn="l">
              <a:lnSpc>
                <a:spcPct val="100000"/>
              </a:lnSpc>
            </a:pPr>
            <a:r>
              <a:rPr sz="1200" b="0">
                <a:solidFill>
                  <a:srgbClr val="000000"/>
                </a:solidFill>
                <a:latin typeface="Source Han Sans SC"/>
              </a:rPr>
              <a:t>I/O contract</a:t>
            </a:r>
          </a:p>
        </p:txBody>
      </p:sp>
      <p:sp>
        <p:nvSpPr>
          <p:cNvPr id="7" name="Rectangle 6"/>
          <p:cNvSpPr/>
          <p:nvPr/>
        </p:nvSpPr>
        <p:spPr>
          <a:xfrm>
            <a:off x="566928" y="1371600"/>
            <a:ext cx="8010144" cy="1700784"/>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536192"/>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0704" y="1499616"/>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INPUT: button press + voice.</a:t>
            </a:r>
          </a:p>
        </p:txBody>
      </p:sp>
      <p:sp>
        <p:nvSpPr>
          <p:cNvPr id="10" name="Rectangle 9"/>
          <p:cNvSpPr/>
          <p:nvPr/>
        </p:nvSpPr>
        <p:spPr>
          <a:xfrm>
            <a:off x="749808" y="1847088"/>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0704" y="1810512"/>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CONSTRAINTS: hold while talking, release to send.</a:t>
            </a:r>
          </a:p>
        </p:txBody>
      </p:sp>
      <p:sp>
        <p:nvSpPr>
          <p:cNvPr id="12" name="Rectangle 11"/>
          <p:cNvSpPr/>
          <p:nvPr/>
        </p:nvSpPr>
        <p:spPr>
          <a:xfrm>
            <a:off x="749808" y="2157984"/>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0704" y="2121408"/>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OUTPUT: text pasted at cursor.</a:t>
            </a:r>
          </a:p>
        </p:txBody>
      </p:sp>
      <p:sp>
        <p:nvSpPr>
          <p:cNvPr id="14" name="Rectangle 13"/>
          <p:cNvSpPr/>
          <p:nvPr/>
        </p:nvSpPr>
        <p:spPr>
          <a:xfrm>
            <a:off x="749808" y="2468880"/>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60704" y="2432304"/>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SUCCESS: 20 presses in a row, zero misses.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Run the First Lap | 29 / 42</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The Voice Keyboard</a:t>
            </a:r>
          </a:p>
        </p:txBody>
      </p:sp>
      <p:sp>
        <p:nvSpPr>
          <p:cNvPr id="6" name="TextBox 5"/>
          <p:cNvSpPr txBox="1"/>
          <p:nvPr/>
        </p:nvSpPr>
        <p:spPr>
          <a:xfrm>
            <a:off x="566928" y="914400"/>
            <a:ext cx="8138160" cy="365760"/>
          </a:xfrm>
          <a:prstGeom prst="rect">
            <a:avLst/>
          </a:prstGeom>
          <a:noFill/>
        </p:spPr>
        <p:txBody>
          <a:bodyPr wrap="square" anchor="t" lIns="0" rIns="0" tIns="0" bIns="0">
            <a:spAutoFit/>
          </a:bodyPr>
          <a:lstStyle/>
          <a:p>
            <a:pPr algn="l">
              <a:lnSpc>
                <a:spcPct val="100000"/>
              </a:lnSpc>
            </a:pPr>
            <a:r>
              <a:rPr sz="1200" b="0">
                <a:solidFill>
                  <a:srgbClr val="000000"/>
                </a:solidFill>
                <a:latin typeface="Source Han Sans SC"/>
              </a:rPr>
              <a:t>the one-key first loop</a:t>
            </a:r>
          </a:p>
        </p:txBody>
      </p:sp>
      <p:sp>
        <p:nvSpPr>
          <p:cNvPr id="7" name="Rectangle 6"/>
          <p:cNvSpPr/>
          <p:nvPr/>
        </p:nvSpPr>
        <p:spPr>
          <a:xfrm>
            <a:off x="566928" y="1371600"/>
            <a:ext cx="8010144" cy="1389888"/>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536192"/>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0704" y="1499616"/>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Version 1 had exactly one key.</a:t>
            </a:r>
          </a:p>
        </p:txBody>
      </p:sp>
      <p:sp>
        <p:nvSpPr>
          <p:cNvPr id="10" name="Rectangle 9"/>
          <p:cNvSpPr/>
          <p:nvPr/>
        </p:nvSpPr>
        <p:spPr>
          <a:xfrm>
            <a:off x="749808" y="1847088"/>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0704" y="1810512"/>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The acceptance test was brutal: 20 presses, no misses.</a:t>
            </a:r>
          </a:p>
        </p:txBody>
      </p:sp>
      <p:sp>
        <p:nvSpPr>
          <p:cNvPr id="12" name="Rectangle 11"/>
          <p:cNvSpPr/>
          <p:nvPr/>
        </p:nvSpPr>
        <p:spPr>
          <a:xfrm>
            <a:off x="749808" y="2157984"/>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0704" y="2121408"/>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Only after passing did she add key 2, 3, 4, 5.</a:t>
            </a:r>
          </a:p>
        </p:txBody>
      </p:sp>
      <p:pic>
        <p:nvPicPr>
          <p:cNvPr id="14" name="Picture 13" descr="brandy_single_key.jpg"/>
          <p:cNvPicPr>
            <a:picLocks noChangeAspect="1"/>
          </p:cNvPicPr>
          <p:nvPr/>
        </p:nvPicPr>
        <p:blipFill>
          <a:blip r:embed="rId2"/>
          <a:stretch>
            <a:fillRect/>
          </a:stretch>
        </p:blipFill>
        <p:spPr>
          <a:xfrm>
            <a:off x="2011680" y="3749039"/>
            <a:ext cx="5120640" cy="109728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Run the First Lap | 30 / 42</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The Voice Keyboard</a:t>
            </a:r>
          </a:p>
        </p:txBody>
      </p:sp>
      <p:sp>
        <p:nvSpPr>
          <p:cNvPr id="6" name="TextBox 5"/>
          <p:cNvSpPr txBox="1"/>
          <p:nvPr/>
        </p:nvSpPr>
        <p:spPr>
          <a:xfrm>
            <a:off x="566928" y="914400"/>
            <a:ext cx="8138160" cy="365760"/>
          </a:xfrm>
          <a:prstGeom prst="rect">
            <a:avLst/>
          </a:prstGeom>
          <a:noFill/>
        </p:spPr>
        <p:txBody>
          <a:bodyPr wrap="square" anchor="t" lIns="0" rIns="0" tIns="0" bIns="0">
            <a:spAutoFit/>
          </a:bodyPr>
          <a:lstStyle/>
          <a:p>
            <a:pPr algn="l">
              <a:lnSpc>
                <a:spcPct val="100000"/>
              </a:lnSpc>
            </a:pPr>
            <a:r>
              <a:rPr sz="1200" b="0">
                <a:solidFill>
                  <a:srgbClr val="000000"/>
                </a:solidFill>
                <a:latin typeface="Source Han Sans SC"/>
              </a:rPr>
              <a:t>final interaction</a:t>
            </a:r>
          </a:p>
        </p:txBody>
      </p:sp>
      <p:sp>
        <p:nvSpPr>
          <p:cNvPr id="7" name="Rectangle 6"/>
          <p:cNvSpPr/>
          <p:nvPr/>
        </p:nvSpPr>
        <p:spPr>
          <a:xfrm>
            <a:off x="566928" y="1371600"/>
            <a:ext cx="8010144" cy="1389888"/>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536192"/>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0704" y="1499616"/>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Five keys now: input, end, send, delete, and a custom shortcut.</a:t>
            </a:r>
          </a:p>
        </p:txBody>
      </p:sp>
      <p:sp>
        <p:nvSpPr>
          <p:cNvPr id="10" name="Rectangle 9"/>
          <p:cNvSpPr/>
          <p:nvPr/>
        </p:nvSpPr>
        <p:spPr>
          <a:xfrm>
            <a:off x="749808" y="1847088"/>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0704" y="1810512"/>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Each key grew from a loop that was proven first.</a:t>
            </a:r>
          </a:p>
        </p:txBody>
      </p:sp>
      <p:sp>
        <p:nvSpPr>
          <p:cNvPr id="12" name="Rectangle 11"/>
          <p:cNvSpPr/>
          <p:nvPr/>
        </p:nvSpPr>
        <p:spPr>
          <a:xfrm>
            <a:off x="749808" y="2157984"/>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0704" y="2121408"/>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The form followed the function.</a:t>
            </a:r>
          </a:p>
        </p:txBody>
      </p:sp>
      <p:pic>
        <p:nvPicPr>
          <p:cNvPr id="14" name="Picture 13" descr="brandy_interact.jpg"/>
          <p:cNvPicPr>
            <a:picLocks noChangeAspect="1"/>
          </p:cNvPicPr>
          <p:nvPr/>
        </p:nvPicPr>
        <p:blipFill>
          <a:blip r:embed="rId2"/>
          <a:stretch>
            <a:fillRect/>
          </a:stretch>
        </p:blipFill>
        <p:spPr>
          <a:xfrm>
            <a:off x="2011680" y="3749039"/>
            <a:ext cx="5120640" cy="109728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Run the First Lap | 31 / 42</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The Voice Keyboard</a:t>
            </a:r>
          </a:p>
        </p:txBody>
      </p:sp>
      <p:sp>
        <p:nvSpPr>
          <p:cNvPr id="6" name="TextBox 5"/>
          <p:cNvSpPr txBox="1"/>
          <p:nvPr/>
        </p:nvSpPr>
        <p:spPr>
          <a:xfrm>
            <a:off x="566928" y="914400"/>
            <a:ext cx="8138160" cy="365760"/>
          </a:xfrm>
          <a:prstGeom prst="rect">
            <a:avLst/>
          </a:prstGeom>
          <a:noFill/>
        </p:spPr>
        <p:txBody>
          <a:bodyPr wrap="square" anchor="t" lIns="0" rIns="0" tIns="0" bIns="0">
            <a:spAutoFit/>
          </a:bodyPr>
          <a:lstStyle/>
          <a:p>
            <a:pPr algn="l">
              <a:lnSpc>
                <a:spcPct val="100000"/>
              </a:lnSpc>
            </a:pPr>
            <a:r>
              <a:rPr sz="1200" b="0">
                <a:solidFill>
                  <a:srgbClr val="000000"/>
                </a:solidFill>
                <a:latin typeface="Source Han Sans SC"/>
              </a:rPr>
              <a:t>enclosure pitfalls</a:t>
            </a:r>
          </a:p>
        </p:txBody>
      </p:sp>
      <p:sp>
        <p:nvSpPr>
          <p:cNvPr id="7" name="Rectangle 6"/>
          <p:cNvSpPr/>
          <p:nvPr/>
        </p:nvSpPr>
        <p:spPr>
          <a:xfrm>
            <a:off x="566928" y="1371600"/>
            <a:ext cx="8010144" cy="1389888"/>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536192"/>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0704" y="1499616"/>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3D prints warp; keycaps wobble; USB cables snag.</a:t>
            </a:r>
          </a:p>
        </p:txBody>
      </p:sp>
      <p:sp>
        <p:nvSpPr>
          <p:cNvPr id="10" name="Rectangle 9"/>
          <p:cNvSpPr/>
          <p:nvPr/>
        </p:nvSpPr>
        <p:spPr>
          <a:xfrm>
            <a:off x="749808" y="1847088"/>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0704" y="1810512"/>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Every enclosure problem was found by using it, not imagining it.</a:t>
            </a:r>
          </a:p>
        </p:txBody>
      </p:sp>
      <p:sp>
        <p:nvSpPr>
          <p:cNvPr id="12" name="Rectangle 11"/>
          <p:cNvSpPr/>
          <p:nvPr/>
        </p:nvSpPr>
        <p:spPr>
          <a:xfrm>
            <a:off x="749808" y="2157984"/>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0704" y="2121408"/>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Test the loop first; the box comes last.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Run the First Lap | 32 / 42</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The Voice Keyboard</a:t>
            </a:r>
          </a:p>
        </p:txBody>
      </p:sp>
      <p:sp>
        <p:nvSpPr>
          <p:cNvPr id="6" name="TextBox 5"/>
          <p:cNvSpPr txBox="1"/>
          <p:nvPr/>
        </p:nvSpPr>
        <p:spPr>
          <a:xfrm>
            <a:off x="566928" y="914400"/>
            <a:ext cx="8138160" cy="365760"/>
          </a:xfrm>
          <a:prstGeom prst="rect">
            <a:avLst/>
          </a:prstGeom>
          <a:noFill/>
        </p:spPr>
        <p:txBody>
          <a:bodyPr wrap="square" anchor="t" lIns="0" rIns="0" tIns="0" bIns="0">
            <a:spAutoFit/>
          </a:bodyPr>
          <a:lstStyle/>
          <a:p>
            <a:pPr algn="l">
              <a:lnSpc>
                <a:spcPct val="100000"/>
              </a:lnSpc>
            </a:pPr>
            <a:r>
              <a:rPr sz="1200" b="0">
                <a:solidFill>
                  <a:srgbClr val="000000"/>
                </a:solidFill>
                <a:latin typeface="Source Han Sans SC"/>
              </a:rPr>
              <a:t>sketch to 3D</a:t>
            </a:r>
          </a:p>
        </p:txBody>
      </p:sp>
      <p:sp>
        <p:nvSpPr>
          <p:cNvPr id="7" name="Rectangle 6"/>
          <p:cNvSpPr/>
          <p:nvPr/>
        </p:nvSpPr>
        <p:spPr>
          <a:xfrm>
            <a:off x="566928" y="1371600"/>
            <a:ext cx="8010144" cy="1389888"/>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536192"/>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0704" y="1499616"/>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A paper sketch is faster than any CAD tool at the start.</a:t>
            </a:r>
          </a:p>
        </p:txBody>
      </p:sp>
      <p:sp>
        <p:nvSpPr>
          <p:cNvPr id="10" name="Rectangle 9"/>
          <p:cNvSpPr/>
          <p:nvPr/>
        </p:nvSpPr>
        <p:spPr>
          <a:xfrm>
            <a:off x="749808" y="1847088"/>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0704" y="1810512"/>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Only lock dimensions after the electronics fit in your hand.</a:t>
            </a:r>
          </a:p>
        </p:txBody>
      </p:sp>
      <p:sp>
        <p:nvSpPr>
          <p:cNvPr id="12" name="Rectangle 11"/>
          <p:cNvSpPr/>
          <p:nvPr/>
        </p:nvSpPr>
        <p:spPr>
          <a:xfrm>
            <a:off x="749808" y="2157984"/>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0704" y="2121408"/>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Draw → measure → print → test → redraw.</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Run the First Lap | 33 / 42</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The Voice Keyboard</a:t>
            </a:r>
          </a:p>
        </p:txBody>
      </p:sp>
      <p:sp>
        <p:nvSpPr>
          <p:cNvPr id="6" name="TextBox 5"/>
          <p:cNvSpPr txBox="1"/>
          <p:nvPr/>
        </p:nvSpPr>
        <p:spPr>
          <a:xfrm>
            <a:off x="566928" y="914400"/>
            <a:ext cx="8138160" cy="365760"/>
          </a:xfrm>
          <a:prstGeom prst="rect">
            <a:avLst/>
          </a:prstGeom>
          <a:noFill/>
        </p:spPr>
        <p:txBody>
          <a:bodyPr wrap="square" anchor="t" lIns="0" rIns="0" tIns="0" bIns="0">
            <a:spAutoFit/>
          </a:bodyPr>
          <a:lstStyle/>
          <a:p>
            <a:pPr algn="l">
              <a:lnSpc>
                <a:spcPct val="100000"/>
              </a:lnSpc>
            </a:pPr>
            <a:r>
              <a:rPr sz="1200" b="0">
                <a:solidFill>
                  <a:srgbClr val="000000"/>
                </a:solidFill>
                <a:latin typeface="Source Han Sans SC"/>
              </a:rPr>
              <a:t>demo checklist</a:t>
            </a:r>
          </a:p>
        </p:txBody>
      </p:sp>
      <p:sp>
        <p:nvSpPr>
          <p:cNvPr id="7" name="Rectangle 6"/>
          <p:cNvSpPr/>
          <p:nvPr/>
        </p:nvSpPr>
        <p:spPr>
          <a:xfrm>
            <a:off x="566928" y="1371600"/>
            <a:ext cx="8010144" cy="1389888"/>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536192"/>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0704" y="1499616"/>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Power on, connect, press button, speak a sentence, text appears.</a:t>
            </a:r>
          </a:p>
        </p:txBody>
      </p:sp>
      <p:sp>
        <p:nvSpPr>
          <p:cNvPr id="10" name="Rectangle 9"/>
          <p:cNvSpPr/>
          <p:nvPr/>
        </p:nvSpPr>
        <p:spPr>
          <a:xfrm>
            <a:off x="749808" y="1847088"/>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0704" y="1810512"/>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Repeat three times without failure.</a:t>
            </a:r>
          </a:p>
        </p:txBody>
      </p:sp>
      <p:sp>
        <p:nvSpPr>
          <p:cNvPr id="12" name="Rectangle 11"/>
          <p:cNvSpPr/>
          <p:nvPr/>
        </p:nvSpPr>
        <p:spPr>
          <a:xfrm>
            <a:off x="749808" y="2157984"/>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0704" y="2121408"/>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This same checklist protects your Lesson 10 showcase.</a:t>
            </a:r>
          </a:p>
        </p:txBody>
      </p:sp>
      <p:pic>
        <p:nvPicPr>
          <p:cNvPr id="14" name="Picture 13" descr="brandy_kbd.jpg"/>
          <p:cNvPicPr>
            <a:picLocks noChangeAspect="1"/>
          </p:cNvPicPr>
          <p:nvPr/>
        </p:nvPicPr>
        <p:blipFill>
          <a:blip r:embed="rId2"/>
          <a:stretch>
            <a:fillRect/>
          </a:stretch>
        </p:blipFill>
        <p:spPr>
          <a:xfrm>
            <a:off x="2011680" y="3749039"/>
            <a:ext cx="5120640" cy="109728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Run the First Lap | 34 / 42</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The Digital Hourglass</a:t>
            </a:r>
          </a:p>
        </p:txBody>
      </p:sp>
      <p:sp>
        <p:nvSpPr>
          <p:cNvPr id="6" name="TextBox 5"/>
          <p:cNvSpPr txBox="1"/>
          <p:nvPr/>
        </p:nvSpPr>
        <p:spPr>
          <a:xfrm>
            <a:off x="566928" y="914400"/>
            <a:ext cx="8138160" cy="365760"/>
          </a:xfrm>
          <a:prstGeom prst="rect">
            <a:avLst/>
          </a:prstGeom>
          <a:noFill/>
        </p:spPr>
        <p:txBody>
          <a:bodyPr wrap="square" anchor="t" lIns="0" rIns="0" tIns="0" bIns="0">
            <a:spAutoFit/>
          </a:bodyPr>
          <a:lstStyle/>
          <a:p>
            <a:pPr algn="l">
              <a:lnSpc>
                <a:spcPct val="100000"/>
              </a:lnSpc>
            </a:pPr>
            <a:r>
              <a:rPr sz="1200" b="0">
                <a:solidFill>
                  <a:srgbClr val="000000"/>
                </a:solidFill>
                <a:latin typeface="Source Han Sans SC"/>
              </a:rPr>
              <a:t>breaking the problem</a:t>
            </a:r>
          </a:p>
        </p:txBody>
      </p:sp>
      <p:sp>
        <p:nvSpPr>
          <p:cNvPr id="7" name="Rectangle 6"/>
          <p:cNvSpPr/>
          <p:nvPr/>
        </p:nvSpPr>
        <p:spPr>
          <a:xfrm>
            <a:off x="566928" y="1371600"/>
            <a:ext cx="8010144" cy="1389888"/>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536192"/>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0704" y="1499616"/>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Input: tilt the device to start a timer.</a:t>
            </a:r>
          </a:p>
        </p:txBody>
      </p:sp>
      <p:sp>
        <p:nvSpPr>
          <p:cNvPr id="10" name="Rectangle 9"/>
          <p:cNvSpPr/>
          <p:nvPr/>
        </p:nvSpPr>
        <p:spPr>
          <a:xfrm>
            <a:off x="749808" y="1847088"/>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0704" y="1810512"/>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Process: count down like falling sand.</a:t>
            </a:r>
          </a:p>
        </p:txBody>
      </p:sp>
      <p:sp>
        <p:nvSpPr>
          <p:cNvPr id="12" name="Rectangle 11"/>
          <p:cNvSpPr/>
          <p:nvPr/>
        </p:nvSpPr>
        <p:spPr>
          <a:xfrm>
            <a:off x="749808" y="2157984"/>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0704" y="2121408"/>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Output: LEDs show remaining time.</a:t>
            </a:r>
          </a:p>
        </p:txBody>
      </p:sp>
      <p:pic>
        <p:nvPicPr>
          <p:cNvPr id="14" name="Picture 13" descr="brandy_hourglass_final.jpg"/>
          <p:cNvPicPr>
            <a:picLocks noChangeAspect="1"/>
          </p:cNvPicPr>
          <p:nvPr/>
        </p:nvPicPr>
        <p:blipFill>
          <a:blip r:embed="rId2"/>
          <a:stretch>
            <a:fillRect/>
          </a:stretch>
        </p:blipFill>
        <p:spPr>
          <a:xfrm>
            <a:off x="2011680" y="3749039"/>
            <a:ext cx="5120640" cy="109728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Run the First Lap | 35 / 42</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The Digital Hourglass</a:t>
            </a:r>
          </a:p>
        </p:txBody>
      </p:sp>
      <p:sp>
        <p:nvSpPr>
          <p:cNvPr id="6" name="TextBox 5"/>
          <p:cNvSpPr txBox="1"/>
          <p:nvPr/>
        </p:nvSpPr>
        <p:spPr>
          <a:xfrm>
            <a:off x="566928" y="914400"/>
            <a:ext cx="8138160" cy="365760"/>
          </a:xfrm>
          <a:prstGeom prst="rect">
            <a:avLst/>
          </a:prstGeom>
          <a:noFill/>
        </p:spPr>
        <p:txBody>
          <a:bodyPr wrap="square" anchor="t" lIns="0" rIns="0" tIns="0" bIns="0">
            <a:spAutoFit/>
          </a:bodyPr>
          <a:lstStyle/>
          <a:p>
            <a:pPr algn="l">
              <a:lnSpc>
                <a:spcPct val="100000"/>
              </a:lnSpc>
            </a:pPr>
            <a:r>
              <a:rPr sz="1200" b="0">
                <a:solidFill>
                  <a:srgbClr val="000000"/>
                </a:solidFill>
                <a:latin typeface="Source Han Sans SC"/>
              </a:rPr>
              <a:t>wiring &amp; SOP</a:t>
            </a:r>
          </a:p>
        </p:txBody>
      </p:sp>
      <p:sp>
        <p:nvSpPr>
          <p:cNvPr id="7" name="Rectangle 6"/>
          <p:cNvSpPr/>
          <p:nvPr/>
        </p:nvSpPr>
        <p:spPr>
          <a:xfrm>
            <a:off x="566928" y="1371600"/>
            <a:ext cx="8010144" cy="1389888"/>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536192"/>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0704" y="1499616"/>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One microcontroller, one accelerometer, one LED matrix.</a:t>
            </a:r>
          </a:p>
        </p:txBody>
      </p:sp>
      <p:sp>
        <p:nvSpPr>
          <p:cNvPr id="10" name="Rectangle 9"/>
          <p:cNvSpPr/>
          <p:nvPr/>
        </p:nvSpPr>
        <p:spPr>
          <a:xfrm>
            <a:off x="749808" y="1847088"/>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0704" y="1810512"/>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Standard operating procedure: tilt → start, flat → pause, upright → reset.</a:t>
            </a:r>
          </a:p>
        </p:txBody>
      </p:sp>
      <p:sp>
        <p:nvSpPr>
          <p:cNvPr id="12" name="Rectangle 11"/>
          <p:cNvSpPr/>
          <p:nvPr/>
        </p:nvSpPr>
        <p:spPr>
          <a:xfrm>
            <a:off x="749808" y="2157984"/>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0704" y="2121408"/>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The behavior was decided before the code was written.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Run the First Lap | 36 / 42</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The Digital Hourglass</a:t>
            </a:r>
          </a:p>
        </p:txBody>
      </p:sp>
      <p:sp>
        <p:nvSpPr>
          <p:cNvPr id="6" name="TextBox 5"/>
          <p:cNvSpPr txBox="1"/>
          <p:nvPr/>
        </p:nvSpPr>
        <p:spPr>
          <a:xfrm>
            <a:off x="566928" y="914400"/>
            <a:ext cx="8138160" cy="365760"/>
          </a:xfrm>
          <a:prstGeom prst="rect">
            <a:avLst/>
          </a:prstGeom>
          <a:noFill/>
        </p:spPr>
        <p:txBody>
          <a:bodyPr wrap="square" anchor="t" lIns="0" rIns="0" tIns="0" bIns="0">
            <a:spAutoFit/>
          </a:bodyPr>
          <a:lstStyle/>
          <a:p>
            <a:pPr algn="l">
              <a:lnSpc>
                <a:spcPct val="100000"/>
              </a:lnSpc>
            </a:pPr>
            <a:r>
              <a:rPr sz="1200" b="0">
                <a:solidFill>
                  <a:srgbClr val="000000"/>
                </a:solidFill>
                <a:latin typeface="Source Han Sans SC"/>
              </a:rPr>
              <a:t>decomposing "like sand"</a:t>
            </a:r>
          </a:p>
        </p:txBody>
      </p:sp>
      <p:sp>
        <p:nvSpPr>
          <p:cNvPr id="7" name="Rectangle 6"/>
          <p:cNvSpPr/>
          <p:nvPr/>
        </p:nvSpPr>
        <p:spPr>
          <a:xfrm>
            <a:off x="566928" y="1371600"/>
            <a:ext cx="8010144" cy="1389888"/>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536192"/>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0704" y="1499616"/>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Sand doesn't fall as a block; it falls grain by grain.</a:t>
            </a:r>
          </a:p>
        </p:txBody>
      </p:sp>
      <p:sp>
        <p:nvSpPr>
          <p:cNvPr id="10" name="Rectangle 9"/>
          <p:cNvSpPr/>
          <p:nvPr/>
        </p:nvSpPr>
        <p:spPr>
          <a:xfrm>
            <a:off x="749808" y="1847088"/>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0704" y="1810512"/>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An LED matrix can mimic that with small steps.</a:t>
            </a:r>
          </a:p>
        </p:txBody>
      </p:sp>
      <p:sp>
        <p:nvSpPr>
          <p:cNvPr id="12" name="Rectangle 11"/>
          <p:cNvSpPr/>
          <p:nvPr/>
        </p:nvSpPr>
        <p:spPr>
          <a:xfrm>
            <a:off x="749808" y="2157984"/>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0704" y="2121408"/>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Break the effect into tiny frames, then loop them.</a:t>
            </a:r>
          </a:p>
        </p:txBody>
      </p:sp>
      <p:pic>
        <p:nvPicPr>
          <p:cNvPr id="14" name="Picture 13" descr="brandy_hourglass_final.jpg"/>
          <p:cNvPicPr>
            <a:picLocks noChangeAspect="1"/>
          </p:cNvPicPr>
          <p:nvPr/>
        </p:nvPicPr>
        <p:blipFill>
          <a:blip r:embed="rId2"/>
          <a:stretch>
            <a:fillRect/>
          </a:stretch>
        </p:blipFill>
        <p:spPr>
          <a:xfrm>
            <a:off x="2011680" y="3749039"/>
            <a:ext cx="5120640" cy="109728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Run the First Lap | 37 / 42</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The Digital Hourglass</a:t>
            </a:r>
          </a:p>
        </p:txBody>
      </p:sp>
      <p:sp>
        <p:nvSpPr>
          <p:cNvPr id="6" name="TextBox 5"/>
          <p:cNvSpPr txBox="1"/>
          <p:nvPr/>
        </p:nvSpPr>
        <p:spPr>
          <a:xfrm>
            <a:off x="566928" y="914400"/>
            <a:ext cx="8138160" cy="365760"/>
          </a:xfrm>
          <a:prstGeom prst="rect">
            <a:avLst/>
          </a:prstGeom>
          <a:noFill/>
        </p:spPr>
        <p:txBody>
          <a:bodyPr wrap="square" anchor="t" lIns="0" rIns="0" tIns="0" bIns="0">
            <a:spAutoFit/>
          </a:bodyPr>
          <a:lstStyle/>
          <a:p>
            <a:pPr algn="l">
              <a:lnSpc>
                <a:spcPct val="100000"/>
              </a:lnSpc>
            </a:pPr>
            <a:r>
              <a:rPr sz="1200" b="0">
                <a:solidFill>
                  <a:srgbClr val="000000"/>
                </a:solidFill>
                <a:latin typeface="Source Han Sans SC"/>
              </a:rPr>
              <a:t>the photo where the logic was wrong</a:t>
            </a:r>
          </a:p>
        </p:txBody>
      </p:sp>
      <p:sp>
        <p:nvSpPr>
          <p:cNvPr id="7" name="Rectangle 6"/>
          <p:cNvSpPr/>
          <p:nvPr/>
        </p:nvSpPr>
        <p:spPr>
          <a:xfrm>
            <a:off x="566928" y="1371600"/>
            <a:ext cx="8010144" cy="1389888"/>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536192"/>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0704" y="1499616"/>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A wrong photo is evidence, not failure.</a:t>
            </a:r>
          </a:p>
        </p:txBody>
      </p:sp>
      <p:sp>
        <p:nvSpPr>
          <p:cNvPr id="10" name="Rectangle 9"/>
          <p:cNvSpPr/>
          <p:nvPr/>
        </p:nvSpPr>
        <p:spPr>
          <a:xfrm>
            <a:off x="749808" y="1847088"/>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0704" y="1810512"/>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It tells you which assumption broke — light? angle? timing?</a:t>
            </a:r>
          </a:p>
        </p:txBody>
      </p:sp>
      <p:sp>
        <p:nvSpPr>
          <p:cNvPr id="12" name="Rectangle 11"/>
          <p:cNvSpPr/>
          <p:nvPr/>
        </p:nvSpPr>
        <p:spPr>
          <a:xfrm>
            <a:off x="749808" y="2157984"/>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0704" y="2121408"/>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Fix the data, fix the logic, or fix the threshold.</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Run the First Lap | 38 / 42</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Two Key Translations</a:t>
            </a:r>
          </a:p>
        </p:txBody>
      </p:sp>
      <p:sp>
        <p:nvSpPr>
          <p:cNvPr id="6" name="Rectangle 5"/>
          <p:cNvSpPr/>
          <p:nvPr/>
        </p:nvSpPr>
        <p:spPr>
          <a:xfrm>
            <a:off x="566928" y="1280160"/>
            <a:ext cx="8010144" cy="1389888"/>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444752"/>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60704" y="1408176"/>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Translation 1: user words → engineering requirements.</a:t>
            </a:r>
          </a:p>
        </p:txBody>
      </p:sp>
      <p:sp>
        <p:nvSpPr>
          <p:cNvPr id="9" name="Rectangle 8"/>
          <p:cNvSpPr/>
          <p:nvPr/>
        </p:nvSpPr>
        <p:spPr>
          <a:xfrm>
            <a:off x="749808" y="1755648"/>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60704" y="1719072"/>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Translation 2: engineering requirements → a closed loop.</a:t>
            </a:r>
          </a:p>
        </p:txBody>
      </p:sp>
      <p:sp>
        <p:nvSpPr>
          <p:cNvPr id="11" name="Rectangle 10"/>
          <p:cNvSpPr/>
          <p:nvPr/>
        </p:nvSpPr>
        <p:spPr>
          <a:xfrm>
            <a:off x="749808" y="2066544"/>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60704" y="2029968"/>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If you can do both, you can make anything.</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Run the First Lap | 39 / 42</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A Reusable Hardware Prompt</a:t>
            </a:r>
          </a:p>
        </p:txBody>
      </p:sp>
      <p:sp>
        <p:nvSpPr>
          <p:cNvPr id="6" name="TextBox 5"/>
          <p:cNvSpPr txBox="1"/>
          <p:nvPr/>
        </p:nvSpPr>
        <p:spPr>
          <a:xfrm>
            <a:off x="566928" y="914400"/>
            <a:ext cx="8138160" cy="365760"/>
          </a:xfrm>
          <a:prstGeom prst="rect">
            <a:avLst/>
          </a:prstGeom>
          <a:noFill/>
        </p:spPr>
        <p:txBody>
          <a:bodyPr wrap="square" anchor="t" lIns="0" rIns="0" tIns="0" bIns="0">
            <a:spAutoFit/>
          </a:bodyPr>
          <a:lstStyle/>
          <a:p>
            <a:pPr algn="l">
              <a:lnSpc>
                <a:spcPct val="100000"/>
              </a:lnSpc>
            </a:pPr>
            <a:r>
              <a:rPr sz="1200" b="0">
                <a:solidFill>
                  <a:srgbClr val="000000"/>
                </a:solidFill>
                <a:latin typeface="Source Han Sans SC"/>
              </a:rPr>
              <a:t>photograph this page</a:t>
            </a:r>
          </a:p>
        </p:txBody>
      </p:sp>
      <p:sp>
        <p:nvSpPr>
          <p:cNvPr id="7" name="Rectangle 6"/>
          <p:cNvSpPr/>
          <p:nvPr/>
        </p:nvSpPr>
        <p:spPr>
          <a:xfrm>
            <a:off x="566928" y="1371600"/>
            <a:ext cx="8010144" cy="1389888"/>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536192"/>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0704" y="1499616"/>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"I have a ___ module. What does it sense or do? Which pin is which?"</a:t>
            </a:r>
          </a:p>
        </p:txBody>
      </p:sp>
      <p:sp>
        <p:nvSpPr>
          <p:cNvPr id="10" name="Rectangle 9"/>
          <p:cNvSpPr/>
          <p:nvPr/>
        </p:nvSpPr>
        <p:spPr>
          <a:xfrm>
            <a:off x="749808" y="1847088"/>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0704" y="1810512"/>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Use it whenever you meet a new module in Lesson 9.</a:t>
            </a:r>
          </a:p>
        </p:txBody>
      </p:sp>
      <p:sp>
        <p:nvSpPr>
          <p:cNvPr id="12" name="Rectangle 11"/>
          <p:cNvSpPr/>
          <p:nvPr/>
        </p:nvSpPr>
        <p:spPr>
          <a:xfrm>
            <a:off x="749808" y="2157984"/>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0704" y="2121408"/>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The prompt lives in your workbook too.</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Run the First Lap | 40 / 42</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The Five-Step Loop</a:t>
            </a:r>
          </a:p>
        </p:txBody>
      </p:sp>
      <p:sp>
        <p:nvSpPr>
          <p:cNvPr id="6" name="Rectangle 5"/>
          <p:cNvSpPr/>
          <p:nvPr/>
        </p:nvSpPr>
        <p:spPr>
          <a:xfrm>
            <a:off x="566928" y="1280160"/>
            <a:ext cx="8010144" cy="201168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444752"/>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60704" y="1408176"/>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Say the need in plain language.</a:t>
            </a:r>
          </a:p>
        </p:txBody>
      </p:sp>
      <p:sp>
        <p:nvSpPr>
          <p:cNvPr id="9" name="Rectangle 8"/>
          <p:cNvSpPr/>
          <p:nvPr/>
        </p:nvSpPr>
        <p:spPr>
          <a:xfrm>
            <a:off x="749808" y="1755648"/>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60704" y="1719072"/>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Write the input / output / success contract.</a:t>
            </a:r>
          </a:p>
        </p:txBody>
      </p:sp>
      <p:sp>
        <p:nvSpPr>
          <p:cNvPr id="11" name="Rectangle 10"/>
          <p:cNvSpPr/>
          <p:nvPr/>
        </p:nvSpPr>
        <p:spPr>
          <a:xfrm>
            <a:off x="749808" y="2066544"/>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60704" y="2029968"/>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Build the smallest closed loop.</a:t>
            </a:r>
          </a:p>
        </p:txBody>
      </p:sp>
      <p:sp>
        <p:nvSpPr>
          <p:cNvPr id="13" name="Rectangle 12"/>
          <p:cNvSpPr/>
          <p:nvPr/>
        </p:nvSpPr>
        <p:spPr>
          <a:xfrm>
            <a:off x="749808" y="2377440"/>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60704" y="2340864"/>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Test it with a real failure scenario.</a:t>
            </a:r>
          </a:p>
        </p:txBody>
      </p:sp>
      <p:sp>
        <p:nvSpPr>
          <p:cNvPr id="15" name="Rectangle 14"/>
          <p:cNvSpPr/>
          <p:nvPr/>
        </p:nvSpPr>
        <p:spPr>
          <a:xfrm>
            <a:off x="749808" y="2688336"/>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60704" y="2651760"/>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Decide: accept, reject, or make it smaller.</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Run the First Lap | 41 / 42</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Closing on the Four-Line Spec</a:t>
            </a:r>
          </a:p>
        </p:txBody>
      </p:sp>
      <p:sp>
        <p:nvSpPr>
          <p:cNvPr id="6" name="Rectangle 5"/>
          <p:cNvSpPr/>
          <p:nvPr/>
        </p:nvSpPr>
        <p:spPr>
          <a:xfrm>
            <a:off x="566928" y="1280160"/>
            <a:ext cx="8010144" cy="1389888"/>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444752"/>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60704" y="1408176"/>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Every new module starts with four lines:</a:t>
            </a:r>
          </a:p>
        </p:txBody>
      </p:sp>
      <p:sp>
        <p:nvSpPr>
          <p:cNvPr id="9" name="Rectangle 8"/>
          <p:cNvSpPr/>
          <p:nvPr/>
        </p:nvSpPr>
        <p:spPr>
          <a:xfrm>
            <a:off x="749808" y="1755648"/>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60704" y="1719072"/>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INPUT → CONSTRAINTS → OUTPUT → SUCCESS CRITERIA.</a:t>
            </a:r>
          </a:p>
        </p:txBody>
      </p:sp>
      <p:sp>
        <p:nvSpPr>
          <p:cNvPr id="11" name="Rectangle 10"/>
          <p:cNvSpPr/>
          <p:nvPr/>
        </p:nvSpPr>
        <p:spPr>
          <a:xfrm>
            <a:off x="749808" y="2066544"/>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60704" y="2029968"/>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That's the Brandy method. That's your method now.</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Run the First Lap | 42 / 42</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Your Turn</a:t>
            </a:r>
          </a:p>
        </p:txBody>
      </p:sp>
      <p:sp>
        <p:nvSpPr>
          <p:cNvPr id="6" name="TextBox 5"/>
          <p:cNvSpPr txBox="1"/>
          <p:nvPr/>
        </p:nvSpPr>
        <p:spPr>
          <a:xfrm>
            <a:off x="566928" y="914400"/>
            <a:ext cx="8138160" cy="365760"/>
          </a:xfrm>
          <a:prstGeom prst="rect">
            <a:avLst/>
          </a:prstGeom>
          <a:noFill/>
        </p:spPr>
        <p:txBody>
          <a:bodyPr wrap="square" anchor="t" lIns="0" rIns="0" tIns="0" bIns="0">
            <a:spAutoFit/>
          </a:bodyPr>
          <a:lstStyle/>
          <a:p>
            <a:pPr algn="l">
              <a:lnSpc>
                <a:spcPct val="100000"/>
              </a:lnSpc>
            </a:pPr>
            <a:r>
              <a:rPr sz="1200" b="0">
                <a:solidFill>
                  <a:srgbClr val="000000"/>
                </a:solidFill>
                <a:latin typeface="Source Han Sans SC"/>
              </a:rPr>
              <a:t>next leg and beyond</a:t>
            </a:r>
          </a:p>
        </p:txBody>
      </p:sp>
      <p:sp>
        <p:nvSpPr>
          <p:cNvPr id="7" name="Rectangle 6"/>
          <p:cNvSpPr/>
          <p:nvPr/>
        </p:nvSpPr>
        <p:spPr>
          <a:xfrm>
            <a:off x="566928" y="1371600"/>
            <a:ext cx="8010144" cy="1389888"/>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536192"/>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0704" y="1499616"/>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Bring a new module into your project in Lesson 9.</a:t>
            </a:r>
          </a:p>
        </p:txBody>
      </p:sp>
      <p:sp>
        <p:nvSpPr>
          <p:cNvPr id="10" name="Rectangle 9"/>
          <p:cNvSpPr/>
          <p:nvPr/>
        </p:nvSpPr>
        <p:spPr>
          <a:xfrm>
            <a:off x="749808" y="1847088"/>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0704" y="1810512"/>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Run it through the same four-line spec first.</a:t>
            </a:r>
          </a:p>
        </p:txBody>
      </p:sp>
      <p:sp>
        <p:nvSpPr>
          <p:cNvPr id="12" name="Rectangle 11"/>
          <p:cNvSpPr/>
          <p:nvPr/>
        </p:nvSpPr>
        <p:spPr>
          <a:xfrm>
            <a:off x="749808" y="2157984"/>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0704" y="2121408"/>
            <a:ext cx="727862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Minimal, closed, tested — then grow.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